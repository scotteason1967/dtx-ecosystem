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promise, not the product. The one-line truth: clinic-based testing only reaches people who can get to clinics; this service reaches the rest, and it is live now, not a vision. Two LA areas in Beta gives instant credibility.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Hearts and Minds conceit, stated openly: we design around named people. Sarah IS the audience - acknowledge it with a smile; the quote usually lands because it is verbatim what commissioners say. Introduce the weave: Sean and Errol will return.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invent local statistics - invite hers. Ask: where do your late diagnoses come from? The answer is almost always the three groups on the left. The DNA card reframes non-attendance as system failure rather than patient failure - this is the deck's moral pivot and sets up Sean.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National programme figures: 730m (2013/14), 1.12bn (2021/22), 1.25bn projected (2025/26), 5.5% annual growth. The point for Sarah: demand grows whether she buys or not - the question is whether the next tranche of tests needs buildings. The Plan quote anchors this as national policy direction, not vendor enthusiasm.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image is deliberate: a kit being handed over a real front door. HomeTest is the platform; HIV is the live proof, PSA surveillance and anaemia monitoring follow on the same rails. If asked which areas: two LA areas in the HIV Beta, happy to arrange a conversation with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wrapper line answers her quote from slide 2 - templates, not bespoke work. The choice banner pre-empts the equity objection: nobody is forced online; this widens access rather than narrowing it. That sentence matters to elected members.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a finance colleague will photograph. Per-completed-test is how the live service is actually bought - not a proposal. The DNA asymmetry is the structural saving: her DNA rate currently buys empty rooms. Do not quote unit prices - the catalogue and Beta evidence carry that conversation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structural lines plus the journey arithmetic. Be honest about cashable vs structural: capacity returned is real but realising cash needs pathway volume - which is exactly what the defined starter cohort in the close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Sean is real - a family member of someone on the programme, shared with their blessing. He is the answer to slide 3's DNA card. The curb-cut close is the policy point: inclusive design is not a side-quest, it is how the whole service gets better. This slide is why the deck is called Hearts and Minds.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claims qualitative and structural - the Beta exists to generate her numbers. If pressed for figures, the honest line: the Beta areas are measuring uptake and clinic displacement now, and we will share what they find.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deliberately. This is a HomeTest pitch; the sisters exist to show the front door grows in value after she buys. The DTx stats are cited as in the national exec deck. Do not let the meeting drift here - Errol carries the destination emotionally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Errol is the category-4 story - the destination that makes the family coherent. Tell it in one breath: signal, test, treatment, no crisis. Then the kicker for a commissioner: every Errol is an admission that never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weeks not eighteen months is the design target the model is built around - say it as ambition with a straight face, then the honesty line: today's route is interim arrangements that already work (the Beta proves it), and early partners get to shape the destination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is deliberately small: one conversation. The closing line does the selling - two of her peers already 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faces and stop talking. The line under them is the whole programme in nine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087"/>
        </a:solidFill>
      </p:bgPr>
    </p:bg>
    <p:spTree>
      <p:nvGrpSpPr>
        <p:cNvPr id="1" name=""/>
        <p:cNvGrpSpPr/>
        <p:nvPr/>
      </p:nvGrpSpPr>
      <p:grpSpPr>
        <a:xfrm>
          <a:off x="0" y="0"/>
          <a:ext cx="0" cy="0"/>
          <a:chOff x="0" y="0"/>
          <a:chExt cx="0" cy="0"/>
        </a:xfrm>
      </p:grpSpPr>
      <p:pic>
        <p:nvPicPr>
          <p:cNvPr id="2" name="Image 0" descr="/sessions/ecstatic-hopeful-clarke/mnt/NHS/dtx-ecosystem/operating-model/img/Sarah hero.png">    </p:cNvPr>
          <p:cNvPicPr>
            <a:picLocks noChangeAspect="1"/>
          </p:cNvPicPr>
          <p:nvPr/>
        </p:nvPicPr>
        <p:blipFill>
          <a:blip r:embed="rId1"/>
          <a:srcRect l="0" r="0" t="0" b="0"/>
          <a:stretch/>
        </p:blipFill>
        <p:spPr>
          <a:xfrm>
            <a:off x="5394960" y="0"/>
            <a:ext cx="3749040" cy="5143500"/>
          </a:xfrm>
          <a:prstGeom prst="rect">
            <a:avLst/>
          </a:prstGeom>
        </p:spPr>
      </p:pic>
      <p:sp>
        <p:nvSpPr>
          <p:cNvPr id="3" name="Shape 0"/>
          <p:cNvSpPr/>
          <p:nvPr/>
        </p:nvSpPr>
        <p:spPr>
          <a:xfrm>
            <a:off x="5212080" y="0"/>
            <a:ext cx="182880" cy="5143500"/>
          </a:xfrm>
          <a:prstGeom prst="rect">
            <a:avLst/>
          </a:prstGeom>
          <a:solidFill>
            <a:srgbClr val="FFB91D"/>
          </a:solidFill>
          <a:ln/>
        </p:spPr>
        <p:txBody>
          <a:bodyPr/>
          <a:p/>
        </p:txBody>
      </p:sp>
      <p:sp>
        <p:nvSpPr>
          <p:cNvPr id="4" name="Text 1"/>
          <p:cNvSpPr/>
          <p:nvPr/>
        </p:nvSpPr>
        <p:spPr>
          <a:xfrm>
            <a:off x="502920" y="594360"/>
            <a:ext cx="4572000" cy="274320"/>
          </a:xfrm>
          <a:prstGeom prst="rect">
            <a:avLst/>
          </a:prstGeom>
          <a:noFill/>
          <a:ln/>
        </p:spPr>
        <p:txBody>
          <a:bodyPr wrap="square" lIns="0" tIns="0" rIns="0" bIns="0" rtlCol="0" anchor="ctr"/>
          <a:lstStyle/>
          <a:p>
            <a:pPr indent="0" marL="0">
              <a:buNone/>
            </a:pPr>
            <a:r>
              <a:rPr lang="en-US" sz="1050" b="1" spc="300" kern="0" dirty="0">
                <a:solidFill>
                  <a:srgbClr val="FFB91D"/>
                </a:solidFill>
                <a:latin typeface="Trebuchet MS" pitchFamily="34" charset="0"/>
                <a:ea typeface="Trebuchet MS" pitchFamily="34" charset="-122"/>
                <a:cs typeface="Trebuchet MS" pitchFamily="34" charset="-120"/>
              </a:rPr>
              <a:t>HEARTS AND MINDS · COMMISSIONER EDITION · No.1</a:t>
            </a:r>
            <a:endParaRPr lang="en-US" sz="1050" dirty="0"/>
          </a:p>
        </p:txBody>
      </p:sp>
      <p:sp>
        <p:nvSpPr>
          <p:cNvPr id="5" name="Text 2"/>
          <p:cNvSpPr/>
          <p:nvPr/>
        </p:nvSpPr>
        <p:spPr>
          <a:xfrm>
            <a:off x="457200" y="1051560"/>
            <a:ext cx="4572000" cy="1783080"/>
          </a:xfrm>
          <a:prstGeom prst="rect">
            <a:avLst/>
          </a:prstGeom>
          <a:noFill/>
          <a:ln/>
        </p:spPr>
        <p:txBody>
          <a:bodyPr wrap="square" rtlCol="0" anchor="ctr"/>
          <a:lstStyle/>
          <a:p>
            <a:pPr indent="0" marL="0">
              <a:lnSpc>
                <a:spcPts val="4000"/>
              </a:lnSpc>
              <a:buNone/>
            </a:pPr>
            <a:r>
              <a:rPr lang="en-US" sz="3400" b="1" dirty="0">
                <a:solidFill>
                  <a:srgbClr val="FFFFFF"/>
                </a:solidFill>
                <a:latin typeface="Trebuchet MS" pitchFamily="34" charset="0"/>
                <a:ea typeface="Trebuchet MS" pitchFamily="34" charset="-122"/>
                <a:cs typeface="Trebuchet MS" pitchFamily="34" charset="-120"/>
              </a:rPr>
              <a:t>Testing that finds the people your clinics can’t.</a:t>
            </a:r>
            <a:endParaRPr lang="en-US" sz="3400" dirty="0"/>
          </a:p>
        </p:txBody>
      </p:sp>
      <p:sp>
        <p:nvSpPr>
          <p:cNvPr id="6" name="Text 3"/>
          <p:cNvSpPr/>
          <p:nvPr/>
        </p:nvSpPr>
        <p:spPr>
          <a:xfrm>
            <a:off x="502920" y="2971800"/>
            <a:ext cx="4297680" cy="777240"/>
          </a:xfrm>
          <a:prstGeom prst="rect">
            <a:avLst/>
          </a:prstGeom>
          <a:noFill/>
          <a:ln/>
        </p:spPr>
        <p:txBody>
          <a:bodyPr wrap="square" lIns="0" tIns="0" rIns="0" bIns="0" rtlCol="0" anchor="ctr"/>
          <a:lstStyle/>
          <a:p>
            <a:pPr indent="0" marL="0">
              <a:buNone/>
            </a:pPr>
            <a:r>
              <a:rPr lang="en-US" sz="1450" dirty="0">
                <a:solidFill>
                  <a:srgbClr val="CFE0F5"/>
                </a:solidFill>
                <a:latin typeface="Calibri" pitchFamily="34" charset="0"/>
                <a:ea typeface="Calibri" pitchFamily="34" charset="-122"/>
                <a:cs typeface="Calibri" pitchFamily="34" charset="-120"/>
              </a:rPr>
              <a:t>HomeTest: patient-centric micro-sampling, at scale. 24/7 access through the NHS App, for the populations you commission for.</a:t>
            </a:r>
            <a:endParaRPr lang="en-US" sz="1450" dirty="0"/>
          </a:p>
        </p:txBody>
      </p:sp>
      <p:sp>
        <p:nvSpPr>
          <p:cNvPr id="7" name="Text 4"/>
          <p:cNvSpPr/>
          <p:nvPr/>
        </p:nvSpPr>
        <p:spPr>
          <a:xfrm>
            <a:off x="502920" y="3886200"/>
            <a:ext cx="4297680" cy="594360"/>
          </a:xfrm>
          <a:prstGeom prst="rect">
            <a:avLst/>
          </a:prstGeom>
          <a:noFill/>
          <a:ln/>
        </p:spPr>
        <p:txBody>
          <a:bodyPr wrap="square" lIns="0" tIns="0" rIns="0" bIns="0" rtlCol="0" anchor="ctr"/>
          <a:lstStyle/>
          <a:p>
            <a:pPr indent="0" marL="0">
              <a:buNone/>
            </a:pPr>
            <a:r>
              <a:rPr lang="en-US" sz="1250" b="1" dirty="0">
                <a:solidFill>
                  <a:srgbClr val="FFB91D"/>
                </a:solidFill>
                <a:latin typeface="Calibri" pitchFamily="34" charset="0"/>
                <a:ea typeface="Calibri" pitchFamily="34" charset="-122"/>
                <a:cs typeface="Calibri" pitchFamily="34" charset="-120"/>
              </a:rPr>
              <a:t>Live today: </a:t>
            </a:r>
            <a:pPr indent="0" marL="0">
              <a:buNone/>
            </a:pPr>
            <a:r>
              <a:rPr lang="en-US" sz="1250" dirty="0">
                <a:solidFill>
                  <a:srgbClr val="E8F0FA"/>
                </a:solidFill>
                <a:latin typeface="Calibri" pitchFamily="34" charset="0"/>
                <a:ea typeface="Calibri" pitchFamily="34" charset="-122"/>
                <a:cs typeface="Calibri" pitchFamily="34" charset="-120"/>
              </a:rPr>
              <a:t>patient-initiated HIV testing through the NHS App, in Beta with two local authorities.</a:t>
            </a:r>
            <a:endParaRPr lang="en-US" sz="1250" dirty="0"/>
          </a:p>
        </p:txBody>
      </p:sp>
      <p:sp>
        <p:nvSpPr>
          <p:cNvPr id="8" name="Text 5"/>
          <p:cNvSpPr/>
          <p:nvPr/>
        </p:nvSpPr>
        <p:spPr>
          <a:xfrm>
            <a:off x="457200" y="4864608"/>
            <a:ext cx="8229600" cy="228600"/>
          </a:xfrm>
          <a:prstGeom prst="rect">
            <a:avLst/>
          </a:prstGeom>
          <a:noFill/>
          <a:ln/>
        </p:spPr>
        <p:txBody>
          <a:bodyPr wrap="square" lIns="0" tIns="0" rIns="0" bIns="0" rtlCol="0" anchor="ctr"/>
          <a:lstStyle/>
          <a:p>
            <a:pPr indent="0" marL="0">
              <a:buNone/>
            </a:pPr>
            <a:r>
              <a:rPr lang="en-US" sz="800" dirty="0">
                <a:solidFill>
                  <a:srgbClr val="9FB6D9"/>
                </a:solidFill>
                <a:latin typeface="Calibri" pitchFamily="34" charset="0"/>
                <a:ea typeface="Calibri" pitchFamily="34" charset="-122"/>
                <a:cs typeface="Calibri" pitchFamily="34" charset="-120"/>
              </a:rPr>
              <a:t>Hearts and Minds · audience deck No.1 · Commissioner edition · proof-of-concept draft ⚑ · updated September 2026</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411480"/>
            <a:ext cx="8229600" cy="594360"/>
          </a:xfrm>
          <a:prstGeom prst="rect">
            <a:avLst/>
          </a:prstGeom>
          <a:noFill/>
          <a:ln/>
        </p:spPr>
        <p:txBody>
          <a:bodyPr wrap="square" lIns="0" tIns="0" rIns="0" bIns="0" rtlCol="0" anchor="ctr"/>
          <a:lstStyle/>
          <a:p>
            <a:pPr indent="0" marL="0">
              <a:buNone/>
            </a:pPr>
            <a:r>
              <a:rPr lang="en-US" sz="2600" b="1" dirty="0">
                <a:solidFill>
                  <a:srgbClr val="003087"/>
                </a:solidFill>
                <a:latin typeface="Trebuchet MS" pitchFamily="34" charset="0"/>
                <a:ea typeface="Trebuchet MS" pitchFamily="34" charset="-122"/>
                <a:cs typeface="Trebuchet MS" pitchFamily="34" charset="-120"/>
              </a:rPr>
              <a:t>We build around people. Start with someone in your seat.</a:t>
            </a:r>
            <a:endParaRPr lang="en-US" sz="2600" dirty="0"/>
          </a:p>
        </p:txBody>
      </p:sp>
      <p:pic>
        <p:nvPicPr>
          <p:cNvPr id="3" name="Image 0" descr="/sessions/ecstatic-hopeful-clarke/mnt/NHS/dtx-ecosystem/assets/personas/sarah.png">    </p:cNvPr>
          <p:cNvPicPr>
            <a:picLocks noChangeAspect="1"/>
          </p:cNvPicPr>
          <p:nvPr/>
        </p:nvPicPr>
        <p:blipFill>
          <a:blip r:embed="rId1"/>
          <a:stretch>
            <a:fillRect/>
          </a:stretch>
        </p:blipFill>
        <p:spPr>
          <a:xfrm>
            <a:off x="640080" y="1325880"/>
            <a:ext cx="1554480" cy="1554480"/>
          </a:xfrm>
          <a:prstGeom prst="ellipse">
            <a:avLst/>
          </a:prstGeom>
        </p:spPr>
      </p:pic>
      <p:sp>
        <p:nvSpPr>
          <p:cNvPr id="4" name="Text 1"/>
          <p:cNvSpPr/>
          <p:nvPr/>
        </p:nvSpPr>
        <p:spPr>
          <a:xfrm>
            <a:off x="502920" y="2971800"/>
            <a:ext cx="1828800" cy="320040"/>
          </a:xfrm>
          <a:prstGeom prst="rect">
            <a:avLst/>
          </a:prstGeom>
          <a:noFill/>
          <a:ln/>
        </p:spPr>
        <p:txBody>
          <a:bodyPr wrap="square" rtlCol="0" anchor="ctr"/>
          <a:lstStyle/>
          <a:p>
            <a:pPr algn="ctr" indent="0" marL="0">
              <a:buNone/>
            </a:pPr>
            <a:r>
              <a:rPr lang="en-US" sz="1600" b="1" dirty="0">
                <a:solidFill>
                  <a:srgbClr val="003087"/>
                </a:solidFill>
                <a:latin typeface="Trebuchet MS" pitchFamily="34" charset="0"/>
                <a:ea typeface="Trebuchet MS" pitchFamily="34" charset="-122"/>
                <a:cs typeface="Trebuchet MS" pitchFamily="34" charset="-120"/>
              </a:rPr>
              <a:t>Sarah</a:t>
            </a:r>
            <a:endParaRPr lang="en-US" sz="1600" dirty="0"/>
          </a:p>
        </p:txBody>
      </p:sp>
      <p:sp>
        <p:nvSpPr>
          <p:cNvPr id="5" name="Text 2"/>
          <p:cNvSpPr/>
          <p:nvPr/>
        </p:nvSpPr>
        <p:spPr>
          <a:xfrm>
            <a:off x="365760" y="3273552"/>
            <a:ext cx="2103120" cy="457200"/>
          </a:xfrm>
          <a:prstGeom prst="rect">
            <a:avLst/>
          </a:prstGeom>
          <a:noFill/>
          <a:ln/>
        </p:spPr>
        <p:txBody>
          <a:bodyPr wrap="square" rtlCol="0" anchor="ctr"/>
          <a:lstStyle/>
          <a:p>
            <a:pPr algn="ctr" indent="0" marL="0">
              <a:buNone/>
            </a:pPr>
            <a:r>
              <a:rPr lang="en-US" sz="1050" dirty="0">
                <a:solidFill>
                  <a:srgbClr val="4C6272"/>
                </a:solidFill>
                <a:latin typeface="Calibri" pitchFamily="34" charset="0"/>
                <a:ea typeface="Calibri" pitchFamily="34" charset="-122"/>
                <a:cs typeface="Calibri" pitchFamily="34" charset="-120"/>
              </a:rPr>
              <a:t>LA sexual health commissioner</a:t>
            </a:r>
            <a:endParaRPr lang="en-US" sz="1050" dirty="0"/>
          </a:p>
        </p:txBody>
      </p:sp>
      <p:sp>
        <p:nvSpPr>
          <p:cNvPr id="6" name="Shape 3"/>
          <p:cNvSpPr/>
          <p:nvPr/>
        </p:nvSpPr>
        <p:spPr>
          <a:xfrm>
            <a:off x="2651760" y="1325880"/>
            <a:ext cx="5943600" cy="1691640"/>
          </a:xfrm>
          <a:prstGeom prst="rect">
            <a:avLst/>
          </a:prstGeom>
          <a:solidFill>
            <a:srgbClr val="FFF9EC"/>
          </a:solidFill>
          <a:ln w="15875">
            <a:solidFill>
              <a:srgbClr val="FFB91D"/>
            </a:solidFill>
            <a:prstDash val="solid"/>
          </a:ln>
          <a:effectLst>
            <a:outerShdw sx="100000" sy="100000" kx="0" ky="0" algn="bl" rotWithShape="0" blurRad="114300" dist="38100" dir="8100000">
              <a:srgbClr val="0A1F3C">
                <a:alpha val="18000"/>
              </a:srgbClr>
            </a:outerShdw>
          </a:effectLst>
        </p:spPr>
        <p:txBody>
          <a:bodyPr/>
          <a:p/>
        </p:txBody>
      </p:sp>
      <p:sp>
        <p:nvSpPr>
          <p:cNvPr id="7" name="Text 4"/>
          <p:cNvSpPr/>
          <p:nvPr/>
        </p:nvSpPr>
        <p:spPr>
          <a:xfrm>
            <a:off x="2880360" y="1463040"/>
            <a:ext cx="5486400" cy="1417320"/>
          </a:xfrm>
          <a:prstGeom prst="rect">
            <a:avLst/>
          </a:prstGeom>
          <a:noFill/>
          <a:ln/>
        </p:spPr>
        <p:txBody>
          <a:bodyPr wrap="square" lIns="0" tIns="0" rIns="0" bIns="0" rtlCol="0" anchor="ctr"/>
          <a:lstStyle/>
          <a:p>
            <a:pPr indent="0" marL="0">
              <a:buNone/>
            </a:pPr>
            <a:r>
              <a:rPr lang="en-US" sz="1400" i="1" dirty="0">
                <a:solidFill>
                  <a:srgbClr val="212B32"/>
                </a:solidFill>
                <a:latin typeface="Calibri" pitchFamily="34" charset="0"/>
                <a:ea typeface="Calibri" pitchFamily="34" charset="-122"/>
                <a:cs typeface="Calibri" pitchFamily="34" charset="-120"/>
              </a:rPr>
              <a:t>“I need these services to save my budget, not strain it. Give me ready-made templates and a clear route to buy. I haven’t got the headcount to bespoke this for every supplier or every product.”</a:t>
            </a:r>
            <a:endParaRPr lang="en-US" sz="1400" dirty="0"/>
          </a:p>
        </p:txBody>
      </p:sp>
      <p:sp>
        <p:nvSpPr>
          <p:cNvPr id="8" name="Text 5"/>
          <p:cNvSpPr/>
          <p:nvPr/>
        </p:nvSpPr>
        <p:spPr>
          <a:xfrm>
            <a:off x="2651760" y="3246120"/>
            <a:ext cx="5943600" cy="566928"/>
          </a:xfrm>
          <a:prstGeom prst="rect">
            <a:avLst/>
          </a:prstGeom>
          <a:noFill/>
          <a:ln/>
        </p:spPr>
        <p:txBody>
          <a:bodyPr wrap="square" lIns="0" tIns="0" rIns="0" bIns="0" rtlCol="0" anchor="ctr"/>
          <a:lstStyle/>
          <a:p>
            <a:pPr indent="0" marL="0">
              <a:buNone/>
            </a:pPr>
            <a:r>
              <a:rPr lang="en-US" sz="1250" dirty="0">
                <a:solidFill>
                  <a:srgbClr val="4C6272"/>
                </a:solidFill>
                <a:latin typeface="Calibri" pitchFamily="34" charset="0"/>
                <a:ea typeface="Calibri" pitchFamily="34" charset="-122"/>
                <a:cs typeface="Calibri" pitchFamily="34" charset="-120"/>
              </a:rPr>
              <a:t>Every service in this programme is designed around named people, the patients it must reach and the person who has to buy it. </a:t>
            </a:r>
            <a:pPr indent="0" marL="0">
              <a:buNone/>
            </a:pPr>
            <a:r>
              <a:rPr lang="en-US" sz="1250" b="1" dirty="0">
                <a:solidFill>
                  <a:srgbClr val="003087"/>
                </a:solidFill>
                <a:latin typeface="Calibri" pitchFamily="34" charset="0"/>
                <a:ea typeface="Calibri" pitchFamily="34" charset="-122"/>
                <a:cs typeface="Calibri" pitchFamily="34" charset="-120"/>
              </a:rPr>
              <a:t>Three of them carry today’s story.</a:t>
            </a:r>
            <a:endParaRPr lang="en-US" sz="1250" dirty="0"/>
          </a:p>
        </p:txBody>
      </p:sp>
      <p:pic>
        <p:nvPicPr>
          <p:cNvPr id="9" name="Image 1" descr="/sessions/ecstatic-hopeful-clarke/mnt/NHS/dtx-ecosystem/assets/personas/sarah.png">    </p:cNvPr>
          <p:cNvPicPr>
            <a:picLocks noChangeAspect="1"/>
          </p:cNvPicPr>
          <p:nvPr/>
        </p:nvPicPr>
        <p:blipFill>
          <a:blip r:embed="rId2"/>
          <a:stretch>
            <a:fillRect/>
          </a:stretch>
        </p:blipFill>
        <p:spPr>
          <a:xfrm>
            <a:off x="2651760" y="3950208"/>
            <a:ext cx="566928" cy="566928"/>
          </a:xfrm>
          <a:prstGeom prst="ellipse">
            <a:avLst/>
          </a:prstGeom>
        </p:spPr>
      </p:pic>
      <p:sp>
        <p:nvSpPr>
          <p:cNvPr id="10" name="Text 6"/>
          <p:cNvSpPr/>
          <p:nvPr/>
        </p:nvSpPr>
        <p:spPr>
          <a:xfrm>
            <a:off x="3291840" y="3968496"/>
            <a:ext cx="1417320" cy="256032"/>
          </a:xfrm>
          <a:prstGeom prst="rect">
            <a:avLst/>
          </a:prstGeom>
          <a:noFill/>
          <a:ln/>
        </p:spPr>
        <p:txBody>
          <a:bodyPr wrap="square" lIns="0" tIns="0" rIns="0" bIns="0" rtlCol="0" anchor="ctr"/>
          <a:lstStyle/>
          <a:p>
            <a:pPr indent="0" marL="0">
              <a:buNone/>
            </a:pPr>
            <a:r>
              <a:rPr lang="en-US" sz="1200" b="1" dirty="0">
                <a:solidFill>
                  <a:srgbClr val="005EB8"/>
                </a:solidFill>
                <a:latin typeface="Trebuchet MS" pitchFamily="34" charset="0"/>
                <a:ea typeface="Trebuchet MS" pitchFamily="34" charset="-122"/>
                <a:cs typeface="Trebuchet MS" pitchFamily="34" charset="-120"/>
              </a:rPr>
              <a:t>Sarah</a:t>
            </a:r>
            <a:endParaRPr lang="en-US" sz="1200" dirty="0"/>
          </a:p>
        </p:txBody>
      </p:sp>
      <p:sp>
        <p:nvSpPr>
          <p:cNvPr id="11" name="Text 7"/>
          <p:cNvSpPr/>
          <p:nvPr/>
        </p:nvSpPr>
        <p:spPr>
          <a:xfrm>
            <a:off x="3291840" y="4206240"/>
            <a:ext cx="1417320" cy="384048"/>
          </a:xfrm>
          <a:prstGeom prst="rect">
            <a:avLst/>
          </a:prstGeom>
          <a:noFill/>
          <a:ln/>
        </p:spPr>
        <p:txBody>
          <a:bodyPr wrap="square" lIns="0" tIns="0" rIns="0" bIns="0" rtlCol="0" anchor="ctr"/>
          <a:lstStyle/>
          <a:p>
            <a:pPr indent="0" marL="0">
              <a:buNone/>
            </a:pPr>
            <a:r>
              <a:rPr lang="en-US" sz="900" dirty="0">
                <a:solidFill>
                  <a:srgbClr val="4C6272"/>
                </a:solidFill>
                <a:latin typeface="Calibri" pitchFamily="34" charset="0"/>
                <a:ea typeface="Calibri" pitchFamily="34" charset="-122"/>
                <a:cs typeface="Calibri" pitchFamily="34" charset="-120"/>
              </a:rPr>
              <a:t>the buyer</a:t>
            </a:r>
            <a:endParaRPr lang="en-US" sz="900" dirty="0"/>
          </a:p>
        </p:txBody>
      </p:sp>
      <p:pic>
        <p:nvPicPr>
          <p:cNvPr id="12" name="Image 2" descr="/sessions/ecstatic-hopeful-clarke/mnt/NHS/dtx-ecosystem/assets/personas/sean.png">    </p:cNvPr>
          <p:cNvPicPr>
            <a:picLocks noChangeAspect="1"/>
          </p:cNvPicPr>
          <p:nvPr/>
        </p:nvPicPr>
        <p:blipFill>
          <a:blip r:embed="rId3"/>
          <a:stretch>
            <a:fillRect/>
          </a:stretch>
        </p:blipFill>
        <p:spPr>
          <a:xfrm>
            <a:off x="4709160" y="3950208"/>
            <a:ext cx="566928" cy="566928"/>
          </a:xfrm>
          <a:prstGeom prst="ellipse">
            <a:avLst/>
          </a:prstGeom>
        </p:spPr>
      </p:pic>
      <p:sp>
        <p:nvSpPr>
          <p:cNvPr id="13" name="Text 8"/>
          <p:cNvSpPr/>
          <p:nvPr/>
        </p:nvSpPr>
        <p:spPr>
          <a:xfrm>
            <a:off x="5349240" y="3968496"/>
            <a:ext cx="1417320" cy="256032"/>
          </a:xfrm>
          <a:prstGeom prst="rect">
            <a:avLst/>
          </a:prstGeom>
          <a:noFill/>
          <a:ln/>
        </p:spPr>
        <p:txBody>
          <a:bodyPr wrap="square" lIns="0" tIns="0" rIns="0" bIns="0" rtlCol="0" anchor="ctr"/>
          <a:lstStyle/>
          <a:p>
            <a:pPr indent="0" marL="0">
              <a:buNone/>
            </a:pPr>
            <a:r>
              <a:rPr lang="en-US" sz="1200" b="1" dirty="0">
                <a:solidFill>
                  <a:srgbClr val="4527A0"/>
                </a:solidFill>
                <a:latin typeface="Trebuchet MS" pitchFamily="34" charset="0"/>
                <a:ea typeface="Trebuchet MS" pitchFamily="34" charset="-122"/>
                <a:cs typeface="Trebuchet MS" pitchFamily="34" charset="-120"/>
              </a:rPr>
              <a:t>Sean</a:t>
            </a:r>
            <a:endParaRPr lang="en-US" sz="1200" dirty="0"/>
          </a:p>
        </p:txBody>
      </p:sp>
      <p:sp>
        <p:nvSpPr>
          <p:cNvPr id="14" name="Text 9"/>
          <p:cNvSpPr/>
          <p:nvPr/>
        </p:nvSpPr>
        <p:spPr>
          <a:xfrm>
            <a:off x="5349240" y="4206240"/>
            <a:ext cx="1417320" cy="384048"/>
          </a:xfrm>
          <a:prstGeom prst="rect">
            <a:avLst/>
          </a:prstGeom>
          <a:noFill/>
          <a:ln/>
        </p:spPr>
        <p:txBody>
          <a:bodyPr wrap="square" lIns="0" tIns="0" rIns="0" bIns="0" rtlCol="0" anchor="ctr"/>
          <a:lstStyle/>
          <a:p>
            <a:pPr indent="0" marL="0">
              <a:buNone/>
            </a:pPr>
            <a:r>
              <a:rPr lang="en-US" sz="900" dirty="0">
                <a:solidFill>
                  <a:srgbClr val="4C6272"/>
                </a:solidFill>
                <a:latin typeface="Calibri" pitchFamily="34" charset="0"/>
                <a:ea typeface="Calibri" pitchFamily="34" charset="-122"/>
                <a:cs typeface="Calibri" pitchFamily="34" charset="-120"/>
              </a:rPr>
              <a:t>the patient the system fails</a:t>
            </a:r>
            <a:endParaRPr lang="en-US" sz="900" dirty="0"/>
          </a:p>
        </p:txBody>
      </p:sp>
      <p:pic>
        <p:nvPicPr>
          <p:cNvPr id="15" name="Image 3" descr="/sessions/ecstatic-hopeful-clarke/mnt/NHS/dtx-ecosystem/operating-model/img/errol-portrait.png">    </p:cNvPr>
          <p:cNvPicPr>
            <a:picLocks noChangeAspect="1"/>
          </p:cNvPicPr>
          <p:nvPr/>
        </p:nvPicPr>
        <p:blipFill>
          <a:blip r:embed="rId4"/>
          <a:stretch>
            <a:fillRect/>
          </a:stretch>
        </p:blipFill>
        <p:spPr>
          <a:xfrm>
            <a:off x="6766560" y="3950208"/>
            <a:ext cx="566928" cy="566928"/>
          </a:xfrm>
          <a:prstGeom prst="ellipse">
            <a:avLst/>
          </a:prstGeom>
        </p:spPr>
      </p:pic>
      <p:sp>
        <p:nvSpPr>
          <p:cNvPr id="16" name="Text 10"/>
          <p:cNvSpPr/>
          <p:nvPr/>
        </p:nvSpPr>
        <p:spPr>
          <a:xfrm>
            <a:off x="7406640" y="3968496"/>
            <a:ext cx="1417320" cy="256032"/>
          </a:xfrm>
          <a:prstGeom prst="rect">
            <a:avLst/>
          </a:prstGeom>
          <a:noFill/>
          <a:ln/>
        </p:spPr>
        <p:txBody>
          <a:bodyPr wrap="square" lIns="0" tIns="0" rIns="0" bIns="0" rtlCol="0" anchor="ctr"/>
          <a:lstStyle/>
          <a:p>
            <a:pPr indent="0" marL="0">
              <a:buNone/>
            </a:pPr>
            <a:r>
              <a:rPr lang="en-US" sz="1200" b="1" dirty="0">
                <a:solidFill>
                  <a:srgbClr val="006747"/>
                </a:solidFill>
                <a:latin typeface="Trebuchet MS" pitchFamily="34" charset="0"/>
                <a:ea typeface="Trebuchet MS" pitchFamily="34" charset="-122"/>
                <a:cs typeface="Trebuchet MS" pitchFamily="34" charset="-120"/>
              </a:rPr>
              <a:t>Errol</a:t>
            </a:r>
            <a:endParaRPr lang="en-US" sz="1200" dirty="0"/>
          </a:p>
        </p:txBody>
      </p:sp>
      <p:sp>
        <p:nvSpPr>
          <p:cNvPr id="17" name="Text 11"/>
          <p:cNvSpPr/>
          <p:nvPr/>
        </p:nvSpPr>
        <p:spPr>
          <a:xfrm>
            <a:off x="7406640" y="4206240"/>
            <a:ext cx="1417320" cy="384048"/>
          </a:xfrm>
          <a:prstGeom prst="rect">
            <a:avLst/>
          </a:prstGeom>
          <a:noFill/>
          <a:ln/>
        </p:spPr>
        <p:txBody>
          <a:bodyPr wrap="square" lIns="0" tIns="0" rIns="0" bIns="0" rtlCol="0" anchor="ctr"/>
          <a:lstStyle/>
          <a:p>
            <a:pPr indent="0" marL="0">
              <a:buNone/>
            </a:pPr>
            <a:r>
              <a:rPr lang="en-US" sz="900" dirty="0">
                <a:solidFill>
                  <a:srgbClr val="4C6272"/>
                </a:solidFill>
                <a:latin typeface="Calibri" pitchFamily="34" charset="0"/>
                <a:ea typeface="Calibri" pitchFamily="34" charset="-122"/>
                <a:cs typeface="Calibri" pitchFamily="34" charset="-120"/>
              </a:rPr>
              <a:t>where it all goes</a:t>
            </a:r>
            <a:endParaRPr lang="en-US" sz="900" dirty="0"/>
          </a:p>
        </p:txBody>
      </p:sp>
      <p:sp>
        <p:nvSpPr>
          <p:cNvPr id="18" name="Text 12"/>
          <p:cNvSpPr/>
          <p:nvPr/>
        </p:nvSpPr>
        <p:spPr>
          <a:xfrm>
            <a:off x="457200" y="4864608"/>
            <a:ext cx="8229600" cy="228600"/>
          </a:xfrm>
          <a:prstGeom prst="rect">
            <a:avLst/>
          </a:prstGeom>
          <a:noFill/>
          <a:ln/>
        </p:spPr>
        <p:txBody>
          <a:bodyPr wrap="square" lIns="0" tIns="0" rIns="0" bIns="0" rtlCol="0" anchor="ctr"/>
          <a:lstStyle/>
          <a:p>
            <a:pPr indent="0" marL="0">
              <a:buNone/>
            </a:pPr>
            <a:r>
              <a:rPr lang="en-US" sz="800" dirty="0">
                <a:solidFill>
                  <a:srgbClr val="7E8B97"/>
                </a:solidFill>
                <a:latin typeface="Calibri" pitchFamily="34" charset="0"/>
                <a:ea typeface="Calibri" pitchFamily="34" charset="-122"/>
                <a:cs typeface="Calibri" pitchFamily="34" charset="-120"/>
              </a:rPr>
              <a:t>Hearts and Minds · audience deck No.1 · Commissioner edition · proof-of-concept draft ⚑ · updated September 2026</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411480"/>
            <a:ext cx="8229600" cy="868680"/>
          </a:xfrm>
          <a:prstGeom prst="rect">
            <a:avLst/>
          </a:prstGeom>
          <a:noFill/>
          <a:ln/>
        </p:spPr>
        <p:txBody>
          <a:bodyPr wrap="square" lIns="0" tIns="0" rIns="0" bIns="0" rtlCol="0" anchor="ctr"/>
          <a:lstStyle/>
          <a:p>
            <a:pPr indent="0" marL="0">
              <a:buNone/>
            </a:pPr>
            <a:r>
              <a:rPr lang="en-US" sz="2500" b="1" dirty="0">
                <a:solidFill>
                  <a:srgbClr val="003087"/>
                </a:solidFill>
                <a:latin typeface="Trebuchet MS" pitchFamily="34" charset="0"/>
                <a:ea typeface="Trebuchet MS" pitchFamily="34" charset="-122"/>
                <a:cs typeface="Trebuchet MS" pitchFamily="34" charset="-120"/>
              </a:rPr>
              <a:t>The people testing misses are the people you most need to reach.</a:t>
            </a:r>
            <a:endParaRPr lang="en-US" sz="2500" dirty="0"/>
          </a:p>
        </p:txBody>
      </p:sp>
      <p:sp>
        <p:nvSpPr>
          <p:cNvPr id="3" name="Text 1"/>
          <p:cNvSpPr/>
          <p:nvPr/>
        </p:nvSpPr>
        <p:spPr>
          <a:xfrm>
            <a:off x="502920" y="1463040"/>
            <a:ext cx="4846320" cy="457200"/>
          </a:xfrm>
          <a:prstGeom prst="rect">
            <a:avLst/>
          </a:prstGeom>
          <a:noFill/>
          <a:ln/>
        </p:spPr>
        <p:txBody>
          <a:bodyPr wrap="square" lIns="0" tIns="0" rIns="0" bIns="0" rtlCol="0" anchor="ctr"/>
          <a:lstStyle/>
          <a:p>
            <a:pPr indent="0" marL="0">
              <a:buNone/>
            </a:pPr>
            <a:r>
              <a:rPr lang="en-US" sz="1350" dirty="0">
                <a:solidFill>
                  <a:srgbClr val="212B32"/>
                </a:solidFill>
                <a:latin typeface="Calibri" pitchFamily="34" charset="0"/>
                <a:ea typeface="Calibri" pitchFamily="34" charset="-122"/>
                <a:cs typeface="Calibri" pitchFamily="34" charset="-120"/>
              </a:rPr>
              <a:t>Clinic-hours testing reaches the people who can attend clinics. It quietly misses:</a:t>
            </a:r>
            <a:endParaRPr lang="en-US" sz="1350" dirty="0"/>
          </a:p>
        </p:txBody>
      </p:sp>
      <p:sp>
        <p:nvSpPr>
          <p:cNvPr id="4" name="Shape 2"/>
          <p:cNvSpPr/>
          <p:nvPr/>
        </p:nvSpPr>
        <p:spPr>
          <a:xfrm>
            <a:off x="502920" y="1965960"/>
            <a:ext cx="4846320" cy="786384"/>
          </a:xfrm>
          <a:prstGeom prst="rect">
            <a:avLst/>
          </a:prstGeom>
          <a:solidFill>
            <a:srgbClr val="FFFFFF"/>
          </a:solidFill>
          <a:ln w="9525">
            <a:solidFill>
              <a:srgbClr val="E3E9F0"/>
            </a:solidFill>
            <a:prstDash val="solid"/>
          </a:ln>
          <a:effectLst>
            <a:outerShdw sx="100000" sy="100000" kx="0" ky="0" algn="bl" rotWithShape="0" blurRad="114300" dist="38100" dir="8100000">
              <a:srgbClr val="0A1F3C">
                <a:alpha val="18000"/>
              </a:srgbClr>
            </a:outerShdw>
          </a:effectLst>
        </p:spPr>
        <p:txBody>
          <a:bodyPr/>
          <a:p/>
        </p:txBody>
      </p:sp>
      <p:sp>
        <p:nvSpPr>
          <p:cNvPr id="5" name="Shape 3"/>
          <p:cNvSpPr/>
          <p:nvPr/>
        </p:nvSpPr>
        <p:spPr>
          <a:xfrm>
            <a:off x="502920" y="1965960"/>
            <a:ext cx="64008" cy="786384"/>
          </a:xfrm>
          <a:prstGeom prst="rect">
            <a:avLst/>
          </a:prstGeom>
          <a:solidFill>
            <a:srgbClr val="005EB8"/>
          </a:solidFill>
          <a:ln/>
        </p:spPr>
        <p:txBody>
          <a:bodyPr/>
          <a:p/>
        </p:txBody>
      </p:sp>
      <p:sp>
        <p:nvSpPr>
          <p:cNvPr id="6" name="Text 4"/>
          <p:cNvSpPr/>
          <p:nvPr/>
        </p:nvSpPr>
        <p:spPr>
          <a:xfrm>
            <a:off x="685800" y="2029968"/>
            <a:ext cx="4526280" cy="246888"/>
          </a:xfrm>
          <a:prstGeom prst="rect">
            <a:avLst/>
          </a:prstGeom>
          <a:noFill/>
          <a:ln/>
        </p:spPr>
        <p:txBody>
          <a:bodyPr wrap="square" lIns="0" tIns="0" rIns="0" bIns="0" rtlCol="0" anchor="ctr"/>
          <a:lstStyle/>
          <a:p>
            <a:pPr indent="0" marL="0">
              <a:buNone/>
            </a:pPr>
            <a:r>
              <a:rPr lang="en-US" sz="1250" b="1" dirty="0">
                <a:solidFill>
                  <a:srgbClr val="003087"/>
                </a:solidFill>
                <a:latin typeface="Trebuchet MS" pitchFamily="34" charset="0"/>
                <a:ea typeface="Trebuchet MS" pitchFamily="34" charset="-122"/>
                <a:cs typeface="Trebuchet MS" pitchFamily="34" charset="-120"/>
              </a:rPr>
              <a:t>The time-poor</a:t>
            </a:r>
            <a:endParaRPr lang="en-US" sz="1250" dirty="0"/>
          </a:p>
        </p:txBody>
      </p:sp>
      <p:sp>
        <p:nvSpPr>
          <p:cNvPr id="7" name="Text 5"/>
          <p:cNvSpPr/>
          <p:nvPr/>
        </p:nvSpPr>
        <p:spPr>
          <a:xfrm>
            <a:off x="685800" y="2267712"/>
            <a:ext cx="4526280" cy="457200"/>
          </a:xfrm>
          <a:prstGeom prst="rect">
            <a:avLst/>
          </a:prstGeom>
          <a:noFill/>
          <a:ln/>
        </p:spPr>
        <p:txBody>
          <a:bodyPr wrap="square" lIns="0" tIns="0" rIns="0" bIns="0" rtlCol="0" anchor="ctr"/>
          <a:lstStyle/>
          <a:p>
            <a:pPr indent="0" marL="0">
              <a:buNone/>
            </a:pPr>
            <a:r>
              <a:rPr lang="en-US" sz="1000" dirty="0">
                <a:solidFill>
                  <a:srgbClr val="4C6272"/>
                </a:solidFill>
                <a:latin typeface="Calibri" pitchFamily="34" charset="0"/>
                <a:ea typeface="Calibri" pitchFamily="34" charset="-122"/>
                <a:cs typeface="Calibri" pitchFamily="34" charset="-120"/>
              </a:rPr>
              <a:t>Shift workers and single parents for whom a clinic slot costs half a day’s income. The bloods slip, not from neglect, from arithmetic.</a:t>
            </a:r>
            <a:endParaRPr lang="en-US" sz="1000" dirty="0"/>
          </a:p>
        </p:txBody>
      </p:sp>
      <p:sp>
        <p:nvSpPr>
          <p:cNvPr id="8" name="Shape 6"/>
          <p:cNvSpPr/>
          <p:nvPr/>
        </p:nvSpPr>
        <p:spPr>
          <a:xfrm>
            <a:off x="502920" y="2862072"/>
            <a:ext cx="4846320" cy="786384"/>
          </a:xfrm>
          <a:prstGeom prst="rect">
            <a:avLst/>
          </a:prstGeom>
          <a:solidFill>
            <a:srgbClr val="FFFFFF"/>
          </a:solidFill>
          <a:ln w="9525">
            <a:solidFill>
              <a:srgbClr val="E3E9F0"/>
            </a:solidFill>
            <a:prstDash val="solid"/>
          </a:ln>
          <a:effectLst>
            <a:outerShdw sx="100000" sy="100000" kx="0" ky="0" algn="bl" rotWithShape="0" blurRad="114300" dist="38100" dir="8100000">
              <a:srgbClr val="0A1F3C">
                <a:alpha val="18000"/>
              </a:srgbClr>
            </a:outerShdw>
          </a:effectLst>
        </p:spPr>
        <p:txBody>
          <a:bodyPr/>
          <a:p/>
        </p:txBody>
      </p:sp>
      <p:sp>
        <p:nvSpPr>
          <p:cNvPr id="9" name="Shape 7"/>
          <p:cNvSpPr/>
          <p:nvPr/>
        </p:nvSpPr>
        <p:spPr>
          <a:xfrm>
            <a:off x="502920" y="2862072"/>
            <a:ext cx="64008" cy="786384"/>
          </a:xfrm>
          <a:prstGeom prst="rect">
            <a:avLst/>
          </a:prstGeom>
          <a:solidFill>
            <a:srgbClr val="005EB8"/>
          </a:solidFill>
          <a:ln/>
        </p:spPr>
        <p:txBody>
          <a:bodyPr/>
          <a:p/>
        </p:txBody>
      </p:sp>
      <p:sp>
        <p:nvSpPr>
          <p:cNvPr id="10" name="Text 8"/>
          <p:cNvSpPr/>
          <p:nvPr/>
        </p:nvSpPr>
        <p:spPr>
          <a:xfrm>
            <a:off x="685800" y="2926080"/>
            <a:ext cx="4526280" cy="246888"/>
          </a:xfrm>
          <a:prstGeom prst="rect">
            <a:avLst/>
          </a:prstGeom>
          <a:noFill/>
          <a:ln/>
        </p:spPr>
        <p:txBody>
          <a:bodyPr wrap="square" lIns="0" tIns="0" rIns="0" bIns="0" rtlCol="0" anchor="ctr"/>
          <a:lstStyle/>
          <a:p>
            <a:pPr indent="0" marL="0">
              <a:buNone/>
            </a:pPr>
            <a:r>
              <a:rPr lang="en-US" sz="1250" b="1" dirty="0">
                <a:solidFill>
                  <a:srgbClr val="003087"/>
                </a:solidFill>
                <a:latin typeface="Trebuchet MS" pitchFamily="34" charset="0"/>
                <a:ea typeface="Trebuchet MS" pitchFamily="34" charset="-122"/>
                <a:cs typeface="Trebuchet MS" pitchFamily="34" charset="-120"/>
              </a:rPr>
              <a:t>The stigma-wary</a:t>
            </a:r>
            <a:endParaRPr lang="en-US" sz="1250" dirty="0"/>
          </a:p>
        </p:txBody>
      </p:sp>
      <p:sp>
        <p:nvSpPr>
          <p:cNvPr id="11" name="Text 9"/>
          <p:cNvSpPr/>
          <p:nvPr/>
        </p:nvSpPr>
        <p:spPr>
          <a:xfrm>
            <a:off x="685800" y="3163824"/>
            <a:ext cx="4526280" cy="457200"/>
          </a:xfrm>
          <a:prstGeom prst="rect">
            <a:avLst/>
          </a:prstGeom>
          <a:noFill/>
          <a:ln/>
        </p:spPr>
        <p:txBody>
          <a:bodyPr wrap="square" lIns="0" tIns="0" rIns="0" bIns="0" rtlCol="0" anchor="ctr"/>
          <a:lstStyle/>
          <a:p>
            <a:pPr indent="0" marL="0">
              <a:buNone/>
            </a:pPr>
            <a:r>
              <a:rPr lang="en-US" sz="1000" dirty="0">
                <a:solidFill>
                  <a:srgbClr val="4C6272"/>
                </a:solidFill>
                <a:latin typeface="Calibri" pitchFamily="34" charset="0"/>
                <a:ea typeface="Calibri" pitchFamily="34" charset="-122"/>
                <a:cs typeface="Calibri" pitchFamily="34" charset="-120"/>
              </a:rPr>
              <a:t>People who will do a test at their own kitchen table but will never sit in certain waiting rooms, whatever the condition.</a:t>
            </a:r>
            <a:endParaRPr lang="en-US" sz="1000" dirty="0"/>
          </a:p>
        </p:txBody>
      </p:sp>
      <p:sp>
        <p:nvSpPr>
          <p:cNvPr id="12" name="Shape 10"/>
          <p:cNvSpPr/>
          <p:nvPr/>
        </p:nvSpPr>
        <p:spPr>
          <a:xfrm>
            <a:off x="502920" y="3758184"/>
            <a:ext cx="4846320" cy="786384"/>
          </a:xfrm>
          <a:prstGeom prst="rect">
            <a:avLst/>
          </a:prstGeom>
          <a:solidFill>
            <a:srgbClr val="FFFFFF"/>
          </a:solidFill>
          <a:ln w="9525">
            <a:solidFill>
              <a:srgbClr val="E3E9F0"/>
            </a:solidFill>
            <a:prstDash val="solid"/>
          </a:ln>
          <a:effectLst>
            <a:outerShdw sx="100000" sy="100000" kx="0" ky="0" algn="bl" rotWithShape="0" blurRad="114300" dist="38100" dir="8100000">
              <a:srgbClr val="0A1F3C">
                <a:alpha val="18000"/>
              </a:srgbClr>
            </a:outerShdw>
          </a:effectLst>
        </p:spPr>
        <p:txBody>
          <a:bodyPr/>
          <a:p/>
        </p:txBody>
      </p:sp>
      <p:sp>
        <p:nvSpPr>
          <p:cNvPr id="13" name="Shape 11"/>
          <p:cNvSpPr/>
          <p:nvPr/>
        </p:nvSpPr>
        <p:spPr>
          <a:xfrm>
            <a:off x="502920" y="3758184"/>
            <a:ext cx="64008" cy="786384"/>
          </a:xfrm>
          <a:prstGeom prst="rect">
            <a:avLst/>
          </a:prstGeom>
          <a:solidFill>
            <a:srgbClr val="005EB8"/>
          </a:solidFill>
          <a:ln/>
        </p:spPr>
        <p:txBody>
          <a:bodyPr/>
          <a:p/>
        </p:txBody>
      </p:sp>
      <p:sp>
        <p:nvSpPr>
          <p:cNvPr id="14" name="Text 12"/>
          <p:cNvSpPr/>
          <p:nvPr/>
        </p:nvSpPr>
        <p:spPr>
          <a:xfrm>
            <a:off x="685800" y="3822192"/>
            <a:ext cx="4526280" cy="246888"/>
          </a:xfrm>
          <a:prstGeom prst="rect">
            <a:avLst/>
          </a:prstGeom>
          <a:noFill/>
          <a:ln/>
        </p:spPr>
        <p:txBody>
          <a:bodyPr wrap="square" lIns="0" tIns="0" rIns="0" bIns="0" rtlCol="0" anchor="ctr"/>
          <a:lstStyle/>
          <a:p>
            <a:pPr indent="0" marL="0">
              <a:buNone/>
            </a:pPr>
            <a:r>
              <a:rPr lang="en-US" sz="1250" b="1" dirty="0">
                <a:solidFill>
                  <a:srgbClr val="003087"/>
                </a:solidFill>
                <a:latin typeface="Trebuchet MS" pitchFamily="34" charset="0"/>
                <a:ea typeface="Trebuchet MS" pitchFamily="34" charset="-122"/>
                <a:cs typeface="Trebuchet MS" pitchFamily="34" charset="-120"/>
              </a:rPr>
              <a:t>The system-failed</a:t>
            </a:r>
            <a:endParaRPr lang="en-US" sz="1250" dirty="0"/>
          </a:p>
        </p:txBody>
      </p:sp>
      <p:sp>
        <p:nvSpPr>
          <p:cNvPr id="15" name="Text 13"/>
          <p:cNvSpPr/>
          <p:nvPr/>
        </p:nvSpPr>
        <p:spPr>
          <a:xfrm>
            <a:off x="685800" y="4059936"/>
            <a:ext cx="4526280" cy="457200"/>
          </a:xfrm>
          <a:prstGeom prst="rect">
            <a:avLst/>
          </a:prstGeom>
          <a:noFill/>
          <a:ln/>
        </p:spPr>
        <p:txBody>
          <a:bodyPr wrap="square" lIns="0" tIns="0" rIns="0" bIns="0" rtlCol="0" anchor="ctr"/>
          <a:lstStyle/>
          <a:p>
            <a:pPr indent="0" marL="0">
              <a:buNone/>
            </a:pPr>
            <a:r>
              <a:rPr lang="en-US" sz="1000" dirty="0">
                <a:solidFill>
                  <a:srgbClr val="4C6272"/>
                </a:solidFill>
                <a:latin typeface="Calibri" pitchFamily="34" charset="0"/>
                <a:ea typeface="Calibri" pitchFamily="34" charset="-122"/>
                <a:cs typeface="Calibri" pitchFamily="34" charset="-120"/>
              </a:rPr>
              <a:t>People with learning disabilities, serious mental illness, needle phobia, for whom the appointment itself is the wall.</a:t>
            </a:r>
            <a:endParaRPr lang="en-US" sz="1000" dirty="0"/>
          </a:p>
        </p:txBody>
      </p:sp>
      <p:sp>
        <p:nvSpPr>
          <p:cNvPr id="16" name="Shape 14"/>
          <p:cNvSpPr/>
          <p:nvPr/>
        </p:nvSpPr>
        <p:spPr>
          <a:xfrm>
            <a:off x="5715000" y="1463040"/>
            <a:ext cx="2971800" cy="3200400"/>
          </a:xfrm>
          <a:prstGeom prst="rect">
            <a:avLst/>
          </a:prstGeom>
          <a:solidFill>
            <a:srgbClr val="003087"/>
          </a:solidFill>
          <a:ln/>
          <a:effectLst>
            <a:outerShdw sx="100000" sy="100000" kx="0" ky="0" algn="bl" rotWithShape="0" blurRad="114300" dist="38100" dir="8100000">
              <a:srgbClr val="0A1F3C">
                <a:alpha val="18000"/>
              </a:srgbClr>
            </a:outerShdw>
          </a:effectLst>
        </p:spPr>
        <p:txBody>
          <a:bodyPr/>
          <a:p/>
        </p:txBody>
      </p:sp>
      <p:sp>
        <p:nvSpPr>
          <p:cNvPr id="17" name="Text 15"/>
          <p:cNvSpPr/>
          <p:nvPr/>
        </p:nvSpPr>
        <p:spPr>
          <a:xfrm>
            <a:off x="5715000" y="1783080"/>
            <a:ext cx="2971800" cy="777240"/>
          </a:xfrm>
          <a:prstGeom prst="rect">
            <a:avLst/>
          </a:prstGeom>
          <a:noFill/>
          <a:ln/>
        </p:spPr>
        <p:txBody>
          <a:bodyPr wrap="square" lIns="0" tIns="0" rIns="0" bIns="0" rtlCol="0" anchor="ctr"/>
          <a:lstStyle/>
          <a:p>
            <a:pPr algn="ctr" indent="0" marL="0">
              <a:buNone/>
            </a:pPr>
            <a:r>
              <a:rPr lang="en-US" sz="4800" b="1" dirty="0">
                <a:solidFill>
                  <a:srgbClr val="FFB91D"/>
                </a:solidFill>
                <a:latin typeface="Trebuchet MS" pitchFamily="34" charset="0"/>
                <a:ea typeface="Trebuchet MS" pitchFamily="34" charset="-122"/>
                <a:cs typeface="Trebuchet MS" pitchFamily="34" charset="-120"/>
              </a:rPr>
              <a:t>DNA</a:t>
            </a:r>
            <a:endParaRPr lang="en-US" sz="4800" dirty="0"/>
          </a:p>
        </p:txBody>
      </p:sp>
      <p:sp>
        <p:nvSpPr>
          <p:cNvPr id="18" name="Text 16"/>
          <p:cNvSpPr/>
          <p:nvPr/>
        </p:nvSpPr>
        <p:spPr>
          <a:xfrm>
            <a:off x="5715000" y="2560320"/>
            <a:ext cx="29718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 disengaged</a:t>
            </a:r>
            <a:endParaRPr lang="en-US" sz="2200" dirty="0"/>
          </a:p>
        </p:txBody>
      </p:sp>
      <p:sp>
        <p:nvSpPr>
          <p:cNvPr id="19" name="Text 17"/>
          <p:cNvSpPr/>
          <p:nvPr/>
        </p:nvSpPr>
        <p:spPr>
          <a:xfrm>
            <a:off x="5943600" y="3200400"/>
            <a:ext cx="2514600" cy="1188720"/>
          </a:xfrm>
          <a:prstGeom prst="rect">
            <a:avLst/>
          </a:prstGeom>
          <a:noFill/>
          <a:ln/>
        </p:spPr>
        <p:txBody>
          <a:bodyPr wrap="square" lIns="0" tIns="0" rIns="0" bIns="0" rtlCol="0" anchor="ctr"/>
          <a:lstStyle/>
          <a:p>
            <a:pPr algn="ctr" indent="0" marL="0">
              <a:buNone/>
            </a:pPr>
            <a:r>
              <a:rPr lang="en-US" sz="1150" dirty="0">
                <a:solidFill>
                  <a:srgbClr val="CFE0F5"/>
                </a:solidFill>
                <a:latin typeface="Calibri" pitchFamily="34" charset="0"/>
                <a:ea typeface="Calibri" pitchFamily="34" charset="-122"/>
                <a:cs typeface="Calibri" pitchFamily="34" charset="-120"/>
              </a:rPr>
              <a:t>A “did not attend” code cannot tell would not from could not, and the could-nots are exactly who late diagnosis finds.</a:t>
            </a:r>
            <a:endParaRPr lang="en-US" sz="1150" dirty="0"/>
          </a:p>
        </p:txBody>
      </p:sp>
      <p:sp>
        <p:nvSpPr>
          <p:cNvPr id="20" name="Text 18"/>
          <p:cNvSpPr/>
          <p:nvPr/>
        </p:nvSpPr>
        <p:spPr>
          <a:xfrm>
            <a:off x="457200" y="4864608"/>
            <a:ext cx="8229600" cy="228600"/>
          </a:xfrm>
          <a:prstGeom prst="rect">
            <a:avLst/>
          </a:prstGeom>
          <a:noFill/>
          <a:ln/>
        </p:spPr>
        <p:txBody>
          <a:bodyPr wrap="square" lIns="0" tIns="0" rIns="0" bIns="0" rtlCol="0" anchor="ctr"/>
          <a:lstStyle/>
          <a:p>
            <a:pPr indent="0" marL="0">
              <a:buNone/>
            </a:pPr>
            <a:r>
              <a:rPr lang="en-US" sz="800" dirty="0">
                <a:solidFill>
                  <a:srgbClr val="7E8B97"/>
                </a:solidFill>
                <a:latin typeface="Calibri" pitchFamily="34" charset="0"/>
                <a:ea typeface="Calibri" pitchFamily="34" charset="-122"/>
                <a:cs typeface="Calibri" pitchFamily="34" charset="-120"/>
              </a:rPr>
              <a:t>Hearts and Minds · audience deck No.1 · Commissioner edition · proof-of-concept draft ⚑ · updated September 2026</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411480"/>
            <a:ext cx="8229600" cy="594360"/>
          </a:xfrm>
          <a:prstGeom prst="rect">
            <a:avLst/>
          </a:prstGeom>
          <a:noFill/>
          <a:ln/>
        </p:spPr>
        <p:txBody>
          <a:bodyPr wrap="square" lIns="0" tIns="0" rIns="0" bIns="0" rtlCol="0" anchor="ctr"/>
          <a:lstStyle/>
          <a:p>
            <a:pPr indent="0" marL="0">
              <a:buNone/>
            </a:pPr>
            <a:r>
              <a:rPr lang="en-US" sz="2500" b="1" dirty="0">
                <a:solidFill>
                  <a:srgbClr val="003087"/>
                </a:solidFill>
                <a:latin typeface="Trebuchet MS" pitchFamily="34" charset="0"/>
                <a:ea typeface="Trebuchet MS" pitchFamily="34" charset="-122"/>
                <a:cs typeface="Trebuchet MS" pitchFamily="34" charset="-120"/>
              </a:rPr>
              <a:t>The system you are buying against is running out of road.</a:t>
            </a:r>
            <a:endParaRPr lang="en-US" sz="2500" dirty="0"/>
          </a:p>
        </p:txBody>
      </p:sp>
      <p:sp>
        <p:nvSpPr>
          <p:cNvPr id="3" name="Text 1"/>
          <p:cNvSpPr/>
          <p:nvPr/>
        </p:nvSpPr>
        <p:spPr>
          <a:xfrm>
            <a:off x="502920" y="1143000"/>
            <a:ext cx="3108960" cy="868680"/>
          </a:xfrm>
          <a:prstGeom prst="rect">
            <a:avLst/>
          </a:prstGeom>
          <a:noFill/>
          <a:ln/>
        </p:spPr>
        <p:txBody>
          <a:bodyPr wrap="square" lIns="0" tIns="0" rIns="0" bIns="0" rtlCol="0" anchor="ctr"/>
          <a:lstStyle/>
          <a:p>
            <a:pPr indent="0" marL="0">
              <a:buNone/>
            </a:pPr>
            <a:r>
              <a:rPr lang="en-US" sz="5400" b="1" dirty="0">
                <a:solidFill>
                  <a:srgbClr val="003087"/>
                </a:solidFill>
                <a:latin typeface="Trebuchet MS" pitchFamily="34" charset="0"/>
                <a:ea typeface="Trebuchet MS" pitchFamily="34" charset="-122"/>
                <a:cs typeface="Trebuchet MS" pitchFamily="34" charset="-120"/>
              </a:rPr>
              <a:t>1.25bn</a:t>
            </a:r>
            <a:endParaRPr lang="en-US" sz="5400" dirty="0"/>
          </a:p>
        </p:txBody>
      </p:sp>
      <p:sp>
        <p:nvSpPr>
          <p:cNvPr id="4" name="Text 2"/>
          <p:cNvSpPr/>
          <p:nvPr/>
        </p:nvSpPr>
        <p:spPr>
          <a:xfrm>
            <a:off x="502920" y="2057400"/>
            <a:ext cx="3291840" cy="1463040"/>
          </a:xfrm>
          <a:prstGeom prst="rect">
            <a:avLst/>
          </a:prstGeom>
          <a:noFill/>
          <a:ln/>
        </p:spPr>
        <p:txBody>
          <a:bodyPr wrap="square" lIns="0" tIns="0" rIns="0" bIns="0" rtlCol="0" anchor="ctr"/>
          <a:lstStyle/>
          <a:p>
            <a:pPr indent="0" marL="0">
              <a:buNone/>
            </a:pPr>
            <a:r>
              <a:rPr lang="en-US" sz="1250" dirty="0">
                <a:solidFill>
                  <a:srgbClr val="4C6272"/>
                </a:solidFill>
                <a:latin typeface="Calibri" pitchFamily="34" charset="0"/>
                <a:ea typeface="Calibri" pitchFamily="34" charset="-122"/>
                <a:cs typeface="Calibri" pitchFamily="34" charset="-120"/>
              </a:rPr>
              <a:t>NHS pathology test requests projected for 2025/26, growing 5.5% every year. Phlebotomy services are under major strain, and every routine draw still assumes a building, a rota and a patient who can attend.</a:t>
            </a:r>
            <a:endParaRPr lang="en-US" sz="1250" dirty="0"/>
          </a:p>
        </p:txBody>
      </p:sp>
      <p:sp>
        <p:nvSpPr>
          <p:cNvPr id="5" name="Shape 3"/>
          <p:cNvSpPr/>
          <p:nvPr/>
        </p:nvSpPr>
        <p:spPr>
          <a:xfrm>
            <a:off x="4297680" y="2109338"/>
            <a:ext cx="1005840" cy="1228222"/>
          </a:xfrm>
          <a:prstGeom prst="rect">
            <a:avLst/>
          </a:prstGeom>
          <a:solidFill>
            <a:srgbClr val="7FA8D9"/>
          </a:solidFill>
          <a:ln/>
        </p:spPr>
        <p:txBody>
          <a:bodyPr/>
          <a:p/>
        </p:txBody>
      </p:sp>
      <p:sp>
        <p:nvSpPr>
          <p:cNvPr id="6" name="Text 4"/>
          <p:cNvSpPr/>
          <p:nvPr/>
        </p:nvSpPr>
        <p:spPr>
          <a:xfrm>
            <a:off x="4114800" y="1780154"/>
            <a:ext cx="1371600" cy="274320"/>
          </a:xfrm>
          <a:prstGeom prst="rect">
            <a:avLst/>
          </a:prstGeom>
          <a:noFill/>
          <a:ln/>
        </p:spPr>
        <p:txBody>
          <a:bodyPr wrap="square" lIns="0" tIns="0" rIns="0" bIns="0" rtlCol="0" anchor="ctr"/>
          <a:lstStyle/>
          <a:p>
            <a:pPr algn="ctr" indent="0" marL="0">
              <a:buNone/>
            </a:pPr>
            <a:r>
              <a:rPr lang="en-US" sz="1300" b="1" dirty="0">
                <a:solidFill>
                  <a:srgbClr val="003087"/>
                </a:solidFill>
                <a:latin typeface="Trebuchet MS" pitchFamily="34" charset="0"/>
                <a:ea typeface="Trebuchet MS" pitchFamily="34" charset="-122"/>
                <a:cs typeface="Trebuchet MS" pitchFamily="34" charset="-120"/>
              </a:rPr>
              <a:t>730m</a:t>
            </a:r>
            <a:endParaRPr lang="en-US" sz="1300" dirty="0"/>
          </a:p>
        </p:txBody>
      </p:sp>
      <p:sp>
        <p:nvSpPr>
          <p:cNvPr id="7" name="Text 5"/>
          <p:cNvSpPr/>
          <p:nvPr/>
        </p:nvSpPr>
        <p:spPr>
          <a:xfrm>
            <a:off x="4114800" y="3401568"/>
            <a:ext cx="1371600" cy="256032"/>
          </a:xfrm>
          <a:prstGeom prst="rect">
            <a:avLst/>
          </a:prstGeom>
          <a:noFill/>
          <a:ln/>
        </p:spPr>
        <p:txBody>
          <a:bodyPr wrap="square" lIns="0" tIns="0" rIns="0" bIns="0" rtlCol="0" anchor="ctr"/>
          <a:lstStyle/>
          <a:p>
            <a:pPr algn="ctr" indent="0" marL="0">
              <a:buNone/>
            </a:pPr>
            <a:r>
              <a:rPr lang="en-US" sz="1000" dirty="0">
                <a:solidFill>
                  <a:srgbClr val="7E8B97"/>
                </a:solidFill>
                <a:latin typeface="Calibri" pitchFamily="34" charset="0"/>
                <a:ea typeface="Calibri" pitchFamily="34" charset="-122"/>
                <a:cs typeface="Calibri" pitchFamily="34" charset="-120"/>
              </a:rPr>
              <a:t>2013/14</a:t>
            </a:r>
            <a:endParaRPr lang="en-US" sz="1000" dirty="0"/>
          </a:p>
        </p:txBody>
      </p:sp>
      <p:sp>
        <p:nvSpPr>
          <p:cNvPr id="8" name="Shape 6"/>
          <p:cNvSpPr/>
          <p:nvPr/>
        </p:nvSpPr>
        <p:spPr>
          <a:xfrm>
            <a:off x="5715000" y="1453164"/>
            <a:ext cx="1005840" cy="1884396"/>
          </a:xfrm>
          <a:prstGeom prst="rect">
            <a:avLst/>
          </a:prstGeom>
          <a:solidFill>
            <a:srgbClr val="7FA8D9"/>
          </a:solidFill>
          <a:ln/>
        </p:spPr>
        <p:txBody>
          <a:bodyPr/>
          <a:p/>
        </p:txBody>
      </p:sp>
      <p:sp>
        <p:nvSpPr>
          <p:cNvPr id="9" name="Text 7"/>
          <p:cNvSpPr/>
          <p:nvPr/>
        </p:nvSpPr>
        <p:spPr>
          <a:xfrm>
            <a:off x="5532120" y="1123980"/>
            <a:ext cx="1371600" cy="274320"/>
          </a:xfrm>
          <a:prstGeom prst="rect">
            <a:avLst/>
          </a:prstGeom>
          <a:noFill/>
          <a:ln/>
        </p:spPr>
        <p:txBody>
          <a:bodyPr wrap="square" lIns="0" tIns="0" rIns="0" bIns="0" rtlCol="0" anchor="ctr"/>
          <a:lstStyle/>
          <a:p>
            <a:pPr algn="ctr" indent="0" marL="0">
              <a:buNone/>
            </a:pPr>
            <a:r>
              <a:rPr lang="en-US" sz="1300" b="1" dirty="0">
                <a:solidFill>
                  <a:srgbClr val="003087"/>
                </a:solidFill>
                <a:latin typeface="Trebuchet MS" pitchFamily="34" charset="0"/>
                <a:ea typeface="Trebuchet MS" pitchFamily="34" charset="-122"/>
                <a:cs typeface="Trebuchet MS" pitchFamily="34" charset="-120"/>
              </a:rPr>
              <a:t>1.12bn</a:t>
            </a:r>
            <a:endParaRPr lang="en-US" sz="1300" dirty="0"/>
          </a:p>
        </p:txBody>
      </p:sp>
      <p:sp>
        <p:nvSpPr>
          <p:cNvPr id="10" name="Text 8"/>
          <p:cNvSpPr/>
          <p:nvPr/>
        </p:nvSpPr>
        <p:spPr>
          <a:xfrm>
            <a:off x="5532120" y="3401568"/>
            <a:ext cx="1371600" cy="256032"/>
          </a:xfrm>
          <a:prstGeom prst="rect">
            <a:avLst/>
          </a:prstGeom>
          <a:noFill/>
          <a:ln/>
        </p:spPr>
        <p:txBody>
          <a:bodyPr wrap="square" lIns="0" tIns="0" rIns="0" bIns="0" rtlCol="0" anchor="ctr"/>
          <a:lstStyle/>
          <a:p>
            <a:pPr algn="ctr" indent="0" marL="0">
              <a:buNone/>
            </a:pPr>
            <a:r>
              <a:rPr lang="en-US" sz="1000" dirty="0">
                <a:solidFill>
                  <a:srgbClr val="7E8B97"/>
                </a:solidFill>
                <a:latin typeface="Calibri" pitchFamily="34" charset="0"/>
                <a:ea typeface="Calibri" pitchFamily="34" charset="-122"/>
                <a:cs typeface="Calibri" pitchFamily="34" charset="-120"/>
              </a:rPr>
              <a:t>2021/22</a:t>
            </a:r>
            <a:endParaRPr lang="en-US" sz="1000" dirty="0"/>
          </a:p>
        </p:txBody>
      </p:sp>
      <p:sp>
        <p:nvSpPr>
          <p:cNvPr id="11" name="Shape 9"/>
          <p:cNvSpPr/>
          <p:nvPr/>
        </p:nvSpPr>
        <p:spPr>
          <a:xfrm>
            <a:off x="7132320" y="1234440"/>
            <a:ext cx="1005840" cy="2103120"/>
          </a:xfrm>
          <a:prstGeom prst="rect">
            <a:avLst/>
          </a:prstGeom>
          <a:solidFill>
            <a:srgbClr val="003087"/>
          </a:solidFill>
          <a:ln/>
        </p:spPr>
        <p:txBody>
          <a:bodyPr/>
          <a:p/>
        </p:txBody>
      </p:sp>
      <p:sp>
        <p:nvSpPr>
          <p:cNvPr id="12" name="Text 10"/>
          <p:cNvSpPr/>
          <p:nvPr/>
        </p:nvSpPr>
        <p:spPr>
          <a:xfrm>
            <a:off x="6949440" y="905256"/>
            <a:ext cx="1371600" cy="274320"/>
          </a:xfrm>
          <a:prstGeom prst="rect">
            <a:avLst/>
          </a:prstGeom>
          <a:noFill/>
          <a:ln/>
        </p:spPr>
        <p:txBody>
          <a:bodyPr wrap="square" lIns="0" tIns="0" rIns="0" bIns="0" rtlCol="0" anchor="ctr"/>
          <a:lstStyle/>
          <a:p>
            <a:pPr algn="ctr" indent="0" marL="0">
              <a:buNone/>
            </a:pPr>
            <a:r>
              <a:rPr lang="en-US" sz="1300" b="1" dirty="0">
                <a:solidFill>
                  <a:srgbClr val="003087"/>
                </a:solidFill>
                <a:latin typeface="Trebuchet MS" pitchFamily="34" charset="0"/>
                <a:ea typeface="Trebuchet MS" pitchFamily="34" charset="-122"/>
                <a:cs typeface="Trebuchet MS" pitchFamily="34" charset="-120"/>
              </a:rPr>
              <a:t>1.25bn</a:t>
            </a:r>
            <a:endParaRPr lang="en-US" sz="1300" dirty="0"/>
          </a:p>
        </p:txBody>
      </p:sp>
      <p:sp>
        <p:nvSpPr>
          <p:cNvPr id="13" name="Text 11"/>
          <p:cNvSpPr/>
          <p:nvPr/>
        </p:nvSpPr>
        <p:spPr>
          <a:xfrm>
            <a:off x="6949440" y="3401568"/>
            <a:ext cx="1371600" cy="256032"/>
          </a:xfrm>
          <a:prstGeom prst="rect">
            <a:avLst/>
          </a:prstGeom>
          <a:noFill/>
          <a:ln/>
        </p:spPr>
        <p:txBody>
          <a:bodyPr wrap="square" lIns="0" tIns="0" rIns="0" bIns="0" rtlCol="0" anchor="ctr"/>
          <a:lstStyle/>
          <a:p>
            <a:pPr algn="ctr" indent="0" marL="0">
              <a:buNone/>
            </a:pPr>
            <a:r>
              <a:rPr lang="en-US" sz="1000" dirty="0">
                <a:solidFill>
                  <a:srgbClr val="7E8B97"/>
                </a:solidFill>
                <a:latin typeface="Calibri" pitchFamily="34" charset="0"/>
                <a:ea typeface="Calibri" pitchFamily="34" charset="-122"/>
                <a:cs typeface="Calibri" pitchFamily="34" charset="-120"/>
              </a:rPr>
              <a:t>2025/26</a:t>
            </a:r>
            <a:endParaRPr lang="en-US" sz="1000" dirty="0"/>
          </a:p>
        </p:txBody>
      </p:sp>
      <p:sp>
        <p:nvSpPr>
          <p:cNvPr id="14" name="Text 12"/>
          <p:cNvSpPr/>
          <p:nvPr/>
        </p:nvSpPr>
        <p:spPr>
          <a:xfrm>
            <a:off x="4297680" y="713232"/>
            <a:ext cx="2011680" cy="237744"/>
          </a:xfrm>
          <a:prstGeom prst="rect">
            <a:avLst/>
          </a:prstGeom>
          <a:noFill/>
          <a:ln/>
        </p:spPr>
        <p:txBody>
          <a:bodyPr wrap="square" lIns="0" tIns="0" rIns="0" bIns="0" rtlCol="0" anchor="ctr"/>
          <a:lstStyle/>
          <a:p>
            <a:pPr indent="0" marL="0">
              <a:buNone/>
            </a:pPr>
            <a:r>
              <a:rPr lang="en-US" sz="950" b="1" spc="200" kern="0" dirty="0">
                <a:solidFill>
                  <a:srgbClr val="7E8B97"/>
                </a:solidFill>
                <a:latin typeface="Trebuchet MS" pitchFamily="34" charset="0"/>
                <a:ea typeface="Trebuchet MS" pitchFamily="34" charset="-122"/>
                <a:cs typeface="Trebuchet MS" pitchFamily="34" charset="-120"/>
              </a:rPr>
              <a:t>TEST REQUESTS P.A.</a:t>
            </a:r>
            <a:endParaRPr lang="en-US" sz="950" dirty="0"/>
          </a:p>
        </p:txBody>
      </p:sp>
      <p:sp>
        <p:nvSpPr>
          <p:cNvPr id="15" name="Shape 13"/>
          <p:cNvSpPr/>
          <p:nvPr/>
        </p:nvSpPr>
        <p:spPr>
          <a:xfrm>
            <a:off x="502920" y="3886200"/>
            <a:ext cx="8183880" cy="777240"/>
          </a:xfrm>
          <a:prstGeom prst="rect">
            <a:avLst/>
          </a:prstGeom>
          <a:solidFill>
            <a:srgbClr val="FFF9EC"/>
          </a:solidFill>
          <a:ln w="12700">
            <a:solidFill>
              <a:srgbClr val="FFB91D"/>
            </a:solidFill>
            <a:prstDash val="solid"/>
          </a:ln>
        </p:spPr>
        <p:txBody>
          <a:bodyPr/>
          <a:p/>
        </p:txBody>
      </p:sp>
      <p:sp>
        <p:nvSpPr>
          <p:cNvPr id="16" name="Text 14"/>
          <p:cNvSpPr/>
          <p:nvPr/>
        </p:nvSpPr>
        <p:spPr>
          <a:xfrm>
            <a:off x="731520" y="3977640"/>
            <a:ext cx="7726680" cy="594360"/>
          </a:xfrm>
          <a:prstGeom prst="rect">
            <a:avLst/>
          </a:prstGeom>
          <a:noFill/>
          <a:ln/>
        </p:spPr>
        <p:txBody>
          <a:bodyPr wrap="square" lIns="0" tIns="0" rIns="0" bIns="0" rtlCol="0" anchor="ctr"/>
          <a:lstStyle/>
          <a:p>
            <a:pPr indent="0" marL="0">
              <a:buNone/>
            </a:pPr>
            <a:r>
              <a:rPr lang="en-US" sz="1100" i="1" dirty="0">
                <a:solidFill>
                  <a:srgbClr val="212B32"/>
                </a:solidFill>
                <a:latin typeface="Calibri" pitchFamily="34" charset="0"/>
                <a:ea typeface="Calibri" pitchFamily="34" charset="-122"/>
                <a:cs typeface="Calibri" pitchFamily="34" charset="-120"/>
              </a:rPr>
              <a:t>“The NHS App will transform how patients access care online and offline, 24 hours a day, and help people manage their own health as easily as they bank or shop online.” </a:t>
            </a:r>
            <a:pPr indent="0" marL="0">
              <a:buNone/>
            </a:pPr>
            <a:r>
              <a:rPr lang="en-US" sz="1100" b="1" dirty="0">
                <a:solidFill>
                  <a:srgbClr val="9A6700"/>
                </a:solidFill>
                <a:latin typeface="Calibri" pitchFamily="34" charset="0"/>
                <a:ea typeface="Calibri" pitchFamily="34" charset="-122"/>
                <a:cs typeface="Calibri" pitchFamily="34" charset="-120"/>
              </a:rPr>
              <a:t>, 10 Year Health Plan for England, July 2025</a:t>
            </a:r>
            <a:endParaRPr lang="en-US" sz="1100" dirty="0"/>
          </a:p>
        </p:txBody>
      </p:sp>
      <p:sp>
        <p:nvSpPr>
          <p:cNvPr id="17" name="Text 15"/>
          <p:cNvSpPr/>
          <p:nvPr/>
        </p:nvSpPr>
        <p:spPr>
          <a:xfrm>
            <a:off x="457200" y="4864608"/>
            <a:ext cx="8229600" cy="228600"/>
          </a:xfrm>
          <a:prstGeom prst="rect">
            <a:avLst/>
          </a:prstGeom>
          <a:noFill/>
          <a:ln/>
        </p:spPr>
        <p:txBody>
          <a:bodyPr wrap="square" lIns="0" tIns="0" rIns="0" bIns="0" rtlCol="0" anchor="ctr"/>
          <a:lstStyle/>
          <a:p>
            <a:pPr indent="0" marL="0">
              <a:buNone/>
            </a:pPr>
            <a:r>
              <a:rPr lang="en-US" sz="800" dirty="0">
                <a:solidFill>
                  <a:srgbClr val="7E8B97"/>
                </a:solidFill>
                <a:latin typeface="Calibri" pitchFamily="34" charset="0"/>
                <a:ea typeface="Calibri" pitchFamily="34" charset="-122"/>
                <a:cs typeface="Calibri" pitchFamily="34" charset="-120"/>
              </a:rPr>
              <a:t>Hearts and Minds · audience deck No.1 · Commissioner edition · proof-of-concept draft ⚑ · updated September 2026</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pic>
        <p:nvPicPr>
          <p:cNvPr id="2" name="Image 0" descr="/sessions/ecstatic-hopeful-clarke/mnt/NHS/dtx-ecosystem/assets/sean story/sean-stage4.png">    </p:cNvPr>
          <p:cNvPicPr>
            <a:picLocks noChangeAspect="1"/>
          </p:cNvPicPr>
          <p:nvPr/>
        </p:nvPicPr>
        <p:blipFill>
          <a:blip r:embed="rId1"/>
          <a:srcRect l="0" r="0" t="0" b="0"/>
          <a:stretch/>
        </p:blipFill>
        <p:spPr>
          <a:xfrm>
            <a:off x="5623560" y="0"/>
            <a:ext cx="3520440" cy="5143500"/>
          </a:xfrm>
          <a:prstGeom prst="rect">
            <a:avLst/>
          </a:prstGeom>
        </p:spPr>
      </p:pic>
      <p:sp>
        <p:nvSpPr>
          <p:cNvPr id="3" name="Shape 0"/>
          <p:cNvSpPr/>
          <p:nvPr/>
        </p:nvSpPr>
        <p:spPr>
          <a:xfrm>
            <a:off x="5440680" y="0"/>
            <a:ext cx="182880" cy="5143500"/>
          </a:xfrm>
          <a:prstGeom prst="rect">
            <a:avLst/>
          </a:prstGeom>
          <a:solidFill>
            <a:srgbClr val="FFB91D"/>
          </a:solidFill>
          <a:ln/>
        </p:spPr>
        <p:txBody>
          <a:bodyPr/>
          <a:p/>
        </p:txBody>
      </p:sp>
      <p:sp>
        <p:nvSpPr>
          <p:cNvPr id="4" name="Text 1"/>
          <p:cNvSpPr/>
          <p:nvPr/>
        </p:nvSpPr>
        <p:spPr>
          <a:xfrm>
            <a:off x="502920" y="457200"/>
            <a:ext cx="4572000" cy="274320"/>
          </a:xfrm>
          <a:prstGeom prst="rect">
            <a:avLst/>
          </a:prstGeom>
          <a:noFill/>
          <a:ln/>
        </p:spPr>
        <p:txBody>
          <a:bodyPr wrap="square" lIns="0" tIns="0" rIns="0" bIns="0" rtlCol="0" anchor="ctr"/>
          <a:lstStyle/>
          <a:p>
            <a:pPr indent="0" marL="0">
              <a:buNone/>
            </a:pPr>
            <a:r>
              <a:rPr lang="en-US" sz="1050" b="1" spc="300" kern="0" dirty="0">
                <a:solidFill>
                  <a:srgbClr val="9A6700"/>
                </a:solidFill>
                <a:latin typeface="Trebuchet MS" pitchFamily="34" charset="0"/>
                <a:ea typeface="Trebuchet MS" pitchFamily="34" charset="-122"/>
                <a:cs typeface="Trebuchet MS" pitchFamily="34" charset="-120"/>
              </a:rPr>
              <a:t>HOMETEST · THE SERVICE</a:t>
            </a:r>
            <a:endParaRPr lang="en-US" sz="1050" dirty="0"/>
          </a:p>
        </p:txBody>
      </p:sp>
      <p:sp>
        <p:nvSpPr>
          <p:cNvPr id="5" name="Text 2"/>
          <p:cNvSpPr/>
          <p:nvPr/>
        </p:nvSpPr>
        <p:spPr>
          <a:xfrm>
            <a:off x="457200" y="777240"/>
            <a:ext cx="4846320" cy="1051560"/>
          </a:xfrm>
          <a:prstGeom prst="rect">
            <a:avLst/>
          </a:prstGeom>
          <a:noFill/>
          <a:ln/>
        </p:spPr>
        <p:txBody>
          <a:bodyPr wrap="square" lIns="0" tIns="0" rIns="0" bIns="0" rtlCol="0" anchor="ctr"/>
          <a:lstStyle/>
          <a:p>
            <a:pPr indent="0" marL="0">
              <a:buNone/>
            </a:pPr>
            <a:r>
              <a:rPr lang="en-US" sz="2500" b="1" dirty="0">
                <a:solidFill>
                  <a:srgbClr val="003087"/>
                </a:solidFill>
                <a:latin typeface="Trebuchet MS" pitchFamily="34" charset="0"/>
                <a:ea typeface="Trebuchet MS" pitchFamily="34" charset="-122"/>
                <a:cs typeface="Trebuchet MS" pitchFamily="34" charset="-120"/>
              </a:rPr>
              <a:t>Tests that come to the patient, not the other way round.</a:t>
            </a:r>
            <a:endParaRPr lang="en-US" sz="2500" dirty="0"/>
          </a:p>
        </p:txBody>
      </p:sp>
      <p:sp>
        <p:nvSpPr>
          <p:cNvPr id="6" name="Text 3"/>
          <p:cNvSpPr/>
          <p:nvPr/>
        </p:nvSpPr>
        <p:spPr>
          <a:xfrm>
            <a:off x="502920" y="1920240"/>
            <a:ext cx="4663440" cy="960120"/>
          </a:xfrm>
          <a:prstGeom prst="rect">
            <a:avLst/>
          </a:prstGeom>
          <a:noFill/>
          <a:ln/>
        </p:spPr>
        <p:txBody>
          <a:bodyPr wrap="square" lIns="0" tIns="0" rIns="0" bIns="0" rtlCol="0" anchor="ctr"/>
          <a:lstStyle/>
          <a:p>
            <a:pPr indent="0" marL="0">
              <a:buNone/>
            </a:pPr>
            <a:r>
              <a:rPr lang="en-US" sz="1300" dirty="0">
                <a:solidFill>
                  <a:srgbClr val="212B32"/>
                </a:solidFill>
                <a:latin typeface="Calibri" pitchFamily="34" charset="0"/>
                <a:ea typeface="Calibri" pitchFamily="34" charset="-122"/>
                <a:cs typeface="Calibri" pitchFamily="34" charset="-120"/>
              </a:rPr>
              <a:t>Kit through the door → sample to an accredited lab → result into the record, with the care pathway attached. Ordered by the patient, their clinician or their GP, one platform serving all three patterns.</a:t>
            </a:r>
            <a:endParaRPr lang="en-US" sz="1300" dirty="0"/>
          </a:p>
        </p:txBody>
      </p:sp>
      <p:sp>
        <p:nvSpPr>
          <p:cNvPr id="7" name="Shape 4"/>
          <p:cNvSpPr/>
          <p:nvPr/>
        </p:nvSpPr>
        <p:spPr>
          <a:xfrm>
            <a:off x="502920" y="3026664"/>
            <a:ext cx="146304" cy="146304"/>
          </a:xfrm>
          <a:prstGeom prst="ellipse">
            <a:avLst/>
          </a:prstGeom>
          <a:solidFill>
            <a:srgbClr val="FFB91D"/>
          </a:solidFill>
          <a:ln/>
        </p:spPr>
        <p:txBody>
          <a:bodyPr/>
          <a:p/>
        </p:txBody>
      </p:sp>
      <p:sp>
        <p:nvSpPr>
          <p:cNvPr id="8" name="Text 5"/>
          <p:cNvSpPr/>
          <p:nvPr/>
        </p:nvSpPr>
        <p:spPr>
          <a:xfrm>
            <a:off x="777240" y="2971800"/>
            <a:ext cx="4434840" cy="566928"/>
          </a:xfrm>
          <a:prstGeom prst="rect">
            <a:avLst/>
          </a:prstGeom>
          <a:noFill/>
          <a:ln/>
        </p:spPr>
        <p:txBody>
          <a:bodyPr wrap="square" lIns="0" tIns="0" rIns="0" bIns="0" rtlCol="0" anchor="ctr"/>
          <a:lstStyle/>
          <a:p>
            <a:pPr indent="0" marL="0">
              <a:buNone/>
            </a:pPr>
            <a:r>
              <a:rPr lang="en-US" sz="1100" b="1" dirty="0">
                <a:solidFill>
                  <a:srgbClr val="003087"/>
                </a:solidFill>
                <a:latin typeface="Calibri" pitchFamily="34" charset="0"/>
                <a:ea typeface="Calibri" pitchFamily="34" charset="-122"/>
                <a:cs typeface="Calibri" pitchFamily="34" charset="-120"/>
              </a:rPr>
              <a:t>Live now, </a:t>
            </a:r>
            <a:pPr indent="0" marL="0">
              <a:buNone/>
            </a:pPr>
            <a:r>
              <a:rPr lang="en-US" sz="1100" dirty="0">
                <a:solidFill>
                  <a:srgbClr val="4C6272"/>
                </a:solidFill>
                <a:latin typeface="Calibri" pitchFamily="34" charset="0"/>
                <a:ea typeface="Calibri" pitchFamily="34" charset="-122"/>
                <a:cs typeface="Calibri" pitchFamily="34" charset="-120"/>
              </a:rPr>
              <a:t>patient-initiated HIV testing through the NHS App, in Beta with two local authorities, the proof the platform works</a:t>
            </a:r>
            <a:endParaRPr lang="en-US" sz="1100" dirty="0"/>
          </a:p>
        </p:txBody>
      </p:sp>
      <p:sp>
        <p:nvSpPr>
          <p:cNvPr id="9" name="Shape 6"/>
          <p:cNvSpPr/>
          <p:nvPr/>
        </p:nvSpPr>
        <p:spPr>
          <a:xfrm>
            <a:off x="502920" y="3648456"/>
            <a:ext cx="146304" cy="146304"/>
          </a:xfrm>
          <a:prstGeom prst="ellipse">
            <a:avLst/>
          </a:prstGeom>
          <a:solidFill>
            <a:srgbClr val="FFB91D"/>
          </a:solidFill>
          <a:ln/>
        </p:spPr>
        <p:txBody>
          <a:bodyPr/>
          <a:p/>
        </p:txBody>
      </p:sp>
      <p:sp>
        <p:nvSpPr>
          <p:cNvPr id="10" name="Text 7"/>
          <p:cNvSpPr/>
          <p:nvPr/>
        </p:nvSpPr>
        <p:spPr>
          <a:xfrm>
            <a:off x="777240" y="3593592"/>
            <a:ext cx="4434840" cy="566928"/>
          </a:xfrm>
          <a:prstGeom prst="rect">
            <a:avLst/>
          </a:prstGeom>
          <a:noFill/>
          <a:ln/>
        </p:spPr>
        <p:txBody>
          <a:bodyPr wrap="square" lIns="0" tIns="0" rIns="0" bIns="0" rtlCol="0" anchor="ctr"/>
          <a:lstStyle/>
          <a:p>
            <a:pPr indent="0" marL="0">
              <a:buNone/>
            </a:pPr>
            <a:r>
              <a:rPr lang="en-US" sz="1100" b="1" dirty="0">
                <a:solidFill>
                  <a:srgbClr val="003087"/>
                </a:solidFill>
                <a:latin typeface="Calibri" pitchFamily="34" charset="0"/>
                <a:ea typeface="Calibri" pitchFamily="34" charset="-122"/>
                <a:cs typeface="Calibri" pitchFamily="34" charset="-120"/>
              </a:rPr>
              <a:t>Coming through, </a:t>
            </a:r>
            <a:pPr indent="0" marL="0">
              <a:buNone/>
            </a:pPr>
            <a:r>
              <a:rPr lang="en-US" sz="1100" dirty="0">
                <a:solidFill>
                  <a:srgbClr val="4C6272"/>
                </a:solidFill>
                <a:latin typeface="Calibri" pitchFamily="34" charset="0"/>
                <a:ea typeface="Calibri" pitchFamily="34" charset="-122"/>
                <a:cs typeface="Calibri" pitchFamily="34" charset="-120"/>
              </a:rPr>
              <a:t>clinician-initiated PSA Active Surveillance (the selected acute use case) and a four-test STI panel (leading discovery candidate) on the same rails</a:t>
            </a:r>
            <a:endParaRPr lang="en-US" sz="1100" dirty="0"/>
          </a:p>
        </p:txBody>
      </p:sp>
      <p:sp>
        <p:nvSpPr>
          <p:cNvPr id="11" name="Shape 8"/>
          <p:cNvSpPr/>
          <p:nvPr/>
        </p:nvSpPr>
        <p:spPr>
          <a:xfrm>
            <a:off x="502920" y="4270248"/>
            <a:ext cx="146304" cy="146304"/>
          </a:xfrm>
          <a:prstGeom prst="ellipse">
            <a:avLst/>
          </a:prstGeom>
          <a:solidFill>
            <a:srgbClr val="FFB91D"/>
          </a:solidFill>
          <a:ln/>
        </p:spPr>
        <p:txBody>
          <a:bodyPr/>
          <a:p/>
        </p:txBody>
      </p:sp>
      <p:sp>
        <p:nvSpPr>
          <p:cNvPr id="12" name="Text 9"/>
          <p:cNvSpPr/>
          <p:nvPr/>
        </p:nvSpPr>
        <p:spPr>
          <a:xfrm>
            <a:off x="777240" y="4215384"/>
            <a:ext cx="4434840" cy="566928"/>
          </a:xfrm>
          <a:prstGeom prst="rect">
            <a:avLst/>
          </a:prstGeom>
          <a:noFill/>
          <a:ln/>
        </p:spPr>
        <p:txBody>
          <a:bodyPr wrap="square" lIns="0" tIns="0" rIns="0" bIns="0" rtlCol="0" anchor="ctr"/>
          <a:lstStyle/>
          <a:p>
            <a:pPr indent="0" marL="0">
              <a:buNone/>
            </a:pPr>
            <a:r>
              <a:rPr lang="en-US" sz="1100" b="1" dirty="0">
                <a:solidFill>
                  <a:srgbClr val="003087"/>
                </a:solidFill>
                <a:latin typeface="Calibri" pitchFamily="34" charset="0"/>
                <a:ea typeface="Calibri" pitchFamily="34" charset="-122"/>
                <a:cs typeface="Calibri" pitchFamily="34" charset="-120"/>
              </a:rPr>
              <a:t>Clinically wrapped, </a:t>
            </a:r>
            <a:pPr indent="0" marL="0">
              <a:buNone/>
            </a:pPr>
            <a:r>
              <a:rPr lang="en-US" sz="1100" dirty="0">
                <a:solidFill>
                  <a:srgbClr val="4C6272"/>
                </a:solidFill>
                <a:latin typeface="Calibri" pitchFamily="34" charset="0"/>
                <a:ea typeface="Calibri" pitchFamily="34" charset="-122"/>
                <a:cs typeface="Calibri" pitchFamily="34" charset="-120"/>
              </a:rPr>
              <a:t>UKAS-accredited labs, clinical safety case, IG executed before go-live, carried by the platform, every pathway</a:t>
            </a:r>
            <a:endParaRPr lang="en-US" sz="1100" dirty="0"/>
          </a:p>
        </p:txBody>
      </p:sp>
      <p:sp>
        <p:nvSpPr>
          <p:cNvPr id="13" name="Text 10"/>
          <p:cNvSpPr/>
          <p:nvPr/>
        </p:nvSpPr>
        <p:spPr>
          <a:xfrm>
            <a:off x="457200" y="4864608"/>
            <a:ext cx="8229600" cy="228600"/>
          </a:xfrm>
          <a:prstGeom prst="rect">
            <a:avLst/>
          </a:prstGeom>
          <a:noFill/>
          <a:ln/>
        </p:spPr>
        <p:txBody>
          <a:bodyPr wrap="square" lIns="0" tIns="0" rIns="0" bIns="0" rtlCol="0" anchor="ctr"/>
          <a:lstStyle/>
          <a:p>
            <a:pPr indent="0" marL="0">
              <a:buNone/>
            </a:pPr>
            <a:r>
              <a:rPr lang="en-US" sz="800" dirty="0">
                <a:solidFill>
                  <a:srgbClr val="7E8B97"/>
                </a:solidFill>
                <a:latin typeface="Calibri" pitchFamily="34" charset="0"/>
                <a:ea typeface="Calibri" pitchFamily="34" charset="-122"/>
                <a:cs typeface="Calibri" pitchFamily="34" charset="-120"/>
              </a:rPr>
              <a:t>Hearts and Minds · audience deck No.1 · Commissioner edition · proof-of-concept draft ⚑ · updated September 2026</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411480"/>
            <a:ext cx="8229600" cy="594360"/>
          </a:xfrm>
          <a:prstGeom prst="rect">
            <a:avLst/>
          </a:prstGeom>
          <a:noFill/>
          <a:ln/>
        </p:spPr>
        <p:txBody>
          <a:bodyPr wrap="square" lIns="0" tIns="0" rIns="0" bIns="0" rtlCol="0" anchor="ctr"/>
          <a:lstStyle/>
          <a:p>
            <a:pPr indent="0" marL="0">
              <a:buNone/>
            </a:pPr>
            <a:r>
              <a:rPr lang="en-US" sz="2500" b="1" dirty="0">
                <a:solidFill>
                  <a:srgbClr val="003087"/>
                </a:solidFill>
                <a:latin typeface="Trebuchet MS" pitchFamily="34" charset="0"/>
                <a:ea typeface="Trebuchet MS" pitchFamily="34" charset="-122"/>
                <a:cs typeface="Trebuchet MS" pitchFamily="34" charset="-120"/>
              </a:rPr>
              <a:t>Five steps. One wrapper. Nothing for your team to assemble.</a:t>
            </a:r>
            <a:endParaRPr lang="en-US" sz="2500" dirty="0"/>
          </a:p>
        </p:txBody>
      </p:sp>
      <p:sp>
        <p:nvSpPr>
          <p:cNvPr id="3" name="Shape 1"/>
          <p:cNvSpPr/>
          <p:nvPr/>
        </p:nvSpPr>
        <p:spPr>
          <a:xfrm>
            <a:off x="960120" y="1325880"/>
            <a:ext cx="640080" cy="640080"/>
          </a:xfrm>
          <a:prstGeom prst="ellipse">
            <a:avLst/>
          </a:prstGeom>
          <a:solidFill>
            <a:srgbClr val="003087"/>
          </a:solidFill>
          <a:ln/>
          <a:effectLst>
            <a:outerShdw sx="100000" sy="100000" kx="0" ky="0" algn="bl" rotWithShape="0" blurRad="114300" dist="38100" dir="8100000">
              <a:srgbClr val="0A1F3C">
                <a:alpha val="18000"/>
              </a:srgbClr>
            </a:outerShdw>
          </a:effectLst>
        </p:spPr>
        <p:txBody>
          <a:bodyPr/>
          <a:p/>
        </p:txBody>
      </p:sp>
      <p:sp>
        <p:nvSpPr>
          <p:cNvPr id="4" name="Text 2"/>
          <p:cNvSpPr/>
          <p:nvPr/>
        </p:nvSpPr>
        <p:spPr>
          <a:xfrm>
            <a:off x="960120" y="13258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1</a:t>
            </a:r>
            <a:endParaRPr lang="en-US" sz="2200" dirty="0"/>
          </a:p>
        </p:txBody>
      </p:sp>
      <p:sp>
        <p:nvSpPr>
          <p:cNvPr id="5" name="Text 3"/>
          <p:cNvSpPr/>
          <p:nvPr/>
        </p:nvSpPr>
        <p:spPr>
          <a:xfrm>
            <a:off x="457200" y="2103120"/>
            <a:ext cx="1645920" cy="274320"/>
          </a:xfrm>
          <a:prstGeom prst="rect">
            <a:avLst/>
          </a:prstGeom>
          <a:noFill/>
          <a:ln/>
        </p:spPr>
        <p:txBody>
          <a:bodyPr wrap="square" lIns="0" tIns="0" rIns="0" bIns="0" rtlCol="0" anchor="ctr"/>
          <a:lstStyle/>
          <a:p>
            <a:pPr algn="ctr" indent="0" marL="0">
              <a:buNone/>
            </a:pPr>
            <a:r>
              <a:rPr lang="en-US" sz="1300" b="1" dirty="0">
                <a:solidFill>
                  <a:srgbClr val="003087"/>
                </a:solidFill>
                <a:latin typeface="Trebuchet MS" pitchFamily="34" charset="0"/>
                <a:ea typeface="Trebuchet MS" pitchFamily="34" charset="-122"/>
                <a:cs typeface="Trebuchet MS" pitchFamily="34" charset="-120"/>
              </a:rPr>
              <a:t>Ordered</a:t>
            </a:r>
            <a:endParaRPr lang="en-US" sz="1300" dirty="0"/>
          </a:p>
        </p:txBody>
      </p:sp>
      <p:sp>
        <p:nvSpPr>
          <p:cNvPr id="6" name="Text 4"/>
          <p:cNvSpPr/>
          <p:nvPr/>
        </p:nvSpPr>
        <p:spPr>
          <a:xfrm>
            <a:off x="457200" y="2359152"/>
            <a:ext cx="1645920" cy="274320"/>
          </a:xfrm>
          <a:prstGeom prst="rect">
            <a:avLst/>
          </a:prstGeom>
          <a:noFill/>
          <a:ln/>
        </p:spPr>
        <p:txBody>
          <a:bodyPr wrap="square" lIns="0" tIns="0" rIns="0" bIns="0" rtlCol="0" anchor="ctr"/>
          <a:lstStyle/>
          <a:p>
            <a:pPr algn="ctr" indent="0" marL="0">
              <a:buNone/>
            </a:pPr>
            <a:r>
              <a:rPr lang="en-US" sz="1000" dirty="0">
                <a:solidFill>
                  <a:srgbClr val="4C6272"/>
                </a:solidFill>
                <a:latin typeface="Calibri" pitchFamily="34" charset="0"/>
                <a:ea typeface="Calibri" pitchFamily="34" charset="-122"/>
                <a:cs typeface="Calibri" pitchFamily="34" charset="-120"/>
              </a:rPr>
              <a:t>in the NHS App</a:t>
            </a:r>
            <a:endParaRPr lang="en-US" sz="1000" dirty="0"/>
          </a:p>
        </p:txBody>
      </p:sp>
      <p:sp>
        <p:nvSpPr>
          <p:cNvPr id="7" name="Text 5"/>
          <p:cNvSpPr/>
          <p:nvPr/>
        </p:nvSpPr>
        <p:spPr>
          <a:xfrm>
            <a:off x="1764792" y="1417320"/>
            <a:ext cx="457200" cy="457200"/>
          </a:xfrm>
          <a:prstGeom prst="rect">
            <a:avLst/>
          </a:prstGeom>
          <a:noFill/>
          <a:ln/>
        </p:spPr>
        <p:txBody>
          <a:bodyPr wrap="square" lIns="0" tIns="0" rIns="0" bIns="0" rtlCol="0" anchor="ctr"/>
          <a:lstStyle/>
          <a:p>
            <a:pPr algn="ctr" indent="0" marL="0">
              <a:buNone/>
            </a:pPr>
            <a:r>
              <a:rPr lang="en-US" sz="2000" b="1" dirty="0">
                <a:solidFill>
                  <a:srgbClr val="FFB91D"/>
                </a:solidFill>
                <a:latin typeface="Trebuchet MS" pitchFamily="34" charset="0"/>
                <a:ea typeface="Trebuchet MS" pitchFamily="34" charset="-122"/>
                <a:cs typeface="Trebuchet MS" pitchFamily="34" charset="-120"/>
              </a:rPr>
              <a:t>→</a:t>
            </a:r>
            <a:endParaRPr lang="en-US" sz="2000" dirty="0"/>
          </a:p>
        </p:txBody>
      </p:sp>
      <p:sp>
        <p:nvSpPr>
          <p:cNvPr id="8" name="Shape 6"/>
          <p:cNvSpPr/>
          <p:nvPr/>
        </p:nvSpPr>
        <p:spPr>
          <a:xfrm>
            <a:off x="2651760" y="1325880"/>
            <a:ext cx="640080" cy="640080"/>
          </a:xfrm>
          <a:prstGeom prst="ellipse">
            <a:avLst/>
          </a:prstGeom>
          <a:solidFill>
            <a:srgbClr val="003087"/>
          </a:solidFill>
          <a:ln/>
          <a:effectLst>
            <a:outerShdw sx="100000" sy="100000" kx="0" ky="0" algn="bl" rotWithShape="0" blurRad="114300" dist="38100" dir="8100000">
              <a:srgbClr val="0A1F3C">
                <a:alpha val="18000"/>
              </a:srgbClr>
            </a:outerShdw>
          </a:effectLst>
        </p:spPr>
        <p:txBody>
          <a:bodyPr/>
          <a:p/>
        </p:txBody>
      </p:sp>
      <p:sp>
        <p:nvSpPr>
          <p:cNvPr id="9" name="Text 7"/>
          <p:cNvSpPr/>
          <p:nvPr/>
        </p:nvSpPr>
        <p:spPr>
          <a:xfrm>
            <a:off x="2651760" y="13258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2</a:t>
            </a:r>
            <a:endParaRPr lang="en-US" sz="2200" dirty="0"/>
          </a:p>
        </p:txBody>
      </p:sp>
      <p:sp>
        <p:nvSpPr>
          <p:cNvPr id="10" name="Text 8"/>
          <p:cNvSpPr/>
          <p:nvPr/>
        </p:nvSpPr>
        <p:spPr>
          <a:xfrm>
            <a:off x="2148840" y="2103120"/>
            <a:ext cx="1645920" cy="274320"/>
          </a:xfrm>
          <a:prstGeom prst="rect">
            <a:avLst/>
          </a:prstGeom>
          <a:noFill/>
          <a:ln/>
        </p:spPr>
        <p:txBody>
          <a:bodyPr wrap="square" lIns="0" tIns="0" rIns="0" bIns="0" rtlCol="0" anchor="ctr"/>
          <a:lstStyle/>
          <a:p>
            <a:pPr algn="ctr" indent="0" marL="0">
              <a:buNone/>
            </a:pPr>
            <a:r>
              <a:rPr lang="en-US" sz="1300" b="1" dirty="0">
                <a:solidFill>
                  <a:srgbClr val="003087"/>
                </a:solidFill>
                <a:latin typeface="Trebuchet MS" pitchFamily="34" charset="0"/>
                <a:ea typeface="Trebuchet MS" pitchFamily="34" charset="-122"/>
                <a:cs typeface="Trebuchet MS" pitchFamily="34" charset="-120"/>
              </a:rPr>
              <a:t>Kit arrives</a:t>
            </a:r>
            <a:endParaRPr lang="en-US" sz="1300" dirty="0"/>
          </a:p>
        </p:txBody>
      </p:sp>
      <p:sp>
        <p:nvSpPr>
          <p:cNvPr id="11" name="Text 9"/>
          <p:cNvSpPr/>
          <p:nvPr/>
        </p:nvSpPr>
        <p:spPr>
          <a:xfrm>
            <a:off x="2148840" y="2359152"/>
            <a:ext cx="1645920" cy="274320"/>
          </a:xfrm>
          <a:prstGeom prst="rect">
            <a:avLst/>
          </a:prstGeom>
          <a:noFill/>
          <a:ln/>
        </p:spPr>
        <p:txBody>
          <a:bodyPr wrap="square" lIns="0" tIns="0" rIns="0" bIns="0" rtlCol="0" anchor="ctr"/>
          <a:lstStyle/>
          <a:p>
            <a:pPr algn="ctr" indent="0" marL="0">
              <a:buNone/>
            </a:pPr>
            <a:r>
              <a:rPr lang="en-US" sz="1000" dirty="0">
                <a:solidFill>
                  <a:srgbClr val="4C6272"/>
                </a:solidFill>
                <a:latin typeface="Calibri" pitchFamily="34" charset="0"/>
                <a:ea typeface="Calibri" pitchFamily="34" charset="-122"/>
                <a:cs typeface="Calibri" pitchFamily="34" charset="-120"/>
              </a:rPr>
              <a:t>through the door</a:t>
            </a:r>
            <a:endParaRPr lang="en-US" sz="1000" dirty="0"/>
          </a:p>
        </p:txBody>
      </p:sp>
      <p:sp>
        <p:nvSpPr>
          <p:cNvPr id="12" name="Text 10"/>
          <p:cNvSpPr/>
          <p:nvPr/>
        </p:nvSpPr>
        <p:spPr>
          <a:xfrm>
            <a:off x="3456432" y="1417320"/>
            <a:ext cx="457200" cy="457200"/>
          </a:xfrm>
          <a:prstGeom prst="rect">
            <a:avLst/>
          </a:prstGeom>
          <a:noFill/>
          <a:ln/>
        </p:spPr>
        <p:txBody>
          <a:bodyPr wrap="square" lIns="0" tIns="0" rIns="0" bIns="0" rtlCol="0" anchor="ctr"/>
          <a:lstStyle/>
          <a:p>
            <a:pPr algn="ctr" indent="0" marL="0">
              <a:buNone/>
            </a:pPr>
            <a:r>
              <a:rPr lang="en-US" sz="2000" b="1" dirty="0">
                <a:solidFill>
                  <a:srgbClr val="FFB91D"/>
                </a:solidFill>
                <a:latin typeface="Trebuchet MS" pitchFamily="34" charset="0"/>
                <a:ea typeface="Trebuchet MS" pitchFamily="34" charset="-122"/>
                <a:cs typeface="Trebuchet MS" pitchFamily="34" charset="-120"/>
              </a:rPr>
              <a:t>→</a:t>
            </a:r>
            <a:endParaRPr lang="en-US" sz="2000" dirty="0"/>
          </a:p>
        </p:txBody>
      </p:sp>
      <p:sp>
        <p:nvSpPr>
          <p:cNvPr id="13" name="Shape 11"/>
          <p:cNvSpPr/>
          <p:nvPr/>
        </p:nvSpPr>
        <p:spPr>
          <a:xfrm>
            <a:off x="4343400" y="1325880"/>
            <a:ext cx="640080" cy="640080"/>
          </a:xfrm>
          <a:prstGeom prst="ellipse">
            <a:avLst/>
          </a:prstGeom>
          <a:solidFill>
            <a:srgbClr val="003087"/>
          </a:solidFill>
          <a:ln/>
          <a:effectLst>
            <a:outerShdw sx="100000" sy="100000" kx="0" ky="0" algn="bl" rotWithShape="0" blurRad="114300" dist="38100" dir="8100000">
              <a:srgbClr val="0A1F3C">
                <a:alpha val="18000"/>
              </a:srgbClr>
            </a:outerShdw>
          </a:effectLst>
        </p:spPr>
        <p:txBody>
          <a:bodyPr/>
          <a:p/>
        </p:txBody>
      </p:sp>
      <p:sp>
        <p:nvSpPr>
          <p:cNvPr id="14" name="Text 12"/>
          <p:cNvSpPr/>
          <p:nvPr/>
        </p:nvSpPr>
        <p:spPr>
          <a:xfrm>
            <a:off x="4343400" y="13258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3</a:t>
            </a:r>
            <a:endParaRPr lang="en-US" sz="2200" dirty="0"/>
          </a:p>
        </p:txBody>
      </p:sp>
      <p:sp>
        <p:nvSpPr>
          <p:cNvPr id="15" name="Text 13"/>
          <p:cNvSpPr/>
          <p:nvPr/>
        </p:nvSpPr>
        <p:spPr>
          <a:xfrm>
            <a:off x="3840480" y="2103120"/>
            <a:ext cx="1645920" cy="274320"/>
          </a:xfrm>
          <a:prstGeom prst="rect">
            <a:avLst/>
          </a:prstGeom>
          <a:noFill/>
          <a:ln/>
        </p:spPr>
        <p:txBody>
          <a:bodyPr wrap="square" lIns="0" tIns="0" rIns="0" bIns="0" rtlCol="0" anchor="ctr"/>
          <a:lstStyle/>
          <a:p>
            <a:pPr algn="ctr" indent="0" marL="0">
              <a:buNone/>
            </a:pPr>
            <a:r>
              <a:rPr lang="en-US" sz="1300" b="1" dirty="0">
                <a:solidFill>
                  <a:srgbClr val="003087"/>
                </a:solidFill>
                <a:latin typeface="Trebuchet MS" pitchFamily="34" charset="0"/>
                <a:ea typeface="Trebuchet MS" pitchFamily="34" charset="-122"/>
                <a:cs typeface="Trebuchet MS" pitchFamily="34" charset="-120"/>
              </a:rPr>
              <a:t>Sample back</a:t>
            </a:r>
            <a:endParaRPr lang="en-US" sz="1300" dirty="0"/>
          </a:p>
        </p:txBody>
      </p:sp>
      <p:sp>
        <p:nvSpPr>
          <p:cNvPr id="16" name="Text 14"/>
          <p:cNvSpPr/>
          <p:nvPr/>
        </p:nvSpPr>
        <p:spPr>
          <a:xfrm>
            <a:off x="3840480" y="2359152"/>
            <a:ext cx="1645920" cy="274320"/>
          </a:xfrm>
          <a:prstGeom prst="rect">
            <a:avLst/>
          </a:prstGeom>
          <a:noFill/>
          <a:ln/>
        </p:spPr>
        <p:txBody>
          <a:bodyPr wrap="square" lIns="0" tIns="0" rIns="0" bIns="0" rtlCol="0" anchor="ctr"/>
          <a:lstStyle/>
          <a:p>
            <a:pPr algn="ctr" indent="0" marL="0">
              <a:buNone/>
            </a:pPr>
            <a:r>
              <a:rPr lang="en-US" sz="1000" dirty="0">
                <a:solidFill>
                  <a:srgbClr val="4C6272"/>
                </a:solidFill>
                <a:latin typeface="Calibri" pitchFamily="34" charset="0"/>
                <a:ea typeface="Calibri" pitchFamily="34" charset="-122"/>
                <a:cs typeface="Calibri" pitchFamily="34" charset="-120"/>
              </a:rPr>
              <a:t>by post</a:t>
            </a:r>
            <a:endParaRPr lang="en-US" sz="1000" dirty="0"/>
          </a:p>
        </p:txBody>
      </p:sp>
      <p:sp>
        <p:nvSpPr>
          <p:cNvPr id="17" name="Text 15"/>
          <p:cNvSpPr/>
          <p:nvPr/>
        </p:nvSpPr>
        <p:spPr>
          <a:xfrm>
            <a:off x="5148072" y="1417320"/>
            <a:ext cx="457200" cy="457200"/>
          </a:xfrm>
          <a:prstGeom prst="rect">
            <a:avLst/>
          </a:prstGeom>
          <a:noFill/>
          <a:ln/>
        </p:spPr>
        <p:txBody>
          <a:bodyPr wrap="square" lIns="0" tIns="0" rIns="0" bIns="0" rtlCol="0" anchor="ctr"/>
          <a:lstStyle/>
          <a:p>
            <a:pPr algn="ctr" indent="0" marL="0">
              <a:buNone/>
            </a:pPr>
            <a:r>
              <a:rPr lang="en-US" sz="2000" b="1" dirty="0">
                <a:solidFill>
                  <a:srgbClr val="FFB91D"/>
                </a:solidFill>
                <a:latin typeface="Trebuchet MS" pitchFamily="34" charset="0"/>
                <a:ea typeface="Trebuchet MS" pitchFamily="34" charset="-122"/>
                <a:cs typeface="Trebuchet MS" pitchFamily="34" charset="-120"/>
              </a:rPr>
              <a:t>→</a:t>
            </a:r>
            <a:endParaRPr lang="en-US" sz="2000" dirty="0"/>
          </a:p>
        </p:txBody>
      </p:sp>
      <p:sp>
        <p:nvSpPr>
          <p:cNvPr id="18" name="Shape 16"/>
          <p:cNvSpPr/>
          <p:nvPr/>
        </p:nvSpPr>
        <p:spPr>
          <a:xfrm>
            <a:off x="6035040" y="1325880"/>
            <a:ext cx="640080" cy="640080"/>
          </a:xfrm>
          <a:prstGeom prst="ellipse">
            <a:avLst/>
          </a:prstGeom>
          <a:solidFill>
            <a:srgbClr val="003087"/>
          </a:solidFill>
          <a:ln/>
          <a:effectLst>
            <a:outerShdw sx="100000" sy="100000" kx="0" ky="0" algn="bl" rotWithShape="0" blurRad="114300" dist="38100" dir="8100000">
              <a:srgbClr val="0A1F3C">
                <a:alpha val="18000"/>
              </a:srgbClr>
            </a:outerShdw>
          </a:effectLst>
        </p:spPr>
        <p:txBody>
          <a:bodyPr/>
          <a:p/>
        </p:txBody>
      </p:sp>
      <p:sp>
        <p:nvSpPr>
          <p:cNvPr id="19" name="Text 17"/>
          <p:cNvSpPr/>
          <p:nvPr/>
        </p:nvSpPr>
        <p:spPr>
          <a:xfrm>
            <a:off x="6035040" y="13258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4</a:t>
            </a:r>
            <a:endParaRPr lang="en-US" sz="2200" dirty="0"/>
          </a:p>
        </p:txBody>
      </p:sp>
      <p:sp>
        <p:nvSpPr>
          <p:cNvPr id="20" name="Text 18"/>
          <p:cNvSpPr/>
          <p:nvPr/>
        </p:nvSpPr>
        <p:spPr>
          <a:xfrm>
            <a:off x="5532120" y="2103120"/>
            <a:ext cx="1645920" cy="274320"/>
          </a:xfrm>
          <a:prstGeom prst="rect">
            <a:avLst/>
          </a:prstGeom>
          <a:noFill/>
          <a:ln/>
        </p:spPr>
        <p:txBody>
          <a:bodyPr wrap="square" lIns="0" tIns="0" rIns="0" bIns="0" rtlCol="0" anchor="ctr"/>
          <a:lstStyle/>
          <a:p>
            <a:pPr algn="ctr" indent="0" marL="0">
              <a:buNone/>
            </a:pPr>
            <a:r>
              <a:rPr lang="en-US" sz="1300" b="1" dirty="0">
                <a:solidFill>
                  <a:srgbClr val="003087"/>
                </a:solidFill>
                <a:latin typeface="Trebuchet MS" pitchFamily="34" charset="0"/>
                <a:ea typeface="Trebuchet MS" pitchFamily="34" charset="-122"/>
                <a:cs typeface="Trebuchet MS" pitchFamily="34" charset="-120"/>
              </a:rPr>
              <a:t>Lab reports</a:t>
            </a:r>
            <a:endParaRPr lang="en-US" sz="1300" dirty="0"/>
          </a:p>
        </p:txBody>
      </p:sp>
      <p:sp>
        <p:nvSpPr>
          <p:cNvPr id="21" name="Text 19"/>
          <p:cNvSpPr/>
          <p:nvPr/>
        </p:nvSpPr>
        <p:spPr>
          <a:xfrm>
            <a:off x="5532120" y="2359152"/>
            <a:ext cx="1645920" cy="274320"/>
          </a:xfrm>
          <a:prstGeom prst="rect">
            <a:avLst/>
          </a:prstGeom>
          <a:noFill/>
          <a:ln/>
        </p:spPr>
        <p:txBody>
          <a:bodyPr wrap="square" lIns="0" tIns="0" rIns="0" bIns="0" rtlCol="0" anchor="ctr"/>
          <a:lstStyle/>
          <a:p>
            <a:pPr algn="ctr" indent="0" marL="0">
              <a:buNone/>
            </a:pPr>
            <a:r>
              <a:rPr lang="en-US" sz="1000" dirty="0">
                <a:solidFill>
                  <a:srgbClr val="4C6272"/>
                </a:solidFill>
                <a:latin typeface="Calibri" pitchFamily="34" charset="0"/>
                <a:ea typeface="Calibri" pitchFamily="34" charset="-122"/>
                <a:cs typeface="Calibri" pitchFamily="34" charset="-120"/>
              </a:rPr>
              <a:t>UKAS-accredited</a:t>
            </a:r>
            <a:endParaRPr lang="en-US" sz="1000" dirty="0"/>
          </a:p>
        </p:txBody>
      </p:sp>
      <p:sp>
        <p:nvSpPr>
          <p:cNvPr id="22" name="Text 20"/>
          <p:cNvSpPr/>
          <p:nvPr/>
        </p:nvSpPr>
        <p:spPr>
          <a:xfrm>
            <a:off x="6839712" y="1417320"/>
            <a:ext cx="457200" cy="457200"/>
          </a:xfrm>
          <a:prstGeom prst="rect">
            <a:avLst/>
          </a:prstGeom>
          <a:noFill/>
          <a:ln/>
        </p:spPr>
        <p:txBody>
          <a:bodyPr wrap="square" lIns="0" tIns="0" rIns="0" bIns="0" rtlCol="0" anchor="ctr"/>
          <a:lstStyle/>
          <a:p>
            <a:pPr algn="ctr" indent="0" marL="0">
              <a:buNone/>
            </a:pPr>
            <a:r>
              <a:rPr lang="en-US" sz="2000" b="1" dirty="0">
                <a:solidFill>
                  <a:srgbClr val="FFB91D"/>
                </a:solidFill>
                <a:latin typeface="Trebuchet MS" pitchFamily="34" charset="0"/>
                <a:ea typeface="Trebuchet MS" pitchFamily="34" charset="-122"/>
                <a:cs typeface="Trebuchet MS" pitchFamily="34" charset="-120"/>
              </a:rPr>
              <a:t>→</a:t>
            </a:r>
            <a:endParaRPr lang="en-US" sz="2000" dirty="0"/>
          </a:p>
        </p:txBody>
      </p:sp>
      <p:sp>
        <p:nvSpPr>
          <p:cNvPr id="23" name="Shape 21"/>
          <p:cNvSpPr/>
          <p:nvPr/>
        </p:nvSpPr>
        <p:spPr>
          <a:xfrm>
            <a:off x="7726680" y="1325880"/>
            <a:ext cx="640080" cy="640080"/>
          </a:xfrm>
          <a:prstGeom prst="ellipse">
            <a:avLst/>
          </a:prstGeom>
          <a:solidFill>
            <a:srgbClr val="003087"/>
          </a:solidFill>
          <a:ln/>
          <a:effectLst>
            <a:outerShdw sx="100000" sy="100000" kx="0" ky="0" algn="bl" rotWithShape="0" blurRad="114300" dist="38100" dir="8100000">
              <a:srgbClr val="0A1F3C">
                <a:alpha val="18000"/>
              </a:srgbClr>
            </a:outerShdw>
          </a:effectLst>
        </p:spPr>
        <p:txBody>
          <a:bodyPr/>
          <a:p/>
        </p:txBody>
      </p:sp>
      <p:sp>
        <p:nvSpPr>
          <p:cNvPr id="24" name="Text 22"/>
          <p:cNvSpPr/>
          <p:nvPr/>
        </p:nvSpPr>
        <p:spPr>
          <a:xfrm>
            <a:off x="7726680" y="13258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5</a:t>
            </a:r>
            <a:endParaRPr lang="en-US" sz="2200" dirty="0"/>
          </a:p>
        </p:txBody>
      </p:sp>
      <p:sp>
        <p:nvSpPr>
          <p:cNvPr id="25" name="Text 23"/>
          <p:cNvSpPr/>
          <p:nvPr/>
        </p:nvSpPr>
        <p:spPr>
          <a:xfrm>
            <a:off x="7223760" y="2103120"/>
            <a:ext cx="1645920" cy="274320"/>
          </a:xfrm>
          <a:prstGeom prst="rect">
            <a:avLst/>
          </a:prstGeom>
          <a:noFill/>
          <a:ln/>
        </p:spPr>
        <p:txBody>
          <a:bodyPr wrap="square" lIns="0" tIns="0" rIns="0" bIns="0" rtlCol="0" anchor="ctr"/>
          <a:lstStyle/>
          <a:p>
            <a:pPr algn="ctr" indent="0" marL="0">
              <a:buNone/>
            </a:pPr>
            <a:r>
              <a:rPr lang="en-US" sz="1300" b="1" dirty="0">
                <a:solidFill>
                  <a:srgbClr val="003087"/>
                </a:solidFill>
                <a:latin typeface="Trebuchet MS" pitchFamily="34" charset="0"/>
                <a:ea typeface="Trebuchet MS" pitchFamily="34" charset="-122"/>
                <a:cs typeface="Trebuchet MS" pitchFamily="34" charset="-120"/>
              </a:rPr>
              <a:t>Result + care</a:t>
            </a:r>
            <a:endParaRPr lang="en-US" sz="1300" dirty="0"/>
          </a:p>
        </p:txBody>
      </p:sp>
      <p:sp>
        <p:nvSpPr>
          <p:cNvPr id="26" name="Text 24"/>
          <p:cNvSpPr/>
          <p:nvPr/>
        </p:nvSpPr>
        <p:spPr>
          <a:xfrm>
            <a:off x="7223760" y="2359152"/>
            <a:ext cx="1645920" cy="274320"/>
          </a:xfrm>
          <a:prstGeom prst="rect">
            <a:avLst/>
          </a:prstGeom>
          <a:noFill/>
          <a:ln/>
        </p:spPr>
        <p:txBody>
          <a:bodyPr wrap="square" lIns="0" tIns="0" rIns="0" bIns="0" rtlCol="0" anchor="ctr"/>
          <a:lstStyle/>
          <a:p>
            <a:pPr algn="ctr" indent="0" marL="0">
              <a:buNone/>
            </a:pPr>
            <a:r>
              <a:rPr lang="en-US" sz="1000" dirty="0">
                <a:solidFill>
                  <a:srgbClr val="4C6272"/>
                </a:solidFill>
                <a:latin typeface="Calibri" pitchFamily="34" charset="0"/>
                <a:ea typeface="Calibri" pitchFamily="34" charset="-122"/>
                <a:cs typeface="Calibri" pitchFamily="34" charset="-120"/>
              </a:rPr>
              <a:t>pathway attached</a:t>
            </a:r>
            <a:endParaRPr lang="en-US" sz="1000" dirty="0"/>
          </a:p>
        </p:txBody>
      </p:sp>
      <p:sp>
        <p:nvSpPr>
          <p:cNvPr id="27" name="Shape 25"/>
          <p:cNvSpPr/>
          <p:nvPr/>
        </p:nvSpPr>
        <p:spPr>
          <a:xfrm>
            <a:off x="502920" y="2880360"/>
            <a:ext cx="8229600" cy="868680"/>
          </a:xfrm>
          <a:prstGeom prst="rect">
            <a:avLst/>
          </a:prstGeom>
          <a:solidFill>
            <a:srgbClr val="FFFFFF"/>
          </a:solidFill>
          <a:ln w="9525">
            <a:solidFill>
              <a:srgbClr val="E3E9F0"/>
            </a:solidFill>
            <a:prstDash val="solid"/>
          </a:ln>
          <a:effectLst>
            <a:outerShdw sx="100000" sy="100000" kx="0" ky="0" algn="bl" rotWithShape="0" blurRad="114300" dist="38100" dir="8100000">
              <a:srgbClr val="0A1F3C">
                <a:alpha val="18000"/>
              </a:srgbClr>
            </a:outerShdw>
          </a:effectLst>
        </p:spPr>
        <p:txBody>
          <a:bodyPr/>
          <a:p/>
        </p:txBody>
      </p:sp>
      <p:sp>
        <p:nvSpPr>
          <p:cNvPr id="28" name="Shape 26"/>
          <p:cNvSpPr/>
          <p:nvPr/>
        </p:nvSpPr>
        <p:spPr>
          <a:xfrm>
            <a:off x="502920" y="2880360"/>
            <a:ext cx="64008" cy="868680"/>
          </a:xfrm>
          <a:prstGeom prst="rect">
            <a:avLst/>
          </a:prstGeom>
          <a:solidFill>
            <a:srgbClr val="006747"/>
          </a:solidFill>
          <a:ln/>
        </p:spPr>
        <p:txBody>
          <a:bodyPr/>
          <a:p/>
        </p:txBody>
      </p:sp>
      <p:sp>
        <p:nvSpPr>
          <p:cNvPr id="29" name="Text 27"/>
          <p:cNvSpPr/>
          <p:nvPr/>
        </p:nvSpPr>
        <p:spPr>
          <a:xfrm>
            <a:off x="731520" y="2990088"/>
            <a:ext cx="7863840" cy="685800"/>
          </a:xfrm>
          <a:prstGeom prst="rect">
            <a:avLst/>
          </a:prstGeom>
          <a:noFill/>
          <a:ln/>
        </p:spPr>
        <p:txBody>
          <a:bodyPr wrap="square" lIns="0" tIns="0" rIns="0" bIns="0" rtlCol="0" anchor="ctr"/>
          <a:lstStyle/>
          <a:p>
            <a:pPr indent="0" marL="0">
              <a:buNone/>
            </a:pPr>
            <a:r>
              <a:rPr lang="en-US" sz="1200" b="1" dirty="0">
                <a:solidFill>
                  <a:srgbClr val="006747"/>
                </a:solidFill>
                <a:latin typeface="Calibri" pitchFamily="34" charset="0"/>
                <a:ea typeface="Calibri" pitchFamily="34" charset="-122"/>
                <a:cs typeface="Calibri" pitchFamily="34" charset="-120"/>
              </a:rPr>
              <a:t>The wrapper carries the hard part. </a:t>
            </a:r>
            <a:pPr indent="0" marL="0">
              <a:buNone/>
            </a:pPr>
            <a:r>
              <a:rPr lang="en-US" sz="1200" dirty="0">
                <a:solidFill>
                  <a:srgbClr val="4C6272"/>
                </a:solidFill>
                <a:latin typeface="Calibri" pitchFamily="34" charset="0"/>
                <a:ea typeface="Calibri" pitchFamily="34" charset="-122"/>
                <a:cs typeface="Calibri" pitchFamily="34" charset="-120"/>
              </a:rPr>
              <a:t>Clinical safety (DCB0129/0160), information governance (DPIA, DSA, DPA executed before go-live) and the assurance gateway travel with the service, your team inherits them, it doesn’t build them.</a:t>
            </a:r>
            <a:endParaRPr lang="en-US" sz="1200" dirty="0"/>
          </a:p>
        </p:txBody>
      </p:sp>
      <p:sp>
        <p:nvSpPr>
          <p:cNvPr id="30" name="Shape 28"/>
          <p:cNvSpPr/>
          <p:nvPr/>
        </p:nvSpPr>
        <p:spPr>
          <a:xfrm>
            <a:off x="502920" y="3931920"/>
            <a:ext cx="8229600" cy="731520"/>
          </a:xfrm>
          <a:prstGeom prst="rect">
            <a:avLst/>
          </a:prstGeom>
          <a:solidFill>
            <a:srgbClr val="EAF2FB"/>
          </a:solidFill>
          <a:ln w="12700">
            <a:solidFill>
              <a:srgbClr val="005EB8"/>
            </a:solidFill>
            <a:prstDash val="solid"/>
          </a:ln>
        </p:spPr>
        <p:txBody>
          <a:bodyPr/>
          <a:p/>
        </p:txBody>
      </p:sp>
      <p:sp>
        <p:nvSpPr>
          <p:cNvPr id="31" name="Text 29"/>
          <p:cNvSpPr/>
          <p:nvPr/>
        </p:nvSpPr>
        <p:spPr>
          <a:xfrm>
            <a:off x="731520" y="4041648"/>
            <a:ext cx="7863840" cy="530352"/>
          </a:xfrm>
          <a:prstGeom prst="rect">
            <a:avLst/>
          </a:prstGeom>
          <a:noFill/>
          <a:ln/>
        </p:spPr>
        <p:txBody>
          <a:bodyPr wrap="square" lIns="0" tIns="0" rIns="0" bIns="0" rtlCol="0" anchor="ctr"/>
          <a:lstStyle/>
          <a:p>
            <a:pPr indent="0" marL="0">
              <a:buNone/>
            </a:pPr>
            <a:r>
              <a:rPr lang="en-US" sz="1300" b="1" dirty="0">
                <a:solidFill>
                  <a:srgbClr val="005EB8"/>
                </a:solidFill>
                <a:latin typeface="Calibri" pitchFamily="34" charset="0"/>
                <a:ea typeface="Calibri" pitchFamily="34" charset="-122"/>
                <a:cs typeface="Calibri" pitchFamily="34" charset="-120"/>
              </a:rPr>
              <a:t>Patient route choice preserved.  </a:t>
            </a:r>
            <a:pPr indent="0" marL="0">
              <a:buNone/>
            </a:pPr>
            <a:r>
              <a:rPr lang="en-US" sz="1200" dirty="0">
                <a:solidFill>
                  <a:srgbClr val="4C6272"/>
                </a:solidFill>
                <a:latin typeface="Calibri" pitchFamily="34" charset="0"/>
                <a:ea typeface="Calibri" pitchFamily="34" charset="-122"/>
                <a:cs typeface="Calibri" pitchFamily="34" charset="-120"/>
              </a:rPr>
              <a:t>Clinic routes stay open. This adds a front door; it closes none.</a:t>
            </a:r>
            <a:endParaRPr lang="en-US" sz="1200" dirty="0"/>
          </a:p>
        </p:txBody>
      </p:sp>
      <p:sp>
        <p:nvSpPr>
          <p:cNvPr id="32" name="Text 30"/>
          <p:cNvSpPr/>
          <p:nvPr/>
        </p:nvSpPr>
        <p:spPr>
          <a:xfrm>
            <a:off x="457200" y="4864608"/>
            <a:ext cx="8229600" cy="228600"/>
          </a:xfrm>
          <a:prstGeom prst="rect">
            <a:avLst/>
          </a:prstGeom>
          <a:noFill/>
          <a:ln/>
        </p:spPr>
        <p:txBody>
          <a:bodyPr wrap="square" lIns="0" tIns="0" rIns="0" bIns="0" rtlCol="0" anchor="ctr"/>
          <a:lstStyle/>
          <a:p>
            <a:pPr indent="0" marL="0">
              <a:buNone/>
            </a:pPr>
            <a:r>
              <a:rPr lang="en-US" sz="800" dirty="0">
                <a:solidFill>
                  <a:srgbClr val="7E8B97"/>
                </a:solidFill>
                <a:latin typeface="Calibri" pitchFamily="34" charset="0"/>
                <a:ea typeface="Calibri" pitchFamily="34" charset="-122"/>
                <a:cs typeface="Calibri" pitchFamily="34" charset="-120"/>
              </a:rPr>
              <a:t>Hearts and Minds · audience deck No.1 · Commissioner edition · proof-of-concept draft ⚑ · updated September 2026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411480"/>
            <a:ext cx="8229600" cy="868680"/>
          </a:xfrm>
          <a:prstGeom prst="rect">
            <a:avLst/>
          </a:prstGeom>
          <a:noFill/>
          <a:ln/>
        </p:spPr>
        <p:txBody>
          <a:bodyPr wrap="square" lIns="0" tIns="0" rIns="0" bIns="0" rtlCol="0" anchor="ctr"/>
          <a:lstStyle/>
          <a:p>
            <a:pPr indent="0" marL="0">
              <a:buNone/>
            </a:pPr>
            <a:r>
              <a:rPr lang="en-US" sz="2400" b="1" dirty="0">
                <a:solidFill>
                  <a:srgbClr val="003087"/>
                </a:solidFill>
                <a:latin typeface="Trebuchet MS" pitchFamily="34" charset="0"/>
                <a:ea typeface="Trebuchet MS" pitchFamily="34" charset="-122"/>
                <a:cs typeface="Trebuchet MS" pitchFamily="34" charset="-120"/>
              </a:rPr>
              <a:t>You pay for activity that happens. Not for buildings, rotas or empty slots.</a:t>
            </a:r>
            <a:endParaRPr lang="en-US" sz="2400" dirty="0"/>
          </a:p>
        </p:txBody>
      </p:sp>
      <p:sp>
        <p:nvSpPr>
          <p:cNvPr id="3" name="Shape 1"/>
          <p:cNvSpPr/>
          <p:nvPr/>
        </p:nvSpPr>
        <p:spPr>
          <a:xfrm>
            <a:off x="502920" y="1417320"/>
            <a:ext cx="3977640" cy="1389888"/>
          </a:xfrm>
          <a:prstGeom prst="rect">
            <a:avLst/>
          </a:prstGeom>
          <a:solidFill>
            <a:srgbClr val="FFFFFF"/>
          </a:solidFill>
          <a:ln w="9525">
            <a:solidFill>
              <a:srgbClr val="E3E9F0"/>
            </a:solidFill>
            <a:prstDash val="solid"/>
          </a:ln>
          <a:effectLst>
            <a:outerShdw sx="100000" sy="100000" kx="0" ky="0" algn="bl" rotWithShape="0" blurRad="114300" dist="38100" dir="8100000">
              <a:srgbClr val="0A1F3C">
                <a:alpha val="18000"/>
              </a:srgbClr>
            </a:outerShdw>
          </a:effectLst>
        </p:spPr>
        <p:txBody>
          <a:bodyPr/>
          <a:p/>
        </p:txBody>
      </p:sp>
      <p:sp>
        <p:nvSpPr>
          <p:cNvPr id="4" name="Shape 2"/>
          <p:cNvSpPr/>
          <p:nvPr/>
        </p:nvSpPr>
        <p:spPr>
          <a:xfrm>
            <a:off x="502920" y="1417320"/>
            <a:ext cx="82296" cy="1389888"/>
          </a:xfrm>
          <a:prstGeom prst="rect">
            <a:avLst/>
          </a:prstGeom>
          <a:solidFill>
            <a:srgbClr val="006747"/>
          </a:solidFill>
          <a:ln/>
        </p:spPr>
        <p:txBody>
          <a:bodyPr/>
          <a:p/>
        </p:txBody>
      </p:sp>
      <p:sp>
        <p:nvSpPr>
          <p:cNvPr id="5" name="Text 3"/>
          <p:cNvSpPr/>
          <p:nvPr/>
        </p:nvSpPr>
        <p:spPr>
          <a:xfrm>
            <a:off x="731520" y="1527048"/>
            <a:ext cx="3611880" cy="347472"/>
          </a:xfrm>
          <a:prstGeom prst="rect">
            <a:avLst/>
          </a:prstGeom>
          <a:noFill/>
          <a:ln/>
        </p:spPr>
        <p:txBody>
          <a:bodyPr wrap="square" lIns="0" tIns="0" rIns="0" bIns="0" rtlCol="0" anchor="ctr"/>
          <a:lstStyle/>
          <a:p>
            <a:pPr indent="0" marL="0">
              <a:buNone/>
            </a:pPr>
            <a:r>
              <a:rPr lang="en-US" sz="1600" b="1" dirty="0">
                <a:solidFill>
                  <a:srgbClr val="006747"/>
                </a:solidFill>
                <a:latin typeface="Trebuchet MS" pitchFamily="34" charset="0"/>
                <a:ea typeface="Trebuchet MS" pitchFamily="34" charset="-122"/>
                <a:cs typeface="Trebuchet MS" pitchFamily="34" charset="-120"/>
              </a:rPr>
              <a:t>Cost per activity</a:t>
            </a:r>
            <a:endParaRPr lang="en-US" sz="1600" dirty="0"/>
          </a:p>
        </p:txBody>
      </p:sp>
      <p:sp>
        <p:nvSpPr>
          <p:cNvPr id="6" name="Text 4"/>
          <p:cNvSpPr/>
          <p:nvPr/>
        </p:nvSpPr>
        <p:spPr>
          <a:xfrm>
            <a:off x="731520" y="1892808"/>
            <a:ext cx="3611880" cy="841248"/>
          </a:xfrm>
          <a:prstGeom prst="rect">
            <a:avLst/>
          </a:prstGeom>
          <a:noFill/>
          <a:ln/>
        </p:spPr>
        <p:txBody>
          <a:bodyPr wrap="square" lIns="0" tIns="0" rIns="0" bIns="0" rtlCol="0" anchor="ctr"/>
          <a:lstStyle/>
          <a:p>
            <a:pPr indent="0" marL="0">
              <a:buNone/>
            </a:pPr>
            <a:r>
              <a:rPr lang="en-US" sz="1050" dirty="0">
                <a:solidFill>
                  <a:srgbClr val="4C6272"/>
                </a:solidFill>
                <a:latin typeface="Calibri" pitchFamily="34" charset="0"/>
                <a:ea typeface="Calibri" pitchFamily="34" charset="-122"/>
                <a:cs typeface="Calibri" pitchFamily="34" charset="-120"/>
              </a:rPr>
              <a:t>The pattern agreed in principle: a set price for the activity that happens, against a national ceiling your local volume beats. A pathway that runs at seventy percent pays seventy percent.</a:t>
            </a:r>
            <a:endParaRPr lang="en-US" sz="1050" dirty="0"/>
          </a:p>
        </p:txBody>
      </p:sp>
      <p:sp>
        <p:nvSpPr>
          <p:cNvPr id="7" name="Shape 5"/>
          <p:cNvSpPr/>
          <p:nvPr/>
        </p:nvSpPr>
        <p:spPr>
          <a:xfrm>
            <a:off x="4709160" y="1417320"/>
            <a:ext cx="3977640" cy="1389888"/>
          </a:xfrm>
          <a:prstGeom prst="rect">
            <a:avLst/>
          </a:prstGeom>
          <a:solidFill>
            <a:srgbClr val="FFFFFF"/>
          </a:solidFill>
          <a:ln w="9525">
            <a:solidFill>
              <a:srgbClr val="E3E9F0"/>
            </a:solidFill>
            <a:prstDash val="solid"/>
          </a:ln>
          <a:effectLst>
            <a:outerShdw sx="100000" sy="100000" kx="0" ky="0" algn="bl" rotWithShape="0" blurRad="114300" dist="38100" dir="8100000">
              <a:srgbClr val="0A1F3C">
                <a:alpha val="18000"/>
              </a:srgbClr>
            </a:outerShdw>
          </a:effectLst>
        </p:spPr>
        <p:txBody>
          <a:bodyPr/>
          <a:p/>
        </p:txBody>
      </p:sp>
      <p:sp>
        <p:nvSpPr>
          <p:cNvPr id="8" name="Shape 6"/>
          <p:cNvSpPr/>
          <p:nvPr/>
        </p:nvSpPr>
        <p:spPr>
          <a:xfrm>
            <a:off x="4709160" y="1417320"/>
            <a:ext cx="82296" cy="1389888"/>
          </a:xfrm>
          <a:prstGeom prst="rect">
            <a:avLst/>
          </a:prstGeom>
          <a:solidFill>
            <a:srgbClr val="006747"/>
          </a:solidFill>
          <a:ln/>
        </p:spPr>
        <p:txBody>
          <a:bodyPr/>
          <a:p/>
        </p:txBody>
      </p:sp>
      <p:sp>
        <p:nvSpPr>
          <p:cNvPr id="9" name="Text 7"/>
          <p:cNvSpPr/>
          <p:nvPr/>
        </p:nvSpPr>
        <p:spPr>
          <a:xfrm>
            <a:off x="4937760" y="1527048"/>
            <a:ext cx="3611880" cy="347472"/>
          </a:xfrm>
          <a:prstGeom prst="rect">
            <a:avLst/>
          </a:prstGeom>
          <a:noFill/>
          <a:ln/>
        </p:spPr>
        <p:txBody>
          <a:bodyPr wrap="square" lIns="0" tIns="0" rIns="0" bIns="0" rtlCol="0" anchor="ctr"/>
          <a:lstStyle/>
          <a:p>
            <a:pPr indent="0" marL="0">
              <a:buNone/>
            </a:pPr>
            <a:r>
              <a:rPr lang="en-US" sz="1600" b="1" dirty="0">
                <a:solidFill>
                  <a:srgbClr val="006747"/>
                </a:solidFill>
                <a:latin typeface="Trebuchet MS" pitchFamily="34" charset="0"/>
                <a:ea typeface="Trebuchet MS" pitchFamily="34" charset="-122"/>
                <a:cs typeface="Trebuchet MS" pitchFamily="34" charset="-120"/>
              </a:rPr>
              <a:t>The DNA asymmetry</a:t>
            </a:r>
            <a:endParaRPr lang="en-US" sz="1600" dirty="0"/>
          </a:p>
        </p:txBody>
      </p:sp>
      <p:sp>
        <p:nvSpPr>
          <p:cNvPr id="10" name="Text 8"/>
          <p:cNvSpPr/>
          <p:nvPr/>
        </p:nvSpPr>
        <p:spPr>
          <a:xfrm>
            <a:off x="4937760" y="1892808"/>
            <a:ext cx="3611880" cy="841248"/>
          </a:xfrm>
          <a:prstGeom prst="rect">
            <a:avLst/>
          </a:prstGeom>
          <a:noFill/>
          <a:ln/>
        </p:spPr>
        <p:txBody>
          <a:bodyPr wrap="square" lIns="0" tIns="0" rIns="0" bIns="0" rtlCol="0" anchor="ctr"/>
          <a:lstStyle/>
          <a:p>
            <a:pPr indent="0" marL="0">
              <a:buNone/>
            </a:pPr>
            <a:r>
              <a:rPr lang="en-US" sz="1050" dirty="0">
                <a:solidFill>
                  <a:srgbClr val="4C6272"/>
                </a:solidFill>
                <a:latin typeface="Calibri" pitchFamily="34" charset="0"/>
                <a:ea typeface="Calibri" pitchFamily="34" charset="-122"/>
                <a:cs typeface="Calibri" pitchFamily="34" charset="-120"/>
              </a:rPr>
              <a:t>A missed appointment still costs the slot, the room and the rota. An unreturned kit doesn’t burn a clinic minute, and the reminder to return it costs a message, not a booking.</a:t>
            </a:r>
            <a:endParaRPr lang="en-US" sz="1050" dirty="0"/>
          </a:p>
        </p:txBody>
      </p:sp>
      <p:sp>
        <p:nvSpPr>
          <p:cNvPr id="11" name="Shape 9"/>
          <p:cNvSpPr/>
          <p:nvPr/>
        </p:nvSpPr>
        <p:spPr>
          <a:xfrm>
            <a:off x="502920" y="2990088"/>
            <a:ext cx="3977640" cy="1389888"/>
          </a:xfrm>
          <a:prstGeom prst="rect">
            <a:avLst/>
          </a:prstGeom>
          <a:solidFill>
            <a:srgbClr val="FFFFFF"/>
          </a:solidFill>
          <a:ln w="9525">
            <a:solidFill>
              <a:srgbClr val="E3E9F0"/>
            </a:solidFill>
            <a:prstDash val="solid"/>
          </a:ln>
          <a:effectLst>
            <a:outerShdw sx="100000" sy="100000" kx="0" ky="0" algn="bl" rotWithShape="0" blurRad="114300" dist="38100" dir="8100000">
              <a:srgbClr val="0A1F3C">
                <a:alpha val="18000"/>
              </a:srgbClr>
            </a:outerShdw>
          </a:effectLst>
        </p:spPr>
        <p:txBody>
          <a:bodyPr/>
          <a:p/>
        </p:txBody>
      </p:sp>
      <p:sp>
        <p:nvSpPr>
          <p:cNvPr id="12" name="Shape 10"/>
          <p:cNvSpPr/>
          <p:nvPr/>
        </p:nvSpPr>
        <p:spPr>
          <a:xfrm>
            <a:off x="502920" y="2990088"/>
            <a:ext cx="82296" cy="1389888"/>
          </a:xfrm>
          <a:prstGeom prst="rect">
            <a:avLst/>
          </a:prstGeom>
          <a:solidFill>
            <a:srgbClr val="005EB8"/>
          </a:solidFill>
          <a:ln/>
        </p:spPr>
        <p:txBody>
          <a:bodyPr/>
          <a:p/>
        </p:txBody>
      </p:sp>
      <p:sp>
        <p:nvSpPr>
          <p:cNvPr id="13" name="Text 11"/>
          <p:cNvSpPr/>
          <p:nvPr/>
        </p:nvSpPr>
        <p:spPr>
          <a:xfrm>
            <a:off x="731520" y="3099816"/>
            <a:ext cx="3611880" cy="347472"/>
          </a:xfrm>
          <a:prstGeom prst="rect">
            <a:avLst/>
          </a:prstGeom>
          <a:noFill/>
          <a:ln/>
        </p:spPr>
        <p:txBody>
          <a:bodyPr wrap="square" lIns="0" tIns="0" rIns="0" bIns="0" rtlCol="0" anchor="ctr"/>
          <a:lstStyle/>
          <a:p>
            <a:pPr indent="0" marL="0">
              <a:buNone/>
            </a:pPr>
            <a:r>
              <a:rPr lang="en-US" sz="1600" b="1" dirty="0">
                <a:solidFill>
                  <a:srgbClr val="005EB8"/>
                </a:solidFill>
                <a:latin typeface="Trebuchet MS" pitchFamily="34" charset="0"/>
                <a:ea typeface="Trebuchet MS" pitchFamily="34" charset="-122"/>
                <a:cs typeface="Trebuchet MS" pitchFamily="34" charset="-120"/>
              </a:rPr>
              <a:t>Zero estate</a:t>
            </a:r>
            <a:endParaRPr lang="en-US" sz="1600" dirty="0"/>
          </a:p>
        </p:txBody>
      </p:sp>
      <p:sp>
        <p:nvSpPr>
          <p:cNvPr id="14" name="Text 12"/>
          <p:cNvSpPr/>
          <p:nvPr/>
        </p:nvSpPr>
        <p:spPr>
          <a:xfrm>
            <a:off x="731520" y="3465576"/>
            <a:ext cx="3611880" cy="841248"/>
          </a:xfrm>
          <a:prstGeom prst="rect">
            <a:avLst/>
          </a:prstGeom>
          <a:noFill/>
          <a:ln/>
        </p:spPr>
        <p:txBody>
          <a:bodyPr wrap="square" lIns="0" tIns="0" rIns="0" bIns="0" rtlCol="0" anchor="ctr"/>
          <a:lstStyle/>
          <a:p>
            <a:pPr indent="0" marL="0">
              <a:buNone/>
            </a:pPr>
            <a:r>
              <a:rPr lang="en-US" sz="1050" dirty="0">
                <a:solidFill>
                  <a:srgbClr val="4C6272"/>
                </a:solidFill>
                <a:latin typeface="Calibri" pitchFamily="34" charset="0"/>
                <a:ea typeface="Calibri" pitchFamily="34" charset="-122"/>
                <a:cs typeface="Calibri" pitchFamily="34" charset="-120"/>
              </a:rPr>
              <a:t>Volume scales with kit-and-post logistics and lab capacity, not with waiting rooms. The next thousand tests need no building.</a:t>
            </a:r>
            <a:endParaRPr lang="en-US" sz="1050" dirty="0"/>
          </a:p>
        </p:txBody>
      </p:sp>
      <p:sp>
        <p:nvSpPr>
          <p:cNvPr id="15" name="Shape 13"/>
          <p:cNvSpPr/>
          <p:nvPr/>
        </p:nvSpPr>
        <p:spPr>
          <a:xfrm>
            <a:off x="4709160" y="2990088"/>
            <a:ext cx="3977640" cy="1389888"/>
          </a:xfrm>
          <a:prstGeom prst="rect">
            <a:avLst/>
          </a:prstGeom>
          <a:solidFill>
            <a:srgbClr val="FFFFFF"/>
          </a:solidFill>
          <a:ln w="9525">
            <a:solidFill>
              <a:srgbClr val="E3E9F0"/>
            </a:solidFill>
            <a:prstDash val="solid"/>
          </a:ln>
          <a:effectLst>
            <a:outerShdw sx="100000" sy="100000" kx="0" ky="0" algn="bl" rotWithShape="0" blurRad="114300" dist="38100" dir="8100000">
              <a:srgbClr val="0A1F3C">
                <a:alpha val="18000"/>
              </a:srgbClr>
            </a:outerShdw>
          </a:effectLst>
        </p:spPr>
        <p:txBody>
          <a:bodyPr/>
          <a:p/>
        </p:txBody>
      </p:sp>
      <p:sp>
        <p:nvSpPr>
          <p:cNvPr id="16" name="Shape 14"/>
          <p:cNvSpPr/>
          <p:nvPr/>
        </p:nvSpPr>
        <p:spPr>
          <a:xfrm>
            <a:off x="4709160" y="2990088"/>
            <a:ext cx="82296" cy="1389888"/>
          </a:xfrm>
          <a:prstGeom prst="rect">
            <a:avLst/>
          </a:prstGeom>
          <a:solidFill>
            <a:srgbClr val="005EB8"/>
          </a:solidFill>
          <a:ln/>
        </p:spPr>
        <p:txBody>
          <a:bodyPr/>
          <a:p/>
        </p:txBody>
      </p:sp>
      <p:sp>
        <p:nvSpPr>
          <p:cNvPr id="17" name="Text 15"/>
          <p:cNvSpPr/>
          <p:nvPr/>
        </p:nvSpPr>
        <p:spPr>
          <a:xfrm>
            <a:off x="4937760" y="3099816"/>
            <a:ext cx="3611880" cy="347472"/>
          </a:xfrm>
          <a:prstGeom prst="rect">
            <a:avLst/>
          </a:prstGeom>
          <a:noFill/>
          <a:ln/>
        </p:spPr>
        <p:txBody>
          <a:bodyPr wrap="square" lIns="0" tIns="0" rIns="0" bIns="0" rtlCol="0" anchor="ctr"/>
          <a:lstStyle/>
          <a:p>
            <a:pPr indent="0" marL="0">
              <a:buNone/>
            </a:pPr>
            <a:r>
              <a:rPr lang="en-US" sz="1600" b="1" dirty="0">
                <a:solidFill>
                  <a:srgbClr val="005EB8"/>
                </a:solidFill>
                <a:latin typeface="Trebuchet MS" pitchFamily="34" charset="0"/>
                <a:ea typeface="Trebuchet MS" pitchFamily="34" charset="-122"/>
                <a:cs typeface="Trebuchet MS" pitchFamily="34" charset="-120"/>
              </a:rPr>
              <a:t>Aggregated demand</a:t>
            </a:r>
            <a:endParaRPr lang="en-US" sz="1600" dirty="0"/>
          </a:p>
        </p:txBody>
      </p:sp>
      <p:sp>
        <p:nvSpPr>
          <p:cNvPr id="18" name="Text 16"/>
          <p:cNvSpPr/>
          <p:nvPr/>
        </p:nvSpPr>
        <p:spPr>
          <a:xfrm>
            <a:off x="4937760" y="3465576"/>
            <a:ext cx="3611880" cy="841248"/>
          </a:xfrm>
          <a:prstGeom prst="rect">
            <a:avLst/>
          </a:prstGeom>
          <a:noFill/>
          <a:ln/>
        </p:spPr>
        <p:txBody>
          <a:bodyPr wrap="square" lIns="0" tIns="0" rIns="0" bIns="0" rtlCol="0" anchor="ctr"/>
          <a:lstStyle/>
          <a:p>
            <a:pPr indent="0" marL="0">
              <a:buNone/>
            </a:pPr>
            <a:r>
              <a:rPr lang="en-US" sz="1050" dirty="0">
                <a:solidFill>
                  <a:srgbClr val="4C6272"/>
                </a:solidFill>
                <a:latin typeface="Calibri" pitchFamily="34" charset="0"/>
                <a:ea typeface="Calibri" pitchFamily="34" charset="-122"/>
                <a:cs typeface="Calibri" pitchFamily="34" charset="-120"/>
              </a:rPr>
              <a:t>A national framework of quality-assured suppliers with a published ceiling price. Every commissioner’s volume pushes every commissioner’s price further below it.</a:t>
            </a:r>
            <a:endParaRPr lang="en-US" sz="1050" dirty="0"/>
          </a:p>
        </p:txBody>
      </p:sp>
      <p:sp>
        <p:nvSpPr>
          <p:cNvPr id="19" name="Text 17"/>
          <p:cNvSpPr/>
          <p:nvPr/>
        </p:nvSpPr>
        <p:spPr>
          <a:xfrm>
            <a:off x="502920" y="4572000"/>
            <a:ext cx="8229600" cy="320040"/>
          </a:xfrm>
          <a:prstGeom prst="rect">
            <a:avLst/>
          </a:prstGeom>
          <a:noFill/>
          <a:ln/>
        </p:spPr>
        <p:txBody>
          <a:bodyPr wrap="square" lIns="0" tIns="0" rIns="0" bIns="0" rtlCol="0" anchor="ctr"/>
          <a:lstStyle/>
          <a:p>
            <a:pPr indent="0" marL="0">
              <a:buNone/>
            </a:pPr>
            <a:r>
              <a:rPr lang="en-US" sz="1150" i="1" dirty="0">
                <a:solidFill>
                  <a:srgbClr val="006747"/>
                </a:solidFill>
                <a:latin typeface="Calibri" pitchFamily="34" charset="0"/>
                <a:ea typeface="Calibri" pitchFamily="34" charset="-122"/>
                <a:cs typeface="Calibri" pitchFamily="34" charset="-120"/>
              </a:rPr>
              <a:t>The Beta areas are generating the sexual-health unit economics now, early partners see them first.</a:t>
            </a:r>
            <a:endParaRPr lang="en-US" sz="1150" dirty="0"/>
          </a:p>
        </p:txBody>
      </p:sp>
      <p:sp>
        <p:nvSpPr>
          <p:cNvPr id="20" name="Text 18"/>
          <p:cNvSpPr/>
          <p:nvPr/>
        </p:nvSpPr>
        <p:spPr>
          <a:xfrm>
            <a:off x="457200" y="4864608"/>
            <a:ext cx="8229600" cy="228600"/>
          </a:xfrm>
          <a:prstGeom prst="rect">
            <a:avLst/>
          </a:prstGeom>
          <a:noFill/>
          <a:ln/>
        </p:spPr>
        <p:txBody>
          <a:bodyPr wrap="square" lIns="0" tIns="0" rIns="0" bIns="0" rtlCol="0" anchor="ctr"/>
          <a:lstStyle/>
          <a:p>
            <a:pPr indent="0" marL="0">
              <a:buNone/>
            </a:pPr>
            <a:r>
              <a:rPr lang="en-US" sz="800" dirty="0">
                <a:solidFill>
                  <a:srgbClr val="7E8B97"/>
                </a:solidFill>
                <a:latin typeface="Calibri" pitchFamily="34" charset="0"/>
                <a:ea typeface="Calibri" pitchFamily="34" charset="-122"/>
                <a:cs typeface="Calibri" pitchFamily="34" charset="-120"/>
              </a:rPr>
              <a:t>Hearts and Minds · audience deck No.1 · Commissioner edition · proof-of-concept draft ⚑ · updated September 2026</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411480"/>
            <a:ext cx="8229600" cy="548640"/>
          </a:xfrm>
          <a:prstGeom prst="rect">
            <a:avLst/>
          </a:prstGeom>
          <a:noFill/>
          <a:ln/>
        </p:spPr>
        <p:txBody>
          <a:bodyPr wrap="square" lIns="0" tIns="0" rIns="0" bIns="0" rtlCol="0" anchor="ctr"/>
          <a:lstStyle/>
          <a:p>
            <a:pPr indent="0" marL="0">
              <a:buNone/>
            </a:pPr>
            <a:r>
              <a:rPr lang="en-US" sz="2600" b="1" dirty="0">
                <a:solidFill>
                  <a:srgbClr val="003087"/>
                </a:solidFill>
                <a:latin typeface="Trebuchet MS" pitchFamily="34" charset="0"/>
                <a:ea typeface="Trebuchet MS" pitchFamily="34" charset="-122"/>
                <a:cs typeface="Trebuchet MS" pitchFamily="34" charset="-120"/>
              </a:rPr>
              <a:t>What stops costing you money.</a:t>
            </a:r>
            <a:endParaRPr lang="en-US" sz="2600" dirty="0"/>
          </a:p>
        </p:txBody>
      </p:sp>
      <p:sp>
        <p:nvSpPr>
          <p:cNvPr id="3" name="Shape 1"/>
          <p:cNvSpPr/>
          <p:nvPr/>
        </p:nvSpPr>
        <p:spPr>
          <a:xfrm>
            <a:off x="502920" y="1188720"/>
            <a:ext cx="5486400" cy="621792"/>
          </a:xfrm>
          <a:prstGeom prst="rect">
            <a:avLst/>
          </a:prstGeom>
          <a:solidFill>
            <a:srgbClr val="FFFFFF"/>
          </a:solidFill>
          <a:ln w="9525">
            <a:solidFill>
              <a:srgbClr val="E3E9F0"/>
            </a:solidFill>
            <a:prstDash val="solid"/>
          </a:ln>
          <a:effectLst>
            <a:outerShdw sx="100000" sy="100000" kx="0" ky="0" algn="bl" rotWithShape="0" blurRad="114300" dist="38100" dir="8100000">
              <a:srgbClr val="0A1F3C">
                <a:alpha val="18000"/>
              </a:srgbClr>
            </a:outerShdw>
          </a:effectLst>
        </p:spPr>
        <p:txBody>
          <a:bodyPr/>
          <a:p/>
        </p:txBody>
      </p:sp>
      <p:sp>
        <p:nvSpPr>
          <p:cNvPr id="4" name="Text 2"/>
          <p:cNvSpPr/>
          <p:nvPr/>
        </p:nvSpPr>
        <p:spPr>
          <a:xfrm>
            <a:off x="640080" y="1261872"/>
            <a:ext cx="365760" cy="457200"/>
          </a:xfrm>
          <a:prstGeom prst="rect">
            <a:avLst/>
          </a:prstGeom>
          <a:noFill/>
          <a:ln/>
        </p:spPr>
        <p:txBody>
          <a:bodyPr wrap="square" lIns="0" tIns="0" rIns="0" bIns="0" rtlCol="0" anchor="ctr"/>
          <a:lstStyle/>
          <a:p>
            <a:pPr indent="0" marL="0">
              <a:buNone/>
            </a:pPr>
            <a:r>
              <a:rPr lang="en-US" sz="2400" b="1" dirty="0">
                <a:solidFill>
                  <a:srgbClr val="006747"/>
                </a:solidFill>
                <a:latin typeface="Trebuchet MS" pitchFamily="34" charset="0"/>
                <a:ea typeface="Trebuchet MS" pitchFamily="34" charset="-122"/>
                <a:cs typeface="Trebuchet MS" pitchFamily="34" charset="-120"/>
              </a:rPr>
              <a:t>−</a:t>
            </a:r>
            <a:endParaRPr lang="en-US" sz="2400" dirty="0"/>
          </a:p>
        </p:txBody>
      </p:sp>
      <p:sp>
        <p:nvSpPr>
          <p:cNvPr id="5" name="Text 3"/>
          <p:cNvSpPr/>
          <p:nvPr/>
        </p:nvSpPr>
        <p:spPr>
          <a:xfrm>
            <a:off x="1051560" y="1252728"/>
            <a:ext cx="4846320" cy="512064"/>
          </a:xfrm>
          <a:prstGeom prst="rect">
            <a:avLst/>
          </a:prstGeom>
          <a:noFill/>
          <a:ln/>
        </p:spPr>
        <p:txBody>
          <a:bodyPr wrap="square" lIns="0" tIns="0" rIns="0" bIns="0" rtlCol="0" anchor="ctr"/>
          <a:lstStyle/>
          <a:p>
            <a:pPr indent="0" marL="0">
              <a:buNone/>
            </a:pPr>
            <a:r>
              <a:rPr lang="en-US" sz="1000" b="1" dirty="0">
                <a:solidFill>
                  <a:srgbClr val="003087"/>
                </a:solidFill>
                <a:latin typeface="Calibri" pitchFamily="34" charset="0"/>
                <a:ea typeface="Calibri" pitchFamily="34" charset="-122"/>
                <a:cs typeface="Calibri" pitchFamily="34" charset="-120"/>
              </a:rPr>
              <a:t>Procurement months, </a:t>
            </a:r>
            <a:pPr indent="0" marL="0">
              <a:buNone/>
            </a:pPr>
            <a:r>
              <a:rPr lang="en-US" sz="1000" dirty="0">
                <a:solidFill>
                  <a:srgbClr val="4C6272"/>
                </a:solidFill>
                <a:latin typeface="Calibri" pitchFamily="34" charset="0"/>
                <a:ea typeface="Calibri" pitchFamily="34" charset="-122"/>
                <a:cs typeface="Calibri" pitchFamily="34" charset="-120"/>
              </a:rPr>
              <a:t>One call-off on national terms replaces a locally designed procurement, and the headcount it consumes.</a:t>
            </a:r>
            <a:endParaRPr lang="en-US" sz="1000" dirty="0"/>
          </a:p>
        </p:txBody>
      </p:sp>
      <p:sp>
        <p:nvSpPr>
          <p:cNvPr id="6" name="Shape 4"/>
          <p:cNvSpPr/>
          <p:nvPr/>
        </p:nvSpPr>
        <p:spPr>
          <a:xfrm>
            <a:off x="502920" y="1901952"/>
            <a:ext cx="5486400" cy="621792"/>
          </a:xfrm>
          <a:prstGeom prst="rect">
            <a:avLst/>
          </a:prstGeom>
          <a:solidFill>
            <a:srgbClr val="FFFFFF"/>
          </a:solidFill>
          <a:ln w="9525">
            <a:solidFill>
              <a:srgbClr val="E3E9F0"/>
            </a:solidFill>
            <a:prstDash val="solid"/>
          </a:ln>
          <a:effectLst>
            <a:outerShdw sx="100000" sy="100000" kx="0" ky="0" algn="bl" rotWithShape="0" blurRad="114300" dist="38100" dir="8100000">
              <a:srgbClr val="0A1F3C">
                <a:alpha val="18000"/>
              </a:srgbClr>
            </a:outerShdw>
          </a:effectLst>
        </p:spPr>
        <p:txBody>
          <a:bodyPr/>
          <a:p/>
        </p:txBody>
      </p:sp>
      <p:sp>
        <p:nvSpPr>
          <p:cNvPr id="7" name="Text 5"/>
          <p:cNvSpPr/>
          <p:nvPr/>
        </p:nvSpPr>
        <p:spPr>
          <a:xfrm>
            <a:off x="640080" y="1975104"/>
            <a:ext cx="365760" cy="457200"/>
          </a:xfrm>
          <a:prstGeom prst="rect">
            <a:avLst/>
          </a:prstGeom>
          <a:noFill/>
          <a:ln/>
        </p:spPr>
        <p:txBody>
          <a:bodyPr wrap="square" lIns="0" tIns="0" rIns="0" bIns="0" rtlCol="0" anchor="ctr"/>
          <a:lstStyle/>
          <a:p>
            <a:pPr indent="0" marL="0">
              <a:buNone/>
            </a:pPr>
            <a:r>
              <a:rPr lang="en-US" sz="2400" b="1" dirty="0">
                <a:solidFill>
                  <a:srgbClr val="006747"/>
                </a:solidFill>
                <a:latin typeface="Trebuchet MS" pitchFamily="34" charset="0"/>
                <a:ea typeface="Trebuchet MS" pitchFamily="34" charset="-122"/>
                <a:cs typeface="Trebuchet MS" pitchFamily="34" charset="-120"/>
              </a:rPr>
              <a:t>−</a:t>
            </a:r>
            <a:endParaRPr lang="en-US" sz="2400" dirty="0"/>
          </a:p>
        </p:txBody>
      </p:sp>
      <p:sp>
        <p:nvSpPr>
          <p:cNvPr id="8" name="Text 6"/>
          <p:cNvSpPr/>
          <p:nvPr/>
        </p:nvSpPr>
        <p:spPr>
          <a:xfrm>
            <a:off x="1051560" y="1965960"/>
            <a:ext cx="4846320" cy="512064"/>
          </a:xfrm>
          <a:prstGeom prst="rect">
            <a:avLst/>
          </a:prstGeom>
          <a:noFill/>
          <a:ln/>
        </p:spPr>
        <p:txBody>
          <a:bodyPr wrap="square" lIns="0" tIns="0" rIns="0" bIns="0" rtlCol="0" anchor="ctr"/>
          <a:lstStyle/>
          <a:p>
            <a:pPr indent="0" marL="0">
              <a:buNone/>
            </a:pPr>
            <a:r>
              <a:rPr lang="en-US" sz="1000" b="1" dirty="0">
                <a:solidFill>
                  <a:srgbClr val="003087"/>
                </a:solidFill>
                <a:latin typeface="Calibri" pitchFamily="34" charset="0"/>
                <a:ea typeface="Calibri" pitchFamily="34" charset="-122"/>
                <a:cs typeface="Calibri" pitchFamily="34" charset="-120"/>
              </a:rPr>
              <a:t>Duplicated assurance, </a:t>
            </a:r>
            <a:pPr indent="0" marL="0">
              <a:buNone/>
            </a:pPr>
            <a:r>
              <a:rPr lang="en-US" sz="1000" dirty="0">
                <a:solidFill>
                  <a:srgbClr val="4C6272"/>
                </a:solidFill>
                <a:latin typeface="Calibri" pitchFamily="34" charset="0"/>
                <a:ea typeface="Calibri" pitchFamily="34" charset="-122"/>
                <a:cs typeface="Calibri" pitchFamily="34" charset="-120"/>
              </a:rPr>
              <a:t>DPIA, DSA, clinical safety case and accreditation are carried once, nationally, not rebuilt by every commissioner, every time.</a:t>
            </a:r>
            <a:endParaRPr lang="en-US" sz="1000" dirty="0"/>
          </a:p>
        </p:txBody>
      </p:sp>
      <p:sp>
        <p:nvSpPr>
          <p:cNvPr id="9" name="Shape 7"/>
          <p:cNvSpPr/>
          <p:nvPr/>
        </p:nvSpPr>
        <p:spPr>
          <a:xfrm>
            <a:off x="502920" y="2615184"/>
            <a:ext cx="5486400" cy="621792"/>
          </a:xfrm>
          <a:prstGeom prst="rect">
            <a:avLst/>
          </a:prstGeom>
          <a:solidFill>
            <a:srgbClr val="FFFFFF"/>
          </a:solidFill>
          <a:ln w="9525">
            <a:solidFill>
              <a:srgbClr val="E3E9F0"/>
            </a:solidFill>
            <a:prstDash val="solid"/>
          </a:ln>
          <a:effectLst>
            <a:outerShdw sx="100000" sy="100000" kx="0" ky="0" algn="bl" rotWithShape="0" blurRad="114300" dist="38100" dir="8100000">
              <a:srgbClr val="0A1F3C">
                <a:alpha val="18000"/>
              </a:srgbClr>
            </a:outerShdw>
          </a:effectLst>
        </p:spPr>
        <p:txBody>
          <a:bodyPr/>
          <a:p/>
        </p:txBody>
      </p:sp>
      <p:sp>
        <p:nvSpPr>
          <p:cNvPr id="10" name="Text 8"/>
          <p:cNvSpPr/>
          <p:nvPr/>
        </p:nvSpPr>
        <p:spPr>
          <a:xfrm>
            <a:off x="640080" y="2688336"/>
            <a:ext cx="365760" cy="457200"/>
          </a:xfrm>
          <a:prstGeom prst="rect">
            <a:avLst/>
          </a:prstGeom>
          <a:noFill/>
          <a:ln/>
        </p:spPr>
        <p:txBody>
          <a:bodyPr wrap="square" lIns="0" tIns="0" rIns="0" bIns="0" rtlCol="0" anchor="ctr"/>
          <a:lstStyle/>
          <a:p>
            <a:pPr indent="0" marL="0">
              <a:buNone/>
            </a:pPr>
            <a:r>
              <a:rPr lang="en-US" sz="2400" b="1" dirty="0">
                <a:solidFill>
                  <a:srgbClr val="006747"/>
                </a:solidFill>
                <a:latin typeface="Trebuchet MS" pitchFamily="34" charset="0"/>
                <a:ea typeface="Trebuchet MS" pitchFamily="34" charset="-122"/>
                <a:cs typeface="Trebuchet MS" pitchFamily="34" charset="-120"/>
              </a:rPr>
              <a:t>−</a:t>
            </a:r>
            <a:endParaRPr lang="en-US" sz="2400" dirty="0"/>
          </a:p>
        </p:txBody>
      </p:sp>
      <p:sp>
        <p:nvSpPr>
          <p:cNvPr id="11" name="Text 9"/>
          <p:cNvSpPr/>
          <p:nvPr/>
        </p:nvSpPr>
        <p:spPr>
          <a:xfrm>
            <a:off x="1051560" y="2679192"/>
            <a:ext cx="4846320" cy="512064"/>
          </a:xfrm>
          <a:prstGeom prst="rect">
            <a:avLst/>
          </a:prstGeom>
          <a:noFill/>
          <a:ln/>
        </p:spPr>
        <p:txBody>
          <a:bodyPr wrap="square" lIns="0" tIns="0" rIns="0" bIns="0" rtlCol="0" anchor="ctr"/>
          <a:lstStyle/>
          <a:p>
            <a:pPr indent="0" marL="0">
              <a:buNone/>
            </a:pPr>
            <a:r>
              <a:rPr lang="en-US" sz="1000" b="1" dirty="0">
                <a:solidFill>
                  <a:srgbClr val="003087"/>
                </a:solidFill>
                <a:latin typeface="Calibri" pitchFamily="34" charset="0"/>
                <a:ea typeface="Calibri" pitchFamily="34" charset="-122"/>
                <a:cs typeface="Calibri" pitchFamily="34" charset="-120"/>
              </a:rPr>
              <a:t>Routine phlebotomy slots, </a:t>
            </a:r>
            <a:pPr indent="0" marL="0">
              <a:buNone/>
            </a:pPr>
            <a:r>
              <a:rPr lang="en-US" sz="1000" dirty="0">
                <a:solidFill>
                  <a:srgbClr val="4C6272"/>
                </a:solidFill>
                <a:latin typeface="Calibri" pitchFamily="34" charset="0"/>
                <a:ea typeface="Calibri" pitchFamily="34" charset="-122"/>
                <a:cs typeface="Calibri" pitchFamily="34" charset="-120"/>
              </a:rPr>
              <a:t>Tests that never needed a building move to kit-and-post; clinic capacity returns to treatment and complex care.</a:t>
            </a:r>
            <a:endParaRPr lang="en-US" sz="1000" dirty="0"/>
          </a:p>
        </p:txBody>
      </p:sp>
      <p:sp>
        <p:nvSpPr>
          <p:cNvPr id="12" name="Shape 10"/>
          <p:cNvSpPr/>
          <p:nvPr/>
        </p:nvSpPr>
        <p:spPr>
          <a:xfrm>
            <a:off x="502920" y="3328416"/>
            <a:ext cx="5486400" cy="621792"/>
          </a:xfrm>
          <a:prstGeom prst="rect">
            <a:avLst/>
          </a:prstGeom>
          <a:solidFill>
            <a:srgbClr val="FFFFFF"/>
          </a:solidFill>
          <a:ln w="9525">
            <a:solidFill>
              <a:srgbClr val="E3E9F0"/>
            </a:solidFill>
            <a:prstDash val="solid"/>
          </a:ln>
          <a:effectLst>
            <a:outerShdw sx="100000" sy="100000" kx="0" ky="0" algn="bl" rotWithShape="0" blurRad="114300" dist="38100" dir="8100000">
              <a:srgbClr val="0A1F3C">
                <a:alpha val="18000"/>
              </a:srgbClr>
            </a:outerShdw>
          </a:effectLst>
        </p:spPr>
        <p:txBody>
          <a:bodyPr/>
          <a:p/>
        </p:txBody>
      </p:sp>
      <p:sp>
        <p:nvSpPr>
          <p:cNvPr id="13" name="Text 11"/>
          <p:cNvSpPr/>
          <p:nvPr/>
        </p:nvSpPr>
        <p:spPr>
          <a:xfrm>
            <a:off x="640080" y="3401568"/>
            <a:ext cx="365760" cy="457200"/>
          </a:xfrm>
          <a:prstGeom prst="rect">
            <a:avLst/>
          </a:prstGeom>
          <a:noFill/>
          <a:ln/>
        </p:spPr>
        <p:txBody>
          <a:bodyPr wrap="square" lIns="0" tIns="0" rIns="0" bIns="0" rtlCol="0" anchor="ctr"/>
          <a:lstStyle/>
          <a:p>
            <a:pPr indent="0" marL="0">
              <a:buNone/>
            </a:pPr>
            <a:r>
              <a:rPr lang="en-US" sz="2400" b="1" dirty="0">
                <a:solidFill>
                  <a:srgbClr val="006747"/>
                </a:solidFill>
                <a:latin typeface="Trebuchet MS" pitchFamily="34" charset="0"/>
                <a:ea typeface="Trebuchet MS" pitchFamily="34" charset="-122"/>
                <a:cs typeface="Trebuchet MS" pitchFamily="34" charset="-120"/>
              </a:rPr>
              <a:t>−</a:t>
            </a:r>
            <a:endParaRPr lang="en-US" sz="2400" dirty="0"/>
          </a:p>
        </p:txBody>
      </p:sp>
      <p:sp>
        <p:nvSpPr>
          <p:cNvPr id="14" name="Text 12"/>
          <p:cNvSpPr/>
          <p:nvPr/>
        </p:nvSpPr>
        <p:spPr>
          <a:xfrm>
            <a:off x="1051560" y="3392424"/>
            <a:ext cx="4846320" cy="512064"/>
          </a:xfrm>
          <a:prstGeom prst="rect">
            <a:avLst/>
          </a:prstGeom>
          <a:noFill/>
          <a:ln/>
        </p:spPr>
        <p:txBody>
          <a:bodyPr wrap="square" lIns="0" tIns="0" rIns="0" bIns="0" rtlCol="0" anchor="ctr"/>
          <a:lstStyle/>
          <a:p>
            <a:pPr indent="0" marL="0">
              <a:buNone/>
            </a:pPr>
            <a:r>
              <a:rPr lang="en-US" sz="1000" b="1" dirty="0">
                <a:solidFill>
                  <a:srgbClr val="003087"/>
                </a:solidFill>
                <a:latin typeface="Calibri" pitchFamily="34" charset="0"/>
                <a:ea typeface="Calibri" pitchFamily="34" charset="-122"/>
                <a:cs typeface="Calibri" pitchFamily="34" charset="-120"/>
              </a:rPr>
              <a:t>DNA waste, </a:t>
            </a:r>
            <a:pPr indent="0" marL="0">
              <a:buNone/>
            </a:pPr>
            <a:r>
              <a:rPr lang="en-US" sz="1000" dirty="0">
                <a:solidFill>
                  <a:srgbClr val="4C6272"/>
                </a:solidFill>
                <a:latin typeface="Calibri" pitchFamily="34" charset="0"/>
                <a:ea typeface="Calibri" pitchFamily="34" charset="-122"/>
                <a:cs typeface="Calibri" pitchFamily="34" charset="-120"/>
              </a:rPr>
              <a:t>The could-not-attends stop costing empty rooms and start returning samples.</a:t>
            </a:r>
            <a:endParaRPr lang="en-US" sz="1000" dirty="0"/>
          </a:p>
        </p:txBody>
      </p:sp>
      <p:sp>
        <p:nvSpPr>
          <p:cNvPr id="15" name="Shape 13"/>
          <p:cNvSpPr/>
          <p:nvPr/>
        </p:nvSpPr>
        <p:spPr>
          <a:xfrm>
            <a:off x="6263640" y="1188720"/>
            <a:ext cx="2423160" cy="2761488"/>
          </a:xfrm>
          <a:prstGeom prst="rect">
            <a:avLst/>
          </a:prstGeom>
          <a:solidFill>
            <a:srgbClr val="006747"/>
          </a:solidFill>
          <a:ln/>
          <a:effectLst>
            <a:outerShdw sx="100000" sy="100000" kx="0" ky="0" algn="bl" rotWithShape="0" blurRad="114300" dist="38100" dir="8100000">
              <a:srgbClr val="0A1F3C">
                <a:alpha val="18000"/>
              </a:srgbClr>
            </a:outerShdw>
          </a:effectLst>
        </p:spPr>
        <p:txBody>
          <a:bodyPr/>
          <a:p/>
        </p:txBody>
      </p:sp>
      <p:sp>
        <p:nvSpPr>
          <p:cNvPr id="16" name="Text 14"/>
          <p:cNvSpPr/>
          <p:nvPr/>
        </p:nvSpPr>
        <p:spPr>
          <a:xfrm>
            <a:off x="6263640" y="1463040"/>
            <a:ext cx="2423160" cy="777240"/>
          </a:xfrm>
          <a:prstGeom prst="rect">
            <a:avLst/>
          </a:prstGeom>
          <a:noFill/>
          <a:ln/>
        </p:spPr>
        <p:txBody>
          <a:bodyPr wrap="square" lIns="0" tIns="0" rIns="0" bIns="0" rtlCol="0" anchor="ctr"/>
          <a:lstStyle/>
          <a:p>
            <a:pPr algn="ctr" indent="0" marL="0">
              <a:buNone/>
            </a:pPr>
            <a:r>
              <a:rPr lang="en-US" sz="4400" b="1" dirty="0">
                <a:solidFill>
                  <a:srgbClr val="FFFFFF"/>
                </a:solidFill>
                <a:latin typeface="Trebuchet MS" pitchFamily="34" charset="0"/>
                <a:ea typeface="Trebuchet MS" pitchFamily="34" charset="-122"/>
                <a:cs typeface="Trebuchet MS" pitchFamily="34" charset="-120"/>
              </a:rPr>
              <a:t>4 to 6</a:t>
            </a:r>
            <a:endParaRPr lang="en-US" sz="4400" dirty="0"/>
          </a:p>
        </p:txBody>
      </p:sp>
      <p:sp>
        <p:nvSpPr>
          <p:cNvPr id="17" name="Text 15"/>
          <p:cNvSpPr/>
          <p:nvPr/>
        </p:nvSpPr>
        <p:spPr>
          <a:xfrm>
            <a:off x="6400800" y="2286000"/>
            <a:ext cx="2148840" cy="548640"/>
          </a:xfrm>
          <a:prstGeom prst="rect">
            <a:avLst/>
          </a:prstGeom>
          <a:noFill/>
          <a:ln/>
        </p:spPr>
        <p:txBody>
          <a:bodyPr wrap="square" lIns="0" tIns="0" rIns="0" bIns="0" rtlCol="0" anchor="ctr"/>
          <a:lstStyle/>
          <a:p>
            <a:pPr algn="ctr" indent="0" marL="0">
              <a:buNone/>
            </a:pPr>
            <a:r>
              <a:rPr lang="en-US" sz="1200" b="1" dirty="0">
                <a:solidFill>
                  <a:srgbClr val="D7F0E4"/>
                </a:solidFill>
                <a:latin typeface="Trebuchet MS" pitchFamily="34" charset="0"/>
                <a:ea typeface="Trebuchet MS" pitchFamily="34" charset="-122"/>
                <a:cs typeface="Trebuchet MS" pitchFamily="34" charset="-120"/>
              </a:rPr>
              <a:t>appointments saved per patient, per year</a:t>
            </a:r>
            <a:endParaRPr lang="en-US" sz="1200" dirty="0"/>
          </a:p>
        </p:txBody>
      </p:sp>
      <p:sp>
        <p:nvSpPr>
          <p:cNvPr id="18" name="Text 16"/>
          <p:cNvSpPr/>
          <p:nvPr/>
        </p:nvSpPr>
        <p:spPr>
          <a:xfrm>
            <a:off x="6400800" y="2880360"/>
            <a:ext cx="2148840" cy="1005840"/>
          </a:xfrm>
          <a:prstGeom prst="rect">
            <a:avLst/>
          </a:prstGeom>
          <a:noFill/>
          <a:ln/>
        </p:spPr>
        <p:txBody>
          <a:bodyPr wrap="square" lIns="0" tIns="0" rIns="0" bIns="0" rtlCol="0" anchor="ctr"/>
          <a:lstStyle/>
          <a:p>
            <a:pPr algn="ctr" indent="0" marL="0">
              <a:buNone/>
            </a:pPr>
            <a:r>
              <a:rPr lang="en-US" sz="950" dirty="0">
                <a:solidFill>
                  <a:srgbClr val="D7F0E4"/>
                </a:solidFill>
                <a:latin typeface="Calibri" pitchFamily="34" charset="0"/>
                <a:ea typeface="Calibri" pitchFamily="34" charset="-122"/>
                <a:cs typeface="Calibri" pitchFamily="34" charset="-120"/>
              </a:rPr>
              <a:t>up to 6 to 8 on a fully digital journey, national home-first journey modelling. Lower delivery cost, lower CO₂, services working people can actually use.</a:t>
            </a:r>
            <a:endParaRPr lang="en-US" sz="950" dirty="0"/>
          </a:p>
        </p:txBody>
      </p:sp>
      <p:sp>
        <p:nvSpPr>
          <p:cNvPr id="19" name="Text 17"/>
          <p:cNvSpPr/>
          <p:nvPr/>
        </p:nvSpPr>
        <p:spPr>
          <a:xfrm>
            <a:off x="502920" y="4160520"/>
            <a:ext cx="5486400" cy="502920"/>
          </a:xfrm>
          <a:prstGeom prst="rect">
            <a:avLst/>
          </a:prstGeom>
          <a:noFill/>
          <a:ln/>
        </p:spPr>
        <p:txBody>
          <a:bodyPr wrap="square" lIns="0" tIns="0" rIns="0" bIns="0" rtlCol="0" anchor="ctr"/>
          <a:lstStyle/>
          <a:p>
            <a:pPr indent="0" marL="0">
              <a:buNone/>
            </a:pPr>
            <a:r>
              <a:rPr lang="en-US" sz="1150" i="1" dirty="0">
                <a:solidFill>
                  <a:srgbClr val="003087"/>
                </a:solidFill>
                <a:latin typeface="Calibri" pitchFamily="34" charset="0"/>
                <a:ea typeface="Calibri" pitchFamily="34" charset="-122"/>
                <a:cs typeface="Calibri" pitchFamily="34" charset="-120"/>
              </a:rPr>
              <a:t>Structural savings first, cashable savings as volume moves, the ledger compounds with every pathway added.</a:t>
            </a:r>
            <a:endParaRPr lang="en-US" sz="1150" dirty="0"/>
          </a:p>
        </p:txBody>
      </p:sp>
      <p:sp>
        <p:nvSpPr>
          <p:cNvPr id="20" name="Text 18"/>
          <p:cNvSpPr/>
          <p:nvPr/>
        </p:nvSpPr>
        <p:spPr>
          <a:xfrm>
            <a:off x="457200" y="4864608"/>
            <a:ext cx="8229600" cy="228600"/>
          </a:xfrm>
          <a:prstGeom prst="rect">
            <a:avLst/>
          </a:prstGeom>
          <a:noFill/>
          <a:ln/>
        </p:spPr>
        <p:txBody>
          <a:bodyPr wrap="square" lIns="0" tIns="0" rIns="0" bIns="0" rtlCol="0" anchor="ctr"/>
          <a:lstStyle/>
          <a:p>
            <a:pPr indent="0" marL="0">
              <a:buNone/>
            </a:pPr>
            <a:r>
              <a:rPr lang="en-US" sz="800" dirty="0">
                <a:solidFill>
                  <a:srgbClr val="7E8B97"/>
                </a:solidFill>
                <a:latin typeface="Calibri" pitchFamily="34" charset="0"/>
                <a:ea typeface="Calibri" pitchFamily="34" charset="-122"/>
                <a:cs typeface="Calibri" pitchFamily="34" charset="-120"/>
              </a:rPr>
              <a:t>Hearts and Minds · audience deck No.1 · Commissioner edition · proof-of-concept draft ⚑ · updated September 2026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0FC"/>
        </a:solidFill>
      </p:bgPr>
    </p:bg>
    <p:spTree>
      <p:nvGrpSpPr>
        <p:cNvPr id="1" name=""/>
        <p:cNvGrpSpPr/>
        <p:nvPr/>
      </p:nvGrpSpPr>
      <p:grpSpPr>
        <a:xfrm>
          <a:off x="0" y="0"/>
          <a:ext cx="0" cy="0"/>
          <a:chOff x="0" y="0"/>
          <a:chExt cx="0" cy="0"/>
        </a:xfrm>
      </p:grpSpPr>
      <p:pic>
        <p:nvPicPr>
          <p:cNvPr id="2" name="Image 0" descr="/sessions/ecstatic-hopeful-clarke/mnt/NHS/dtx-ecosystem/assets/sean story/sean-stage3.png">    </p:cNvPr>
          <p:cNvPicPr>
            <a:picLocks noChangeAspect="1"/>
          </p:cNvPicPr>
          <p:nvPr/>
        </p:nvPicPr>
        <p:blipFill>
          <a:blip r:embed="rId1"/>
          <a:srcRect l="0" r="0" t="0" b="0"/>
          <a:stretch/>
        </p:blipFill>
        <p:spPr>
          <a:xfrm>
            <a:off x="0" y="0"/>
            <a:ext cx="3520440" cy="5143500"/>
          </a:xfrm>
          <a:prstGeom prst="rect">
            <a:avLst/>
          </a:prstGeom>
        </p:spPr>
      </p:pic>
      <p:sp>
        <p:nvSpPr>
          <p:cNvPr id="3" name="Shape 0"/>
          <p:cNvSpPr/>
          <p:nvPr/>
        </p:nvSpPr>
        <p:spPr>
          <a:xfrm>
            <a:off x="3520440" y="0"/>
            <a:ext cx="182880" cy="5143500"/>
          </a:xfrm>
          <a:prstGeom prst="rect">
            <a:avLst/>
          </a:prstGeom>
          <a:solidFill>
            <a:srgbClr val="4527A0"/>
          </a:solidFill>
          <a:ln/>
        </p:spPr>
        <p:txBody>
          <a:bodyPr/>
          <a:p/>
        </p:txBody>
      </p:sp>
      <p:sp>
        <p:nvSpPr>
          <p:cNvPr id="4" name="Text 1"/>
          <p:cNvSpPr/>
          <p:nvPr/>
        </p:nvSpPr>
        <p:spPr>
          <a:xfrm>
            <a:off x="3977640" y="457200"/>
            <a:ext cx="4754880" cy="274320"/>
          </a:xfrm>
          <a:prstGeom prst="rect">
            <a:avLst/>
          </a:prstGeom>
          <a:noFill/>
          <a:ln/>
        </p:spPr>
        <p:txBody>
          <a:bodyPr wrap="square" lIns="0" tIns="0" rIns="0" bIns="0" rtlCol="0" anchor="ctr"/>
          <a:lstStyle/>
          <a:p>
            <a:pPr indent="0" marL="0">
              <a:buNone/>
            </a:pPr>
            <a:r>
              <a:rPr lang="en-US" sz="1050" b="1" spc="300" kern="0" dirty="0">
                <a:solidFill>
                  <a:srgbClr val="4527A0"/>
                </a:solidFill>
                <a:latin typeface="Trebuchet MS" pitchFamily="34" charset="0"/>
                <a:ea typeface="Trebuchet MS" pitchFamily="34" charset="-122"/>
                <a:cs typeface="Trebuchet MS" pitchFamily="34" charset="-120"/>
              </a:rPr>
              <a:t>A REAL STORY, TOLD WITH HIS FAMILY’S BLESSING</a:t>
            </a:r>
            <a:endParaRPr lang="en-US" sz="1050" dirty="0"/>
          </a:p>
        </p:txBody>
      </p:sp>
      <p:sp>
        <p:nvSpPr>
          <p:cNvPr id="5" name="Text 2"/>
          <p:cNvSpPr/>
          <p:nvPr/>
        </p:nvSpPr>
        <p:spPr>
          <a:xfrm>
            <a:off x="3931920" y="777240"/>
            <a:ext cx="4800600" cy="1188720"/>
          </a:xfrm>
          <a:prstGeom prst="rect">
            <a:avLst/>
          </a:prstGeom>
          <a:noFill/>
          <a:ln/>
        </p:spPr>
        <p:txBody>
          <a:bodyPr wrap="square" lIns="0" tIns="0" rIns="0" bIns="0" rtlCol="0" anchor="ctr"/>
          <a:lstStyle/>
          <a:p>
            <a:pPr indent="0" marL="0">
              <a:buNone/>
            </a:pPr>
            <a:r>
              <a:rPr lang="en-US" sz="2200" b="1" dirty="0">
                <a:solidFill>
                  <a:srgbClr val="2E1A5E"/>
                </a:solidFill>
                <a:latin typeface="Trebuchet MS" pitchFamily="34" charset="0"/>
                <a:ea typeface="Trebuchet MS" pitchFamily="34" charset="-122"/>
                <a:cs typeface="Trebuchet MS" pitchFamily="34" charset="-120"/>
              </a:rPr>
              <a:t>Sean, 46. The test was never the hard part. Everything before it was.</a:t>
            </a:r>
            <a:endParaRPr lang="en-US" sz="2200" dirty="0"/>
          </a:p>
        </p:txBody>
      </p:sp>
      <p:sp>
        <p:nvSpPr>
          <p:cNvPr id="6" name="Text 3"/>
          <p:cNvSpPr/>
          <p:nvPr/>
        </p:nvSpPr>
        <p:spPr>
          <a:xfrm>
            <a:off x="3977640" y="2011680"/>
            <a:ext cx="4709160" cy="1417320"/>
          </a:xfrm>
          <a:prstGeom prst="rect">
            <a:avLst/>
          </a:prstGeom>
          <a:noFill/>
          <a:ln/>
        </p:spPr>
        <p:txBody>
          <a:bodyPr wrap="square" lIns="0" tIns="0" rIns="0" bIns="0" rtlCol="0" anchor="ctr"/>
          <a:lstStyle/>
          <a:p>
            <a:pPr indent="0" marL="0">
              <a:buNone/>
            </a:pPr>
            <a:r>
              <a:rPr lang="en-US" sz="1200" dirty="0">
                <a:solidFill>
                  <a:srgbClr val="212B32"/>
                </a:solidFill>
                <a:latin typeface="Calibri" pitchFamily="34" charset="0"/>
                <a:ea typeface="Calibri" pitchFamily="34" charset="-122"/>
                <a:cs typeface="Calibri" pitchFamily="34" charset="-120"/>
              </a:rPr>
              <a:t>Sean has a learning disability; he is autistic and lives with OCD. For him the walls were attending (the journey, the waiting room, the strangers), understanding (advice at speed, nothing to take away in a form that works) and committing (the gap between agreeing in a room and a test actually happening). The system recorded each wall as his failure.</a:t>
            </a:r>
            <a:endParaRPr lang="en-US" sz="1200" dirty="0"/>
          </a:p>
        </p:txBody>
      </p:sp>
      <p:sp>
        <p:nvSpPr>
          <p:cNvPr id="7" name="Text 4"/>
          <p:cNvSpPr/>
          <p:nvPr/>
        </p:nvSpPr>
        <p:spPr>
          <a:xfrm>
            <a:off x="3977640" y="3456432"/>
            <a:ext cx="4709160" cy="640080"/>
          </a:xfrm>
          <a:prstGeom prst="rect">
            <a:avLst/>
          </a:prstGeom>
          <a:noFill/>
          <a:ln/>
        </p:spPr>
        <p:txBody>
          <a:bodyPr wrap="square" lIns="0" tIns="0" rIns="0" bIns="0" rtlCol="0" anchor="ctr"/>
          <a:lstStyle/>
          <a:p>
            <a:pPr indent="0" marL="0">
              <a:buNone/>
            </a:pPr>
            <a:r>
              <a:rPr lang="en-US" sz="1200" b="1" dirty="0">
                <a:solidFill>
                  <a:srgbClr val="4527A0"/>
                </a:solidFill>
                <a:latin typeface="Calibri" pitchFamily="34" charset="0"/>
                <a:ea typeface="Calibri" pitchFamily="34" charset="-122"/>
                <a:cs typeface="Calibri" pitchFamily="34" charset="-120"/>
              </a:rPr>
              <a:t>The test that comes home changes all three: his own table, easy-read instructions, someone he trusts beside him.</a:t>
            </a:r>
            <a:endParaRPr lang="en-US" sz="1200" dirty="0"/>
          </a:p>
        </p:txBody>
      </p:sp>
      <p:sp>
        <p:nvSpPr>
          <p:cNvPr id="8" name="Shape 5"/>
          <p:cNvSpPr/>
          <p:nvPr/>
        </p:nvSpPr>
        <p:spPr>
          <a:xfrm>
            <a:off x="3977640" y="4160520"/>
            <a:ext cx="4709160" cy="566928"/>
          </a:xfrm>
          <a:prstGeom prst="rect">
            <a:avLst/>
          </a:prstGeom>
          <a:solidFill>
            <a:srgbClr val="2E1A5E"/>
          </a:solidFill>
          <a:ln/>
        </p:spPr>
        <p:txBody>
          <a:bodyPr/>
          <a:p/>
        </p:txBody>
      </p:sp>
      <p:sp>
        <p:nvSpPr>
          <p:cNvPr id="9" name="Text 6"/>
          <p:cNvSpPr/>
          <p:nvPr/>
        </p:nvSpPr>
        <p:spPr>
          <a:xfrm>
            <a:off x="4160520" y="4206240"/>
            <a:ext cx="4389120" cy="47548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 journey designed so Sean can complete it is a calmer, clearer journey for every resident you serve.</a:t>
            </a:r>
            <a:endParaRPr lang="en-US" sz="1050" dirty="0"/>
          </a:p>
        </p:txBody>
      </p:sp>
      <p:sp>
        <p:nvSpPr>
          <p:cNvPr id="10" name="Text 7"/>
          <p:cNvSpPr/>
          <p:nvPr/>
        </p:nvSpPr>
        <p:spPr>
          <a:xfrm>
            <a:off x="3977640" y="4864608"/>
            <a:ext cx="4709160" cy="228600"/>
          </a:xfrm>
          <a:prstGeom prst="rect">
            <a:avLst/>
          </a:prstGeom>
          <a:noFill/>
          <a:ln/>
        </p:spPr>
        <p:txBody>
          <a:bodyPr wrap="square" lIns="0" tIns="0" rIns="0" bIns="0" rtlCol="0" anchor="ctr"/>
          <a:lstStyle/>
          <a:p>
            <a:pPr indent="0" marL="0">
              <a:buNone/>
            </a:pPr>
            <a:r>
              <a:rPr lang="en-US" sz="800" dirty="0">
                <a:solidFill>
                  <a:srgbClr val="7E8B97"/>
                </a:solidFill>
                <a:latin typeface="Calibri" pitchFamily="34" charset="0"/>
                <a:ea typeface="Calibri" pitchFamily="34" charset="-122"/>
                <a:cs typeface="Calibri" pitchFamily="34" charset="-120"/>
              </a:rPr>
              <a:t>Hearts and Minds · audience deck No.1 · proof-of-concept draft ⚑ · updated September 2026</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411480"/>
            <a:ext cx="8229600" cy="548640"/>
          </a:xfrm>
          <a:prstGeom prst="rect">
            <a:avLst/>
          </a:prstGeom>
          <a:noFill/>
          <a:ln/>
        </p:spPr>
        <p:txBody>
          <a:bodyPr wrap="square" lIns="0" tIns="0" rIns="0" bIns="0" rtlCol="0" anchor="ctr"/>
          <a:lstStyle/>
          <a:p>
            <a:pPr indent="0" marL="0">
              <a:buNone/>
            </a:pPr>
            <a:r>
              <a:rPr lang="en-US" sz="2600" b="1" dirty="0">
                <a:solidFill>
                  <a:srgbClr val="003087"/>
                </a:solidFill>
                <a:latin typeface="Trebuchet MS" pitchFamily="34" charset="0"/>
                <a:ea typeface="Trebuchet MS" pitchFamily="34" charset="-122"/>
                <a:cs typeface="Trebuchet MS" pitchFamily="34" charset="-120"/>
              </a:rPr>
              <a:t>What this buys you.</a:t>
            </a:r>
            <a:endParaRPr lang="en-US" sz="2600" dirty="0"/>
          </a:p>
        </p:txBody>
      </p:sp>
      <p:sp>
        <p:nvSpPr>
          <p:cNvPr id="3" name="Shape 1"/>
          <p:cNvSpPr/>
          <p:nvPr/>
        </p:nvSpPr>
        <p:spPr>
          <a:xfrm>
            <a:off x="502920" y="1188720"/>
            <a:ext cx="3977640" cy="1298448"/>
          </a:xfrm>
          <a:prstGeom prst="rect">
            <a:avLst/>
          </a:prstGeom>
          <a:solidFill>
            <a:srgbClr val="FFFFFF"/>
          </a:solidFill>
          <a:ln w="9525">
            <a:solidFill>
              <a:srgbClr val="E3E9F0"/>
            </a:solidFill>
            <a:prstDash val="solid"/>
          </a:ln>
          <a:effectLst>
            <a:outerShdw sx="100000" sy="100000" kx="0" ky="0" algn="bl" rotWithShape="0" blurRad="114300" dist="38100" dir="8100000">
              <a:srgbClr val="0A1F3C">
                <a:alpha val="18000"/>
              </a:srgbClr>
            </a:outerShdw>
          </a:effectLst>
        </p:spPr>
        <p:txBody>
          <a:bodyPr/>
          <a:p/>
        </p:txBody>
      </p:sp>
      <p:sp>
        <p:nvSpPr>
          <p:cNvPr id="4" name="Shape 2"/>
          <p:cNvSpPr/>
          <p:nvPr/>
        </p:nvSpPr>
        <p:spPr>
          <a:xfrm>
            <a:off x="502920" y="1188720"/>
            <a:ext cx="82296" cy="1298448"/>
          </a:xfrm>
          <a:prstGeom prst="rect">
            <a:avLst/>
          </a:prstGeom>
          <a:solidFill>
            <a:srgbClr val="006747"/>
          </a:solidFill>
          <a:ln/>
        </p:spPr>
        <p:txBody>
          <a:bodyPr/>
          <a:p/>
        </p:txBody>
      </p:sp>
      <p:sp>
        <p:nvSpPr>
          <p:cNvPr id="5" name="Text 3"/>
          <p:cNvSpPr/>
          <p:nvPr/>
        </p:nvSpPr>
        <p:spPr>
          <a:xfrm>
            <a:off x="731520" y="1298448"/>
            <a:ext cx="3611880" cy="411480"/>
          </a:xfrm>
          <a:prstGeom prst="rect">
            <a:avLst/>
          </a:prstGeom>
          <a:noFill/>
          <a:ln/>
        </p:spPr>
        <p:txBody>
          <a:bodyPr wrap="square" lIns="0" tIns="0" rIns="0" bIns="0" rtlCol="0" anchor="ctr"/>
          <a:lstStyle/>
          <a:p>
            <a:pPr indent="0" marL="0">
              <a:buNone/>
            </a:pPr>
            <a:r>
              <a:rPr lang="en-US" sz="2100" b="1" dirty="0">
                <a:solidFill>
                  <a:srgbClr val="006747"/>
                </a:solidFill>
                <a:latin typeface="Trebuchet MS" pitchFamily="34" charset="0"/>
                <a:ea typeface="Trebuchet MS" pitchFamily="34" charset="-122"/>
                <a:cs typeface="Trebuchet MS" pitchFamily="34" charset="-120"/>
              </a:rPr>
              <a:t>Reach</a:t>
            </a:r>
            <a:endParaRPr lang="en-US" sz="2100" dirty="0"/>
          </a:p>
        </p:txBody>
      </p:sp>
      <p:sp>
        <p:nvSpPr>
          <p:cNvPr id="6" name="Text 4"/>
          <p:cNvSpPr/>
          <p:nvPr/>
        </p:nvSpPr>
        <p:spPr>
          <a:xfrm>
            <a:off x="731520" y="1737360"/>
            <a:ext cx="3611880" cy="658368"/>
          </a:xfrm>
          <a:prstGeom prst="rect">
            <a:avLst/>
          </a:prstGeom>
          <a:noFill/>
          <a:ln/>
        </p:spPr>
        <p:txBody>
          <a:bodyPr wrap="square" lIns="0" tIns="0" rIns="0" bIns="0" rtlCol="0" anchor="ctr"/>
          <a:lstStyle/>
          <a:p>
            <a:pPr indent="0" marL="0">
              <a:buNone/>
            </a:pPr>
            <a:r>
              <a:rPr lang="en-US" sz="1100" dirty="0">
                <a:solidFill>
                  <a:srgbClr val="4C6272"/>
                </a:solidFill>
                <a:latin typeface="Calibri" pitchFamily="34" charset="0"/>
                <a:ea typeface="Calibri" pitchFamily="34" charset="-122"/>
                <a:cs typeface="Calibri" pitchFamily="34" charset="-120"/>
              </a:rPr>
              <a:t>Testing for the residents your clinics never see, the time-poor, the stigma-wary, the system-failed.</a:t>
            </a:r>
            <a:endParaRPr lang="en-US" sz="1100" dirty="0"/>
          </a:p>
        </p:txBody>
      </p:sp>
      <p:sp>
        <p:nvSpPr>
          <p:cNvPr id="7" name="Shape 5"/>
          <p:cNvSpPr/>
          <p:nvPr/>
        </p:nvSpPr>
        <p:spPr>
          <a:xfrm>
            <a:off x="4709160" y="1188720"/>
            <a:ext cx="3977640" cy="1298448"/>
          </a:xfrm>
          <a:prstGeom prst="rect">
            <a:avLst/>
          </a:prstGeom>
          <a:solidFill>
            <a:srgbClr val="FFFFFF"/>
          </a:solidFill>
          <a:ln w="9525">
            <a:solidFill>
              <a:srgbClr val="E3E9F0"/>
            </a:solidFill>
            <a:prstDash val="solid"/>
          </a:ln>
          <a:effectLst>
            <a:outerShdw sx="100000" sy="100000" kx="0" ky="0" algn="bl" rotWithShape="0" blurRad="114300" dist="38100" dir="8100000">
              <a:srgbClr val="0A1F3C">
                <a:alpha val="18000"/>
              </a:srgbClr>
            </a:outerShdw>
          </a:effectLst>
        </p:spPr>
        <p:txBody>
          <a:bodyPr/>
          <a:p/>
        </p:txBody>
      </p:sp>
      <p:sp>
        <p:nvSpPr>
          <p:cNvPr id="8" name="Shape 6"/>
          <p:cNvSpPr/>
          <p:nvPr/>
        </p:nvSpPr>
        <p:spPr>
          <a:xfrm>
            <a:off x="4709160" y="1188720"/>
            <a:ext cx="82296" cy="1298448"/>
          </a:xfrm>
          <a:prstGeom prst="rect">
            <a:avLst/>
          </a:prstGeom>
          <a:solidFill>
            <a:srgbClr val="006747"/>
          </a:solidFill>
          <a:ln/>
        </p:spPr>
        <p:txBody>
          <a:bodyPr/>
          <a:p/>
        </p:txBody>
      </p:sp>
      <p:sp>
        <p:nvSpPr>
          <p:cNvPr id="9" name="Text 7"/>
          <p:cNvSpPr/>
          <p:nvPr/>
        </p:nvSpPr>
        <p:spPr>
          <a:xfrm>
            <a:off x="4937760" y="1298448"/>
            <a:ext cx="3611880" cy="411480"/>
          </a:xfrm>
          <a:prstGeom prst="rect">
            <a:avLst/>
          </a:prstGeom>
          <a:noFill/>
          <a:ln/>
        </p:spPr>
        <p:txBody>
          <a:bodyPr wrap="square" lIns="0" tIns="0" rIns="0" bIns="0" rtlCol="0" anchor="ctr"/>
          <a:lstStyle/>
          <a:p>
            <a:pPr indent="0" marL="0">
              <a:buNone/>
            </a:pPr>
            <a:r>
              <a:rPr lang="en-US" sz="2100" b="1" dirty="0">
                <a:solidFill>
                  <a:srgbClr val="006747"/>
                </a:solidFill>
                <a:latin typeface="Trebuchet MS" pitchFamily="34" charset="0"/>
                <a:ea typeface="Trebuchet MS" pitchFamily="34" charset="-122"/>
                <a:cs typeface="Trebuchet MS" pitchFamily="34" charset="-120"/>
              </a:rPr>
              <a:t>Capacity</a:t>
            </a:r>
            <a:endParaRPr lang="en-US" sz="2100" dirty="0"/>
          </a:p>
        </p:txBody>
      </p:sp>
      <p:sp>
        <p:nvSpPr>
          <p:cNvPr id="10" name="Text 8"/>
          <p:cNvSpPr/>
          <p:nvPr/>
        </p:nvSpPr>
        <p:spPr>
          <a:xfrm>
            <a:off x="4937760" y="1737360"/>
            <a:ext cx="3611880" cy="658368"/>
          </a:xfrm>
          <a:prstGeom prst="rect">
            <a:avLst/>
          </a:prstGeom>
          <a:noFill/>
          <a:ln/>
        </p:spPr>
        <p:txBody>
          <a:bodyPr wrap="square" lIns="0" tIns="0" rIns="0" bIns="0" rtlCol="0" anchor="ctr"/>
          <a:lstStyle/>
          <a:p>
            <a:pPr indent="0" marL="0">
              <a:buNone/>
            </a:pPr>
            <a:r>
              <a:rPr lang="en-US" sz="1100" dirty="0">
                <a:solidFill>
                  <a:srgbClr val="4C6272"/>
                </a:solidFill>
                <a:latin typeface="Calibri" pitchFamily="34" charset="0"/>
                <a:ea typeface="Calibri" pitchFamily="34" charset="-122"/>
                <a:cs typeface="Calibri" pitchFamily="34" charset="-120"/>
              </a:rPr>
              <a:t>Clinic and phlebotomy time concentrates on treatment and complex care, not routine bloods that never needed a building.</a:t>
            </a:r>
            <a:endParaRPr lang="en-US" sz="1100" dirty="0"/>
          </a:p>
        </p:txBody>
      </p:sp>
      <p:sp>
        <p:nvSpPr>
          <p:cNvPr id="11" name="Shape 9"/>
          <p:cNvSpPr/>
          <p:nvPr/>
        </p:nvSpPr>
        <p:spPr>
          <a:xfrm>
            <a:off x="502920" y="2670048"/>
            <a:ext cx="3977640" cy="1298448"/>
          </a:xfrm>
          <a:prstGeom prst="rect">
            <a:avLst/>
          </a:prstGeom>
          <a:solidFill>
            <a:srgbClr val="FFFFFF"/>
          </a:solidFill>
          <a:ln w="9525">
            <a:solidFill>
              <a:srgbClr val="E3E9F0"/>
            </a:solidFill>
            <a:prstDash val="solid"/>
          </a:ln>
          <a:effectLst>
            <a:outerShdw sx="100000" sy="100000" kx="0" ky="0" algn="bl" rotWithShape="0" blurRad="114300" dist="38100" dir="8100000">
              <a:srgbClr val="0A1F3C">
                <a:alpha val="18000"/>
              </a:srgbClr>
            </a:outerShdw>
          </a:effectLst>
        </p:spPr>
        <p:txBody>
          <a:bodyPr/>
          <a:p/>
        </p:txBody>
      </p:sp>
      <p:sp>
        <p:nvSpPr>
          <p:cNvPr id="12" name="Shape 10"/>
          <p:cNvSpPr/>
          <p:nvPr/>
        </p:nvSpPr>
        <p:spPr>
          <a:xfrm>
            <a:off x="502920" y="2670048"/>
            <a:ext cx="82296" cy="1298448"/>
          </a:xfrm>
          <a:prstGeom prst="rect">
            <a:avLst/>
          </a:prstGeom>
          <a:solidFill>
            <a:srgbClr val="006747"/>
          </a:solidFill>
          <a:ln/>
        </p:spPr>
        <p:txBody>
          <a:bodyPr/>
          <a:p/>
        </p:txBody>
      </p:sp>
      <p:sp>
        <p:nvSpPr>
          <p:cNvPr id="13" name="Text 11"/>
          <p:cNvSpPr/>
          <p:nvPr/>
        </p:nvSpPr>
        <p:spPr>
          <a:xfrm>
            <a:off x="731520" y="2779776"/>
            <a:ext cx="3611880" cy="411480"/>
          </a:xfrm>
          <a:prstGeom prst="rect">
            <a:avLst/>
          </a:prstGeom>
          <a:noFill/>
          <a:ln/>
        </p:spPr>
        <p:txBody>
          <a:bodyPr wrap="square" lIns="0" tIns="0" rIns="0" bIns="0" rtlCol="0" anchor="ctr"/>
          <a:lstStyle/>
          <a:p>
            <a:pPr indent="0" marL="0">
              <a:buNone/>
            </a:pPr>
            <a:r>
              <a:rPr lang="en-US" sz="2100" b="1" dirty="0">
                <a:solidFill>
                  <a:srgbClr val="006747"/>
                </a:solidFill>
                <a:latin typeface="Trebuchet MS" pitchFamily="34" charset="0"/>
                <a:ea typeface="Trebuchet MS" pitchFamily="34" charset="-122"/>
                <a:cs typeface="Trebuchet MS" pitchFamily="34" charset="-120"/>
              </a:rPr>
              <a:t>−1 visit</a:t>
            </a:r>
            <a:endParaRPr lang="en-US" sz="2100" dirty="0"/>
          </a:p>
        </p:txBody>
      </p:sp>
      <p:sp>
        <p:nvSpPr>
          <p:cNvPr id="14" name="Text 12"/>
          <p:cNvSpPr/>
          <p:nvPr/>
        </p:nvSpPr>
        <p:spPr>
          <a:xfrm>
            <a:off x="731520" y="3218688"/>
            <a:ext cx="3611880" cy="658368"/>
          </a:xfrm>
          <a:prstGeom prst="rect">
            <a:avLst/>
          </a:prstGeom>
          <a:noFill/>
          <a:ln/>
        </p:spPr>
        <p:txBody>
          <a:bodyPr wrap="square" lIns="0" tIns="0" rIns="0" bIns="0" rtlCol="0" anchor="ctr"/>
          <a:lstStyle/>
          <a:p>
            <a:pPr indent="0" marL="0">
              <a:buNone/>
            </a:pPr>
            <a:r>
              <a:rPr lang="en-US" sz="1100" dirty="0">
                <a:solidFill>
                  <a:srgbClr val="4C6272"/>
                </a:solidFill>
                <a:latin typeface="Calibri" pitchFamily="34" charset="0"/>
                <a:ea typeface="Calibri" pitchFamily="34" charset="-122"/>
                <a:cs typeface="Calibri" pitchFamily="34" charset="-120"/>
              </a:rPr>
              <a:t>Per test completed: the journey that didn’t need a building, parking, or a waiting room.</a:t>
            </a:r>
            <a:endParaRPr lang="en-US" sz="1100" dirty="0"/>
          </a:p>
        </p:txBody>
      </p:sp>
      <p:sp>
        <p:nvSpPr>
          <p:cNvPr id="15" name="Shape 13"/>
          <p:cNvSpPr/>
          <p:nvPr/>
        </p:nvSpPr>
        <p:spPr>
          <a:xfrm>
            <a:off x="4709160" y="2670048"/>
            <a:ext cx="3977640" cy="1298448"/>
          </a:xfrm>
          <a:prstGeom prst="rect">
            <a:avLst/>
          </a:prstGeom>
          <a:solidFill>
            <a:srgbClr val="FFFFFF"/>
          </a:solidFill>
          <a:ln w="9525">
            <a:solidFill>
              <a:srgbClr val="E3E9F0"/>
            </a:solidFill>
            <a:prstDash val="solid"/>
          </a:ln>
          <a:effectLst>
            <a:outerShdw sx="100000" sy="100000" kx="0" ky="0" algn="bl" rotWithShape="0" blurRad="114300" dist="38100" dir="8100000">
              <a:srgbClr val="0A1F3C">
                <a:alpha val="18000"/>
              </a:srgbClr>
            </a:outerShdw>
          </a:effectLst>
        </p:spPr>
        <p:txBody>
          <a:bodyPr/>
          <a:p/>
        </p:txBody>
      </p:sp>
      <p:sp>
        <p:nvSpPr>
          <p:cNvPr id="16" name="Shape 14"/>
          <p:cNvSpPr/>
          <p:nvPr/>
        </p:nvSpPr>
        <p:spPr>
          <a:xfrm>
            <a:off x="4709160" y="2670048"/>
            <a:ext cx="82296" cy="1298448"/>
          </a:xfrm>
          <a:prstGeom prst="rect">
            <a:avLst/>
          </a:prstGeom>
          <a:solidFill>
            <a:srgbClr val="005EB8"/>
          </a:solidFill>
          <a:ln/>
        </p:spPr>
        <p:txBody>
          <a:bodyPr/>
          <a:p/>
        </p:txBody>
      </p:sp>
      <p:sp>
        <p:nvSpPr>
          <p:cNvPr id="17" name="Text 15"/>
          <p:cNvSpPr/>
          <p:nvPr/>
        </p:nvSpPr>
        <p:spPr>
          <a:xfrm>
            <a:off x="4937760" y="2779776"/>
            <a:ext cx="3611880" cy="411480"/>
          </a:xfrm>
          <a:prstGeom prst="rect">
            <a:avLst/>
          </a:prstGeom>
          <a:noFill/>
          <a:ln/>
        </p:spPr>
        <p:txBody>
          <a:bodyPr wrap="square" lIns="0" tIns="0" rIns="0" bIns="0" rtlCol="0" anchor="ctr"/>
          <a:lstStyle/>
          <a:p>
            <a:pPr indent="0" marL="0">
              <a:buNone/>
            </a:pPr>
            <a:r>
              <a:rPr lang="en-US" sz="2100" b="1" dirty="0">
                <a:solidFill>
                  <a:srgbClr val="005EB8"/>
                </a:solidFill>
                <a:latin typeface="Trebuchet MS" pitchFamily="34" charset="0"/>
                <a:ea typeface="Trebuchet MS" pitchFamily="34" charset="-122"/>
                <a:cs typeface="Trebuchet MS" pitchFamily="34" charset="-120"/>
              </a:rPr>
              <a:t>One wrapper</a:t>
            </a:r>
            <a:endParaRPr lang="en-US" sz="2100" dirty="0"/>
          </a:p>
        </p:txBody>
      </p:sp>
      <p:sp>
        <p:nvSpPr>
          <p:cNvPr id="18" name="Text 16"/>
          <p:cNvSpPr/>
          <p:nvPr/>
        </p:nvSpPr>
        <p:spPr>
          <a:xfrm>
            <a:off x="4937760" y="3218688"/>
            <a:ext cx="3611880" cy="658368"/>
          </a:xfrm>
          <a:prstGeom prst="rect">
            <a:avLst/>
          </a:prstGeom>
          <a:noFill/>
          <a:ln/>
        </p:spPr>
        <p:txBody>
          <a:bodyPr wrap="square" lIns="0" tIns="0" rIns="0" bIns="0" rtlCol="0" anchor="ctr"/>
          <a:lstStyle/>
          <a:p>
            <a:pPr indent="0" marL="0">
              <a:buNone/>
            </a:pPr>
            <a:r>
              <a:rPr lang="en-US" sz="1100" dirty="0">
                <a:solidFill>
                  <a:srgbClr val="4C6272"/>
                </a:solidFill>
                <a:latin typeface="Calibri" pitchFamily="34" charset="0"/>
                <a:ea typeface="Calibri" pitchFamily="34" charset="-122"/>
                <a:cs typeface="Calibri" pitchFamily="34" charset="-120"/>
              </a:rPr>
              <a:t>Assurance, IG and clinical safety pre-carried. Templates, not bespoke work, budget saved, not strained.</a:t>
            </a:r>
            <a:endParaRPr lang="en-US" sz="1100" dirty="0"/>
          </a:p>
        </p:txBody>
      </p:sp>
      <p:sp>
        <p:nvSpPr>
          <p:cNvPr id="19" name="Text 17"/>
          <p:cNvSpPr/>
          <p:nvPr/>
        </p:nvSpPr>
        <p:spPr>
          <a:xfrm>
            <a:off x="502920" y="4224528"/>
            <a:ext cx="8229600" cy="365760"/>
          </a:xfrm>
          <a:prstGeom prst="rect">
            <a:avLst/>
          </a:prstGeom>
          <a:noFill/>
          <a:ln/>
        </p:spPr>
        <p:txBody>
          <a:bodyPr wrap="square" lIns="0" tIns="0" rIns="0" bIns="0" rtlCol="0" anchor="ctr"/>
          <a:lstStyle/>
          <a:p>
            <a:pPr indent="0" marL="0">
              <a:buNone/>
            </a:pPr>
            <a:r>
              <a:rPr lang="en-US" sz="1300" i="1" dirty="0">
                <a:solidFill>
                  <a:srgbClr val="003087"/>
                </a:solidFill>
                <a:latin typeface="Calibri" pitchFamily="34" charset="0"/>
                <a:ea typeface="Calibri" pitchFamily="34" charset="-122"/>
                <a:cs typeface="Calibri" pitchFamily="34" charset="-120"/>
              </a:rPr>
              <a:t>“Save my budget, not strain it.”, that was the brief. This is the answer.</a:t>
            </a:r>
            <a:endParaRPr lang="en-US" sz="1300" dirty="0"/>
          </a:p>
        </p:txBody>
      </p:sp>
      <p:sp>
        <p:nvSpPr>
          <p:cNvPr id="20" name="Text 18"/>
          <p:cNvSpPr/>
          <p:nvPr/>
        </p:nvSpPr>
        <p:spPr>
          <a:xfrm>
            <a:off x="457200" y="4864608"/>
            <a:ext cx="8229600" cy="228600"/>
          </a:xfrm>
          <a:prstGeom prst="rect">
            <a:avLst/>
          </a:prstGeom>
          <a:noFill/>
          <a:ln/>
        </p:spPr>
        <p:txBody>
          <a:bodyPr wrap="square" lIns="0" tIns="0" rIns="0" bIns="0" rtlCol="0" anchor="ctr"/>
          <a:lstStyle/>
          <a:p>
            <a:pPr indent="0" marL="0">
              <a:buNone/>
            </a:pPr>
            <a:r>
              <a:rPr lang="en-US" sz="800" dirty="0">
                <a:solidFill>
                  <a:srgbClr val="7E8B97"/>
                </a:solidFill>
                <a:latin typeface="Calibri" pitchFamily="34" charset="0"/>
                <a:ea typeface="Calibri" pitchFamily="34" charset="-122"/>
                <a:cs typeface="Calibri" pitchFamily="34" charset="-120"/>
              </a:rPr>
              <a:t>Hearts and Minds · audience deck No.1 · Commissioner edition · proof-of-concept draft ⚑ · updated September 2026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457200"/>
            <a:ext cx="7315200" cy="274320"/>
          </a:xfrm>
          <a:prstGeom prst="rect">
            <a:avLst/>
          </a:prstGeom>
          <a:noFill/>
          <a:ln/>
        </p:spPr>
        <p:txBody>
          <a:bodyPr wrap="square" lIns="0" tIns="0" rIns="0" bIns="0" rtlCol="0" anchor="ctr"/>
          <a:lstStyle/>
          <a:p>
            <a:pPr indent="0" marL="0">
              <a:buNone/>
            </a:pPr>
            <a:r>
              <a:rPr lang="en-US" sz="1050" b="1" spc="300" kern="0" dirty="0">
                <a:solidFill>
                  <a:srgbClr val="9A6700"/>
                </a:solidFill>
                <a:latin typeface="Trebuchet MS" pitchFamily="34" charset="0"/>
                <a:ea typeface="Trebuchet MS" pitchFamily="34" charset="-122"/>
                <a:cs typeface="Trebuchet MS" pitchFamily="34" charset="-120"/>
              </a:rPr>
              <a:t>PROVIDED ALONGSIDE · SAME RAILS, SAME WRAPPER, SAME RECORD</a:t>
            </a:r>
            <a:endParaRPr lang="en-US" sz="1050" dirty="0"/>
          </a:p>
        </p:txBody>
      </p:sp>
      <p:sp>
        <p:nvSpPr>
          <p:cNvPr id="3" name="Text 1"/>
          <p:cNvSpPr/>
          <p:nvPr/>
        </p:nvSpPr>
        <p:spPr>
          <a:xfrm>
            <a:off x="457200" y="777240"/>
            <a:ext cx="8229600" cy="594360"/>
          </a:xfrm>
          <a:prstGeom prst="rect">
            <a:avLst/>
          </a:prstGeom>
          <a:noFill/>
          <a:ln/>
        </p:spPr>
        <p:txBody>
          <a:bodyPr wrap="square" lIns="0" tIns="0" rIns="0" bIns="0" rtlCol="0" anchor="ctr"/>
          <a:lstStyle/>
          <a:p>
            <a:pPr indent="0" marL="0">
              <a:buNone/>
            </a:pPr>
            <a:r>
              <a:rPr lang="en-US" sz="2400" b="1" dirty="0">
                <a:solidFill>
                  <a:srgbClr val="003087"/>
                </a:solidFill>
                <a:latin typeface="Trebuchet MS" pitchFamily="34" charset="0"/>
                <a:ea typeface="Trebuchet MS" pitchFamily="34" charset="-122"/>
                <a:cs typeface="Trebuchet MS" pitchFamily="34" charset="-120"/>
              </a:rPr>
              <a:t>HomeTest is the front door. Two sister services follow it.</a:t>
            </a:r>
            <a:endParaRPr lang="en-US" sz="2400" dirty="0"/>
          </a:p>
        </p:txBody>
      </p:sp>
      <p:sp>
        <p:nvSpPr>
          <p:cNvPr id="4" name="Shape 2"/>
          <p:cNvSpPr/>
          <p:nvPr/>
        </p:nvSpPr>
        <p:spPr>
          <a:xfrm>
            <a:off x="502920" y="1554480"/>
            <a:ext cx="3977640" cy="2514600"/>
          </a:xfrm>
          <a:prstGeom prst="rect">
            <a:avLst/>
          </a:prstGeom>
          <a:solidFill>
            <a:srgbClr val="FFFFFF"/>
          </a:solidFill>
          <a:ln w="9525">
            <a:solidFill>
              <a:srgbClr val="E3E9F0"/>
            </a:solidFill>
            <a:prstDash val="solid"/>
          </a:ln>
          <a:effectLst>
            <a:outerShdw sx="100000" sy="100000" kx="0" ky="0" algn="bl" rotWithShape="0" blurRad="114300" dist="38100" dir="8100000">
              <a:srgbClr val="0A1F3C">
                <a:alpha val="18000"/>
              </a:srgbClr>
            </a:outerShdw>
          </a:effectLst>
        </p:spPr>
        <p:txBody>
          <a:bodyPr/>
          <a:p/>
        </p:txBody>
      </p:sp>
      <p:sp>
        <p:nvSpPr>
          <p:cNvPr id="5" name="Shape 3"/>
          <p:cNvSpPr/>
          <p:nvPr/>
        </p:nvSpPr>
        <p:spPr>
          <a:xfrm>
            <a:off x="502920" y="1554480"/>
            <a:ext cx="3977640" cy="82296"/>
          </a:xfrm>
          <a:prstGeom prst="rect">
            <a:avLst/>
          </a:prstGeom>
          <a:solidFill>
            <a:srgbClr val="006747"/>
          </a:solidFill>
          <a:ln/>
        </p:spPr>
        <p:txBody>
          <a:bodyPr/>
          <a:p/>
        </p:txBody>
      </p:sp>
      <p:sp>
        <p:nvSpPr>
          <p:cNvPr id="6" name="Text 4"/>
          <p:cNvSpPr/>
          <p:nvPr/>
        </p:nvSpPr>
        <p:spPr>
          <a:xfrm>
            <a:off x="731520" y="1691640"/>
            <a:ext cx="3566160" cy="365760"/>
          </a:xfrm>
          <a:prstGeom prst="rect">
            <a:avLst/>
          </a:prstGeom>
          <a:noFill/>
          <a:ln/>
        </p:spPr>
        <p:txBody>
          <a:bodyPr wrap="square" lIns="0" tIns="0" rIns="0" bIns="0" rtlCol="0" anchor="ctr"/>
          <a:lstStyle/>
          <a:p>
            <a:pPr indent="0" marL="0">
              <a:buNone/>
            </a:pPr>
            <a:r>
              <a:rPr lang="en-US" sz="1800" b="1" dirty="0">
                <a:solidFill>
                  <a:srgbClr val="006747"/>
                </a:solidFill>
                <a:latin typeface="Trebuchet MS" pitchFamily="34" charset="0"/>
                <a:ea typeface="Trebuchet MS" pitchFamily="34" charset="-122"/>
                <a:cs typeface="Trebuchet MS" pitchFamily="34" charset="-120"/>
              </a:rPr>
              <a:t>HealthStore</a:t>
            </a:r>
            <a:endParaRPr lang="en-US" sz="1800" dirty="0"/>
          </a:p>
        </p:txBody>
      </p:sp>
      <p:sp>
        <p:nvSpPr>
          <p:cNvPr id="7" name="Text 5"/>
          <p:cNvSpPr/>
          <p:nvPr/>
        </p:nvSpPr>
        <p:spPr>
          <a:xfrm>
            <a:off x="731520" y="2103120"/>
            <a:ext cx="3566160" cy="1554480"/>
          </a:xfrm>
          <a:prstGeom prst="rect">
            <a:avLst/>
          </a:prstGeom>
          <a:noFill/>
          <a:ln/>
        </p:spPr>
        <p:txBody>
          <a:bodyPr wrap="square" lIns="0" tIns="0" rIns="0" bIns="0" rtlCol="0" anchor="ctr"/>
          <a:lstStyle/>
          <a:p>
            <a:pPr indent="0" marL="0">
              <a:buNone/>
            </a:pPr>
            <a:r>
              <a:rPr lang="en-US" sz="1050" dirty="0">
                <a:solidFill>
                  <a:srgbClr val="4C6272"/>
                </a:solidFill>
                <a:latin typeface="Calibri" pitchFamily="34" charset="0"/>
                <a:ea typeface="Calibri" pitchFamily="34" charset="-122"/>
                <a:cs typeface="Calibri" pitchFamily="34" charset="-120"/>
              </a:rPr>
              <a:t>NHS-assured digital therapeutics, prescribed like medication, in COPD Alpha now. Published real-world results: 19% fewer GP appointments (COPD), 70% reduction in anxiety symptoms (digital sleep therapy), 40% fewer non-elective admissions under remote monitoring.</a:t>
            </a:r>
            <a:endParaRPr lang="en-US" sz="1050" dirty="0"/>
          </a:p>
        </p:txBody>
      </p:sp>
      <p:sp>
        <p:nvSpPr>
          <p:cNvPr id="8" name="Text 6"/>
          <p:cNvSpPr/>
          <p:nvPr/>
        </p:nvSpPr>
        <p:spPr>
          <a:xfrm>
            <a:off x="731520" y="3703320"/>
            <a:ext cx="3566160" cy="274320"/>
          </a:xfrm>
          <a:prstGeom prst="rect">
            <a:avLst/>
          </a:prstGeom>
          <a:noFill/>
          <a:ln/>
        </p:spPr>
        <p:txBody>
          <a:bodyPr wrap="square" lIns="0" tIns="0" rIns="0" bIns="0" rtlCol="0" anchor="ctr"/>
          <a:lstStyle/>
          <a:p>
            <a:pPr indent="0" marL="0">
              <a:buNone/>
            </a:pPr>
            <a:r>
              <a:rPr lang="en-US" sz="800" dirty="0">
                <a:solidFill>
                  <a:srgbClr val="7E8B97"/>
                </a:solidFill>
                <a:latin typeface="Calibri" pitchFamily="34" charset="0"/>
                <a:ea typeface="Calibri" pitchFamily="34" charset="-122"/>
                <a:cs typeface="Calibri" pitchFamily="34" charset="-120"/>
              </a:rPr>
              <a:t>Sources: published RWE and trial data; ICB internal evaluation.</a:t>
            </a:r>
            <a:endParaRPr lang="en-US" sz="800" dirty="0"/>
          </a:p>
        </p:txBody>
      </p:sp>
      <p:sp>
        <p:nvSpPr>
          <p:cNvPr id="9" name="Shape 7"/>
          <p:cNvSpPr/>
          <p:nvPr/>
        </p:nvSpPr>
        <p:spPr>
          <a:xfrm>
            <a:off x="4709160" y="1554480"/>
            <a:ext cx="3977640" cy="2514600"/>
          </a:xfrm>
          <a:prstGeom prst="rect">
            <a:avLst/>
          </a:prstGeom>
          <a:solidFill>
            <a:srgbClr val="FFFFFF"/>
          </a:solidFill>
          <a:ln w="9525">
            <a:solidFill>
              <a:srgbClr val="E3E9F0"/>
            </a:solidFill>
            <a:prstDash val="solid"/>
          </a:ln>
          <a:effectLst>
            <a:outerShdw sx="100000" sy="100000" kx="0" ky="0" algn="bl" rotWithShape="0" blurRad="114300" dist="38100" dir="8100000">
              <a:srgbClr val="0A1F3C">
                <a:alpha val="18000"/>
              </a:srgbClr>
            </a:outerShdw>
          </a:effectLst>
        </p:spPr>
        <p:txBody>
          <a:bodyPr/>
          <a:p/>
        </p:txBody>
      </p:sp>
      <p:sp>
        <p:nvSpPr>
          <p:cNvPr id="10" name="Shape 8"/>
          <p:cNvSpPr/>
          <p:nvPr/>
        </p:nvSpPr>
        <p:spPr>
          <a:xfrm>
            <a:off x="4709160" y="1554480"/>
            <a:ext cx="3977640" cy="82296"/>
          </a:xfrm>
          <a:prstGeom prst="rect">
            <a:avLst/>
          </a:prstGeom>
          <a:solidFill>
            <a:srgbClr val="005EB8"/>
          </a:solidFill>
          <a:ln/>
        </p:spPr>
        <p:txBody>
          <a:bodyPr/>
          <a:p/>
        </p:txBody>
      </p:sp>
      <p:sp>
        <p:nvSpPr>
          <p:cNvPr id="11" name="Text 9"/>
          <p:cNvSpPr/>
          <p:nvPr/>
        </p:nvSpPr>
        <p:spPr>
          <a:xfrm>
            <a:off x="4937760" y="1691640"/>
            <a:ext cx="3566160" cy="365760"/>
          </a:xfrm>
          <a:prstGeom prst="rect">
            <a:avLst/>
          </a:prstGeom>
          <a:noFill/>
          <a:ln/>
        </p:spPr>
        <p:txBody>
          <a:bodyPr wrap="square" lIns="0" tIns="0" rIns="0" bIns="0" rtlCol="0" anchor="ctr"/>
          <a:lstStyle/>
          <a:p>
            <a:pPr indent="0" marL="0">
              <a:buNone/>
            </a:pPr>
            <a:r>
              <a:rPr lang="en-US" sz="1800" b="1" dirty="0">
                <a:solidFill>
                  <a:srgbClr val="005EB8"/>
                </a:solidFill>
                <a:latin typeface="Trebuchet MS" pitchFamily="34" charset="0"/>
                <a:ea typeface="Trebuchet MS" pitchFamily="34" charset="-122"/>
                <a:cs typeface="Trebuchet MS" pitchFamily="34" charset="-120"/>
              </a:rPr>
              <a:t>HealthSync</a:t>
            </a:r>
            <a:endParaRPr lang="en-US" sz="1800" dirty="0"/>
          </a:p>
        </p:txBody>
      </p:sp>
      <p:sp>
        <p:nvSpPr>
          <p:cNvPr id="12" name="Text 10"/>
          <p:cNvSpPr/>
          <p:nvPr/>
        </p:nvSpPr>
        <p:spPr>
          <a:xfrm>
            <a:off x="4937760" y="2103120"/>
            <a:ext cx="3566160" cy="1280160"/>
          </a:xfrm>
          <a:prstGeom prst="rect">
            <a:avLst/>
          </a:prstGeom>
          <a:noFill/>
          <a:ln/>
        </p:spPr>
        <p:txBody>
          <a:bodyPr wrap="square" lIns="0" tIns="0" rIns="0" bIns="0" rtlCol="0" anchor="ctr"/>
          <a:lstStyle/>
          <a:p>
            <a:pPr indent="0" marL="0">
              <a:buNone/>
            </a:pPr>
            <a:r>
              <a:rPr lang="en-US" sz="1050" dirty="0">
                <a:solidFill>
                  <a:srgbClr val="4C6272"/>
                </a:solidFill>
                <a:latin typeface="Calibri" pitchFamily="34" charset="0"/>
                <a:ea typeface="Calibri" pitchFamily="34" charset="-122"/>
                <a:cs typeface="Calibri" pitchFamily="34" charset="-120"/>
              </a:rPr>
              <a:t>Consumer wearable and device data flowing into the NHS record with consent, monitoring between appointments instead of by appointment. In design; first configuration being shaped now.</a:t>
            </a:r>
            <a:endParaRPr lang="en-US" sz="1050" dirty="0"/>
          </a:p>
        </p:txBody>
      </p:sp>
      <p:sp>
        <p:nvSpPr>
          <p:cNvPr id="13" name="Text 11"/>
          <p:cNvSpPr/>
          <p:nvPr/>
        </p:nvSpPr>
        <p:spPr>
          <a:xfrm>
            <a:off x="4937760" y="3383280"/>
            <a:ext cx="3566160" cy="594360"/>
          </a:xfrm>
          <a:prstGeom prst="rect">
            <a:avLst/>
          </a:prstGeom>
          <a:noFill/>
          <a:ln/>
        </p:spPr>
        <p:txBody>
          <a:bodyPr wrap="square" lIns="0" tIns="0" rIns="0" bIns="0" rtlCol="0" anchor="ctr"/>
          <a:lstStyle/>
          <a:p>
            <a:pPr indent="0" marL="0">
              <a:buNone/>
            </a:pPr>
            <a:r>
              <a:rPr lang="en-US" sz="1000" i="1" dirty="0">
                <a:solidFill>
                  <a:srgbClr val="003087"/>
                </a:solidFill>
                <a:latin typeface="Calibri" pitchFamily="34" charset="0"/>
                <a:ea typeface="Calibri" pitchFamily="34" charset="-122"/>
                <a:cs typeface="Calibri" pitchFamily="34" charset="-120"/>
              </a:rPr>
              <a:t>Why it matters to a HomeTest buyer: the test tells you about a moment; the streams cover the months in between.</a:t>
            </a:r>
            <a:endParaRPr lang="en-US" sz="1000" dirty="0"/>
          </a:p>
        </p:txBody>
      </p:sp>
      <p:sp>
        <p:nvSpPr>
          <p:cNvPr id="14" name="Text 12"/>
          <p:cNvSpPr/>
          <p:nvPr/>
        </p:nvSpPr>
        <p:spPr>
          <a:xfrm>
            <a:off x="502920" y="4297680"/>
            <a:ext cx="8229600" cy="365760"/>
          </a:xfrm>
          <a:prstGeom prst="rect">
            <a:avLst/>
          </a:prstGeom>
          <a:noFill/>
          <a:ln/>
        </p:spPr>
        <p:txBody>
          <a:bodyPr wrap="square" lIns="0" tIns="0" rIns="0" bIns="0" rtlCol="0" anchor="ctr"/>
          <a:lstStyle/>
          <a:p>
            <a:pPr indent="0" marL="0">
              <a:buNone/>
            </a:pPr>
            <a:r>
              <a:rPr lang="en-US" sz="1200" b="1" dirty="0">
                <a:solidFill>
                  <a:srgbClr val="003087"/>
                </a:solidFill>
                <a:latin typeface="Calibri" pitchFamily="34" charset="0"/>
                <a:ea typeface="Calibri" pitchFamily="34" charset="-122"/>
                <a:cs typeface="Calibri" pitchFamily="34" charset="-120"/>
              </a:rPr>
              <a:t>Nothing here changes the HomeTest decision, it compounds it. One front door, growing.</a:t>
            </a:r>
            <a:endParaRPr lang="en-US" sz="1200" dirty="0"/>
          </a:p>
        </p:txBody>
      </p:sp>
      <p:sp>
        <p:nvSpPr>
          <p:cNvPr id="15" name="Text 13"/>
          <p:cNvSpPr/>
          <p:nvPr/>
        </p:nvSpPr>
        <p:spPr>
          <a:xfrm>
            <a:off x="457200" y="4864608"/>
            <a:ext cx="8229600" cy="228600"/>
          </a:xfrm>
          <a:prstGeom prst="rect">
            <a:avLst/>
          </a:prstGeom>
          <a:noFill/>
          <a:ln/>
        </p:spPr>
        <p:txBody>
          <a:bodyPr wrap="square" lIns="0" tIns="0" rIns="0" bIns="0" rtlCol="0" anchor="ctr"/>
          <a:lstStyle/>
          <a:p>
            <a:pPr indent="0" marL="0">
              <a:buNone/>
            </a:pPr>
            <a:r>
              <a:rPr lang="en-US" sz="800" dirty="0">
                <a:solidFill>
                  <a:srgbClr val="7E8B97"/>
                </a:solidFill>
                <a:latin typeface="Calibri" pitchFamily="34" charset="0"/>
                <a:ea typeface="Calibri" pitchFamily="34" charset="-122"/>
                <a:cs typeface="Calibri" pitchFamily="34" charset="-120"/>
              </a:rPr>
              <a:t>Hearts and Minds · audience deck No.1 · Commissioner edition · proof-of-concept draft ⚑ · updated September 2026</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3087"/>
        </a:solidFill>
      </p:bgPr>
    </p:bg>
    <p:spTree>
      <p:nvGrpSpPr>
        <p:cNvPr id="1" name=""/>
        <p:cNvGrpSpPr/>
        <p:nvPr/>
      </p:nvGrpSpPr>
      <p:grpSpPr>
        <a:xfrm>
          <a:off x="0" y="0"/>
          <a:ext cx="0" cy="0"/>
          <a:chOff x="0" y="0"/>
          <a:chExt cx="0" cy="0"/>
        </a:xfrm>
      </p:grpSpPr>
      <p:pic>
        <p:nvPicPr>
          <p:cNvPr id="2" name="Image 0" descr="/sessions/ecstatic-hopeful-clarke/mnt/NHS/dtx-ecosystem/operating-model/img/errol-hero.png">    </p:cNvPr>
          <p:cNvPicPr>
            <a:picLocks noChangeAspect="1"/>
          </p:cNvPicPr>
          <p:nvPr/>
        </p:nvPicPr>
        <p:blipFill>
          <a:blip r:embed="rId1"/>
          <a:srcRect l="0" r="0" t="0" b="0"/>
          <a:stretch/>
        </p:blipFill>
        <p:spPr>
          <a:xfrm>
            <a:off x="5486400" y="0"/>
            <a:ext cx="3657600" cy="5143500"/>
          </a:xfrm>
          <a:prstGeom prst="rect">
            <a:avLst/>
          </a:prstGeom>
        </p:spPr>
      </p:pic>
      <p:sp>
        <p:nvSpPr>
          <p:cNvPr id="3" name="Shape 0"/>
          <p:cNvSpPr/>
          <p:nvPr/>
        </p:nvSpPr>
        <p:spPr>
          <a:xfrm>
            <a:off x="5303520" y="0"/>
            <a:ext cx="182880" cy="5143500"/>
          </a:xfrm>
          <a:prstGeom prst="rect">
            <a:avLst/>
          </a:prstGeom>
          <a:solidFill>
            <a:srgbClr val="FFB91D"/>
          </a:solidFill>
          <a:ln/>
        </p:spPr>
        <p:txBody>
          <a:bodyPr/>
          <a:p/>
        </p:txBody>
      </p:sp>
      <p:sp>
        <p:nvSpPr>
          <p:cNvPr id="4" name="Text 1"/>
          <p:cNvSpPr/>
          <p:nvPr/>
        </p:nvSpPr>
        <p:spPr>
          <a:xfrm>
            <a:off x="502920" y="457200"/>
            <a:ext cx="4663440" cy="274320"/>
          </a:xfrm>
          <a:prstGeom prst="rect">
            <a:avLst/>
          </a:prstGeom>
          <a:noFill/>
          <a:ln/>
        </p:spPr>
        <p:txBody>
          <a:bodyPr wrap="square" lIns="0" tIns="0" rIns="0" bIns="0" rtlCol="0" anchor="ctr"/>
          <a:lstStyle/>
          <a:p>
            <a:pPr indent="0" marL="0">
              <a:buNone/>
            </a:pPr>
            <a:r>
              <a:rPr lang="en-US" sz="1050" b="1" spc="300" kern="0" dirty="0">
                <a:solidFill>
                  <a:srgbClr val="FFB91D"/>
                </a:solidFill>
                <a:latin typeface="Trebuchet MS" pitchFamily="34" charset="0"/>
                <a:ea typeface="Trebuchet MS" pitchFamily="34" charset="-122"/>
                <a:cs typeface="Trebuchet MS" pitchFamily="34" charset="-120"/>
              </a:rPr>
              <a:t>WHERE IT ALL GOES · ONE STORY ACROSS ALL THREE</a:t>
            </a:r>
            <a:endParaRPr lang="en-US" sz="1050" dirty="0"/>
          </a:p>
        </p:txBody>
      </p:sp>
      <p:sp>
        <p:nvSpPr>
          <p:cNvPr id="5" name="Text 2"/>
          <p:cNvSpPr/>
          <p:nvPr/>
        </p:nvSpPr>
        <p:spPr>
          <a:xfrm>
            <a:off x="457200" y="822960"/>
            <a:ext cx="4754880" cy="914400"/>
          </a:xfrm>
          <a:prstGeom prst="rect">
            <a:avLst/>
          </a:prstGeom>
          <a:noFill/>
          <a:ln/>
        </p:spPr>
        <p:txBody>
          <a:bodyPr wrap="square" lIns="0" tIns="0" rIns="0" bIns="0" rtlCol="0" anchor="ctr"/>
          <a:lstStyle/>
          <a:p>
            <a:pPr indent="0" marL="0">
              <a:buNone/>
            </a:pPr>
            <a:r>
              <a:rPr lang="en-US" sz="2700" b="1" dirty="0">
                <a:solidFill>
                  <a:srgbClr val="FFFFFF"/>
                </a:solidFill>
                <a:latin typeface="Trebuchet MS" pitchFamily="34" charset="0"/>
                <a:ea typeface="Trebuchet MS" pitchFamily="34" charset="-122"/>
                <a:cs typeface="Trebuchet MS" pitchFamily="34" charset="-120"/>
              </a:rPr>
              <a:t>Errol. Intervention before crisis.</a:t>
            </a:r>
            <a:endParaRPr lang="en-US" sz="2700" dirty="0"/>
          </a:p>
        </p:txBody>
      </p:sp>
      <p:sp>
        <p:nvSpPr>
          <p:cNvPr id="6" name="Text 3"/>
          <p:cNvSpPr/>
          <p:nvPr/>
        </p:nvSpPr>
        <p:spPr>
          <a:xfrm>
            <a:off x="502920" y="1828800"/>
            <a:ext cx="4617720" cy="914400"/>
          </a:xfrm>
          <a:prstGeom prst="rect">
            <a:avLst/>
          </a:prstGeom>
          <a:noFill/>
          <a:ln/>
        </p:spPr>
        <p:txBody>
          <a:bodyPr wrap="square" lIns="0" tIns="0" rIns="0" bIns="0" rtlCol="0" anchor="ctr"/>
          <a:lstStyle/>
          <a:p>
            <a:pPr indent="0" marL="0">
              <a:buNone/>
            </a:pPr>
            <a:r>
              <a:rPr lang="en-US" sz="1300" dirty="0">
                <a:solidFill>
                  <a:srgbClr val="E8F0FA"/>
                </a:solidFill>
                <a:latin typeface="Calibri" pitchFamily="34" charset="0"/>
                <a:ea typeface="Calibri" pitchFamily="34" charset="-122"/>
                <a:cs typeface="Calibri" pitchFamily="34" charset="-120"/>
              </a:rPr>
              <a:t>His wearable flags the change weeks before the clinical event would have announced itself. The home diagnostic confirms it. The therapeutic supports the response.</a:t>
            </a:r>
            <a:endParaRPr lang="en-US" sz="1300" dirty="0"/>
          </a:p>
        </p:txBody>
      </p:sp>
      <p:sp>
        <p:nvSpPr>
          <p:cNvPr id="7" name="Shape 4"/>
          <p:cNvSpPr/>
          <p:nvPr/>
        </p:nvSpPr>
        <p:spPr>
          <a:xfrm>
            <a:off x="502920" y="2898648"/>
            <a:ext cx="128016" cy="128016"/>
          </a:xfrm>
          <a:prstGeom prst="ellipse">
            <a:avLst/>
          </a:prstGeom>
          <a:solidFill>
            <a:srgbClr val="FFB91D"/>
          </a:solidFill>
          <a:ln/>
        </p:spPr>
        <p:txBody>
          <a:bodyPr/>
          <a:p/>
        </p:txBody>
      </p:sp>
      <p:sp>
        <p:nvSpPr>
          <p:cNvPr id="8" name="Text 5"/>
          <p:cNvSpPr/>
          <p:nvPr/>
        </p:nvSpPr>
        <p:spPr>
          <a:xfrm>
            <a:off x="749808" y="2834640"/>
            <a:ext cx="4389120" cy="457200"/>
          </a:xfrm>
          <a:prstGeom prst="rect">
            <a:avLst/>
          </a:prstGeom>
          <a:noFill/>
          <a:ln/>
        </p:spPr>
        <p:txBody>
          <a:bodyPr wrap="square" lIns="0" tIns="0" rIns="0" bIns="0" rtlCol="0" anchor="ctr"/>
          <a:lstStyle/>
          <a:p>
            <a:pPr indent="0" marL="0">
              <a:buNone/>
            </a:pPr>
            <a:r>
              <a:rPr lang="en-US" sz="1250" b="1" dirty="0">
                <a:solidFill>
                  <a:srgbClr val="FFB91D"/>
                </a:solidFill>
                <a:latin typeface="Calibri" pitchFamily="34" charset="0"/>
                <a:ea typeface="Calibri" pitchFamily="34" charset="-122"/>
                <a:cs typeface="Calibri" pitchFamily="34" charset="-120"/>
              </a:rPr>
              <a:t>HealthSync </a:t>
            </a:r>
            <a:pPr indent="0" marL="0">
              <a:buNone/>
            </a:pPr>
            <a:r>
              <a:rPr lang="en-US" sz="1250" dirty="0">
                <a:solidFill>
                  <a:srgbClr val="FFFFFF"/>
                </a:solidFill>
                <a:latin typeface="Calibri" pitchFamily="34" charset="0"/>
                <a:ea typeface="Calibri" pitchFamily="34" charset="-122"/>
                <a:cs typeface="Calibri" pitchFamily="34" charset="-120"/>
              </a:rPr>
              <a:t>,  the signal, saw it coming</a:t>
            </a:r>
            <a:endParaRPr lang="en-US" sz="1250" dirty="0"/>
          </a:p>
        </p:txBody>
      </p:sp>
      <p:sp>
        <p:nvSpPr>
          <p:cNvPr id="9" name="Shape 6"/>
          <p:cNvSpPr/>
          <p:nvPr/>
        </p:nvSpPr>
        <p:spPr>
          <a:xfrm>
            <a:off x="502920" y="3465576"/>
            <a:ext cx="128016" cy="128016"/>
          </a:xfrm>
          <a:prstGeom prst="ellipse">
            <a:avLst/>
          </a:prstGeom>
          <a:solidFill>
            <a:srgbClr val="FFB91D"/>
          </a:solidFill>
          <a:ln/>
        </p:spPr>
        <p:txBody>
          <a:bodyPr/>
          <a:p/>
        </p:txBody>
      </p:sp>
      <p:sp>
        <p:nvSpPr>
          <p:cNvPr id="10" name="Text 7"/>
          <p:cNvSpPr/>
          <p:nvPr/>
        </p:nvSpPr>
        <p:spPr>
          <a:xfrm>
            <a:off x="749808" y="3401568"/>
            <a:ext cx="4389120" cy="457200"/>
          </a:xfrm>
          <a:prstGeom prst="rect">
            <a:avLst/>
          </a:prstGeom>
          <a:noFill/>
          <a:ln/>
        </p:spPr>
        <p:txBody>
          <a:bodyPr wrap="square" lIns="0" tIns="0" rIns="0" bIns="0" rtlCol="0" anchor="ctr"/>
          <a:lstStyle/>
          <a:p>
            <a:pPr indent="0" marL="0">
              <a:buNone/>
            </a:pPr>
            <a:r>
              <a:rPr lang="en-US" sz="1250" b="1" dirty="0">
                <a:solidFill>
                  <a:srgbClr val="FFB91D"/>
                </a:solidFill>
                <a:latin typeface="Calibri" pitchFamily="34" charset="0"/>
                <a:ea typeface="Calibri" pitchFamily="34" charset="-122"/>
                <a:cs typeface="Calibri" pitchFamily="34" charset="-120"/>
              </a:rPr>
              <a:t>HomeTest </a:t>
            </a:r>
            <a:pPr indent="0" marL="0">
              <a:buNone/>
            </a:pPr>
            <a:r>
              <a:rPr lang="en-US" sz="1250" dirty="0">
                <a:solidFill>
                  <a:srgbClr val="FFFFFF"/>
                </a:solidFill>
                <a:latin typeface="Calibri" pitchFamily="34" charset="0"/>
                <a:ea typeface="Calibri" pitchFamily="34" charset="-122"/>
                <a:cs typeface="Calibri" pitchFamily="34" charset="-120"/>
              </a:rPr>
              <a:t>,  the diagnostic, confirmed it at home</a:t>
            </a:r>
            <a:endParaRPr lang="en-US" sz="1250" dirty="0"/>
          </a:p>
        </p:txBody>
      </p:sp>
      <p:sp>
        <p:nvSpPr>
          <p:cNvPr id="11" name="Shape 8"/>
          <p:cNvSpPr/>
          <p:nvPr/>
        </p:nvSpPr>
        <p:spPr>
          <a:xfrm>
            <a:off x="502920" y="4032504"/>
            <a:ext cx="128016" cy="128016"/>
          </a:xfrm>
          <a:prstGeom prst="ellipse">
            <a:avLst/>
          </a:prstGeom>
          <a:solidFill>
            <a:srgbClr val="FFB91D"/>
          </a:solidFill>
          <a:ln/>
        </p:spPr>
        <p:txBody>
          <a:bodyPr/>
          <a:p/>
        </p:txBody>
      </p:sp>
      <p:sp>
        <p:nvSpPr>
          <p:cNvPr id="12" name="Text 9"/>
          <p:cNvSpPr/>
          <p:nvPr/>
        </p:nvSpPr>
        <p:spPr>
          <a:xfrm>
            <a:off x="749808" y="3968496"/>
            <a:ext cx="4389120" cy="457200"/>
          </a:xfrm>
          <a:prstGeom prst="rect">
            <a:avLst/>
          </a:prstGeom>
          <a:noFill/>
          <a:ln/>
        </p:spPr>
        <p:txBody>
          <a:bodyPr wrap="square" lIns="0" tIns="0" rIns="0" bIns="0" rtlCol="0" anchor="ctr"/>
          <a:lstStyle/>
          <a:p>
            <a:pPr indent="0" marL="0">
              <a:buNone/>
            </a:pPr>
            <a:r>
              <a:rPr lang="en-US" sz="1250" b="1" dirty="0">
                <a:solidFill>
                  <a:srgbClr val="FFB91D"/>
                </a:solidFill>
                <a:latin typeface="Calibri" pitchFamily="34" charset="0"/>
                <a:ea typeface="Calibri" pitchFamily="34" charset="-122"/>
                <a:cs typeface="Calibri" pitchFamily="34" charset="-120"/>
              </a:rPr>
              <a:t>HealthStore </a:t>
            </a:r>
            <a:pPr indent="0" marL="0">
              <a:buNone/>
            </a:pPr>
            <a:r>
              <a:rPr lang="en-US" sz="1250" dirty="0">
                <a:solidFill>
                  <a:srgbClr val="FFFFFF"/>
                </a:solidFill>
                <a:latin typeface="Calibri" pitchFamily="34" charset="0"/>
                <a:ea typeface="Calibri" pitchFamily="34" charset="-122"/>
                <a:cs typeface="Calibri" pitchFamily="34" charset="-120"/>
              </a:rPr>
              <a:t>,  the therapeutic, carried the response</a:t>
            </a:r>
            <a:endParaRPr lang="en-US" sz="1250" dirty="0"/>
          </a:p>
        </p:txBody>
      </p:sp>
      <p:sp>
        <p:nvSpPr>
          <p:cNvPr id="13" name="Text 10"/>
          <p:cNvSpPr/>
          <p:nvPr/>
        </p:nvSpPr>
        <p:spPr>
          <a:xfrm>
            <a:off x="502920" y="4526280"/>
            <a:ext cx="4617720" cy="502920"/>
          </a:xfrm>
          <a:prstGeom prst="rect">
            <a:avLst/>
          </a:prstGeom>
          <a:noFill/>
          <a:ln/>
        </p:spPr>
        <p:txBody>
          <a:bodyPr wrap="square" lIns="0" tIns="0" rIns="0" bIns="0" rtlCol="0" anchor="ctr"/>
          <a:lstStyle/>
          <a:p>
            <a:pPr indent="0" marL="0">
              <a:buNone/>
            </a:pPr>
            <a:r>
              <a:rPr lang="en-US" sz="1150" b="1" i="1" dirty="0">
                <a:solidFill>
                  <a:srgbClr val="CFE0F5"/>
                </a:solidFill>
                <a:latin typeface="Calibri" pitchFamily="34" charset="0"/>
                <a:ea typeface="Calibri" pitchFamily="34" charset="-122"/>
                <a:cs typeface="Calibri" pitchFamily="34" charset="-120"/>
              </a:rPr>
              <a:t>Three signal streams. One record. Clinical time freed for the patients who genuinely need to be in the room.</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411480"/>
            <a:ext cx="8229600" cy="594360"/>
          </a:xfrm>
          <a:prstGeom prst="rect">
            <a:avLst/>
          </a:prstGeom>
          <a:noFill/>
          <a:ln/>
        </p:spPr>
        <p:txBody>
          <a:bodyPr wrap="square" lIns="0" tIns="0" rIns="0" bIns="0" rtlCol="0" anchor="ctr"/>
          <a:lstStyle/>
          <a:p>
            <a:pPr indent="0" marL="0">
              <a:buNone/>
            </a:pPr>
            <a:r>
              <a:rPr lang="en-US" sz="2400" b="1" dirty="0">
                <a:solidFill>
                  <a:srgbClr val="003087"/>
                </a:solidFill>
                <a:latin typeface="Trebuchet MS" pitchFamily="34" charset="0"/>
                <a:ea typeface="Trebuchet MS" pitchFamily="34" charset="-122"/>
                <a:cs typeface="Trebuchet MS" pitchFamily="34" charset="-120"/>
              </a:rPr>
              <a:t>And the buying is designed for your headcount, not against it.</a:t>
            </a:r>
            <a:endParaRPr lang="en-US" sz="2400" dirty="0"/>
          </a:p>
        </p:txBody>
      </p:sp>
      <p:sp>
        <p:nvSpPr>
          <p:cNvPr id="3" name="Shape 1"/>
          <p:cNvSpPr/>
          <p:nvPr/>
        </p:nvSpPr>
        <p:spPr>
          <a:xfrm>
            <a:off x="502920" y="1234440"/>
            <a:ext cx="5577840" cy="731520"/>
          </a:xfrm>
          <a:prstGeom prst="rect">
            <a:avLst/>
          </a:prstGeom>
          <a:solidFill>
            <a:srgbClr val="FFFFFF"/>
          </a:solidFill>
          <a:ln w="9525">
            <a:solidFill>
              <a:srgbClr val="E3E9F0"/>
            </a:solidFill>
            <a:prstDash val="solid"/>
          </a:ln>
          <a:effectLst>
            <a:outerShdw sx="100000" sy="100000" kx="0" ky="0" algn="bl" rotWithShape="0" blurRad="114300" dist="38100" dir="8100000">
              <a:srgbClr val="0A1F3C">
                <a:alpha val="18000"/>
              </a:srgbClr>
            </a:outerShdw>
          </a:effectLst>
        </p:spPr>
        <p:txBody>
          <a:bodyPr/>
          <a:p/>
        </p:txBody>
      </p:sp>
      <p:sp>
        <p:nvSpPr>
          <p:cNvPr id="4" name="Shape 2"/>
          <p:cNvSpPr/>
          <p:nvPr/>
        </p:nvSpPr>
        <p:spPr>
          <a:xfrm>
            <a:off x="502920" y="1234440"/>
            <a:ext cx="64008" cy="731520"/>
          </a:xfrm>
          <a:prstGeom prst="rect">
            <a:avLst/>
          </a:prstGeom>
          <a:solidFill>
            <a:srgbClr val="003087"/>
          </a:solidFill>
          <a:ln/>
        </p:spPr>
        <p:txBody>
          <a:bodyPr/>
          <a:p/>
        </p:txBody>
      </p:sp>
      <p:sp>
        <p:nvSpPr>
          <p:cNvPr id="5" name="Text 3"/>
          <p:cNvSpPr/>
          <p:nvPr/>
        </p:nvSpPr>
        <p:spPr>
          <a:xfrm>
            <a:off x="731520" y="1307592"/>
            <a:ext cx="5212080" cy="274320"/>
          </a:xfrm>
          <a:prstGeom prst="rect">
            <a:avLst/>
          </a:prstGeom>
          <a:noFill/>
          <a:ln/>
        </p:spPr>
        <p:txBody>
          <a:bodyPr wrap="square" lIns="0" tIns="0" rIns="0" bIns="0" rtlCol="0" anchor="ctr"/>
          <a:lstStyle/>
          <a:p>
            <a:pPr indent="0" marL="0">
              <a:buNone/>
            </a:pPr>
            <a:r>
              <a:rPr lang="en-US" sz="1350" b="1" dirty="0">
                <a:solidFill>
                  <a:srgbClr val="003087"/>
                </a:solidFill>
                <a:latin typeface="Trebuchet MS" pitchFamily="34" charset="0"/>
                <a:ea typeface="Trebuchet MS" pitchFamily="34" charset="-122"/>
                <a:cs typeface="Trebuchet MS" pitchFamily="34" charset="-120"/>
              </a:rPr>
              <a:t>One front door</a:t>
            </a:r>
            <a:endParaRPr lang="en-US" sz="1350" dirty="0"/>
          </a:p>
        </p:txBody>
      </p:sp>
      <p:sp>
        <p:nvSpPr>
          <p:cNvPr id="6" name="Text 4"/>
          <p:cNvSpPr/>
          <p:nvPr/>
        </p:nvSpPr>
        <p:spPr>
          <a:xfrm>
            <a:off x="731520" y="1581912"/>
            <a:ext cx="5212080" cy="347472"/>
          </a:xfrm>
          <a:prstGeom prst="rect">
            <a:avLst/>
          </a:prstGeom>
          <a:noFill/>
          <a:ln/>
        </p:spPr>
        <p:txBody>
          <a:bodyPr wrap="square" lIns="0" tIns="0" rIns="0" bIns="0" rtlCol="0" anchor="ctr"/>
          <a:lstStyle/>
          <a:p>
            <a:pPr indent="0" marL="0">
              <a:buNone/>
            </a:pPr>
            <a:r>
              <a:rPr lang="en-US" sz="1050" dirty="0">
                <a:solidFill>
                  <a:srgbClr val="4C6272"/>
                </a:solidFill>
                <a:latin typeface="Calibri" pitchFamily="34" charset="0"/>
                <a:ea typeface="Calibri" pitchFamily="34" charset="-122"/>
                <a:cs typeface="Calibri" pitchFamily="34" charset="-120"/>
              </a:rPr>
              <a:t>configurations and suppliers pre-assured on a national framework</a:t>
            </a:r>
            <a:endParaRPr lang="en-US" sz="1050" dirty="0"/>
          </a:p>
        </p:txBody>
      </p:sp>
      <p:sp>
        <p:nvSpPr>
          <p:cNvPr id="7" name="Shape 5"/>
          <p:cNvSpPr/>
          <p:nvPr/>
        </p:nvSpPr>
        <p:spPr>
          <a:xfrm>
            <a:off x="502920" y="2075688"/>
            <a:ext cx="5577840" cy="731520"/>
          </a:xfrm>
          <a:prstGeom prst="rect">
            <a:avLst/>
          </a:prstGeom>
          <a:solidFill>
            <a:srgbClr val="FFFFFF"/>
          </a:solidFill>
          <a:ln w="9525">
            <a:solidFill>
              <a:srgbClr val="E3E9F0"/>
            </a:solidFill>
            <a:prstDash val="solid"/>
          </a:ln>
          <a:effectLst>
            <a:outerShdw sx="100000" sy="100000" kx="0" ky="0" algn="bl" rotWithShape="0" blurRad="114300" dist="38100" dir="8100000">
              <a:srgbClr val="0A1F3C">
                <a:alpha val="18000"/>
              </a:srgbClr>
            </a:outerShdw>
          </a:effectLst>
        </p:spPr>
        <p:txBody>
          <a:bodyPr/>
          <a:p/>
        </p:txBody>
      </p:sp>
      <p:sp>
        <p:nvSpPr>
          <p:cNvPr id="8" name="Shape 6"/>
          <p:cNvSpPr/>
          <p:nvPr/>
        </p:nvSpPr>
        <p:spPr>
          <a:xfrm>
            <a:off x="502920" y="2075688"/>
            <a:ext cx="64008" cy="731520"/>
          </a:xfrm>
          <a:prstGeom prst="rect">
            <a:avLst/>
          </a:prstGeom>
          <a:solidFill>
            <a:srgbClr val="003087"/>
          </a:solidFill>
          <a:ln/>
        </p:spPr>
        <p:txBody>
          <a:bodyPr/>
          <a:p/>
        </p:txBody>
      </p:sp>
      <p:sp>
        <p:nvSpPr>
          <p:cNvPr id="9" name="Text 7"/>
          <p:cNvSpPr/>
          <p:nvPr/>
        </p:nvSpPr>
        <p:spPr>
          <a:xfrm>
            <a:off x="731520" y="2148840"/>
            <a:ext cx="5212080" cy="274320"/>
          </a:xfrm>
          <a:prstGeom prst="rect">
            <a:avLst/>
          </a:prstGeom>
          <a:noFill/>
          <a:ln/>
        </p:spPr>
        <p:txBody>
          <a:bodyPr wrap="square" lIns="0" tIns="0" rIns="0" bIns="0" rtlCol="0" anchor="ctr"/>
          <a:lstStyle/>
          <a:p>
            <a:pPr indent="0" marL="0">
              <a:buNone/>
            </a:pPr>
            <a:r>
              <a:rPr lang="en-US" sz="1350" b="1" dirty="0">
                <a:solidFill>
                  <a:srgbClr val="003087"/>
                </a:solidFill>
                <a:latin typeface="Trebuchet MS" pitchFamily="34" charset="0"/>
                <a:ea typeface="Trebuchet MS" pitchFamily="34" charset="-122"/>
                <a:cs typeface="Trebuchet MS" pitchFamily="34" charset="-120"/>
              </a:rPr>
              <a:t>National terms</a:t>
            </a:r>
            <a:endParaRPr lang="en-US" sz="1350" dirty="0"/>
          </a:p>
        </p:txBody>
      </p:sp>
      <p:sp>
        <p:nvSpPr>
          <p:cNvPr id="10" name="Text 8"/>
          <p:cNvSpPr/>
          <p:nvPr/>
        </p:nvSpPr>
        <p:spPr>
          <a:xfrm>
            <a:off x="731520" y="2423160"/>
            <a:ext cx="5212080" cy="347472"/>
          </a:xfrm>
          <a:prstGeom prst="rect">
            <a:avLst/>
          </a:prstGeom>
          <a:noFill/>
          <a:ln/>
        </p:spPr>
        <p:txBody>
          <a:bodyPr wrap="square" lIns="0" tIns="0" rIns="0" bIns="0" rtlCol="0" anchor="ctr"/>
          <a:lstStyle/>
          <a:p>
            <a:pPr indent="0" marL="0">
              <a:buNone/>
            </a:pPr>
            <a:r>
              <a:rPr lang="en-US" sz="1050" dirty="0">
                <a:solidFill>
                  <a:srgbClr val="4C6272"/>
                </a:solidFill>
                <a:latin typeface="Calibri" pitchFamily="34" charset="0"/>
                <a:ea typeface="Calibri" pitchFamily="34" charset="-122"/>
                <a:cs typeface="Calibri" pitchFamily="34" charset="-120"/>
              </a:rPr>
              <a:t>standard call-off templates, reviewed once by your legal and IG, not per supplier</a:t>
            </a:r>
            <a:endParaRPr lang="en-US" sz="1050" dirty="0"/>
          </a:p>
        </p:txBody>
      </p:sp>
      <p:sp>
        <p:nvSpPr>
          <p:cNvPr id="11" name="Shape 9"/>
          <p:cNvSpPr/>
          <p:nvPr/>
        </p:nvSpPr>
        <p:spPr>
          <a:xfrm>
            <a:off x="502920" y="2916936"/>
            <a:ext cx="5577840" cy="731520"/>
          </a:xfrm>
          <a:prstGeom prst="rect">
            <a:avLst/>
          </a:prstGeom>
          <a:solidFill>
            <a:srgbClr val="FFFFFF"/>
          </a:solidFill>
          <a:ln w="9525">
            <a:solidFill>
              <a:srgbClr val="E3E9F0"/>
            </a:solidFill>
            <a:prstDash val="solid"/>
          </a:ln>
          <a:effectLst>
            <a:outerShdw sx="100000" sy="100000" kx="0" ky="0" algn="bl" rotWithShape="0" blurRad="114300" dist="38100" dir="8100000">
              <a:srgbClr val="0A1F3C">
                <a:alpha val="18000"/>
              </a:srgbClr>
            </a:outerShdw>
          </a:effectLst>
        </p:spPr>
        <p:txBody>
          <a:bodyPr/>
          <a:p/>
        </p:txBody>
      </p:sp>
      <p:sp>
        <p:nvSpPr>
          <p:cNvPr id="12" name="Shape 10"/>
          <p:cNvSpPr/>
          <p:nvPr/>
        </p:nvSpPr>
        <p:spPr>
          <a:xfrm>
            <a:off x="502920" y="2916936"/>
            <a:ext cx="64008" cy="731520"/>
          </a:xfrm>
          <a:prstGeom prst="rect">
            <a:avLst/>
          </a:prstGeom>
          <a:solidFill>
            <a:srgbClr val="003087"/>
          </a:solidFill>
          <a:ln/>
        </p:spPr>
        <p:txBody>
          <a:bodyPr/>
          <a:p/>
        </p:txBody>
      </p:sp>
      <p:sp>
        <p:nvSpPr>
          <p:cNvPr id="13" name="Text 11"/>
          <p:cNvSpPr/>
          <p:nvPr/>
        </p:nvSpPr>
        <p:spPr>
          <a:xfrm>
            <a:off x="731520" y="2990088"/>
            <a:ext cx="5212080" cy="274320"/>
          </a:xfrm>
          <a:prstGeom prst="rect">
            <a:avLst/>
          </a:prstGeom>
          <a:noFill/>
          <a:ln/>
        </p:spPr>
        <p:txBody>
          <a:bodyPr wrap="square" lIns="0" tIns="0" rIns="0" bIns="0" rtlCol="0" anchor="ctr"/>
          <a:lstStyle/>
          <a:p>
            <a:pPr indent="0" marL="0">
              <a:buNone/>
            </a:pPr>
            <a:r>
              <a:rPr lang="en-US" sz="1350" b="1" dirty="0">
                <a:solidFill>
                  <a:srgbClr val="003087"/>
                </a:solidFill>
                <a:latin typeface="Trebuchet MS" pitchFamily="34" charset="0"/>
                <a:ea typeface="Trebuchet MS" pitchFamily="34" charset="-122"/>
                <a:cs typeface="Trebuchet MS" pitchFamily="34" charset="-120"/>
              </a:rPr>
              <a:t>A call-off, not a procurement</a:t>
            </a:r>
            <a:endParaRPr lang="en-US" sz="1350" dirty="0"/>
          </a:p>
        </p:txBody>
      </p:sp>
      <p:sp>
        <p:nvSpPr>
          <p:cNvPr id="14" name="Text 12"/>
          <p:cNvSpPr/>
          <p:nvPr/>
        </p:nvSpPr>
        <p:spPr>
          <a:xfrm>
            <a:off x="731520" y="3264408"/>
            <a:ext cx="5212080" cy="347472"/>
          </a:xfrm>
          <a:prstGeom prst="rect">
            <a:avLst/>
          </a:prstGeom>
          <a:noFill/>
          <a:ln/>
        </p:spPr>
        <p:txBody>
          <a:bodyPr wrap="square" lIns="0" tIns="0" rIns="0" bIns="0" rtlCol="0" anchor="ctr"/>
          <a:lstStyle/>
          <a:p>
            <a:pPr indent="0" marL="0">
              <a:buNone/>
            </a:pPr>
            <a:r>
              <a:rPr lang="en-US" sz="1050" dirty="0">
                <a:solidFill>
                  <a:srgbClr val="4C6272"/>
                </a:solidFill>
                <a:latin typeface="Calibri" pitchFamily="34" charset="0"/>
                <a:ea typeface="Calibri" pitchFamily="34" charset="-122"/>
                <a:cs typeface="Calibri" pitchFamily="34" charset="-120"/>
              </a:rPr>
              <a:t>the integration, safety case and assurance were done before you walked in</a:t>
            </a:r>
            <a:endParaRPr lang="en-US" sz="1050" dirty="0"/>
          </a:p>
        </p:txBody>
      </p:sp>
      <p:sp>
        <p:nvSpPr>
          <p:cNvPr id="15" name="Shape 13"/>
          <p:cNvSpPr/>
          <p:nvPr/>
        </p:nvSpPr>
        <p:spPr>
          <a:xfrm>
            <a:off x="6400800" y="1234440"/>
            <a:ext cx="2286000" cy="2414016"/>
          </a:xfrm>
          <a:prstGeom prst="rect">
            <a:avLst/>
          </a:prstGeom>
          <a:solidFill>
            <a:srgbClr val="006747"/>
          </a:solidFill>
          <a:ln/>
          <a:effectLst>
            <a:outerShdw sx="100000" sy="100000" kx="0" ky="0" algn="bl" rotWithShape="0" blurRad="114300" dist="38100" dir="8100000">
              <a:srgbClr val="0A1F3C">
                <a:alpha val="18000"/>
              </a:srgbClr>
            </a:outerShdw>
          </a:effectLst>
        </p:spPr>
        <p:txBody>
          <a:bodyPr/>
          <a:p/>
        </p:txBody>
      </p:sp>
      <p:sp>
        <p:nvSpPr>
          <p:cNvPr id="16" name="Text 14"/>
          <p:cNvSpPr/>
          <p:nvPr/>
        </p:nvSpPr>
        <p:spPr>
          <a:xfrm>
            <a:off x="6400800" y="1554480"/>
            <a:ext cx="2286000" cy="731520"/>
          </a:xfrm>
          <a:prstGeom prst="rect">
            <a:avLst/>
          </a:prstGeom>
          <a:noFill/>
          <a:ln/>
        </p:spPr>
        <p:txBody>
          <a:bodyPr wrap="square" lIns="0" tIns="0" rIns="0" bIns="0" rtlCol="0" anchor="ctr"/>
          <a:lstStyle/>
          <a:p>
            <a:pPr algn="ctr" indent="0" marL="0">
              <a:buNone/>
            </a:pPr>
            <a:r>
              <a:rPr lang="en-US" sz="3800" b="1" dirty="0">
                <a:solidFill>
                  <a:srgbClr val="FFFFFF"/>
                </a:solidFill>
                <a:latin typeface="Trebuchet MS" pitchFamily="34" charset="0"/>
                <a:ea typeface="Trebuchet MS" pitchFamily="34" charset="-122"/>
                <a:cs typeface="Trebuchet MS" pitchFamily="34" charset="-120"/>
              </a:rPr>
              <a:t>6 wks</a:t>
            </a:r>
            <a:endParaRPr lang="en-US" sz="3800" dirty="0"/>
          </a:p>
        </p:txBody>
      </p:sp>
      <p:sp>
        <p:nvSpPr>
          <p:cNvPr id="17" name="Text 15"/>
          <p:cNvSpPr/>
          <p:nvPr/>
        </p:nvSpPr>
        <p:spPr>
          <a:xfrm>
            <a:off x="6400800" y="2331720"/>
            <a:ext cx="2286000" cy="365760"/>
          </a:xfrm>
          <a:prstGeom prst="rect">
            <a:avLst/>
          </a:prstGeom>
          <a:noFill/>
          <a:ln/>
        </p:spPr>
        <p:txBody>
          <a:bodyPr wrap="square" lIns="0" tIns="0" rIns="0" bIns="0" rtlCol="0" anchor="ctr"/>
          <a:lstStyle/>
          <a:p>
            <a:pPr algn="ctr" indent="0" marL="0">
              <a:buNone/>
            </a:pPr>
            <a:r>
              <a:rPr lang="en-US" sz="1300" b="1" dirty="0">
                <a:solidFill>
                  <a:srgbClr val="D7F0E4"/>
                </a:solidFill>
                <a:latin typeface="Trebuchet MS" pitchFamily="34" charset="0"/>
                <a:ea typeface="Trebuchet MS" pitchFamily="34" charset="-122"/>
                <a:cs typeface="Trebuchet MS" pitchFamily="34" charset="-120"/>
              </a:rPr>
              <a:t>not eighteen months</a:t>
            </a:r>
            <a:endParaRPr lang="en-US" sz="1300" dirty="0"/>
          </a:p>
        </p:txBody>
      </p:sp>
      <p:sp>
        <p:nvSpPr>
          <p:cNvPr id="18" name="Text 16"/>
          <p:cNvSpPr/>
          <p:nvPr/>
        </p:nvSpPr>
        <p:spPr>
          <a:xfrm>
            <a:off x="6537960" y="2743200"/>
            <a:ext cx="2011680" cy="640080"/>
          </a:xfrm>
          <a:prstGeom prst="rect">
            <a:avLst/>
          </a:prstGeom>
          <a:noFill/>
          <a:ln/>
        </p:spPr>
        <p:txBody>
          <a:bodyPr wrap="square" lIns="0" tIns="0" rIns="0" bIns="0" rtlCol="0" anchor="ctr"/>
          <a:lstStyle/>
          <a:p>
            <a:pPr algn="ctr" indent="0" marL="0">
              <a:buNone/>
            </a:pPr>
            <a:r>
              <a:rPr lang="en-US" sz="1000" dirty="0">
                <a:solidFill>
                  <a:srgbClr val="D7F0E4"/>
                </a:solidFill>
                <a:latin typeface="Calibri" pitchFamily="34" charset="0"/>
                <a:ea typeface="Calibri" pitchFamily="34" charset="-122"/>
                <a:cs typeface="Calibri" pitchFamily="34" charset="-120"/>
              </a:rPr>
              <a:t>the promise the model is built to keep</a:t>
            </a:r>
            <a:endParaRPr lang="en-US" sz="1000" dirty="0"/>
          </a:p>
        </p:txBody>
      </p:sp>
      <p:sp>
        <p:nvSpPr>
          <p:cNvPr id="19" name="Text 17"/>
          <p:cNvSpPr/>
          <p:nvPr/>
        </p:nvSpPr>
        <p:spPr>
          <a:xfrm>
            <a:off x="502920" y="3977640"/>
            <a:ext cx="8183880" cy="548640"/>
          </a:xfrm>
          <a:prstGeom prst="rect">
            <a:avLst/>
          </a:prstGeom>
          <a:noFill/>
          <a:ln/>
        </p:spPr>
        <p:txBody>
          <a:bodyPr wrap="square" lIns="0" tIns="0" rIns="0" bIns="0" rtlCol="0" anchor="ctr"/>
          <a:lstStyle/>
          <a:p>
            <a:pPr indent="0" marL="0">
              <a:buNone/>
            </a:pPr>
            <a:r>
              <a:rPr lang="en-US" sz="1150" b="1" dirty="0">
                <a:solidFill>
                  <a:srgbClr val="9A6700"/>
                </a:solidFill>
                <a:latin typeface="Calibri" pitchFamily="34" charset="0"/>
                <a:ea typeface="Calibri" pitchFamily="34" charset="-122"/>
                <a:cs typeface="Calibri" pitchFamily="34" charset="-120"/>
              </a:rPr>
              <a:t>Status, honestly: </a:t>
            </a:r>
            <a:pPr indent="0" marL="0">
              <a:buNone/>
            </a:pPr>
            <a:r>
              <a:rPr lang="en-US" sz="1150" dirty="0">
                <a:solidFill>
                  <a:srgbClr val="4C6272"/>
                </a:solidFill>
                <a:latin typeface="Calibri" pitchFamily="34" charset="0"/>
                <a:ea typeface="Calibri" pitchFamily="34" charset="-122"/>
                <a:cs typeface="Calibri" pitchFamily="34" charset="-120"/>
              </a:rPr>
              <a:t>HIV is live in Beta today on interim arrangements. The national open framework is being stood up now, targeting April 2028, with an interim route for commissioners who buy before then. Early partners shape it.</a:t>
            </a:r>
            <a:endParaRPr lang="en-US" sz="1150" dirty="0"/>
          </a:p>
        </p:txBody>
      </p:sp>
      <p:sp>
        <p:nvSpPr>
          <p:cNvPr id="20" name="Text 18"/>
          <p:cNvSpPr/>
          <p:nvPr/>
        </p:nvSpPr>
        <p:spPr>
          <a:xfrm>
            <a:off x="457200" y="4864608"/>
            <a:ext cx="8229600" cy="228600"/>
          </a:xfrm>
          <a:prstGeom prst="rect">
            <a:avLst/>
          </a:prstGeom>
          <a:noFill/>
          <a:ln/>
        </p:spPr>
        <p:txBody>
          <a:bodyPr wrap="square" lIns="0" tIns="0" rIns="0" bIns="0" rtlCol="0" anchor="ctr"/>
          <a:lstStyle/>
          <a:p>
            <a:pPr indent="0" marL="0">
              <a:buNone/>
            </a:pPr>
            <a:r>
              <a:rPr lang="en-US" sz="800" dirty="0">
                <a:solidFill>
                  <a:srgbClr val="7E8B97"/>
                </a:solidFill>
                <a:latin typeface="Calibri" pitchFamily="34" charset="0"/>
                <a:ea typeface="Calibri" pitchFamily="34" charset="-122"/>
                <a:cs typeface="Calibri" pitchFamily="34" charset="-120"/>
              </a:rPr>
              <a:t>Hearts and Minds · audience deck No.1 · Commissioner edition · proof-of-concept draft ⚑ · updated September 2026</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411480"/>
            <a:ext cx="8229600" cy="548640"/>
          </a:xfrm>
          <a:prstGeom prst="rect">
            <a:avLst/>
          </a:prstGeom>
          <a:noFill/>
          <a:ln/>
        </p:spPr>
        <p:txBody>
          <a:bodyPr wrap="square" lIns="0" tIns="0" rIns="0" bIns="0" rtlCol="0" anchor="ctr"/>
          <a:lstStyle/>
          <a:p>
            <a:pPr indent="0" marL="0">
              <a:buNone/>
            </a:pPr>
            <a:r>
              <a:rPr lang="en-US" sz="2600" b="1" dirty="0">
                <a:solidFill>
                  <a:srgbClr val="003087"/>
                </a:solidFill>
                <a:latin typeface="Trebuchet MS" pitchFamily="34" charset="0"/>
                <a:ea typeface="Trebuchet MS" pitchFamily="34" charset="-122"/>
                <a:cs typeface="Trebuchet MS" pitchFamily="34" charset="-120"/>
              </a:rPr>
              <a:t>What happens next.</a:t>
            </a:r>
            <a:endParaRPr lang="en-US" sz="2600" dirty="0"/>
          </a:p>
        </p:txBody>
      </p:sp>
      <p:sp>
        <p:nvSpPr>
          <p:cNvPr id="3" name="Shape 1"/>
          <p:cNvSpPr/>
          <p:nvPr/>
        </p:nvSpPr>
        <p:spPr>
          <a:xfrm>
            <a:off x="502920" y="1325880"/>
            <a:ext cx="2606040" cy="2377440"/>
          </a:xfrm>
          <a:prstGeom prst="rect">
            <a:avLst/>
          </a:prstGeom>
          <a:solidFill>
            <a:srgbClr val="FFFFFF"/>
          </a:solidFill>
          <a:ln w="9525">
            <a:solidFill>
              <a:srgbClr val="E3E9F0"/>
            </a:solidFill>
            <a:prstDash val="solid"/>
          </a:ln>
          <a:effectLst>
            <a:outerShdw sx="100000" sy="100000" kx="0" ky="0" algn="bl" rotWithShape="0" blurRad="114300" dist="38100" dir="8100000">
              <a:srgbClr val="0A1F3C">
                <a:alpha val="18000"/>
              </a:srgbClr>
            </a:outerShdw>
          </a:effectLst>
        </p:spPr>
        <p:txBody>
          <a:bodyPr/>
          <a:p/>
        </p:txBody>
      </p:sp>
      <p:sp>
        <p:nvSpPr>
          <p:cNvPr id="4" name="Shape 2"/>
          <p:cNvSpPr/>
          <p:nvPr/>
        </p:nvSpPr>
        <p:spPr>
          <a:xfrm>
            <a:off x="731520" y="1554480"/>
            <a:ext cx="502920" cy="502920"/>
          </a:xfrm>
          <a:prstGeom prst="ellipse">
            <a:avLst/>
          </a:prstGeom>
          <a:solidFill>
            <a:srgbClr val="003087"/>
          </a:solidFill>
          <a:ln/>
        </p:spPr>
        <p:txBody>
          <a:bodyPr/>
          <a:p/>
        </p:txBody>
      </p:sp>
      <p:sp>
        <p:nvSpPr>
          <p:cNvPr id="5" name="Text 3"/>
          <p:cNvSpPr/>
          <p:nvPr/>
        </p:nvSpPr>
        <p:spPr>
          <a:xfrm>
            <a:off x="731520" y="15544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1</a:t>
            </a:r>
            <a:endParaRPr lang="en-US" sz="1800" dirty="0"/>
          </a:p>
        </p:txBody>
      </p:sp>
      <p:sp>
        <p:nvSpPr>
          <p:cNvPr id="6" name="Text 4"/>
          <p:cNvSpPr/>
          <p:nvPr/>
        </p:nvSpPr>
        <p:spPr>
          <a:xfrm>
            <a:off x="731520" y="2194560"/>
            <a:ext cx="2194560" cy="548640"/>
          </a:xfrm>
          <a:prstGeom prst="rect">
            <a:avLst/>
          </a:prstGeom>
          <a:noFill/>
          <a:ln/>
        </p:spPr>
        <p:txBody>
          <a:bodyPr wrap="square" lIns="0" tIns="0" rIns="0" bIns="0" rtlCol="0" anchor="ctr"/>
          <a:lstStyle/>
          <a:p>
            <a:pPr indent="0" marL="0">
              <a:buNone/>
            </a:pPr>
            <a:r>
              <a:rPr lang="en-US" sz="1400" b="1" dirty="0">
                <a:solidFill>
                  <a:srgbClr val="003087"/>
                </a:solidFill>
                <a:latin typeface="Trebuchet MS" pitchFamily="34" charset="0"/>
                <a:ea typeface="Trebuchet MS" pitchFamily="34" charset="-122"/>
                <a:cs typeface="Trebuchet MS" pitchFamily="34" charset="-120"/>
              </a:rPr>
              <a:t>A scoping conversation</a:t>
            </a:r>
            <a:endParaRPr lang="en-US" sz="1400" dirty="0"/>
          </a:p>
        </p:txBody>
      </p:sp>
      <p:sp>
        <p:nvSpPr>
          <p:cNvPr id="7" name="Text 5"/>
          <p:cNvSpPr/>
          <p:nvPr/>
        </p:nvSpPr>
        <p:spPr>
          <a:xfrm>
            <a:off x="731520" y="2743200"/>
            <a:ext cx="2194560" cy="868680"/>
          </a:xfrm>
          <a:prstGeom prst="rect">
            <a:avLst/>
          </a:prstGeom>
          <a:noFill/>
          <a:ln/>
        </p:spPr>
        <p:txBody>
          <a:bodyPr wrap="square" lIns="0" tIns="0" rIns="0" bIns="0" rtlCol="0" anchor="ctr"/>
          <a:lstStyle/>
          <a:p>
            <a:pPr indent="0" marL="0">
              <a:buNone/>
            </a:pPr>
            <a:r>
              <a:rPr lang="en-US" sz="1050" dirty="0">
                <a:solidFill>
                  <a:srgbClr val="4C6272"/>
                </a:solidFill>
                <a:latin typeface="Calibri" pitchFamily="34" charset="0"/>
                <a:ea typeface="Calibri" pitchFamily="34" charset="-122"/>
                <a:cs typeface="Calibri" pitchFamily="34" charset="-120"/>
              </a:rPr>
              <a:t>Your population picture and testing gaps; our journey maps and Beta learning. One hour, no homework.</a:t>
            </a:r>
            <a:endParaRPr lang="en-US" sz="1050" dirty="0"/>
          </a:p>
        </p:txBody>
      </p:sp>
      <p:sp>
        <p:nvSpPr>
          <p:cNvPr id="8" name="Shape 6"/>
          <p:cNvSpPr/>
          <p:nvPr/>
        </p:nvSpPr>
        <p:spPr>
          <a:xfrm>
            <a:off x="3337560" y="1325880"/>
            <a:ext cx="2606040" cy="2377440"/>
          </a:xfrm>
          <a:prstGeom prst="rect">
            <a:avLst/>
          </a:prstGeom>
          <a:solidFill>
            <a:srgbClr val="FFFFFF"/>
          </a:solidFill>
          <a:ln w="9525">
            <a:solidFill>
              <a:srgbClr val="E3E9F0"/>
            </a:solidFill>
            <a:prstDash val="solid"/>
          </a:ln>
          <a:effectLst>
            <a:outerShdw sx="100000" sy="100000" kx="0" ky="0" algn="bl" rotWithShape="0" blurRad="114300" dist="38100" dir="8100000">
              <a:srgbClr val="0A1F3C">
                <a:alpha val="18000"/>
              </a:srgbClr>
            </a:outerShdw>
          </a:effectLst>
        </p:spPr>
        <p:txBody>
          <a:bodyPr/>
          <a:p/>
        </p:txBody>
      </p:sp>
      <p:sp>
        <p:nvSpPr>
          <p:cNvPr id="9" name="Shape 7"/>
          <p:cNvSpPr/>
          <p:nvPr/>
        </p:nvSpPr>
        <p:spPr>
          <a:xfrm>
            <a:off x="3566160" y="1554480"/>
            <a:ext cx="502920" cy="502920"/>
          </a:xfrm>
          <a:prstGeom prst="ellipse">
            <a:avLst/>
          </a:prstGeom>
          <a:solidFill>
            <a:srgbClr val="003087"/>
          </a:solidFill>
          <a:ln/>
        </p:spPr>
        <p:txBody>
          <a:bodyPr/>
          <a:p/>
        </p:txBody>
      </p:sp>
      <p:sp>
        <p:nvSpPr>
          <p:cNvPr id="10" name="Text 8"/>
          <p:cNvSpPr/>
          <p:nvPr/>
        </p:nvSpPr>
        <p:spPr>
          <a:xfrm>
            <a:off x="3566160" y="15544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2</a:t>
            </a:r>
            <a:endParaRPr lang="en-US" sz="1800" dirty="0"/>
          </a:p>
        </p:txBody>
      </p:sp>
      <p:sp>
        <p:nvSpPr>
          <p:cNvPr id="11" name="Text 9"/>
          <p:cNvSpPr/>
          <p:nvPr/>
        </p:nvSpPr>
        <p:spPr>
          <a:xfrm>
            <a:off x="3566160" y="2194560"/>
            <a:ext cx="2194560" cy="548640"/>
          </a:xfrm>
          <a:prstGeom prst="rect">
            <a:avLst/>
          </a:prstGeom>
          <a:noFill/>
          <a:ln/>
        </p:spPr>
        <p:txBody>
          <a:bodyPr wrap="square" lIns="0" tIns="0" rIns="0" bIns="0" rtlCol="0" anchor="ctr"/>
          <a:lstStyle/>
          <a:p>
            <a:pPr indent="0" marL="0">
              <a:buNone/>
            </a:pPr>
            <a:r>
              <a:rPr lang="en-US" sz="1400" b="1" dirty="0">
                <a:solidFill>
                  <a:srgbClr val="003087"/>
                </a:solidFill>
                <a:latin typeface="Trebuchet MS" pitchFamily="34" charset="0"/>
                <a:ea typeface="Trebuchet MS" pitchFamily="34" charset="-122"/>
                <a:cs typeface="Trebuchet MS" pitchFamily="34" charset="-120"/>
              </a:rPr>
              <a:t>The assurance pack</a:t>
            </a:r>
            <a:endParaRPr lang="en-US" sz="1400" dirty="0"/>
          </a:p>
        </p:txBody>
      </p:sp>
      <p:sp>
        <p:nvSpPr>
          <p:cNvPr id="12" name="Text 10"/>
          <p:cNvSpPr/>
          <p:nvPr/>
        </p:nvSpPr>
        <p:spPr>
          <a:xfrm>
            <a:off x="3566160" y="2743200"/>
            <a:ext cx="2194560" cy="868680"/>
          </a:xfrm>
          <a:prstGeom prst="rect">
            <a:avLst/>
          </a:prstGeom>
          <a:noFill/>
          <a:ln/>
        </p:spPr>
        <p:txBody>
          <a:bodyPr wrap="square" lIns="0" tIns="0" rIns="0" bIns="0" rtlCol="0" anchor="ctr"/>
          <a:lstStyle/>
          <a:p>
            <a:pPr indent="0" marL="0">
              <a:buNone/>
            </a:pPr>
            <a:r>
              <a:rPr lang="en-US" sz="1050" dirty="0">
                <a:solidFill>
                  <a:srgbClr val="4C6272"/>
                </a:solidFill>
                <a:latin typeface="Calibri" pitchFamily="34" charset="0"/>
                <a:ea typeface="Calibri" pitchFamily="34" charset="-122"/>
                <a:cs typeface="Calibri" pitchFamily="34" charset="-120"/>
              </a:rPr>
              <a:t>Clinical safety case, IG framework and call-off shape, reviewed once with your legal and IG teams.</a:t>
            </a:r>
            <a:endParaRPr lang="en-US" sz="1050" dirty="0"/>
          </a:p>
        </p:txBody>
      </p:sp>
      <p:sp>
        <p:nvSpPr>
          <p:cNvPr id="13" name="Shape 11"/>
          <p:cNvSpPr/>
          <p:nvPr/>
        </p:nvSpPr>
        <p:spPr>
          <a:xfrm>
            <a:off x="6172200" y="1325880"/>
            <a:ext cx="2606040" cy="2377440"/>
          </a:xfrm>
          <a:prstGeom prst="rect">
            <a:avLst/>
          </a:prstGeom>
          <a:solidFill>
            <a:srgbClr val="FFFFFF"/>
          </a:solidFill>
          <a:ln w="9525">
            <a:solidFill>
              <a:srgbClr val="E3E9F0"/>
            </a:solidFill>
            <a:prstDash val="solid"/>
          </a:ln>
          <a:effectLst>
            <a:outerShdw sx="100000" sy="100000" kx="0" ky="0" algn="bl" rotWithShape="0" blurRad="114300" dist="38100" dir="8100000">
              <a:srgbClr val="0A1F3C">
                <a:alpha val="18000"/>
              </a:srgbClr>
            </a:outerShdw>
          </a:effectLst>
        </p:spPr>
        <p:txBody>
          <a:bodyPr/>
          <a:p/>
        </p:txBody>
      </p:sp>
      <p:sp>
        <p:nvSpPr>
          <p:cNvPr id="14" name="Shape 12"/>
          <p:cNvSpPr/>
          <p:nvPr/>
        </p:nvSpPr>
        <p:spPr>
          <a:xfrm>
            <a:off x="6400800" y="1554480"/>
            <a:ext cx="502920" cy="502920"/>
          </a:xfrm>
          <a:prstGeom prst="ellipse">
            <a:avLst/>
          </a:prstGeom>
          <a:solidFill>
            <a:srgbClr val="003087"/>
          </a:solidFill>
          <a:ln/>
        </p:spPr>
        <p:txBody>
          <a:bodyPr/>
          <a:p/>
        </p:txBody>
      </p:sp>
      <p:sp>
        <p:nvSpPr>
          <p:cNvPr id="15" name="Text 13"/>
          <p:cNvSpPr/>
          <p:nvPr/>
        </p:nvSpPr>
        <p:spPr>
          <a:xfrm>
            <a:off x="6400800" y="15544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3</a:t>
            </a:r>
            <a:endParaRPr lang="en-US" sz="1800" dirty="0"/>
          </a:p>
        </p:txBody>
      </p:sp>
      <p:sp>
        <p:nvSpPr>
          <p:cNvPr id="16" name="Text 14"/>
          <p:cNvSpPr/>
          <p:nvPr/>
        </p:nvSpPr>
        <p:spPr>
          <a:xfrm>
            <a:off x="6400800" y="2194560"/>
            <a:ext cx="2194560" cy="548640"/>
          </a:xfrm>
          <a:prstGeom prst="rect">
            <a:avLst/>
          </a:prstGeom>
          <a:noFill/>
          <a:ln/>
        </p:spPr>
        <p:txBody>
          <a:bodyPr wrap="square" lIns="0" tIns="0" rIns="0" bIns="0" rtlCol="0" anchor="ctr"/>
          <a:lstStyle/>
          <a:p>
            <a:pPr indent="0" marL="0">
              <a:buNone/>
            </a:pPr>
            <a:r>
              <a:rPr lang="en-US" sz="1400" b="1" dirty="0">
                <a:solidFill>
                  <a:srgbClr val="003087"/>
                </a:solidFill>
                <a:latin typeface="Trebuchet MS" pitchFamily="34" charset="0"/>
                <a:ea typeface="Trebuchet MS" pitchFamily="34" charset="-122"/>
                <a:cs typeface="Trebuchet MS" pitchFamily="34" charset="-120"/>
              </a:rPr>
              <a:t>A defined cohort to start</a:t>
            </a:r>
            <a:endParaRPr lang="en-US" sz="1400" dirty="0"/>
          </a:p>
        </p:txBody>
      </p:sp>
      <p:sp>
        <p:nvSpPr>
          <p:cNvPr id="17" name="Text 15"/>
          <p:cNvSpPr/>
          <p:nvPr/>
        </p:nvSpPr>
        <p:spPr>
          <a:xfrm>
            <a:off x="6400800" y="2743200"/>
            <a:ext cx="2194560" cy="868680"/>
          </a:xfrm>
          <a:prstGeom prst="rect">
            <a:avLst/>
          </a:prstGeom>
          <a:noFill/>
          <a:ln/>
        </p:spPr>
        <p:txBody>
          <a:bodyPr wrap="square" lIns="0" tIns="0" rIns="0" bIns="0" rtlCol="0" anchor="ctr"/>
          <a:lstStyle/>
          <a:p>
            <a:pPr indent="0" marL="0">
              <a:buNone/>
            </a:pPr>
            <a:r>
              <a:rPr lang="en-US" sz="1050" dirty="0">
                <a:solidFill>
                  <a:srgbClr val="4C6272"/>
                </a:solidFill>
                <a:latin typeface="Calibri" pitchFamily="34" charset="0"/>
                <a:ea typeface="Calibri" pitchFamily="34" charset="-122"/>
                <a:cs typeface="Calibri" pitchFamily="34" charset="-120"/>
              </a:rPr>
              <a:t>Small, measured, reported, then expanded on evidence, not optimism.</a:t>
            </a:r>
            <a:endParaRPr lang="en-US" sz="1050" dirty="0"/>
          </a:p>
        </p:txBody>
      </p:sp>
      <p:sp>
        <p:nvSpPr>
          <p:cNvPr id="18" name="Text 16"/>
          <p:cNvSpPr/>
          <p:nvPr/>
        </p:nvSpPr>
        <p:spPr>
          <a:xfrm>
            <a:off x="502920" y="4069080"/>
            <a:ext cx="8229600" cy="411480"/>
          </a:xfrm>
          <a:prstGeom prst="rect">
            <a:avLst/>
          </a:prstGeom>
          <a:noFill/>
          <a:ln/>
        </p:spPr>
        <p:txBody>
          <a:bodyPr wrap="square" lIns="0" tIns="0" rIns="0" bIns="0" rtlCol="0" anchor="ctr"/>
          <a:lstStyle/>
          <a:p>
            <a:pPr indent="0" marL="0">
              <a:buNone/>
            </a:pPr>
            <a:r>
              <a:rPr lang="en-US" sz="1300" i="1" dirty="0">
                <a:solidFill>
                  <a:srgbClr val="006747"/>
                </a:solidFill>
                <a:latin typeface="Calibri" pitchFamily="34" charset="0"/>
                <a:ea typeface="Calibri" pitchFamily="34" charset="-122"/>
                <a:cs typeface="Calibri" pitchFamily="34" charset="-120"/>
              </a:rPr>
              <a:t>The Beta areas took step one. Their residents are testing at home today.</a:t>
            </a:r>
            <a:endParaRPr lang="en-US" sz="1300" dirty="0"/>
          </a:p>
        </p:txBody>
      </p:sp>
      <p:sp>
        <p:nvSpPr>
          <p:cNvPr id="19" name="Text 17"/>
          <p:cNvSpPr/>
          <p:nvPr/>
        </p:nvSpPr>
        <p:spPr>
          <a:xfrm>
            <a:off x="457200" y="4864608"/>
            <a:ext cx="8229600" cy="228600"/>
          </a:xfrm>
          <a:prstGeom prst="rect">
            <a:avLst/>
          </a:prstGeom>
          <a:noFill/>
          <a:ln/>
        </p:spPr>
        <p:txBody>
          <a:bodyPr wrap="square" lIns="0" tIns="0" rIns="0" bIns="0" rtlCol="0" anchor="ctr"/>
          <a:lstStyle/>
          <a:p>
            <a:pPr indent="0" marL="0">
              <a:buNone/>
            </a:pPr>
            <a:r>
              <a:rPr lang="en-US" sz="800" dirty="0">
                <a:solidFill>
                  <a:srgbClr val="7E8B97"/>
                </a:solidFill>
                <a:latin typeface="Calibri" pitchFamily="34" charset="0"/>
                <a:ea typeface="Calibri" pitchFamily="34" charset="-122"/>
                <a:cs typeface="Calibri" pitchFamily="34" charset="-120"/>
              </a:rPr>
              <a:t>Hearts and Minds · audience deck No.1 · Commissioner edition · proof-of-concept draft ⚑ · updated September 2026</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3087"/>
        </a:solidFill>
      </p:bgPr>
    </p:bg>
    <p:spTree>
      <p:nvGrpSpPr>
        <p:cNvPr id="1" name=""/>
        <p:cNvGrpSpPr/>
        <p:nvPr/>
      </p:nvGrpSpPr>
      <p:grpSpPr>
        <a:xfrm>
          <a:off x="0" y="0"/>
          <a:ext cx="0" cy="0"/>
          <a:chOff x="0" y="0"/>
          <a:chExt cx="0" cy="0"/>
        </a:xfrm>
      </p:grpSpPr>
      <p:pic>
        <p:nvPicPr>
          <p:cNvPr id="2" name="Image 0" descr="/sessions/ecstatic-hopeful-clarke/mnt/NHS/dtx-ecosystem/assets/personas/sarah.png">    </p:cNvPr>
          <p:cNvPicPr>
            <a:picLocks noChangeAspect="1"/>
          </p:cNvPicPr>
          <p:nvPr/>
        </p:nvPicPr>
        <p:blipFill>
          <a:blip r:embed="rId1"/>
          <a:stretch>
            <a:fillRect/>
          </a:stretch>
        </p:blipFill>
        <p:spPr>
          <a:xfrm>
            <a:off x="1600200" y="914400"/>
            <a:ext cx="1371600" cy="1371600"/>
          </a:xfrm>
          <a:prstGeom prst="ellipse">
            <a:avLst/>
          </a:prstGeom>
        </p:spPr>
      </p:pic>
      <p:sp>
        <p:nvSpPr>
          <p:cNvPr id="3" name="Text 0"/>
          <p:cNvSpPr/>
          <p:nvPr/>
        </p:nvSpPr>
        <p:spPr>
          <a:xfrm>
            <a:off x="1188720" y="2377440"/>
            <a:ext cx="21945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Sarah</a:t>
            </a:r>
            <a:endParaRPr lang="en-US" sz="1700" dirty="0"/>
          </a:p>
        </p:txBody>
      </p:sp>
      <p:sp>
        <p:nvSpPr>
          <p:cNvPr id="4" name="Text 1"/>
          <p:cNvSpPr/>
          <p:nvPr/>
        </p:nvSpPr>
        <p:spPr>
          <a:xfrm>
            <a:off x="1188720" y="2743200"/>
            <a:ext cx="2194560" cy="365760"/>
          </a:xfrm>
          <a:prstGeom prst="rect">
            <a:avLst/>
          </a:prstGeom>
          <a:noFill/>
          <a:ln/>
        </p:spPr>
        <p:txBody>
          <a:bodyPr wrap="square" lIns="0" tIns="0" rIns="0" bIns="0" rtlCol="0" anchor="ctr"/>
          <a:lstStyle/>
          <a:p>
            <a:pPr algn="ctr" indent="0" marL="0">
              <a:buNone/>
            </a:pPr>
            <a:r>
              <a:rPr lang="en-US" sz="1050" dirty="0">
                <a:solidFill>
                  <a:srgbClr val="9FB6D9"/>
                </a:solidFill>
                <a:latin typeface="Calibri" pitchFamily="34" charset="0"/>
                <a:ea typeface="Calibri" pitchFamily="34" charset="-122"/>
                <a:cs typeface="Calibri" pitchFamily="34" charset="-120"/>
              </a:rPr>
              <a:t>the buyer it saves time for</a:t>
            </a:r>
            <a:endParaRPr lang="en-US" sz="1050" dirty="0"/>
          </a:p>
        </p:txBody>
      </p:sp>
      <p:pic>
        <p:nvPicPr>
          <p:cNvPr id="5" name="Image 1" descr="/sessions/ecstatic-hopeful-clarke/mnt/NHS/dtx-ecosystem/assets/personas/sean.png">    </p:cNvPr>
          <p:cNvPicPr>
            <a:picLocks noChangeAspect="1"/>
          </p:cNvPicPr>
          <p:nvPr/>
        </p:nvPicPr>
        <p:blipFill>
          <a:blip r:embed="rId2"/>
          <a:stretch>
            <a:fillRect/>
          </a:stretch>
        </p:blipFill>
        <p:spPr>
          <a:xfrm>
            <a:off x="3977640" y="914400"/>
            <a:ext cx="1371600" cy="1371600"/>
          </a:xfrm>
          <a:prstGeom prst="ellipse">
            <a:avLst/>
          </a:prstGeom>
        </p:spPr>
      </p:pic>
      <p:sp>
        <p:nvSpPr>
          <p:cNvPr id="6" name="Text 2"/>
          <p:cNvSpPr/>
          <p:nvPr/>
        </p:nvSpPr>
        <p:spPr>
          <a:xfrm>
            <a:off x="3566160" y="2377440"/>
            <a:ext cx="21945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Sean</a:t>
            </a:r>
            <a:endParaRPr lang="en-US" sz="1700" dirty="0"/>
          </a:p>
        </p:txBody>
      </p:sp>
      <p:sp>
        <p:nvSpPr>
          <p:cNvPr id="7" name="Text 3"/>
          <p:cNvSpPr/>
          <p:nvPr/>
        </p:nvSpPr>
        <p:spPr>
          <a:xfrm>
            <a:off x="3566160" y="2743200"/>
            <a:ext cx="2194560" cy="365760"/>
          </a:xfrm>
          <a:prstGeom prst="rect">
            <a:avLst/>
          </a:prstGeom>
          <a:noFill/>
          <a:ln/>
        </p:spPr>
        <p:txBody>
          <a:bodyPr wrap="square" lIns="0" tIns="0" rIns="0" bIns="0" rtlCol="0" anchor="ctr"/>
          <a:lstStyle/>
          <a:p>
            <a:pPr algn="ctr" indent="0" marL="0">
              <a:buNone/>
            </a:pPr>
            <a:r>
              <a:rPr lang="en-US" sz="1050" dirty="0">
                <a:solidFill>
                  <a:srgbClr val="9FB6D9"/>
                </a:solidFill>
                <a:latin typeface="Calibri" pitchFamily="34" charset="0"/>
                <a:ea typeface="Calibri" pitchFamily="34" charset="-122"/>
                <a:cs typeface="Calibri" pitchFamily="34" charset="-120"/>
              </a:rPr>
              <a:t>the patient it finally reaches</a:t>
            </a:r>
            <a:endParaRPr lang="en-US" sz="1050" dirty="0"/>
          </a:p>
        </p:txBody>
      </p:sp>
      <p:pic>
        <p:nvPicPr>
          <p:cNvPr id="8" name="Image 2" descr="/sessions/ecstatic-hopeful-clarke/mnt/NHS/dtx-ecosystem/operating-model/img/errol-portrait.png">    </p:cNvPr>
          <p:cNvPicPr>
            <a:picLocks noChangeAspect="1"/>
          </p:cNvPicPr>
          <p:nvPr/>
        </p:nvPicPr>
        <p:blipFill>
          <a:blip r:embed="rId3"/>
          <a:stretch>
            <a:fillRect/>
          </a:stretch>
        </p:blipFill>
        <p:spPr>
          <a:xfrm>
            <a:off x="6355080" y="914400"/>
            <a:ext cx="1371600" cy="1371600"/>
          </a:xfrm>
          <a:prstGeom prst="ellipse">
            <a:avLst/>
          </a:prstGeom>
        </p:spPr>
      </p:pic>
      <p:sp>
        <p:nvSpPr>
          <p:cNvPr id="9" name="Text 4"/>
          <p:cNvSpPr/>
          <p:nvPr/>
        </p:nvSpPr>
        <p:spPr>
          <a:xfrm>
            <a:off x="5943600" y="2377440"/>
            <a:ext cx="21945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Errol</a:t>
            </a:r>
            <a:endParaRPr lang="en-US" sz="1700" dirty="0"/>
          </a:p>
        </p:txBody>
      </p:sp>
      <p:sp>
        <p:nvSpPr>
          <p:cNvPr id="10" name="Text 5"/>
          <p:cNvSpPr/>
          <p:nvPr/>
        </p:nvSpPr>
        <p:spPr>
          <a:xfrm>
            <a:off x="5943600" y="2743200"/>
            <a:ext cx="2194560" cy="365760"/>
          </a:xfrm>
          <a:prstGeom prst="rect">
            <a:avLst/>
          </a:prstGeom>
          <a:noFill/>
          <a:ln/>
        </p:spPr>
        <p:txBody>
          <a:bodyPr wrap="square" lIns="0" tIns="0" rIns="0" bIns="0" rtlCol="0" anchor="ctr"/>
          <a:lstStyle/>
          <a:p>
            <a:pPr algn="ctr" indent="0" marL="0">
              <a:buNone/>
            </a:pPr>
            <a:r>
              <a:rPr lang="en-US" sz="1050" dirty="0">
                <a:solidFill>
                  <a:srgbClr val="9FB6D9"/>
                </a:solidFill>
                <a:latin typeface="Calibri" pitchFamily="34" charset="0"/>
                <a:ea typeface="Calibri" pitchFamily="34" charset="-122"/>
                <a:cs typeface="Calibri" pitchFamily="34" charset="-120"/>
              </a:rPr>
              <a:t>the future it makes ordinary</a:t>
            </a:r>
            <a:endParaRPr lang="en-US" sz="1050" dirty="0"/>
          </a:p>
        </p:txBody>
      </p:sp>
      <p:sp>
        <p:nvSpPr>
          <p:cNvPr id="11" name="Text 6"/>
          <p:cNvSpPr/>
          <p:nvPr/>
        </p:nvSpPr>
        <p:spPr>
          <a:xfrm>
            <a:off x="457200" y="3611880"/>
            <a:ext cx="8229600" cy="502920"/>
          </a:xfrm>
          <a:prstGeom prst="rect">
            <a:avLst/>
          </a:prstGeom>
          <a:noFill/>
          <a:ln/>
        </p:spPr>
        <p:txBody>
          <a:bodyPr wrap="square" lIns="0" tIns="0" rIns="0" bIns="0" rtlCol="0" anchor="ctr"/>
          <a:lstStyle/>
          <a:p>
            <a:pPr algn="ctr" indent="0" marL="0">
              <a:buNone/>
            </a:pPr>
            <a:r>
              <a:rPr lang="en-US" sz="2100" b="1" dirty="0">
                <a:solidFill>
                  <a:srgbClr val="FFB91D"/>
                </a:solidFill>
                <a:latin typeface="Trebuchet MS" pitchFamily="34" charset="0"/>
                <a:ea typeface="Trebuchet MS" pitchFamily="34" charset="-122"/>
                <a:cs typeface="Trebuchet MS" pitchFamily="34" charset="-120"/>
              </a:rPr>
              <a:t>Built around people. Bought without pain. Live today.</a:t>
            </a:r>
            <a:endParaRPr lang="en-US" sz="2100" dirty="0"/>
          </a:p>
        </p:txBody>
      </p:sp>
      <p:sp>
        <p:nvSpPr>
          <p:cNvPr id="12" name="Text 7"/>
          <p:cNvSpPr/>
          <p:nvPr/>
        </p:nvSpPr>
        <p:spPr>
          <a:xfrm>
            <a:off x="457200" y="4434840"/>
            <a:ext cx="8229600" cy="320040"/>
          </a:xfrm>
          <a:prstGeom prst="rect">
            <a:avLst/>
          </a:prstGeom>
          <a:noFill/>
          <a:ln/>
        </p:spPr>
        <p:txBody>
          <a:bodyPr wrap="square" lIns="0" tIns="0" rIns="0" bIns="0" rtlCol="0" anchor="ctr"/>
          <a:lstStyle/>
          <a:p>
            <a:pPr algn="ctr" indent="0" marL="0">
              <a:buNone/>
            </a:pPr>
            <a:r>
              <a:rPr lang="en-US" sz="1000" dirty="0">
                <a:solidFill>
                  <a:srgbClr val="9FB6D9"/>
                </a:solidFill>
                <a:latin typeface="Calibri" pitchFamily="34" charset="0"/>
                <a:ea typeface="Calibri" pitchFamily="34" charset="-122"/>
                <a:cs typeface="Calibri" pitchFamily="34" charset="-120"/>
              </a:rPr>
              <a:t>Hearts and Minds · audience deck No.1 · Commissioner edition · proof of concept ⚑</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Hearts and Minds - Commissioner deck No.1 (Sarah) - HomeTest</dc:title>
  <dc:subject>PptxGenJS Presentation</dc:subject>
  <dc:creator>HomeTest Commercial</dc:creator>
  <cp:lastModifiedBy>HomeTest Commercial</cp:lastModifiedBy>
  <cp:revision>1</cp:revision>
  <dcterms:created xsi:type="dcterms:W3CDTF">2026-06-12T17:41:59Z</dcterms:created>
  <dcterms:modified xsi:type="dcterms:W3CDTF">2026-06-12T17:41:59Z</dcterms:modified>
</cp:coreProperties>
</file>