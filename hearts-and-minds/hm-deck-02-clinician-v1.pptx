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on the promise, not the product. Read the standfirst aloud: it is the proof that this is a live service rather than a strategy document. September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naming the room. Clinicians expect to be sold a product; instead show them we started from their workload. Adam and Hannah are composites built from the discovery work, not real individuals, and it is fine to say so. The point of the slide is that the design started with the clinical problem, not the technology.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labour the numbers. The line that lands in a clinical room is the last one: non-attendance is a design problem, not a compliance problem. If someone challenges the 54%, it is GIRFT and it is their own figure.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quick. The only line that matters clinically is step 5: the result comes back into the record on time. If they ask about failed samples, that is the next slide but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the room came for. Say the kicker slowly. Most clinical resistance is a fear of accountability drifting to a supplier or an app; the honest answer is that it does not, and the design deliberately keeps it with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 cards are the answer to "who checked this". The last one is the one clinicians remember: the clinical bar is set by clinicians and a category does not open just because a single supplier is keen.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Clinicians test a service by asking what happens when it breaks. Answer plainly. The fourth card is also the commercial answer: multi-supplier accreditation is what makes an exit possible without a re-procurement.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it as a working week, not a case study. If there is a urologist in the room, ask what proportion of their surveillance clinic is a normal result being read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overclaim. Clinicians spot a business case dressed as a clinical claim instantly. The kicker buys credibility for everything else in the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ask is deliberately small and deliberately clinical. Nobody in this room is being asked to buy anything, and saying so releases the 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faces and stop talking. If there is one line to leave in the room, it is the one under the portraits.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image" Target="../media/image-2-2.png"/><Relationship Id="rId3" Type="http://schemas.openxmlformats.org/officeDocument/2006/relationships/image" Target="../media/image-2-3.jpg"/><Relationship Id="rId4" Type="http://schemas.openxmlformats.org/officeDocument/2006/relationships/image" Target="../media/image-2-4.jp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png"/><Relationship Id="rId3" Type="http://schemas.openxmlformats.org/officeDocument/2006/relationships/image" Target="../media/image-8-3.jp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png"/><Relationship Id="rId3" Type="http://schemas.openxmlformats.org/officeDocument/2006/relationships/image" Target="../media/image-10-1.jp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image" Target="../media/image-11-2.png"/><Relationship Id="rId3" Type="http://schemas.openxmlformats.org/officeDocument/2006/relationships/image" Target="../media/image-11-3.jpg"/><Relationship Id="rId4" Type="http://schemas.openxmlformats.org/officeDocument/2006/relationships/image" Target="../media/image-11-4.jp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sessions/quirky-zen-galileo/mnt/NHS/07 Sites &amp; Repos/dtx-ecosystem/hearts-and-minds/_generators/assets/bg-hero.jp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10782523" y="457200"/>
            <a:ext cx="860532" cy="658368"/>
          </a:xfrm>
          <a:prstGeom prst="roundRect">
            <a:avLst>
              <a:gd name="adj" fmla="val 11111"/>
            </a:avLst>
          </a:prstGeom>
          <a:solidFill>
            <a:srgbClr val="FFFFFF"/>
          </a:solidFill>
          <a:ln w="12700">
            <a:solidFill>
              <a:srgbClr val="FFFFFF"/>
            </a:solidFill>
            <a:prstDash val="solid"/>
          </a:ln>
        </p:spPr>
      </p:sp>
      <p:pic>
        <p:nvPicPr>
          <p:cNvPr id="4" name="Image 1" descr="/sessions/quirky-zen-galileo/mnt/NHS/07 Sites &amp; Repos/dtx-ecosystem/hearts-and-minds/_generators/assets/nhs-logo.png">    </p:cNvPr>
          <p:cNvPicPr>
            <a:picLocks noChangeAspect="1"/>
          </p:cNvPicPr>
          <p:nvPr/>
        </p:nvPicPr>
        <p:blipFill>
          <a:blip r:embed="rId2"/>
          <a:stretch>
            <a:fillRect/>
          </a:stretch>
        </p:blipFill>
        <p:spPr>
          <a:xfrm>
            <a:off x="10919683" y="557784"/>
            <a:ext cx="586212" cy="457200"/>
          </a:xfrm>
          <a:prstGeom prst="rect">
            <a:avLst/>
          </a:prstGeom>
        </p:spPr>
      </p:pic>
      <p:sp>
        <p:nvSpPr>
          <p:cNvPr id="5" name="Text 1"/>
          <p:cNvSpPr/>
          <p:nvPr/>
        </p:nvSpPr>
        <p:spPr>
          <a:xfrm>
            <a:off x="685800" y="566928"/>
            <a:ext cx="8595360" cy="274320"/>
          </a:xfrm>
          <a:prstGeom prst="rect">
            <a:avLst/>
          </a:prstGeom>
          <a:noFill/>
          <a:ln/>
        </p:spPr>
        <p:txBody>
          <a:bodyPr wrap="square" lIns="0" tIns="0" rIns="0" bIns="0" rtlCol="0" anchor="ctr"/>
          <a:lstStyle/>
          <a:p>
            <a:pPr indent="0" marL="0">
              <a:buNone/>
            </a:pPr>
            <a:r>
              <a:rPr lang="en-US" sz="1000" b="1" spc="280" kern="0" dirty="0">
                <a:solidFill>
                  <a:srgbClr val="FFD66B"/>
                </a:solidFill>
                <a:latin typeface="Segoe UI" pitchFamily="34" charset="0"/>
                <a:ea typeface="Segoe UI" pitchFamily="34" charset="-122"/>
                <a:cs typeface="Segoe UI" pitchFamily="34" charset="-120"/>
              </a:rPr>
              <a:t>HEARTS AND MINDS  ·  CLINICIAN EDITION  ·  NO.2</a:t>
            </a:r>
            <a:endParaRPr lang="en-US" sz="1000" dirty="0"/>
          </a:p>
        </p:txBody>
      </p:sp>
      <p:sp>
        <p:nvSpPr>
          <p:cNvPr id="6" name="Shape 2"/>
          <p:cNvSpPr/>
          <p:nvPr/>
        </p:nvSpPr>
        <p:spPr>
          <a:xfrm>
            <a:off x="685800" y="969264"/>
            <a:ext cx="822960" cy="50292"/>
          </a:xfrm>
          <a:prstGeom prst="rect">
            <a:avLst/>
          </a:prstGeom>
          <a:solidFill>
            <a:srgbClr val="FFD66B"/>
          </a:solidFill>
          <a:ln w="12700">
            <a:solidFill>
              <a:srgbClr val="FFD66B"/>
            </a:solidFill>
            <a:prstDash val="solid"/>
          </a:ln>
        </p:spPr>
      </p:sp>
      <p:sp>
        <p:nvSpPr>
          <p:cNvPr id="7" name="Text 3"/>
          <p:cNvSpPr/>
          <p:nvPr/>
        </p:nvSpPr>
        <p:spPr>
          <a:xfrm>
            <a:off x="685800" y="1207008"/>
            <a:ext cx="10424160" cy="1540256"/>
          </a:xfrm>
          <a:prstGeom prst="rect">
            <a:avLst/>
          </a:prstGeom>
          <a:noFill/>
          <a:ln/>
        </p:spPr>
        <p:txBody>
          <a:bodyPr wrap="square" lIns="0" tIns="0" rIns="0" bIns="0" rtlCol="0" anchor="t">
            <a:normAutofit/>
          </a:bodyPr>
          <a:lstStyle/>
          <a:p>
            <a:pPr indent="0" marL="0">
              <a:buNone/>
            </a:pPr>
            <a:r>
              <a:rPr lang="en-US" sz="4600" b="1" spc="-120" kern="0" dirty="0">
                <a:solidFill>
                  <a:srgbClr val="FFFFFF"/>
                </a:solidFill>
                <a:latin typeface="Segoe UI" pitchFamily="34" charset="0"/>
                <a:ea typeface="Segoe UI" pitchFamily="34" charset="-122"/>
                <a:cs typeface="Segoe UI" pitchFamily="34" charset="-120"/>
              </a:rPr>
              <a:t>The test moves. The medicine does not.</a:t>
            </a:r>
            <a:endParaRPr lang="en-US" sz="4600" dirty="0"/>
          </a:p>
        </p:txBody>
      </p:sp>
      <p:sp>
        <p:nvSpPr>
          <p:cNvPr id="8" name="Text 4"/>
          <p:cNvSpPr/>
          <p:nvPr/>
        </p:nvSpPr>
        <p:spPr>
          <a:xfrm>
            <a:off x="685800" y="3058160"/>
            <a:ext cx="8595360" cy="532384"/>
          </a:xfrm>
          <a:prstGeom prst="rect">
            <a:avLst/>
          </a:prstGeom>
          <a:noFill/>
          <a:ln/>
        </p:spPr>
        <p:txBody>
          <a:bodyPr wrap="square" lIns="0" tIns="0" rIns="0" bIns="0" rtlCol="0" anchor="t">
            <a:normAutofit/>
          </a:bodyPr>
          <a:lstStyle/>
          <a:p>
            <a:pPr indent="0" marL="0">
              <a:buNone/>
            </a:pPr>
            <a:r>
              <a:rPr lang="en-US" sz="1400" dirty="0">
                <a:solidFill>
                  <a:srgbClr val="DCE7F0"/>
                </a:solidFill>
                <a:latin typeface="Segoe UI" pitchFamily="34" charset="0"/>
                <a:ea typeface="Segoe UI" pitchFamily="34" charset="-122"/>
                <a:cs typeface="Segoe UI" pitchFamily="34" charset="-120"/>
              </a:rPr>
              <a:t>HomeTest takes routine and surveillance bloods out of the building and leaves every clinical decision exactly where it is: with you.</a:t>
            </a:r>
            <a:endParaRPr lang="en-US" sz="1400" dirty="0"/>
          </a:p>
        </p:txBody>
      </p:sp>
      <p:sp>
        <p:nvSpPr>
          <p:cNvPr id="9" name="Shape 5"/>
          <p:cNvSpPr/>
          <p:nvPr/>
        </p:nvSpPr>
        <p:spPr>
          <a:xfrm>
            <a:off x="685800" y="3974592"/>
            <a:ext cx="10424160" cy="673100"/>
          </a:xfrm>
          <a:prstGeom prst="roundRect">
            <a:avLst>
              <a:gd name="adj" fmla="val 13585"/>
            </a:avLst>
          </a:prstGeom>
          <a:solidFill>
            <a:srgbClr val="0A3D8F"/>
          </a:solidFill>
          <a:ln w="9525">
            <a:solidFill>
              <a:srgbClr val="2C5FA8"/>
            </a:solidFill>
            <a:prstDash val="solid"/>
          </a:ln>
        </p:spPr>
      </p:sp>
      <p:sp>
        <p:nvSpPr>
          <p:cNvPr id="10" name="Shape 6"/>
          <p:cNvSpPr/>
          <p:nvPr/>
        </p:nvSpPr>
        <p:spPr>
          <a:xfrm>
            <a:off x="685800" y="3974592"/>
            <a:ext cx="10424160" cy="64008"/>
          </a:xfrm>
          <a:prstGeom prst="rect">
            <a:avLst/>
          </a:prstGeom>
          <a:solidFill>
            <a:srgbClr val="FFD66B"/>
          </a:solidFill>
          <a:ln w="12700">
            <a:solidFill>
              <a:srgbClr val="FFD66B"/>
            </a:solidFill>
            <a:prstDash val="solid"/>
          </a:ln>
        </p:spPr>
      </p:sp>
      <p:sp>
        <p:nvSpPr>
          <p:cNvPr id="11" name="Text 7"/>
          <p:cNvSpPr/>
          <p:nvPr/>
        </p:nvSpPr>
        <p:spPr>
          <a:xfrm>
            <a:off x="914400" y="4102608"/>
            <a:ext cx="9966960" cy="453644"/>
          </a:xfrm>
          <a:prstGeom prst="rect">
            <a:avLst/>
          </a:prstGeom>
          <a:noFill/>
          <a:ln/>
        </p:spPr>
        <p:txBody>
          <a:bodyPr wrap="square" lIns="0" tIns="0" rIns="0" bIns="0" rtlCol="0" anchor="ctr">
            <a:normAutofit/>
          </a:bodyPr>
          <a:lstStyle/>
          <a:p>
            <a:pPr indent="0" marL="0">
              <a:buNone/>
            </a:pPr>
            <a:r>
              <a:rPr lang="en-US" sz="1150" dirty="0">
                <a:solidFill>
                  <a:srgbClr val="DCE7F0"/>
                </a:solidFill>
                <a:latin typeface="Segoe UI" pitchFamily="34" charset="0"/>
                <a:ea typeface="Segoe UI" pitchFamily="34" charset="-122"/>
                <a:cs typeface="Segoe UI" pitchFamily="34" charset="-120"/>
              </a:rPr>
              <a:t>Live today: patient-initiated HIV testing through the NHS App, in Private Beta with two local authority areas. Coming through: clinician-initiated PSA active surveillance, the board-selected acute use case.</a:t>
            </a:r>
            <a:endParaRPr lang="en-US" sz="1150" dirty="0"/>
          </a:p>
        </p:txBody>
      </p:sp>
      <p:sp>
        <p:nvSpPr>
          <p:cNvPr id="12" name="Text 8"/>
          <p:cNvSpPr/>
          <p:nvPr/>
        </p:nvSpPr>
        <p:spPr>
          <a:xfrm>
            <a:off x="457200" y="6455664"/>
            <a:ext cx="4206240" cy="274320"/>
          </a:xfrm>
          <a:prstGeom prst="rect">
            <a:avLst/>
          </a:prstGeom>
          <a:noFill/>
          <a:ln/>
        </p:spPr>
        <p:txBody>
          <a:bodyPr wrap="square" lIns="0" tIns="0" rIns="0" bIns="0" rtlCol="0" anchor="ctr"/>
          <a:lstStyle/>
          <a:p>
            <a:pPr indent="0" marL="0">
              <a:buNone/>
            </a:pPr>
            <a:r>
              <a:rPr lang="en-US" sz="850" dirty="0">
                <a:solidFill>
                  <a:srgbClr val="9FC2E8"/>
                </a:solidFill>
                <a:latin typeface="Segoe UI" pitchFamily="34" charset="0"/>
                <a:ea typeface="Segoe UI" pitchFamily="34" charset="-122"/>
                <a:cs typeface="Segoe UI" pitchFamily="34" charset="-120"/>
              </a:rPr>
              <a:t>Hearts and Minds  ·  audience deck No.2  ·  Clinician edition</a:t>
            </a:r>
            <a:endParaRPr lang="en-US" sz="850" dirty="0"/>
          </a:p>
        </p:txBody>
      </p:sp>
      <p:sp>
        <p:nvSpPr>
          <p:cNvPr id="13" name="Text 9"/>
          <p:cNvSpPr/>
          <p:nvPr/>
        </p:nvSpPr>
        <p:spPr>
          <a:xfrm>
            <a:off x="4754880" y="6455664"/>
            <a:ext cx="6430975" cy="274320"/>
          </a:xfrm>
          <a:prstGeom prst="rect">
            <a:avLst/>
          </a:prstGeom>
          <a:noFill/>
          <a:ln/>
        </p:spPr>
        <p:txBody>
          <a:bodyPr wrap="square" lIns="0" tIns="0" rIns="0" bIns="0" rtlCol="0" anchor="ctr"/>
          <a:lstStyle/>
          <a:p>
            <a:pPr algn="r" indent="0" marL="0">
              <a:buNone/>
            </a:pPr>
            <a:r>
              <a:rPr lang="en-US" sz="800" dirty="0">
                <a:solidFill>
                  <a:srgbClr val="9FC2E8"/>
                </a:solidFill>
                <a:latin typeface="Segoe UI" pitchFamily="34" charset="0"/>
                <a:ea typeface="Segoe UI" pitchFamily="34" charset="-122"/>
                <a:cs typeface="Segoe UI" pitchFamily="34" charset="-120"/>
              </a:rPr>
              <a:t>Commercial positions are agreed in principle and remain subject to the live procurement.</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sessions/quirky-zen-galileo/mnt/NHS/07 Sites &amp; Repos/dtx-ecosystem/hearts-and-minds/_generators/assets/bg-band.jpg">    </p:cNvPr>
          <p:cNvPicPr>
            <a:picLocks noChangeAspect="1"/>
          </p:cNvPicPr>
          <p:nvPr/>
        </p:nvPicPr>
        <p:blipFill>
          <a:blip r:embed="rId1"/>
          <a:stretch>
            <a:fillRect/>
          </a:stretch>
        </p:blipFill>
        <p:spPr>
          <a:xfrm>
            <a:off x="0" y="0"/>
            <a:ext cx="12191695" cy="932688"/>
          </a:xfrm>
          <a:prstGeom prst="rect">
            <a:avLst/>
          </a:prstGeom>
        </p:spPr>
      </p:pic>
      <p:sp>
        <p:nvSpPr>
          <p:cNvPr id="3" name="Shape 0"/>
          <p:cNvSpPr/>
          <p:nvPr/>
        </p:nvSpPr>
        <p:spPr>
          <a:xfrm>
            <a:off x="0" y="932688"/>
            <a:ext cx="12191695" cy="50292"/>
          </a:xfrm>
          <a:prstGeom prst="rect">
            <a:avLst/>
          </a:prstGeom>
          <a:solidFill>
            <a:srgbClr val="C9A0E3"/>
          </a:solidFill>
          <a:ln w="12700">
            <a:solidFill>
              <a:srgbClr val="C9A0E3"/>
            </a:solidFill>
            <a:prstDash val="solid"/>
          </a:ln>
        </p:spPr>
      </p:sp>
      <p:sp>
        <p:nvSpPr>
          <p:cNvPr id="4" name="Text 1"/>
          <p:cNvSpPr/>
          <p:nvPr/>
        </p:nvSpPr>
        <p:spPr>
          <a:xfrm>
            <a:off x="502920" y="137160"/>
            <a:ext cx="8595360" cy="256032"/>
          </a:xfrm>
          <a:prstGeom prst="rect">
            <a:avLst/>
          </a:prstGeom>
          <a:noFill/>
          <a:ln/>
        </p:spPr>
        <p:txBody>
          <a:bodyPr wrap="square" lIns="0" tIns="0" rIns="0" bIns="0" rtlCol="0" anchor="ctr"/>
          <a:lstStyle/>
          <a:p>
            <a:pPr indent="0" marL="0">
              <a:buNone/>
            </a:pPr>
            <a:r>
              <a:rPr lang="en-US" sz="950" b="1" spc="240" kern="0" dirty="0">
                <a:solidFill>
                  <a:srgbClr val="FFD66B"/>
                </a:solidFill>
                <a:latin typeface="Segoe UI" pitchFamily="34" charset="0"/>
                <a:ea typeface="Segoe UI" pitchFamily="34" charset="-122"/>
                <a:cs typeface="Segoe UI" pitchFamily="34" charset="-120"/>
              </a:rPr>
              <a:t>WE BUILD AROUND PEOPLE. TWO OF THEM ARE YOU.</a:t>
            </a:r>
            <a:endParaRPr lang="en-US" sz="950" dirty="0"/>
          </a:p>
        </p:txBody>
      </p:sp>
      <p:sp>
        <p:nvSpPr>
          <p:cNvPr id="5" name="Text 2"/>
          <p:cNvSpPr/>
          <p:nvPr/>
        </p:nvSpPr>
        <p:spPr>
          <a:xfrm>
            <a:off x="502920" y="402336"/>
            <a:ext cx="9509760" cy="457200"/>
          </a:xfrm>
          <a:prstGeom prst="rect">
            <a:avLst/>
          </a:prstGeom>
          <a:noFill/>
          <a:ln/>
        </p:spPr>
        <p:txBody>
          <a:bodyPr wrap="square" lIns="0" tIns="0" rIns="0" bIns="0" rtlCol="0" anchor="ctr">
            <a:normAutofit/>
          </a:bodyPr>
          <a:lstStyle/>
          <a:p>
            <a:pPr indent="0" marL="0">
              <a:buNone/>
            </a:pPr>
            <a:r>
              <a:rPr lang="en-US" sz="2100" b="1" dirty="0">
                <a:solidFill>
                  <a:srgbClr val="FFFFFF"/>
                </a:solidFill>
                <a:latin typeface="Segoe UI" pitchFamily="34" charset="0"/>
                <a:ea typeface="Segoe UI" pitchFamily="34" charset="-122"/>
                <a:cs typeface="Segoe UI" pitchFamily="34" charset="-120"/>
              </a:rPr>
              <a:t>Adam holds a list that grows. Hannah holds a cycle that slips.</a:t>
            </a:r>
            <a:endParaRPr lang="en-US" sz="2100" dirty="0"/>
          </a:p>
        </p:txBody>
      </p:sp>
      <p:sp>
        <p:nvSpPr>
          <p:cNvPr id="6" name="Shape 3"/>
          <p:cNvSpPr/>
          <p:nvPr/>
        </p:nvSpPr>
        <p:spPr>
          <a:xfrm>
            <a:off x="10942806" y="173736"/>
            <a:ext cx="791689" cy="605699"/>
          </a:xfrm>
          <a:prstGeom prst="roundRect">
            <a:avLst>
              <a:gd name="adj" fmla="val 12077"/>
            </a:avLst>
          </a:prstGeom>
          <a:solidFill>
            <a:srgbClr val="FFFFFF"/>
          </a:solidFill>
          <a:ln w="12700">
            <a:solidFill>
              <a:srgbClr val="FFFFFF"/>
            </a:solidFill>
            <a:prstDash val="solid"/>
          </a:ln>
        </p:spPr>
      </p:sp>
      <p:pic>
        <p:nvPicPr>
          <p:cNvPr id="7" name="Image 1" descr="/sessions/quirky-zen-galileo/mnt/NHS/07 Sites &amp; Repos/dtx-ecosystem/hearts-and-minds/_generators/assets/nhs-logo.png">    </p:cNvPr>
          <p:cNvPicPr>
            <a:picLocks noChangeAspect="1"/>
          </p:cNvPicPr>
          <p:nvPr/>
        </p:nvPicPr>
        <p:blipFill>
          <a:blip r:embed="rId2"/>
          <a:stretch>
            <a:fillRect/>
          </a:stretch>
        </p:blipFill>
        <p:spPr>
          <a:xfrm>
            <a:off x="11068993" y="266273"/>
            <a:ext cx="539315" cy="420624"/>
          </a:xfrm>
          <a:prstGeom prst="rect">
            <a:avLst/>
          </a:prstGeom>
        </p:spPr>
      </p:pic>
      <p:sp>
        <p:nvSpPr>
          <p:cNvPr id="8" name="Shape 4"/>
          <p:cNvSpPr/>
          <p:nvPr/>
        </p:nvSpPr>
        <p:spPr>
          <a:xfrm>
            <a:off x="457200" y="2244852"/>
            <a:ext cx="5501488" cy="1969008"/>
          </a:xfrm>
          <a:prstGeom prst="roundRect">
            <a:avLst>
              <a:gd name="adj" fmla="val 4644"/>
            </a:avLst>
          </a:prstGeom>
          <a:solidFill>
            <a:srgbClr val="F8FAFC"/>
          </a:solidFill>
          <a:ln w="9525">
            <a:solidFill>
              <a:srgbClr val="EBEEF1"/>
            </a:solidFill>
            <a:prstDash val="solid"/>
          </a:ln>
        </p:spPr>
      </p:sp>
      <p:sp>
        <p:nvSpPr>
          <p:cNvPr id="9" name="Shape 5"/>
          <p:cNvSpPr/>
          <p:nvPr/>
        </p:nvSpPr>
        <p:spPr>
          <a:xfrm>
            <a:off x="457200" y="2244852"/>
            <a:ext cx="5501488" cy="64008"/>
          </a:xfrm>
          <a:prstGeom prst="rect">
            <a:avLst/>
          </a:prstGeom>
          <a:solidFill>
            <a:srgbClr val="C9A0E3"/>
          </a:solidFill>
          <a:ln w="12700">
            <a:solidFill>
              <a:srgbClr val="C9A0E3"/>
            </a:solidFill>
            <a:prstDash val="solid"/>
          </a:ln>
        </p:spPr>
      </p:sp>
      <p:sp>
        <p:nvSpPr>
          <p:cNvPr id="10" name="Shape 6"/>
          <p:cNvSpPr/>
          <p:nvPr/>
        </p:nvSpPr>
        <p:spPr>
          <a:xfrm>
            <a:off x="640080" y="2500884"/>
            <a:ext cx="1106424" cy="1106424"/>
          </a:xfrm>
          <a:prstGeom prst="ellipse">
            <a:avLst/>
          </a:prstGeom>
          <a:solidFill>
            <a:srgbClr val="C9A0E3"/>
          </a:solidFill>
          <a:ln w="12700">
            <a:solidFill>
              <a:srgbClr val="C9A0E3"/>
            </a:solidFill>
            <a:prstDash val="solid"/>
          </a:ln>
        </p:spPr>
      </p:sp>
      <p:pic>
        <p:nvPicPr>
          <p:cNvPr id="11" name="Image 2" descr="/sessions/quirky-zen-galileo/mnt/NHS/07 Sites &amp; Repos/dtx-ecosystem/hearts-and-minds/_generators/assets/portraits/adam.jpg">    </p:cNvPr>
          <p:cNvPicPr>
            <a:picLocks noChangeAspect="1"/>
          </p:cNvPicPr>
          <p:nvPr/>
        </p:nvPicPr>
        <p:blipFill>
          <a:blip r:embed="rId3"/>
          <a:srcRect l="0" r="0" t="0" b="0"/>
          <a:stretch/>
        </p:blipFill>
        <p:spPr>
          <a:xfrm>
            <a:off x="713232" y="2574036"/>
            <a:ext cx="960120" cy="960120"/>
          </a:xfrm>
          <a:prstGeom prst="ellipse">
            <a:avLst/>
          </a:prstGeom>
        </p:spPr>
      </p:pic>
      <p:sp>
        <p:nvSpPr>
          <p:cNvPr id="12" name="Text 7"/>
          <p:cNvSpPr/>
          <p:nvPr/>
        </p:nvSpPr>
        <p:spPr>
          <a:xfrm>
            <a:off x="1874520" y="2537460"/>
            <a:ext cx="3855568" cy="365760"/>
          </a:xfrm>
          <a:prstGeom prst="rect">
            <a:avLst/>
          </a:prstGeom>
          <a:noFill/>
          <a:ln/>
        </p:spPr>
        <p:txBody>
          <a:bodyPr wrap="square" lIns="0" tIns="0" rIns="0" bIns="0" rtlCol="0" anchor="ctr"/>
          <a:lstStyle/>
          <a:p>
            <a:pPr indent="0" marL="0">
              <a:buNone/>
            </a:pPr>
            <a:r>
              <a:rPr lang="en-US" sz="1800" b="1" dirty="0">
                <a:solidFill>
                  <a:srgbClr val="003087"/>
                </a:solidFill>
                <a:latin typeface="Segoe UI" pitchFamily="34" charset="0"/>
                <a:ea typeface="Segoe UI" pitchFamily="34" charset="-122"/>
                <a:cs typeface="Segoe UI" pitchFamily="34" charset="-120"/>
              </a:rPr>
              <a:t>Adam</a:t>
            </a:r>
            <a:endParaRPr lang="en-US" sz="1800" dirty="0"/>
          </a:p>
        </p:txBody>
      </p:sp>
      <p:sp>
        <p:nvSpPr>
          <p:cNvPr id="13" name="Text 8"/>
          <p:cNvSpPr/>
          <p:nvPr/>
        </p:nvSpPr>
        <p:spPr>
          <a:xfrm>
            <a:off x="1874520" y="2903220"/>
            <a:ext cx="3855568" cy="457200"/>
          </a:xfrm>
          <a:prstGeom prst="rect">
            <a:avLst/>
          </a:prstGeom>
          <a:noFill/>
          <a:ln/>
        </p:spPr>
        <p:txBody>
          <a:bodyPr wrap="square" lIns="0" tIns="0" rIns="0" bIns="0" rtlCol="0" anchor="t">
            <a:normAutofit/>
          </a:bodyPr>
          <a:lstStyle/>
          <a:p>
            <a:pPr indent="0" marL="0">
              <a:buNone/>
            </a:pPr>
            <a:r>
              <a:rPr lang="en-US" sz="1000" b="1" dirty="0">
                <a:solidFill>
                  <a:srgbClr val="4C6272"/>
                </a:solidFill>
                <a:latin typeface="Segoe UI" pitchFamily="34" charset="0"/>
                <a:ea typeface="Segoe UI" pitchFamily="34" charset="-122"/>
                <a:cs typeface="Segoe UI" pitchFamily="34" charset="-120"/>
              </a:rPr>
              <a:t>Consultant urologist, PSA active surveillance</a:t>
            </a:r>
            <a:endParaRPr lang="en-US" sz="1000" dirty="0"/>
          </a:p>
        </p:txBody>
      </p:sp>
      <p:sp>
        <p:nvSpPr>
          <p:cNvPr id="14" name="Shape 9"/>
          <p:cNvSpPr/>
          <p:nvPr/>
        </p:nvSpPr>
        <p:spPr>
          <a:xfrm>
            <a:off x="713232" y="3662172"/>
            <a:ext cx="64008" cy="414528"/>
          </a:xfrm>
          <a:prstGeom prst="rect">
            <a:avLst/>
          </a:prstGeom>
          <a:solidFill>
            <a:srgbClr val="C9A0E3"/>
          </a:solidFill>
          <a:ln w="12700">
            <a:solidFill>
              <a:srgbClr val="C9A0E3"/>
            </a:solidFill>
            <a:prstDash val="solid"/>
          </a:ln>
        </p:spPr>
      </p:sp>
      <p:sp>
        <p:nvSpPr>
          <p:cNvPr id="15" name="Text 10"/>
          <p:cNvSpPr/>
          <p:nvPr/>
        </p:nvSpPr>
        <p:spPr>
          <a:xfrm>
            <a:off x="877824" y="3625596"/>
            <a:ext cx="4788256" cy="487680"/>
          </a:xfrm>
          <a:prstGeom prst="rect">
            <a:avLst/>
          </a:prstGeom>
          <a:noFill/>
          <a:ln/>
        </p:spPr>
        <p:txBody>
          <a:bodyPr wrap="square" lIns="0" tIns="0" rIns="0" bIns="0" rtlCol="0" anchor="t">
            <a:normAutofit/>
          </a:bodyPr>
          <a:lstStyle/>
          <a:p>
            <a:pPr indent="0" marL="0">
              <a:buNone/>
            </a:pPr>
            <a:r>
              <a:rPr lang="en-US" sz="1200" i="1" dirty="0">
                <a:solidFill>
                  <a:srgbClr val="212B32"/>
                </a:solidFill>
                <a:latin typeface="Segoe UI" pitchFamily="34" charset="0"/>
                <a:ea typeface="Segoe UI" pitchFamily="34" charset="-122"/>
                <a:cs typeface="Segoe UI" pitchFamily="34" charset="-120"/>
              </a:rPr>
              <a:t>“The patients I worry about are the ones who stop coming. The list grows. My clinic does not.”</a:t>
            </a:r>
            <a:endParaRPr lang="en-US" sz="1200" dirty="0"/>
          </a:p>
        </p:txBody>
      </p:sp>
      <p:sp>
        <p:nvSpPr>
          <p:cNvPr id="16" name="Shape 11"/>
          <p:cNvSpPr/>
          <p:nvPr/>
        </p:nvSpPr>
        <p:spPr>
          <a:xfrm>
            <a:off x="6233008" y="2244852"/>
            <a:ext cx="5501488" cy="1969008"/>
          </a:xfrm>
          <a:prstGeom prst="roundRect">
            <a:avLst>
              <a:gd name="adj" fmla="val 4644"/>
            </a:avLst>
          </a:prstGeom>
          <a:solidFill>
            <a:srgbClr val="F8FAFC"/>
          </a:solidFill>
          <a:ln w="9525">
            <a:solidFill>
              <a:srgbClr val="EBEEF1"/>
            </a:solidFill>
            <a:prstDash val="solid"/>
          </a:ln>
        </p:spPr>
      </p:sp>
      <p:sp>
        <p:nvSpPr>
          <p:cNvPr id="17" name="Shape 12"/>
          <p:cNvSpPr/>
          <p:nvPr/>
        </p:nvSpPr>
        <p:spPr>
          <a:xfrm>
            <a:off x="6233008" y="2244852"/>
            <a:ext cx="5501488" cy="64008"/>
          </a:xfrm>
          <a:prstGeom prst="rect">
            <a:avLst/>
          </a:prstGeom>
          <a:solidFill>
            <a:srgbClr val="C9A0E3"/>
          </a:solidFill>
          <a:ln w="12700">
            <a:solidFill>
              <a:srgbClr val="C9A0E3"/>
            </a:solidFill>
            <a:prstDash val="solid"/>
          </a:ln>
        </p:spPr>
      </p:sp>
      <p:sp>
        <p:nvSpPr>
          <p:cNvPr id="18" name="Shape 13"/>
          <p:cNvSpPr/>
          <p:nvPr/>
        </p:nvSpPr>
        <p:spPr>
          <a:xfrm>
            <a:off x="6415888" y="2500884"/>
            <a:ext cx="1106424" cy="1106424"/>
          </a:xfrm>
          <a:prstGeom prst="ellipse">
            <a:avLst/>
          </a:prstGeom>
          <a:solidFill>
            <a:srgbClr val="C9A0E3"/>
          </a:solidFill>
          <a:ln w="12700">
            <a:solidFill>
              <a:srgbClr val="C9A0E3"/>
            </a:solidFill>
            <a:prstDash val="solid"/>
          </a:ln>
        </p:spPr>
      </p:sp>
      <p:pic>
        <p:nvPicPr>
          <p:cNvPr id="19" name="Image 3" descr="/sessions/quirky-zen-galileo/mnt/NHS/07 Sites &amp; Repos/dtx-ecosystem/hearts-and-minds/_generators/assets/portraits/hannah.jpg">    </p:cNvPr>
          <p:cNvPicPr>
            <a:picLocks noChangeAspect="1"/>
          </p:cNvPicPr>
          <p:nvPr/>
        </p:nvPicPr>
        <p:blipFill>
          <a:blip r:embed="rId4"/>
          <a:srcRect l="0" r="0" t="0" b="0"/>
          <a:stretch/>
        </p:blipFill>
        <p:spPr>
          <a:xfrm>
            <a:off x="6489040" y="2574036"/>
            <a:ext cx="960120" cy="960120"/>
          </a:xfrm>
          <a:prstGeom prst="ellipse">
            <a:avLst/>
          </a:prstGeom>
        </p:spPr>
      </p:pic>
      <p:sp>
        <p:nvSpPr>
          <p:cNvPr id="20" name="Text 14"/>
          <p:cNvSpPr/>
          <p:nvPr/>
        </p:nvSpPr>
        <p:spPr>
          <a:xfrm>
            <a:off x="7650328" y="2537460"/>
            <a:ext cx="3855568" cy="365760"/>
          </a:xfrm>
          <a:prstGeom prst="rect">
            <a:avLst/>
          </a:prstGeom>
          <a:noFill/>
          <a:ln/>
        </p:spPr>
        <p:txBody>
          <a:bodyPr wrap="square" lIns="0" tIns="0" rIns="0" bIns="0" rtlCol="0" anchor="ctr"/>
          <a:lstStyle/>
          <a:p>
            <a:pPr indent="0" marL="0">
              <a:buNone/>
            </a:pPr>
            <a:r>
              <a:rPr lang="en-US" sz="1800" b="1" dirty="0">
                <a:solidFill>
                  <a:srgbClr val="003087"/>
                </a:solidFill>
                <a:latin typeface="Segoe UI" pitchFamily="34" charset="0"/>
                <a:ea typeface="Segoe UI" pitchFamily="34" charset="-122"/>
                <a:cs typeface="Segoe UI" pitchFamily="34" charset="-120"/>
              </a:rPr>
              <a:t>Hannah</a:t>
            </a:r>
            <a:endParaRPr lang="en-US" sz="1800" dirty="0"/>
          </a:p>
        </p:txBody>
      </p:sp>
      <p:sp>
        <p:nvSpPr>
          <p:cNvPr id="21" name="Text 15"/>
          <p:cNvSpPr/>
          <p:nvPr/>
        </p:nvSpPr>
        <p:spPr>
          <a:xfrm>
            <a:off x="7650328" y="2903220"/>
            <a:ext cx="3855568" cy="457200"/>
          </a:xfrm>
          <a:prstGeom prst="rect">
            <a:avLst/>
          </a:prstGeom>
          <a:noFill/>
          <a:ln/>
        </p:spPr>
        <p:txBody>
          <a:bodyPr wrap="square" lIns="0" tIns="0" rIns="0" bIns="0" rtlCol="0" anchor="t">
            <a:normAutofit/>
          </a:bodyPr>
          <a:lstStyle/>
          <a:p>
            <a:pPr indent="0" marL="0">
              <a:buNone/>
            </a:pPr>
            <a:r>
              <a:rPr lang="en-US" sz="1000" b="1" dirty="0">
                <a:solidFill>
                  <a:srgbClr val="4C6272"/>
                </a:solidFill>
                <a:latin typeface="Segoe UI" pitchFamily="34" charset="0"/>
                <a:ea typeface="Segoe UI" pitchFamily="34" charset="-122"/>
                <a:cs typeface="Segoe UI" pitchFamily="34" charset="-120"/>
              </a:rPr>
              <a:t>GP partner, primary-care monitoring</a:t>
            </a:r>
            <a:endParaRPr lang="en-US" sz="1000" dirty="0"/>
          </a:p>
        </p:txBody>
      </p:sp>
      <p:sp>
        <p:nvSpPr>
          <p:cNvPr id="22" name="Shape 16"/>
          <p:cNvSpPr/>
          <p:nvPr/>
        </p:nvSpPr>
        <p:spPr>
          <a:xfrm>
            <a:off x="6489040" y="3662172"/>
            <a:ext cx="64008" cy="414528"/>
          </a:xfrm>
          <a:prstGeom prst="rect">
            <a:avLst/>
          </a:prstGeom>
          <a:solidFill>
            <a:srgbClr val="C9A0E3"/>
          </a:solidFill>
          <a:ln w="12700">
            <a:solidFill>
              <a:srgbClr val="C9A0E3"/>
            </a:solidFill>
            <a:prstDash val="solid"/>
          </a:ln>
        </p:spPr>
      </p:sp>
      <p:sp>
        <p:nvSpPr>
          <p:cNvPr id="23" name="Text 17"/>
          <p:cNvSpPr/>
          <p:nvPr/>
        </p:nvSpPr>
        <p:spPr>
          <a:xfrm>
            <a:off x="6653632" y="3625596"/>
            <a:ext cx="4788256" cy="487680"/>
          </a:xfrm>
          <a:prstGeom prst="rect">
            <a:avLst/>
          </a:prstGeom>
          <a:noFill/>
          <a:ln/>
        </p:spPr>
        <p:txBody>
          <a:bodyPr wrap="square" lIns="0" tIns="0" rIns="0" bIns="0" rtlCol="0" anchor="t">
            <a:normAutofit/>
          </a:bodyPr>
          <a:lstStyle/>
          <a:p>
            <a:pPr indent="0" marL="0">
              <a:buNone/>
            </a:pPr>
            <a:r>
              <a:rPr lang="en-US" sz="1200" i="1" dirty="0">
                <a:solidFill>
                  <a:srgbClr val="212B32"/>
                </a:solidFill>
                <a:latin typeface="Segoe UI" pitchFamily="34" charset="0"/>
                <a:ea typeface="Segoe UI" pitchFamily="34" charset="-122"/>
                <a:cs typeface="Segoe UI" pitchFamily="34" charset="-120"/>
              </a:rPr>
              <a:t>“Every quarter the same patients miss, get rebooked and miss again. It has nothing to do with the bloods.”</a:t>
            </a:r>
            <a:endParaRPr lang="en-US" sz="1200" dirty="0"/>
          </a:p>
        </p:txBody>
      </p:sp>
      <p:sp>
        <p:nvSpPr>
          <p:cNvPr id="24" name="Text 18"/>
          <p:cNvSpPr/>
          <p:nvPr/>
        </p:nvSpPr>
        <p:spPr>
          <a:xfrm>
            <a:off x="457200" y="4524756"/>
            <a:ext cx="11277295" cy="705612"/>
          </a:xfrm>
          <a:prstGeom prst="rect">
            <a:avLst/>
          </a:prstGeom>
          <a:noFill/>
          <a:ln/>
        </p:spPr>
        <p:txBody>
          <a:bodyPr wrap="square" lIns="0" tIns="0" rIns="0" bIns="0" rtlCol="0" anchor="t">
            <a:normAutofit/>
          </a:bodyPr>
          <a:lstStyle/>
          <a:p>
            <a:pPr indent="0" marL="0">
              <a:buNone/>
            </a:pPr>
            <a:r>
              <a:rPr lang="en-US" sz="1300" dirty="0">
                <a:solidFill>
                  <a:srgbClr val="212B32"/>
                </a:solidFill>
                <a:latin typeface="Segoe UI" pitchFamily="34" charset="0"/>
                <a:ea typeface="Segoe UI" pitchFamily="34" charset="-122"/>
                <a:cs typeface="Segoe UI" pitchFamily="34" charset="-120"/>
              </a:rPr>
              <a:t>Every configuration in this programme is designed around named clinicians and named patients. These two carry the clinical case: one in secondary care holding a surveillance cohort, one in primary care holding a recall cycle. </a:t>
            </a:r>
            <a:pPr indent="0" marL="0">
              <a:buNone/>
            </a:pPr>
            <a:r>
              <a:rPr lang="en-US" sz="1300" b="1" dirty="0">
                <a:solidFill>
                  <a:srgbClr val="212B32"/>
                </a:solidFill>
                <a:latin typeface="Segoe UI" pitchFamily="34" charset="0"/>
                <a:ea typeface="Segoe UI" pitchFamily="34" charset="-122"/>
                <a:cs typeface="Segoe UI" pitchFamily="34" charset="-120"/>
              </a:rPr>
              <a:t>If the model does not work for them, it does not work.</a:t>
            </a:r>
            <a:endParaRPr lang="en-US" sz="1300" dirty="0"/>
          </a:p>
        </p:txBody>
      </p:sp>
      <p:sp>
        <p:nvSpPr>
          <p:cNvPr id="25" name="Text 19"/>
          <p:cNvSpPr/>
          <p:nvPr/>
        </p:nvSpPr>
        <p:spPr>
          <a:xfrm>
            <a:off x="457200" y="6455664"/>
            <a:ext cx="4206240" cy="274320"/>
          </a:xfrm>
          <a:prstGeom prst="rect">
            <a:avLst/>
          </a:prstGeom>
          <a:noFill/>
          <a:ln/>
        </p:spPr>
        <p:txBody>
          <a:bodyPr wrap="square" lIns="0" tIns="0" rIns="0" bIns="0" rtlCol="0" anchor="ctr"/>
          <a:lstStyle/>
          <a:p>
            <a:pPr indent="0" marL="0">
              <a:buNone/>
            </a:pPr>
            <a:r>
              <a:rPr lang="en-US" sz="850" dirty="0">
                <a:solidFill>
                  <a:srgbClr val="7E8B97"/>
                </a:solidFill>
                <a:latin typeface="Segoe UI" pitchFamily="34" charset="0"/>
                <a:ea typeface="Segoe UI" pitchFamily="34" charset="-122"/>
                <a:cs typeface="Segoe UI" pitchFamily="34" charset="-120"/>
              </a:rPr>
              <a:t>Hearts and Minds  ·  audience deck No.2  ·  Clinician edition</a:t>
            </a:r>
            <a:endParaRPr lang="en-US" sz="850" dirty="0"/>
          </a:p>
        </p:txBody>
      </p:sp>
      <p:sp>
        <p:nvSpPr>
          <p:cNvPr id="26" name="Text 20"/>
          <p:cNvSpPr/>
          <p:nvPr/>
        </p:nvSpPr>
        <p:spPr>
          <a:xfrm>
            <a:off x="4754880" y="6455664"/>
            <a:ext cx="6430975" cy="274320"/>
          </a:xfrm>
          <a:prstGeom prst="rect">
            <a:avLst/>
          </a:prstGeom>
          <a:noFill/>
          <a:ln/>
        </p:spPr>
        <p:txBody>
          <a:bodyPr wrap="square" lIns="0" tIns="0" rIns="0" bIns="0" rtlCol="0" anchor="ctr"/>
          <a:lstStyle/>
          <a:p>
            <a:pPr algn="r" indent="0" marL="0">
              <a:buNone/>
            </a:pPr>
            <a:r>
              <a:rPr lang="en-US" sz="800" dirty="0">
                <a:solidFill>
                  <a:srgbClr val="7E8B97"/>
                </a:solidFill>
                <a:latin typeface="Segoe UI" pitchFamily="34" charset="0"/>
                <a:ea typeface="Segoe UI" pitchFamily="34" charset="-122"/>
                <a:cs typeface="Segoe UI" pitchFamily="34" charset="-120"/>
              </a:rPr>
              <a:t>Commercial positions are agreed in principle and remain subject to the live procurement.</a:t>
            </a:r>
            <a:endParaRPr lang="en-US" sz="800" dirty="0"/>
          </a:p>
        </p:txBody>
      </p:sp>
      <p:sp>
        <p:nvSpPr>
          <p:cNvPr id="27" name="Text 21"/>
          <p:cNvSpPr/>
          <p:nvPr/>
        </p:nvSpPr>
        <p:spPr>
          <a:xfrm>
            <a:off x="11323015" y="6455664"/>
            <a:ext cx="411480" cy="274320"/>
          </a:xfrm>
          <a:prstGeom prst="rect">
            <a:avLst/>
          </a:prstGeom>
          <a:noFill/>
          <a:ln/>
        </p:spPr>
        <p:txBody>
          <a:bodyPr wrap="square" lIns="0" tIns="0" rIns="0" bIns="0" rtlCol="0" anchor="ctr"/>
          <a:lstStyle/>
          <a:p>
            <a:pPr algn="r" indent="0" marL="0">
              <a:buNone/>
            </a:pPr>
            <a:r>
              <a:rPr lang="en-US" sz="850" b="1" dirty="0">
                <a:solidFill>
                  <a:srgbClr val="7E8B97"/>
                </a:solidFill>
                <a:latin typeface="Segoe UI" pitchFamily="34" charset="0"/>
                <a:ea typeface="Segoe UI" pitchFamily="34" charset="-122"/>
                <a:cs typeface="Segoe UI" pitchFamily="34" charset="-120"/>
              </a:rPr>
              <a:t>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sessions/quirky-zen-galileo/mnt/NHS/07 Sites &amp; Repos/dtx-ecosystem/hearts-and-minds/_generators/assets/bg-band.jpg">    </p:cNvPr>
          <p:cNvPicPr>
            <a:picLocks noChangeAspect="1"/>
          </p:cNvPicPr>
          <p:nvPr/>
        </p:nvPicPr>
        <p:blipFill>
          <a:blip r:embed="rId1"/>
          <a:stretch>
            <a:fillRect/>
          </a:stretch>
        </p:blipFill>
        <p:spPr>
          <a:xfrm>
            <a:off x="0" y="0"/>
            <a:ext cx="12191695" cy="932688"/>
          </a:xfrm>
          <a:prstGeom prst="rect">
            <a:avLst/>
          </a:prstGeom>
        </p:spPr>
      </p:pic>
      <p:sp>
        <p:nvSpPr>
          <p:cNvPr id="3" name="Shape 0"/>
          <p:cNvSpPr/>
          <p:nvPr/>
        </p:nvSpPr>
        <p:spPr>
          <a:xfrm>
            <a:off x="0" y="932688"/>
            <a:ext cx="12191695" cy="50292"/>
          </a:xfrm>
          <a:prstGeom prst="rect">
            <a:avLst/>
          </a:prstGeom>
          <a:solidFill>
            <a:srgbClr val="C9A0E3"/>
          </a:solidFill>
          <a:ln w="12700">
            <a:solidFill>
              <a:srgbClr val="C9A0E3"/>
            </a:solidFill>
            <a:prstDash val="solid"/>
          </a:ln>
        </p:spPr>
      </p:sp>
      <p:sp>
        <p:nvSpPr>
          <p:cNvPr id="4" name="Text 1"/>
          <p:cNvSpPr/>
          <p:nvPr/>
        </p:nvSpPr>
        <p:spPr>
          <a:xfrm>
            <a:off x="502920" y="137160"/>
            <a:ext cx="8595360" cy="256032"/>
          </a:xfrm>
          <a:prstGeom prst="rect">
            <a:avLst/>
          </a:prstGeom>
          <a:noFill/>
          <a:ln/>
        </p:spPr>
        <p:txBody>
          <a:bodyPr wrap="square" lIns="0" tIns="0" rIns="0" bIns="0" rtlCol="0" anchor="ctr"/>
          <a:lstStyle/>
          <a:p>
            <a:pPr indent="0" marL="0">
              <a:buNone/>
            </a:pPr>
            <a:r>
              <a:rPr lang="en-US" sz="950" b="1" spc="240" kern="0" dirty="0">
                <a:solidFill>
                  <a:srgbClr val="FFD66B"/>
                </a:solidFill>
                <a:latin typeface="Segoe UI" pitchFamily="34" charset="0"/>
                <a:ea typeface="Segoe UI" pitchFamily="34" charset="-122"/>
                <a:cs typeface="Segoe UI" pitchFamily="34" charset="-120"/>
              </a:rPr>
              <a:t>THE PROBLEM YOU ALREADY HAVE</a:t>
            </a:r>
            <a:endParaRPr lang="en-US" sz="950" dirty="0"/>
          </a:p>
        </p:txBody>
      </p:sp>
      <p:sp>
        <p:nvSpPr>
          <p:cNvPr id="5" name="Text 2"/>
          <p:cNvSpPr/>
          <p:nvPr/>
        </p:nvSpPr>
        <p:spPr>
          <a:xfrm>
            <a:off x="502920" y="402336"/>
            <a:ext cx="9509760" cy="457200"/>
          </a:xfrm>
          <a:prstGeom prst="rect">
            <a:avLst/>
          </a:prstGeom>
          <a:noFill/>
          <a:ln/>
        </p:spPr>
        <p:txBody>
          <a:bodyPr wrap="square" lIns="0" tIns="0" rIns="0" bIns="0" rtlCol="0" anchor="ctr">
            <a:normAutofit/>
          </a:bodyPr>
          <a:lstStyle/>
          <a:p>
            <a:pPr indent="0" marL="0">
              <a:buNone/>
            </a:pPr>
            <a:r>
              <a:rPr lang="en-US" sz="2100" b="1" dirty="0">
                <a:solidFill>
                  <a:srgbClr val="FFFFFF"/>
                </a:solidFill>
                <a:latin typeface="Segoe UI" pitchFamily="34" charset="0"/>
                <a:ea typeface="Segoe UI" pitchFamily="34" charset="-122"/>
                <a:cs typeface="Segoe UI" pitchFamily="34" charset="-120"/>
              </a:rPr>
              <a:t>The appointment is the bottleneck. It was never the blood.</a:t>
            </a:r>
            <a:endParaRPr lang="en-US" sz="2100" dirty="0"/>
          </a:p>
        </p:txBody>
      </p:sp>
      <p:sp>
        <p:nvSpPr>
          <p:cNvPr id="6" name="Shape 3"/>
          <p:cNvSpPr/>
          <p:nvPr/>
        </p:nvSpPr>
        <p:spPr>
          <a:xfrm>
            <a:off x="10942806" y="173736"/>
            <a:ext cx="791689" cy="605699"/>
          </a:xfrm>
          <a:prstGeom prst="roundRect">
            <a:avLst>
              <a:gd name="adj" fmla="val 12077"/>
            </a:avLst>
          </a:prstGeom>
          <a:solidFill>
            <a:srgbClr val="FFFFFF"/>
          </a:solidFill>
          <a:ln w="12700">
            <a:solidFill>
              <a:srgbClr val="FFFFFF"/>
            </a:solidFill>
            <a:prstDash val="solid"/>
          </a:ln>
        </p:spPr>
      </p:sp>
      <p:pic>
        <p:nvPicPr>
          <p:cNvPr id="7" name="Image 1" descr="/sessions/quirky-zen-galileo/mnt/NHS/07 Sites &amp; Repos/dtx-ecosystem/hearts-and-minds/_generators/assets/nhs-logo.png">    </p:cNvPr>
          <p:cNvPicPr>
            <a:picLocks noChangeAspect="1"/>
          </p:cNvPicPr>
          <p:nvPr/>
        </p:nvPicPr>
        <p:blipFill>
          <a:blip r:embed="rId2"/>
          <a:stretch>
            <a:fillRect/>
          </a:stretch>
        </p:blipFill>
        <p:spPr>
          <a:xfrm>
            <a:off x="11068993" y="266273"/>
            <a:ext cx="539315" cy="420624"/>
          </a:xfrm>
          <a:prstGeom prst="rect">
            <a:avLst/>
          </a:prstGeom>
        </p:spPr>
      </p:pic>
      <p:sp>
        <p:nvSpPr>
          <p:cNvPr id="8" name="Shape 4"/>
          <p:cNvSpPr/>
          <p:nvPr/>
        </p:nvSpPr>
        <p:spPr>
          <a:xfrm>
            <a:off x="457200" y="2175129"/>
            <a:ext cx="3588410" cy="2130298"/>
          </a:xfrm>
          <a:prstGeom prst="roundRect">
            <a:avLst>
              <a:gd name="adj" fmla="val 4292"/>
            </a:avLst>
          </a:prstGeom>
          <a:solidFill>
            <a:srgbClr val="F4F8FC"/>
          </a:solidFill>
          <a:ln w="9525">
            <a:solidFill>
              <a:srgbClr val="B8D3E6"/>
            </a:solidFill>
            <a:prstDash val="solid"/>
          </a:ln>
        </p:spPr>
      </p:sp>
      <p:sp>
        <p:nvSpPr>
          <p:cNvPr id="9" name="Shape 5"/>
          <p:cNvSpPr/>
          <p:nvPr/>
        </p:nvSpPr>
        <p:spPr>
          <a:xfrm>
            <a:off x="457200" y="2175129"/>
            <a:ext cx="3588410" cy="64008"/>
          </a:xfrm>
          <a:prstGeom prst="rect">
            <a:avLst/>
          </a:prstGeom>
          <a:solidFill>
            <a:srgbClr val="003087"/>
          </a:solidFill>
          <a:ln w="12700">
            <a:solidFill>
              <a:srgbClr val="003087"/>
            </a:solidFill>
            <a:prstDash val="solid"/>
          </a:ln>
        </p:spPr>
      </p:sp>
      <p:sp>
        <p:nvSpPr>
          <p:cNvPr id="10" name="Text 6"/>
          <p:cNvSpPr/>
          <p:nvPr/>
        </p:nvSpPr>
        <p:spPr>
          <a:xfrm>
            <a:off x="676656" y="2394585"/>
            <a:ext cx="3149498" cy="777240"/>
          </a:xfrm>
          <a:prstGeom prst="rect">
            <a:avLst/>
          </a:prstGeom>
          <a:noFill/>
          <a:ln/>
        </p:spPr>
        <p:txBody>
          <a:bodyPr wrap="square" lIns="0" tIns="0" rIns="0" bIns="0" rtlCol="0" anchor="ctr">
            <a:normAutofit/>
          </a:bodyPr>
          <a:lstStyle/>
          <a:p>
            <a:pPr indent="0" marL="0">
              <a:buNone/>
            </a:pPr>
            <a:r>
              <a:rPr lang="en-US" sz="4200" b="1" spc="-150" kern="0" dirty="0">
                <a:solidFill>
                  <a:srgbClr val="003087"/>
                </a:solidFill>
                <a:latin typeface="Segoe UI" pitchFamily="34" charset="0"/>
                <a:ea typeface="Segoe UI" pitchFamily="34" charset="-122"/>
                <a:cs typeface="Segoe UI" pitchFamily="34" charset="-120"/>
              </a:rPr>
              <a:t>54%</a:t>
            </a:r>
            <a:endParaRPr lang="en-US" sz="4200" dirty="0"/>
          </a:p>
        </p:txBody>
      </p:sp>
      <p:sp>
        <p:nvSpPr>
          <p:cNvPr id="11" name="Text 7"/>
          <p:cNvSpPr/>
          <p:nvPr/>
        </p:nvSpPr>
        <p:spPr>
          <a:xfrm>
            <a:off x="676656" y="3217545"/>
            <a:ext cx="3149498" cy="648970"/>
          </a:xfrm>
          <a:prstGeom prst="rect">
            <a:avLst/>
          </a:prstGeom>
          <a:noFill/>
          <a:ln/>
        </p:spPr>
        <p:txBody>
          <a:bodyPr wrap="square" lIns="0" tIns="0" rIns="0" bIns="0" rtlCol="0" anchor="t">
            <a:normAutofit/>
          </a:bodyPr>
          <a:lstStyle/>
          <a:p>
            <a:pPr indent="0" marL="0">
              <a:buNone/>
            </a:pPr>
            <a:r>
              <a:rPr lang="en-US" sz="1150" dirty="0">
                <a:solidFill>
                  <a:srgbClr val="212B32"/>
                </a:solidFill>
                <a:latin typeface="Segoe UI" pitchFamily="34" charset="0"/>
                <a:ea typeface="Segoe UI" pitchFamily="34" charset="-122"/>
                <a:cs typeface="Segoe UI" pitchFamily="34" charset="-120"/>
              </a:rPr>
              <a:t>of NHS outpatient activity in England is follow-up, much of it judged of limited clinical value.</a:t>
            </a:r>
            <a:endParaRPr lang="en-US" sz="1150" dirty="0"/>
          </a:p>
        </p:txBody>
      </p:sp>
      <p:sp>
        <p:nvSpPr>
          <p:cNvPr id="12" name="Text 8"/>
          <p:cNvSpPr/>
          <p:nvPr/>
        </p:nvSpPr>
        <p:spPr>
          <a:xfrm>
            <a:off x="676656" y="3866515"/>
            <a:ext cx="3149498" cy="365760"/>
          </a:xfrm>
          <a:prstGeom prst="rect">
            <a:avLst/>
          </a:prstGeom>
          <a:noFill/>
          <a:ln/>
        </p:spPr>
        <p:txBody>
          <a:bodyPr wrap="square" lIns="0" tIns="0" rIns="0" bIns="0" rtlCol="0" anchor="b">
            <a:normAutofit/>
          </a:bodyPr>
          <a:lstStyle/>
          <a:p>
            <a:pPr indent="0" marL="0">
              <a:buNone/>
            </a:pPr>
            <a:r>
              <a:rPr lang="en-US" sz="800" dirty="0">
                <a:solidFill>
                  <a:srgbClr val="7E8B97"/>
                </a:solidFill>
                <a:latin typeface="Segoe UI" pitchFamily="34" charset="0"/>
                <a:ea typeface="Segoe UI" pitchFamily="34" charset="-122"/>
                <a:cs typeface="Segoe UI" pitchFamily="34" charset="-120"/>
              </a:rPr>
              <a:t>GIRFT / NHS England outpatient improvement guide, 2024</a:t>
            </a:r>
            <a:endParaRPr lang="en-US" sz="800" dirty="0"/>
          </a:p>
        </p:txBody>
      </p:sp>
      <p:sp>
        <p:nvSpPr>
          <p:cNvPr id="13" name="Shape 9"/>
          <p:cNvSpPr/>
          <p:nvPr/>
        </p:nvSpPr>
        <p:spPr>
          <a:xfrm>
            <a:off x="4301642" y="2175129"/>
            <a:ext cx="3588410" cy="2130298"/>
          </a:xfrm>
          <a:prstGeom prst="roundRect">
            <a:avLst>
              <a:gd name="adj" fmla="val 4292"/>
            </a:avLst>
          </a:prstGeom>
          <a:solidFill>
            <a:srgbClr val="F4F8FC"/>
          </a:solidFill>
          <a:ln w="9525">
            <a:solidFill>
              <a:srgbClr val="B8D3E6"/>
            </a:solidFill>
            <a:prstDash val="solid"/>
          </a:ln>
        </p:spPr>
      </p:sp>
      <p:sp>
        <p:nvSpPr>
          <p:cNvPr id="14" name="Shape 10"/>
          <p:cNvSpPr/>
          <p:nvPr/>
        </p:nvSpPr>
        <p:spPr>
          <a:xfrm>
            <a:off x="4301642" y="2175129"/>
            <a:ext cx="3588410" cy="64008"/>
          </a:xfrm>
          <a:prstGeom prst="rect">
            <a:avLst/>
          </a:prstGeom>
          <a:solidFill>
            <a:srgbClr val="003087"/>
          </a:solidFill>
          <a:ln w="12700">
            <a:solidFill>
              <a:srgbClr val="003087"/>
            </a:solidFill>
            <a:prstDash val="solid"/>
          </a:ln>
        </p:spPr>
      </p:sp>
      <p:sp>
        <p:nvSpPr>
          <p:cNvPr id="15" name="Text 11"/>
          <p:cNvSpPr/>
          <p:nvPr/>
        </p:nvSpPr>
        <p:spPr>
          <a:xfrm>
            <a:off x="4521098" y="2394585"/>
            <a:ext cx="3149498" cy="777240"/>
          </a:xfrm>
          <a:prstGeom prst="rect">
            <a:avLst/>
          </a:prstGeom>
          <a:noFill/>
          <a:ln/>
        </p:spPr>
        <p:txBody>
          <a:bodyPr wrap="square" lIns="0" tIns="0" rIns="0" bIns="0" rtlCol="0" anchor="ctr">
            <a:normAutofit/>
          </a:bodyPr>
          <a:lstStyle/>
          <a:p>
            <a:pPr indent="0" marL="0">
              <a:buNone/>
            </a:pPr>
            <a:r>
              <a:rPr lang="en-US" sz="4200" b="1" spc="-150" kern="0" dirty="0">
                <a:solidFill>
                  <a:srgbClr val="003087"/>
                </a:solidFill>
                <a:latin typeface="Segoe UI" pitchFamily="34" charset="0"/>
                <a:ea typeface="Segoe UI" pitchFamily="34" charset="-122"/>
                <a:cs typeface="Segoe UI" pitchFamily="34" charset="-120"/>
              </a:rPr>
              <a:t>8.0m</a:t>
            </a:r>
            <a:endParaRPr lang="en-US" sz="4200" dirty="0"/>
          </a:p>
        </p:txBody>
      </p:sp>
      <p:sp>
        <p:nvSpPr>
          <p:cNvPr id="16" name="Text 12"/>
          <p:cNvSpPr/>
          <p:nvPr/>
        </p:nvSpPr>
        <p:spPr>
          <a:xfrm>
            <a:off x="4521098" y="3217545"/>
            <a:ext cx="3149498" cy="648970"/>
          </a:xfrm>
          <a:prstGeom prst="rect">
            <a:avLst/>
          </a:prstGeom>
          <a:noFill/>
          <a:ln/>
        </p:spPr>
        <p:txBody>
          <a:bodyPr wrap="square" lIns="0" tIns="0" rIns="0" bIns="0" rtlCol="0" anchor="t">
            <a:normAutofit/>
          </a:bodyPr>
          <a:lstStyle/>
          <a:p>
            <a:pPr indent="0" marL="0">
              <a:buNone/>
            </a:pPr>
            <a:r>
              <a:rPr lang="en-US" sz="1150" dirty="0">
                <a:solidFill>
                  <a:srgbClr val="212B32"/>
                </a:solidFill>
                <a:latin typeface="Segoe UI" pitchFamily="34" charset="0"/>
                <a:ea typeface="Segoe UI" pitchFamily="34" charset="-122"/>
                <a:cs typeface="Segoe UI" pitchFamily="34" charset="-120"/>
              </a:rPr>
              <a:t>outpatient appointments went unattended in 2023/24, of 135.4m booked, at around £120 each.</a:t>
            </a:r>
            <a:endParaRPr lang="en-US" sz="1150" dirty="0"/>
          </a:p>
        </p:txBody>
      </p:sp>
      <p:sp>
        <p:nvSpPr>
          <p:cNvPr id="17" name="Text 13"/>
          <p:cNvSpPr/>
          <p:nvPr/>
        </p:nvSpPr>
        <p:spPr>
          <a:xfrm>
            <a:off x="4521098" y="3866515"/>
            <a:ext cx="3149498" cy="365760"/>
          </a:xfrm>
          <a:prstGeom prst="rect">
            <a:avLst/>
          </a:prstGeom>
          <a:noFill/>
          <a:ln/>
        </p:spPr>
        <p:txBody>
          <a:bodyPr wrap="square" lIns="0" tIns="0" rIns="0" bIns="0" rtlCol="0" anchor="b">
            <a:normAutofit/>
          </a:bodyPr>
          <a:lstStyle/>
          <a:p>
            <a:pPr indent="0" marL="0">
              <a:buNone/>
            </a:pPr>
            <a:r>
              <a:rPr lang="en-US" sz="800" dirty="0">
                <a:solidFill>
                  <a:srgbClr val="7E8B97"/>
                </a:solidFill>
                <a:latin typeface="Segoe UI" pitchFamily="34" charset="0"/>
                <a:ea typeface="Segoe UI" pitchFamily="34" charset="-122"/>
                <a:cs typeface="Segoe UI" pitchFamily="34" charset="-120"/>
              </a:rPr>
              <a:t>NHS Digital, Hospital Outpatient Activity 2023-24; NHS England DNA costings</a:t>
            </a:r>
            <a:endParaRPr lang="en-US" sz="800" dirty="0"/>
          </a:p>
        </p:txBody>
      </p:sp>
      <p:sp>
        <p:nvSpPr>
          <p:cNvPr id="18" name="Shape 14"/>
          <p:cNvSpPr/>
          <p:nvPr/>
        </p:nvSpPr>
        <p:spPr>
          <a:xfrm>
            <a:off x="8146085" y="2175129"/>
            <a:ext cx="3588410" cy="2130298"/>
          </a:xfrm>
          <a:prstGeom prst="roundRect">
            <a:avLst>
              <a:gd name="adj" fmla="val 4292"/>
            </a:avLst>
          </a:prstGeom>
          <a:solidFill>
            <a:srgbClr val="F4F8FC"/>
          </a:solidFill>
          <a:ln w="9525">
            <a:solidFill>
              <a:srgbClr val="B8D3E6"/>
            </a:solidFill>
            <a:prstDash val="solid"/>
          </a:ln>
        </p:spPr>
      </p:sp>
      <p:sp>
        <p:nvSpPr>
          <p:cNvPr id="19" name="Shape 15"/>
          <p:cNvSpPr/>
          <p:nvPr/>
        </p:nvSpPr>
        <p:spPr>
          <a:xfrm>
            <a:off x="8146085" y="2175129"/>
            <a:ext cx="3588410" cy="64008"/>
          </a:xfrm>
          <a:prstGeom prst="rect">
            <a:avLst/>
          </a:prstGeom>
          <a:solidFill>
            <a:srgbClr val="003087"/>
          </a:solidFill>
          <a:ln w="12700">
            <a:solidFill>
              <a:srgbClr val="003087"/>
            </a:solidFill>
            <a:prstDash val="solid"/>
          </a:ln>
        </p:spPr>
      </p:sp>
      <p:sp>
        <p:nvSpPr>
          <p:cNvPr id="20" name="Text 16"/>
          <p:cNvSpPr/>
          <p:nvPr/>
        </p:nvSpPr>
        <p:spPr>
          <a:xfrm>
            <a:off x="8365541" y="2394585"/>
            <a:ext cx="3149498" cy="777240"/>
          </a:xfrm>
          <a:prstGeom prst="rect">
            <a:avLst/>
          </a:prstGeom>
          <a:noFill/>
          <a:ln/>
        </p:spPr>
        <p:txBody>
          <a:bodyPr wrap="square" lIns="0" tIns="0" rIns="0" bIns="0" rtlCol="0" anchor="ctr">
            <a:normAutofit/>
          </a:bodyPr>
          <a:lstStyle/>
          <a:p>
            <a:pPr indent="0" marL="0">
              <a:buNone/>
            </a:pPr>
            <a:r>
              <a:rPr lang="en-US" sz="4200" b="1" spc="-150" kern="0" dirty="0">
                <a:solidFill>
                  <a:srgbClr val="003087"/>
                </a:solidFill>
                <a:latin typeface="Segoe UI" pitchFamily="34" charset="0"/>
                <a:ea typeface="Segoe UI" pitchFamily="34" charset="-122"/>
                <a:cs typeface="Segoe UI" pitchFamily="34" charset="-120"/>
              </a:rPr>
              <a:t>1.25bn</a:t>
            </a:r>
            <a:endParaRPr lang="en-US" sz="4200" dirty="0"/>
          </a:p>
        </p:txBody>
      </p:sp>
      <p:sp>
        <p:nvSpPr>
          <p:cNvPr id="21" name="Text 17"/>
          <p:cNvSpPr/>
          <p:nvPr/>
        </p:nvSpPr>
        <p:spPr>
          <a:xfrm>
            <a:off x="8365541" y="3217545"/>
            <a:ext cx="3149498" cy="648970"/>
          </a:xfrm>
          <a:prstGeom prst="rect">
            <a:avLst/>
          </a:prstGeom>
          <a:noFill/>
          <a:ln/>
        </p:spPr>
        <p:txBody>
          <a:bodyPr wrap="square" lIns="0" tIns="0" rIns="0" bIns="0" rtlCol="0" anchor="t">
            <a:normAutofit/>
          </a:bodyPr>
          <a:lstStyle/>
          <a:p>
            <a:pPr indent="0" marL="0">
              <a:buNone/>
            </a:pPr>
            <a:r>
              <a:rPr lang="en-US" sz="1150" dirty="0">
                <a:solidFill>
                  <a:srgbClr val="212B32"/>
                </a:solidFill>
                <a:latin typeface="Segoe UI" pitchFamily="34" charset="0"/>
                <a:ea typeface="Segoe UI" pitchFamily="34" charset="-122"/>
                <a:cs typeface="Segoe UI" pitchFamily="34" charset="-120"/>
              </a:rPr>
              <a:t>pathology test requests projected for 2025/26, up from 730m in 2013/14 and growing about 5.5% a year.</a:t>
            </a:r>
            <a:endParaRPr lang="en-US" sz="1150" dirty="0"/>
          </a:p>
        </p:txBody>
      </p:sp>
      <p:sp>
        <p:nvSpPr>
          <p:cNvPr id="22" name="Text 18"/>
          <p:cNvSpPr/>
          <p:nvPr/>
        </p:nvSpPr>
        <p:spPr>
          <a:xfrm>
            <a:off x="8365541" y="3866515"/>
            <a:ext cx="3149498" cy="365760"/>
          </a:xfrm>
          <a:prstGeom prst="rect">
            <a:avLst/>
          </a:prstGeom>
          <a:noFill/>
          <a:ln/>
        </p:spPr>
        <p:txBody>
          <a:bodyPr wrap="square" lIns="0" tIns="0" rIns="0" bIns="0" rtlCol="0" anchor="b">
            <a:normAutofit/>
          </a:bodyPr>
          <a:lstStyle/>
          <a:p>
            <a:pPr indent="0" marL="0">
              <a:buNone/>
            </a:pPr>
            <a:r>
              <a:rPr lang="en-US" sz="800" dirty="0">
                <a:solidFill>
                  <a:srgbClr val="7E8B97"/>
                </a:solidFill>
                <a:latin typeface="Segoe UI" pitchFamily="34" charset="0"/>
                <a:ea typeface="Segoe UI" pitchFamily="34" charset="-122"/>
                <a:cs typeface="Segoe UI" pitchFamily="34" charset="-120"/>
              </a:rPr>
              <a:t>Programme analysis, 2026</a:t>
            </a:r>
            <a:endParaRPr lang="en-US" sz="800" dirty="0"/>
          </a:p>
        </p:txBody>
      </p:sp>
      <p:sp>
        <p:nvSpPr>
          <p:cNvPr id="23" name="Shape 19"/>
          <p:cNvSpPr/>
          <p:nvPr/>
        </p:nvSpPr>
        <p:spPr>
          <a:xfrm>
            <a:off x="457200" y="4579747"/>
            <a:ext cx="11277295" cy="720344"/>
          </a:xfrm>
          <a:prstGeom prst="roundRect">
            <a:avLst>
              <a:gd name="adj" fmla="val 12694"/>
            </a:avLst>
          </a:prstGeom>
          <a:solidFill>
            <a:srgbClr val="FFF9EC"/>
          </a:solidFill>
          <a:ln w="9525">
            <a:solidFill>
              <a:srgbClr val="E6C96A"/>
            </a:solidFill>
            <a:prstDash val="solid"/>
          </a:ln>
        </p:spPr>
      </p:sp>
      <p:sp>
        <p:nvSpPr>
          <p:cNvPr id="24" name="Text 20"/>
          <p:cNvSpPr/>
          <p:nvPr/>
        </p:nvSpPr>
        <p:spPr>
          <a:xfrm>
            <a:off x="731520" y="4689475"/>
            <a:ext cx="10728655" cy="500888"/>
          </a:xfrm>
          <a:prstGeom prst="rect">
            <a:avLst/>
          </a:prstGeom>
          <a:noFill/>
          <a:ln/>
        </p:spPr>
        <p:txBody>
          <a:bodyPr wrap="square" lIns="0" tIns="0" rIns="0" bIns="0" rtlCol="0" anchor="ctr">
            <a:normAutofit/>
          </a:bodyPr>
          <a:lstStyle/>
          <a:p>
            <a:pPr indent="0" marL="0">
              <a:buNone/>
            </a:pPr>
            <a:r>
              <a:rPr lang="en-US" sz="1300" b="1" dirty="0">
                <a:solidFill>
                  <a:srgbClr val="003087"/>
                </a:solidFill>
                <a:latin typeface="Segoe UI" pitchFamily="34" charset="0"/>
                <a:ea typeface="Segoe UI" pitchFamily="34" charset="-122"/>
                <a:cs typeface="Segoe UI" pitchFamily="34" charset="-120"/>
              </a:rPr>
              <a:t>The patients who miss are not the patients who need it least. They are the shift workers, the carers, the people for whom a clinic slot costs half a day of pay. The clinic-only model selects against them.</a:t>
            </a:r>
            <a:endParaRPr lang="en-US" sz="1300" dirty="0"/>
          </a:p>
        </p:txBody>
      </p:sp>
      <p:sp>
        <p:nvSpPr>
          <p:cNvPr id="25" name="Text 21"/>
          <p:cNvSpPr/>
          <p:nvPr/>
        </p:nvSpPr>
        <p:spPr>
          <a:xfrm>
            <a:off x="457200" y="6455664"/>
            <a:ext cx="4206240" cy="274320"/>
          </a:xfrm>
          <a:prstGeom prst="rect">
            <a:avLst/>
          </a:prstGeom>
          <a:noFill/>
          <a:ln/>
        </p:spPr>
        <p:txBody>
          <a:bodyPr wrap="square" lIns="0" tIns="0" rIns="0" bIns="0" rtlCol="0" anchor="ctr"/>
          <a:lstStyle/>
          <a:p>
            <a:pPr indent="0" marL="0">
              <a:buNone/>
            </a:pPr>
            <a:r>
              <a:rPr lang="en-US" sz="850" dirty="0">
                <a:solidFill>
                  <a:srgbClr val="7E8B97"/>
                </a:solidFill>
                <a:latin typeface="Segoe UI" pitchFamily="34" charset="0"/>
                <a:ea typeface="Segoe UI" pitchFamily="34" charset="-122"/>
                <a:cs typeface="Segoe UI" pitchFamily="34" charset="-120"/>
              </a:rPr>
              <a:t>Hearts and Minds  ·  audience deck No.2  ·  Clinician edition</a:t>
            </a:r>
            <a:endParaRPr lang="en-US" sz="850" dirty="0"/>
          </a:p>
        </p:txBody>
      </p:sp>
      <p:sp>
        <p:nvSpPr>
          <p:cNvPr id="26" name="Text 22"/>
          <p:cNvSpPr/>
          <p:nvPr/>
        </p:nvSpPr>
        <p:spPr>
          <a:xfrm>
            <a:off x="4754880" y="6455664"/>
            <a:ext cx="6430975" cy="274320"/>
          </a:xfrm>
          <a:prstGeom prst="rect">
            <a:avLst/>
          </a:prstGeom>
          <a:noFill/>
          <a:ln/>
        </p:spPr>
        <p:txBody>
          <a:bodyPr wrap="square" lIns="0" tIns="0" rIns="0" bIns="0" rtlCol="0" anchor="ctr"/>
          <a:lstStyle/>
          <a:p>
            <a:pPr algn="r" indent="0" marL="0">
              <a:buNone/>
            </a:pPr>
            <a:r>
              <a:rPr lang="en-US" sz="800" dirty="0">
                <a:solidFill>
                  <a:srgbClr val="7E8B97"/>
                </a:solidFill>
                <a:latin typeface="Segoe UI" pitchFamily="34" charset="0"/>
                <a:ea typeface="Segoe UI" pitchFamily="34" charset="-122"/>
                <a:cs typeface="Segoe UI" pitchFamily="34" charset="-120"/>
              </a:rPr>
              <a:t>Commercial positions are agreed in principle and remain subject to the live procurement.</a:t>
            </a:r>
            <a:endParaRPr lang="en-US" sz="800" dirty="0"/>
          </a:p>
        </p:txBody>
      </p:sp>
      <p:sp>
        <p:nvSpPr>
          <p:cNvPr id="27" name="Text 23"/>
          <p:cNvSpPr/>
          <p:nvPr/>
        </p:nvSpPr>
        <p:spPr>
          <a:xfrm>
            <a:off x="11323015" y="6455664"/>
            <a:ext cx="411480" cy="274320"/>
          </a:xfrm>
          <a:prstGeom prst="rect">
            <a:avLst/>
          </a:prstGeom>
          <a:noFill/>
          <a:ln/>
        </p:spPr>
        <p:txBody>
          <a:bodyPr wrap="square" lIns="0" tIns="0" rIns="0" bIns="0" rtlCol="0" anchor="ctr"/>
          <a:lstStyle/>
          <a:p>
            <a:pPr algn="r" indent="0" marL="0">
              <a:buNone/>
            </a:pPr>
            <a:r>
              <a:rPr lang="en-US" sz="850" b="1" dirty="0">
                <a:solidFill>
                  <a:srgbClr val="7E8B97"/>
                </a:solidFill>
                <a:latin typeface="Segoe UI" pitchFamily="34" charset="0"/>
                <a:ea typeface="Segoe UI" pitchFamily="34" charset="-122"/>
                <a:cs typeface="Segoe UI" pitchFamily="34" charset="-120"/>
              </a:rPr>
              <a:t>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sessions/quirky-zen-galileo/mnt/NHS/07 Sites &amp; Repos/dtx-ecosystem/hearts-and-minds/_generators/assets/bg-band.jpg">    </p:cNvPr>
          <p:cNvPicPr>
            <a:picLocks noChangeAspect="1"/>
          </p:cNvPicPr>
          <p:nvPr/>
        </p:nvPicPr>
        <p:blipFill>
          <a:blip r:embed="rId1"/>
          <a:stretch>
            <a:fillRect/>
          </a:stretch>
        </p:blipFill>
        <p:spPr>
          <a:xfrm>
            <a:off x="0" y="0"/>
            <a:ext cx="12191695" cy="932688"/>
          </a:xfrm>
          <a:prstGeom prst="rect">
            <a:avLst/>
          </a:prstGeom>
        </p:spPr>
      </p:pic>
      <p:sp>
        <p:nvSpPr>
          <p:cNvPr id="3" name="Shape 0"/>
          <p:cNvSpPr/>
          <p:nvPr/>
        </p:nvSpPr>
        <p:spPr>
          <a:xfrm>
            <a:off x="0" y="932688"/>
            <a:ext cx="12191695" cy="50292"/>
          </a:xfrm>
          <a:prstGeom prst="rect">
            <a:avLst/>
          </a:prstGeom>
          <a:solidFill>
            <a:srgbClr val="C9A0E3"/>
          </a:solidFill>
          <a:ln w="12700">
            <a:solidFill>
              <a:srgbClr val="C9A0E3"/>
            </a:solidFill>
            <a:prstDash val="solid"/>
          </a:ln>
        </p:spPr>
      </p:sp>
      <p:sp>
        <p:nvSpPr>
          <p:cNvPr id="4" name="Text 1"/>
          <p:cNvSpPr/>
          <p:nvPr/>
        </p:nvSpPr>
        <p:spPr>
          <a:xfrm>
            <a:off x="502920" y="137160"/>
            <a:ext cx="8595360" cy="256032"/>
          </a:xfrm>
          <a:prstGeom prst="rect">
            <a:avLst/>
          </a:prstGeom>
          <a:noFill/>
          <a:ln/>
        </p:spPr>
        <p:txBody>
          <a:bodyPr wrap="square" lIns="0" tIns="0" rIns="0" bIns="0" rtlCol="0" anchor="ctr"/>
          <a:lstStyle/>
          <a:p>
            <a:pPr indent="0" marL="0">
              <a:buNone/>
            </a:pPr>
            <a:r>
              <a:rPr lang="en-US" sz="950" b="1" spc="240" kern="0" dirty="0">
                <a:solidFill>
                  <a:srgbClr val="FFD66B"/>
                </a:solidFill>
                <a:latin typeface="Segoe UI" pitchFamily="34" charset="0"/>
                <a:ea typeface="Segoe UI" pitchFamily="34" charset="-122"/>
                <a:cs typeface="Segoe UI" pitchFamily="34" charset="-120"/>
              </a:rPr>
              <a:t>WHAT ACTUALLY HAPPENS</a:t>
            </a:r>
            <a:endParaRPr lang="en-US" sz="950" dirty="0"/>
          </a:p>
        </p:txBody>
      </p:sp>
      <p:sp>
        <p:nvSpPr>
          <p:cNvPr id="5" name="Text 2"/>
          <p:cNvSpPr/>
          <p:nvPr/>
        </p:nvSpPr>
        <p:spPr>
          <a:xfrm>
            <a:off x="502920" y="402336"/>
            <a:ext cx="9509760" cy="457200"/>
          </a:xfrm>
          <a:prstGeom prst="rect">
            <a:avLst/>
          </a:prstGeom>
          <a:noFill/>
          <a:ln/>
        </p:spPr>
        <p:txBody>
          <a:bodyPr wrap="square" lIns="0" tIns="0" rIns="0" bIns="0" rtlCol="0" anchor="ctr">
            <a:normAutofit/>
          </a:bodyPr>
          <a:lstStyle/>
          <a:p>
            <a:pPr indent="0" marL="0">
              <a:buNone/>
            </a:pPr>
            <a:r>
              <a:rPr lang="en-US" sz="2100" b="1" dirty="0">
                <a:solidFill>
                  <a:srgbClr val="FFFFFF"/>
                </a:solidFill>
                <a:latin typeface="Segoe UI" pitchFamily="34" charset="0"/>
                <a:ea typeface="Segoe UI" pitchFamily="34" charset="-122"/>
                <a:cs typeface="Segoe UI" pitchFamily="34" charset="-120"/>
              </a:rPr>
              <a:t>Five steps. Your order, their kitchen table, your record.</a:t>
            </a:r>
            <a:endParaRPr lang="en-US" sz="2100" dirty="0"/>
          </a:p>
        </p:txBody>
      </p:sp>
      <p:sp>
        <p:nvSpPr>
          <p:cNvPr id="6" name="Shape 3"/>
          <p:cNvSpPr/>
          <p:nvPr/>
        </p:nvSpPr>
        <p:spPr>
          <a:xfrm>
            <a:off x="10942806" y="173736"/>
            <a:ext cx="791689" cy="605699"/>
          </a:xfrm>
          <a:prstGeom prst="roundRect">
            <a:avLst>
              <a:gd name="adj" fmla="val 12077"/>
            </a:avLst>
          </a:prstGeom>
          <a:solidFill>
            <a:srgbClr val="FFFFFF"/>
          </a:solidFill>
          <a:ln w="12700">
            <a:solidFill>
              <a:srgbClr val="FFFFFF"/>
            </a:solidFill>
            <a:prstDash val="solid"/>
          </a:ln>
        </p:spPr>
      </p:sp>
      <p:pic>
        <p:nvPicPr>
          <p:cNvPr id="7" name="Image 1" descr="/sessions/quirky-zen-galileo/mnt/NHS/07 Sites &amp; Repos/dtx-ecosystem/hearts-and-minds/_generators/assets/nhs-logo.png">    </p:cNvPr>
          <p:cNvPicPr>
            <a:picLocks noChangeAspect="1"/>
          </p:cNvPicPr>
          <p:nvPr/>
        </p:nvPicPr>
        <p:blipFill>
          <a:blip r:embed="rId2"/>
          <a:stretch>
            <a:fillRect/>
          </a:stretch>
        </p:blipFill>
        <p:spPr>
          <a:xfrm>
            <a:off x="11068993" y="266273"/>
            <a:ext cx="539315" cy="420624"/>
          </a:xfrm>
          <a:prstGeom prst="rect">
            <a:avLst/>
          </a:prstGeom>
        </p:spPr>
      </p:pic>
      <p:sp>
        <p:nvSpPr>
          <p:cNvPr id="8" name="Shape 4"/>
          <p:cNvSpPr/>
          <p:nvPr/>
        </p:nvSpPr>
        <p:spPr>
          <a:xfrm>
            <a:off x="457200" y="2112264"/>
            <a:ext cx="2153046" cy="2237740"/>
          </a:xfrm>
          <a:prstGeom prst="roundRect">
            <a:avLst>
              <a:gd name="adj" fmla="val 4247"/>
            </a:avLst>
          </a:prstGeom>
          <a:solidFill>
            <a:srgbClr val="F8FAFC"/>
          </a:solidFill>
          <a:ln w="9525">
            <a:solidFill>
              <a:srgbClr val="EBEEF1"/>
            </a:solidFill>
            <a:prstDash val="solid"/>
          </a:ln>
        </p:spPr>
      </p:sp>
      <p:sp>
        <p:nvSpPr>
          <p:cNvPr id="9" name="Shape 5"/>
          <p:cNvSpPr/>
          <p:nvPr/>
        </p:nvSpPr>
        <p:spPr>
          <a:xfrm>
            <a:off x="457200" y="2112264"/>
            <a:ext cx="2153046" cy="64008"/>
          </a:xfrm>
          <a:prstGeom prst="rect">
            <a:avLst/>
          </a:prstGeom>
          <a:solidFill>
            <a:srgbClr val="C9A0E3"/>
          </a:solidFill>
          <a:ln w="12700">
            <a:solidFill>
              <a:srgbClr val="C9A0E3"/>
            </a:solidFill>
            <a:prstDash val="solid"/>
          </a:ln>
        </p:spPr>
      </p:sp>
      <p:sp>
        <p:nvSpPr>
          <p:cNvPr id="10" name="Shape 6"/>
          <p:cNvSpPr/>
          <p:nvPr/>
        </p:nvSpPr>
        <p:spPr>
          <a:xfrm>
            <a:off x="1305123" y="2350008"/>
            <a:ext cx="457200" cy="457200"/>
          </a:xfrm>
          <a:prstGeom prst="ellipse">
            <a:avLst/>
          </a:prstGeom>
          <a:solidFill>
            <a:srgbClr val="003087"/>
          </a:solidFill>
          <a:ln w="12700">
            <a:solidFill>
              <a:srgbClr val="003087"/>
            </a:solidFill>
            <a:prstDash val="solid"/>
          </a:ln>
        </p:spPr>
      </p:sp>
      <p:sp>
        <p:nvSpPr>
          <p:cNvPr id="11" name="Text 7"/>
          <p:cNvSpPr/>
          <p:nvPr/>
        </p:nvSpPr>
        <p:spPr>
          <a:xfrm>
            <a:off x="1305123" y="235000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Segoe UI" pitchFamily="34" charset="0"/>
                <a:ea typeface="Segoe UI" pitchFamily="34" charset="-122"/>
                <a:cs typeface="Segoe UI" pitchFamily="34" charset="-120"/>
              </a:rPr>
              <a:t>1</a:t>
            </a:r>
            <a:endParaRPr lang="en-US" sz="1400" dirty="0"/>
          </a:p>
        </p:txBody>
      </p:sp>
      <p:sp>
        <p:nvSpPr>
          <p:cNvPr id="12" name="Text 8"/>
          <p:cNvSpPr/>
          <p:nvPr/>
        </p:nvSpPr>
        <p:spPr>
          <a:xfrm>
            <a:off x="603504" y="2898648"/>
            <a:ext cx="1860438" cy="365760"/>
          </a:xfrm>
          <a:prstGeom prst="rect">
            <a:avLst/>
          </a:prstGeom>
          <a:noFill/>
          <a:ln/>
        </p:spPr>
        <p:txBody>
          <a:bodyPr wrap="square" lIns="0" tIns="0" rIns="0" bIns="0" rtlCol="0" anchor="ctr">
            <a:normAutofit/>
          </a:bodyPr>
          <a:lstStyle/>
          <a:p>
            <a:pPr algn="ctr" indent="0" marL="0">
              <a:buNone/>
            </a:pPr>
            <a:r>
              <a:rPr lang="en-US" sz="1300" b="1" dirty="0">
                <a:solidFill>
                  <a:srgbClr val="003087"/>
                </a:solidFill>
                <a:latin typeface="Segoe UI" pitchFamily="34" charset="0"/>
                <a:ea typeface="Segoe UI" pitchFamily="34" charset="-122"/>
                <a:cs typeface="Segoe UI" pitchFamily="34" charset="-120"/>
              </a:rPr>
              <a:t>Ordered</a:t>
            </a:r>
            <a:endParaRPr lang="en-US" sz="1300" dirty="0"/>
          </a:p>
        </p:txBody>
      </p:sp>
      <p:sp>
        <p:nvSpPr>
          <p:cNvPr id="13" name="Text 9"/>
          <p:cNvSpPr/>
          <p:nvPr/>
        </p:nvSpPr>
        <p:spPr>
          <a:xfrm>
            <a:off x="603504" y="3282696"/>
            <a:ext cx="1860438" cy="921004"/>
          </a:xfrm>
          <a:prstGeom prst="rect">
            <a:avLst/>
          </a:prstGeom>
          <a:noFill/>
          <a:ln/>
        </p:spPr>
        <p:txBody>
          <a:bodyPr wrap="square" lIns="0" tIns="0" rIns="0" bIns="0" rtlCol="0" anchor="t">
            <a:normAutofit/>
          </a:bodyPr>
          <a:lstStyle/>
          <a:p>
            <a:pPr algn="ctr" indent="0" marL="0">
              <a:buNone/>
            </a:pPr>
            <a:r>
              <a:rPr lang="en-US" sz="1050" dirty="0">
                <a:solidFill>
                  <a:srgbClr val="4C6272"/>
                </a:solidFill>
                <a:latin typeface="Segoe UI" pitchFamily="34" charset="0"/>
                <a:ea typeface="Segoe UI" pitchFamily="34" charset="-122"/>
                <a:cs typeface="Segoe UI" pitchFamily="34" charset="-120"/>
              </a:rPr>
              <a:t>From your system or the NHS App, on the cohort and cadence you set.</a:t>
            </a:r>
            <a:endParaRPr lang="en-US" sz="1050" dirty="0"/>
          </a:p>
        </p:txBody>
      </p:sp>
      <p:sp>
        <p:nvSpPr>
          <p:cNvPr id="14" name="Shape 10"/>
          <p:cNvSpPr/>
          <p:nvPr/>
        </p:nvSpPr>
        <p:spPr>
          <a:xfrm>
            <a:off x="2738262" y="2112264"/>
            <a:ext cx="2153046" cy="2237740"/>
          </a:xfrm>
          <a:prstGeom prst="roundRect">
            <a:avLst>
              <a:gd name="adj" fmla="val 4247"/>
            </a:avLst>
          </a:prstGeom>
          <a:solidFill>
            <a:srgbClr val="F8FAFC"/>
          </a:solidFill>
          <a:ln w="9525">
            <a:solidFill>
              <a:srgbClr val="EBEEF1"/>
            </a:solidFill>
            <a:prstDash val="solid"/>
          </a:ln>
        </p:spPr>
      </p:sp>
      <p:sp>
        <p:nvSpPr>
          <p:cNvPr id="15" name="Shape 11"/>
          <p:cNvSpPr/>
          <p:nvPr/>
        </p:nvSpPr>
        <p:spPr>
          <a:xfrm>
            <a:off x="2738262" y="2112264"/>
            <a:ext cx="2153046" cy="64008"/>
          </a:xfrm>
          <a:prstGeom prst="rect">
            <a:avLst/>
          </a:prstGeom>
          <a:solidFill>
            <a:srgbClr val="C9A0E3"/>
          </a:solidFill>
          <a:ln w="12700">
            <a:solidFill>
              <a:srgbClr val="C9A0E3"/>
            </a:solidFill>
            <a:prstDash val="solid"/>
          </a:ln>
        </p:spPr>
      </p:sp>
      <p:sp>
        <p:nvSpPr>
          <p:cNvPr id="16" name="Shape 12"/>
          <p:cNvSpPr/>
          <p:nvPr/>
        </p:nvSpPr>
        <p:spPr>
          <a:xfrm>
            <a:off x="3586185" y="2350008"/>
            <a:ext cx="457200" cy="457200"/>
          </a:xfrm>
          <a:prstGeom prst="ellipse">
            <a:avLst/>
          </a:prstGeom>
          <a:solidFill>
            <a:srgbClr val="003087"/>
          </a:solidFill>
          <a:ln w="12700">
            <a:solidFill>
              <a:srgbClr val="003087"/>
            </a:solidFill>
            <a:prstDash val="solid"/>
          </a:ln>
        </p:spPr>
      </p:sp>
      <p:sp>
        <p:nvSpPr>
          <p:cNvPr id="17" name="Text 13"/>
          <p:cNvSpPr/>
          <p:nvPr/>
        </p:nvSpPr>
        <p:spPr>
          <a:xfrm>
            <a:off x="3586185" y="235000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Segoe UI" pitchFamily="34" charset="0"/>
                <a:ea typeface="Segoe UI" pitchFamily="34" charset="-122"/>
                <a:cs typeface="Segoe UI" pitchFamily="34" charset="-120"/>
              </a:rPr>
              <a:t>2</a:t>
            </a:r>
            <a:endParaRPr lang="en-US" sz="1400" dirty="0"/>
          </a:p>
        </p:txBody>
      </p:sp>
      <p:sp>
        <p:nvSpPr>
          <p:cNvPr id="18" name="Text 14"/>
          <p:cNvSpPr/>
          <p:nvPr/>
        </p:nvSpPr>
        <p:spPr>
          <a:xfrm>
            <a:off x="2884566" y="2898648"/>
            <a:ext cx="1860438" cy="365760"/>
          </a:xfrm>
          <a:prstGeom prst="rect">
            <a:avLst/>
          </a:prstGeom>
          <a:noFill/>
          <a:ln/>
        </p:spPr>
        <p:txBody>
          <a:bodyPr wrap="square" lIns="0" tIns="0" rIns="0" bIns="0" rtlCol="0" anchor="ctr">
            <a:normAutofit/>
          </a:bodyPr>
          <a:lstStyle/>
          <a:p>
            <a:pPr algn="ctr" indent="0" marL="0">
              <a:buNone/>
            </a:pPr>
            <a:r>
              <a:rPr lang="en-US" sz="1300" b="1" dirty="0">
                <a:solidFill>
                  <a:srgbClr val="003087"/>
                </a:solidFill>
                <a:latin typeface="Segoe UI" pitchFamily="34" charset="0"/>
                <a:ea typeface="Segoe UI" pitchFamily="34" charset="-122"/>
                <a:cs typeface="Segoe UI" pitchFamily="34" charset="-120"/>
              </a:rPr>
              <a:t>Delivered</a:t>
            </a:r>
            <a:endParaRPr lang="en-US" sz="1300" dirty="0"/>
          </a:p>
        </p:txBody>
      </p:sp>
      <p:sp>
        <p:nvSpPr>
          <p:cNvPr id="19" name="Text 15"/>
          <p:cNvSpPr/>
          <p:nvPr/>
        </p:nvSpPr>
        <p:spPr>
          <a:xfrm>
            <a:off x="2884566" y="3282696"/>
            <a:ext cx="1860438" cy="921004"/>
          </a:xfrm>
          <a:prstGeom prst="rect">
            <a:avLst/>
          </a:prstGeom>
          <a:noFill/>
          <a:ln/>
        </p:spPr>
        <p:txBody>
          <a:bodyPr wrap="square" lIns="0" tIns="0" rIns="0" bIns="0" rtlCol="0" anchor="t">
            <a:normAutofit/>
          </a:bodyPr>
          <a:lstStyle/>
          <a:p>
            <a:pPr algn="ctr" indent="0" marL="0">
              <a:buNone/>
            </a:pPr>
            <a:r>
              <a:rPr lang="en-US" sz="1050" dirty="0">
                <a:solidFill>
                  <a:srgbClr val="4C6272"/>
                </a:solidFill>
                <a:latin typeface="Segoe UI" pitchFamily="34" charset="0"/>
                <a:ea typeface="Segoe UI" pitchFamily="34" charset="-122"/>
                <a:cs typeface="Segoe UI" pitchFamily="34" charset="-120"/>
              </a:rPr>
              <a:t>Kit through the door, with instructions written for the patient in front of you.</a:t>
            </a:r>
            <a:endParaRPr lang="en-US" sz="1050" dirty="0"/>
          </a:p>
        </p:txBody>
      </p:sp>
      <p:sp>
        <p:nvSpPr>
          <p:cNvPr id="20" name="Shape 16"/>
          <p:cNvSpPr/>
          <p:nvPr/>
        </p:nvSpPr>
        <p:spPr>
          <a:xfrm>
            <a:off x="5019324" y="2112264"/>
            <a:ext cx="2153046" cy="2237740"/>
          </a:xfrm>
          <a:prstGeom prst="roundRect">
            <a:avLst>
              <a:gd name="adj" fmla="val 4247"/>
            </a:avLst>
          </a:prstGeom>
          <a:solidFill>
            <a:srgbClr val="F8FAFC"/>
          </a:solidFill>
          <a:ln w="9525">
            <a:solidFill>
              <a:srgbClr val="EBEEF1"/>
            </a:solidFill>
            <a:prstDash val="solid"/>
          </a:ln>
        </p:spPr>
      </p:sp>
      <p:sp>
        <p:nvSpPr>
          <p:cNvPr id="21" name="Shape 17"/>
          <p:cNvSpPr/>
          <p:nvPr/>
        </p:nvSpPr>
        <p:spPr>
          <a:xfrm>
            <a:off x="5019324" y="2112264"/>
            <a:ext cx="2153046" cy="64008"/>
          </a:xfrm>
          <a:prstGeom prst="rect">
            <a:avLst/>
          </a:prstGeom>
          <a:solidFill>
            <a:srgbClr val="C9A0E3"/>
          </a:solidFill>
          <a:ln w="12700">
            <a:solidFill>
              <a:srgbClr val="C9A0E3"/>
            </a:solidFill>
            <a:prstDash val="solid"/>
          </a:ln>
        </p:spPr>
      </p:sp>
      <p:sp>
        <p:nvSpPr>
          <p:cNvPr id="22" name="Shape 18"/>
          <p:cNvSpPr/>
          <p:nvPr/>
        </p:nvSpPr>
        <p:spPr>
          <a:xfrm>
            <a:off x="5867248" y="2350008"/>
            <a:ext cx="457200" cy="457200"/>
          </a:xfrm>
          <a:prstGeom prst="ellipse">
            <a:avLst/>
          </a:prstGeom>
          <a:solidFill>
            <a:srgbClr val="003087"/>
          </a:solidFill>
          <a:ln w="12700">
            <a:solidFill>
              <a:srgbClr val="003087"/>
            </a:solidFill>
            <a:prstDash val="solid"/>
          </a:ln>
        </p:spPr>
      </p:sp>
      <p:sp>
        <p:nvSpPr>
          <p:cNvPr id="23" name="Text 19"/>
          <p:cNvSpPr/>
          <p:nvPr/>
        </p:nvSpPr>
        <p:spPr>
          <a:xfrm>
            <a:off x="5867248" y="235000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Segoe UI" pitchFamily="34" charset="0"/>
                <a:ea typeface="Segoe UI" pitchFamily="34" charset="-122"/>
                <a:cs typeface="Segoe UI" pitchFamily="34" charset="-120"/>
              </a:rPr>
              <a:t>3</a:t>
            </a:r>
            <a:endParaRPr lang="en-US" sz="1400" dirty="0"/>
          </a:p>
        </p:txBody>
      </p:sp>
      <p:sp>
        <p:nvSpPr>
          <p:cNvPr id="24" name="Text 20"/>
          <p:cNvSpPr/>
          <p:nvPr/>
        </p:nvSpPr>
        <p:spPr>
          <a:xfrm>
            <a:off x="5165628" y="2898648"/>
            <a:ext cx="1860438" cy="365760"/>
          </a:xfrm>
          <a:prstGeom prst="rect">
            <a:avLst/>
          </a:prstGeom>
          <a:noFill/>
          <a:ln/>
        </p:spPr>
        <p:txBody>
          <a:bodyPr wrap="square" lIns="0" tIns="0" rIns="0" bIns="0" rtlCol="0" anchor="ctr">
            <a:normAutofit/>
          </a:bodyPr>
          <a:lstStyle/>
          <a:p>
            <a:pPr algn="ctr" indent="0" marL="0">
              <a:buNone/>
            </a:pPr>
            <a:r>
              <a:rPr lang="en-US" sz="1300" b="1" dirty="0">
                <a:solidFill>
                  <a:srgbClr val="003087"/>
                </a:solidFill>
                <a:latin typeface="Segoe UI" pitchFamily="34" charset="0"/>
                <a:ea typeface="Segoe UI" pitchFamily="34" charset="-122"/>
                <a:cs typeface="Segoe UI" pitchFamily="34" charset="-120"/>
              </a:rPr>
              <a:t>Sampled</a:t>
            </a:r>
            <a:endParaRPr lang="en-US" sz="1300" dirty="0"/>
          </a:p>
        </p:txBody>
      </p:sp>
      <p:sp>
        <p:nvSpPr>
          <p:cNvPr id="25" name="Text 21"/>
          <p:cNvSpPr/>
          <p:nvPr/>
        </p:nvSpPr>
        <p:spPr>
          <a:xfrm>
            <a:off x="5165628" y="3282696"/>
            <a:ext cx="1860438" cy="921004"/>
          </a:xfrm>
          <a:prstGeom prst="rect">
            <a:avLst/>
          </a:prstGeom>
          <a:noFill/>
          <a:ln/>
        </p:spPr>
        <p:txBody>
          <a:bodyPr wrap="square" lIns="0" tIns="0" rIns="0" bIns="0" rtlCol="0" anchor="t">
            <a:normAutofit/>
          </a:bodyPr>
          <a:lstStyle/>
          <a:p>
            <a:pPr algn="ctr" indent="0" marL="0">
              <a:buNone/>
            </a:pPr>
            <a:r>
              <a:rPr lang="en-US" sz="1050" dirty="0">
                <a:solidFill>
                  <a:srgbClr val="4C6272"/>
                </a:solidFill>
                <a:latin typeface="Segoe UI" pitchFamily="34" charset="0"/>
                <a:ea typeface="Segoe UI" pitchFamily="34" charset="-122"/>
                <a:cs typeface="Segoe UI" pitchFamily="34" charset="-120"/>
              </a:rPr>
              <a:t>At home, at a time that fits the patient, and posted back.</a:t>
            </a:r>
            <a:endParaRPr lang="en-US" sz="1050" dirty="0"/>
          </a:p>
        </p:txBody>
      </p:sp>
      <p:sp>
        <p:nvSpPr>
          <p:cNvPr id="26" name="Shape 22"/>
          <p:cNvSpPr/>
          <p:nvPr/>
        </p:nvSpPr>
        <p:spPr>
          <a:xfrm>
            <a:off x="7300387" y="2112264"/>
            <a:ext cx="2153046" cy="2237740"/>
          </a:xfrm>
          <a:prstGeom prst="roundRect">
            <a:avLst>
              <a:gd name="adj" fmla="val 4247"/>
            </a:avLst>
          </a:prstGeom>
          <a:solidFill>
            <a:srgbClr val="F8FAFC"/>
          </a:solidFill>
          <a:ln w="9525">
            <a:solidFill>
              <a:srgbClr val="EBEEF1"/>
            </a:solidFill>
            <a:prstDash val="solid"/>
          </a:ln>
        </p:spPr>
      </p:sp>
      <p:sp>
        <p:nvSpPr>
          <p:cNvPr id="27" name="Shape 23"/>
          <p:cNvSpPr/>
          <p:nvPr/>
        </p:nvSpPr>
        <p:spPr>
          <a:xfrm>
            <a:off x="7300387" y="2112264"/>
            <a:ext cx="2153046" cy="64008"/>
          </a:xfrm>
          <a:prstGeom prst="rect">
            <a:avLst/>
          </a:prstGeom>
          <a:solidFill>
            <a:srgbClr val="C9A0E3"/>
          </a:solidFill>
          <a:ln w="12700">
            <a:solidFill>
              <a:srgbClr val="C9A0E3"/>
            </a:solidFill>
            <a:prstDash val="solid"/>
          </a:ln>
        </p:spPr>
      </p:sp>
      <p:sp>
        <p:nvSpPr>
          <p:cNvPr id="28" name="Shape 24"/>
          <p:cNvSpPr/>
          <p:nvPr/>
        </p:nvSpPr>
        <p:spPr>
          <a:xfrm>
            <a:off x="8148310" y="2350008"/>
            <a:ext cx="457200" cy="457200"/>
          </a:xfrm>
          <a:prstGeom prst="ellipse">
            <a:avLst/>
          </a:prstGeom>
          <a:solidFill>
            <a:srgbClr val="003087"/>
          </a:solidFill>
          <a:ln w="12700">
            <a:solidFill>
              <a:srgbClr val="003087"/>
            </a:solidFill>
            <a:prstDash val="solid"/>
          </a:ln>
        </p:spPr>
      </p:sp>
      <p:sp>
        <p:nvSpPr>
          <p:cNvPr id="29" name="Text 25"/>
          <p:cNvSpPr/>
          <p:nvPr/>
        </p:nvSpPr>
        <p:spPr>
          <a:xfrm>
            <a:off x="8148310" y="235000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Segoe UI" pitchFamily="34" charset="0"/>
                <a:ea typeface="Segoe UI" pitchFamily="34" charset="-122"/>
                <a:cs typeface="Segoe UI" pitchFamily="34" charset="-120"/>
              </a:rPr>
              <a:t>4</a:t>
            </a:r>
            <a:endParaRPr lang="en-US" sz="1400" dirty="0"/>
          </a:p>
        </p:txBody>
      </p:sp>
      <p:sp>
        <p:nvSpPr>
          <p:cNvPr id="30" name="Text 26"/>
          <p:cNvSpPr/>
          <p:nvPr/>
        </p:nvSpPr>
        <p:spPr>
          <a:xfrm>
            <a:off x="7446691" y="2898648"/>
            <a:ext cx="1860438" cy="365760"/>
          </a:xfrm>
          <a:prstGeom prst="rect">
            <a:avLst/>
          </a:prstGeom>
          <a:noFill/>
          <a:ln/>
        </p:spPr>
        <p:txBody>
          <a:bodyPr wrap="square" lIns="0" tIns="0" rIns="0" bIns="0" rtlCol="0" anchor="ctr">
            <a:normAutofit/>
          </a:bodyPr>
          <a:lstStyle/>
          <a:p>
            <a:pPr algn="ctr" indent="0" marL="0">
              <a:buNone/>
            </a:pPr>
            <a:r>
              <a:rPr lang="en-US" sz="1300" b="1" dirty="0">
                <a:solidFill>
                  <a:srgbClr val="003087"/>
                </a:solidFill>
                <a:latin typeface="Segoe UI" pitchFamily="34" charset="0"/>
                <a:ea typeface="Segoe UI" pitchFamily="34" charset="-122"/>
                <a:cs typeface="Segoe UI" pitchFamily="34" charset="-120"/>
              </a:rPr>
              <a:t>Analysed</a:t>
            </a:r>
            <a:endParaRPr lang="en-US" sz="1300" dirty="0"/>
          </a:p>
        </p:txBody>
      </p:sp>
      <p:sp>
        <p:nvSpPr>
          <p:cNvPr id="31" name="Text 27"/>
          <p:cNvSpPr/>
          <p:nvPr/>
        </p:nvSpPr>
        <p:spPr>
          <a:xfrm>
            <a:off x="7446691" y="3282696"/>
            <a:ext cx="1860438" cy="921004"/>
          </a:xfrm>
          <a:prstGeom prst="rect">
            <a:avLst/>
          </a:prstGeom>
          <a:noFill/>
          <a:ln/>
        </p:spPr>
        <p:txBody>
          <a:bodyPr wrap="square" lIns="0" tIns="0" rIns="0" bIns="0" rtlCol="0" anchor="t">
            <a:normAutofit/>
          </a:bodyPr>
          <a:lstStyle/>
          <a:p>
            <a:pPr algn="ctr" indent="0" marL="0">
              <a:buNone/>
            </a:pPr>
            <a:r>
              <a:rPr lang="en-US" sz="1050" dirty="0">
                <a:solidFill>
                  <a:srgbClr val="4C6272"/>
                </a:solidFill>
                <a:latin typeface="Segoe UI" pitchFamily="34" charset="0"/>
                <a:ea typeface="Segoe UI" pitchFamily="34" charset="-122"/>
                <a:cs typeface="Segoe UI" pitchFamily="34" charset="-120"/>
              </a:rPr>
              <a:t>At a UKAS-accredited laboratory, on the same assay platform as your in-clinic samples.</a:t>
            </a:r>
            <a:endParaRPr lang="en-US" sz="1050" dirty="0"/>
          </a:p>
        </p:txBody>
      </p:sp>
      <p:sp>
        <p:nvSpPr>
          <p:cNvPr id="32" name="Shape 28"/>
          <p:cNvSpPr/>
          <p:nvPr/>
        </p:nvSpPr>
        <p:spPr>
          <a:xfrm>
            <a:off x="9581449" y="2112264"/>
            <a:ext cx="2153046" cy="2237740"/>
          </a:xfrm>
          <a:prstGeom prst="roundRect">
            <a:avLst>
              <a:gd name="adj" fmla="val 4247"/>
            </a:avLst>
          </a:prstGeom>
          <a:solidFill>
            <a:srgbClr val="F8FAFC"/>
          </a:solidFill>
          <a:ln w="9525">
            <a:solidFill>
              <a:srgbClr val="EBEEF1"/>
            </a:solidFill>
            <a:prstDash val="solid"/>
          </a:ln>
        </p:spPr>
      </p:sp>
      <p:sp>
        <p:nvSpPr>
          <p:cNvPr id="33" name="Shape 29"/>
          <p:cNvSpPr/>
          <p:nvPr/>
        </p:nvSpPr>
        <p:spPr>
          <a:xfrm>
            <a:off x="9581449" y="2112264"/>
            <a:ext cx="2153046" cy="64008"/>
          </a:xfrm>
          <a:prstGeom prst="rect">
            <a:avLst/>
          </a:prstGeom>
          <a:solidFill>
            <a:srgbClr val="C9A0E3"/>
          </a:solidFill>
          <a:ln w="12700">
            <a:solidFill>
              <a:srgbClr val="C9A0E3"/>
            </a:solidFill>
            <a:prstDash val="solid"/>
          </a:ln>
        </p:spPr>
      </p:sp>
      <p:sp>
        <p:nvSpPr>
          <p:cNvPr id="34" name="Shape 30"/>
          <p:cNvSpPr/>
          <p:nvPr/>
        </p:nvSpPr>
        <p:spPr>
          <a:xfrm>
            <a:off x="10429372" y="2350008"/>
            <a:ext cx="457200" cy="457200"/>
          </a:xfrm>
          <a:prstGeom prst="ellipse">
            <a:avLst/>
          </a:prstGeom>
          <a:solidFill>
            <a:srgbClr val="003087"/>
          </a:solidFill>
          <a:ln w="12700">
            <a:solidFill>
              <a:srgbClr val="003087"/>
            </a:solidFill>
            <a:prstDash val="solid"/>
          </a:ln>
        </p:spPr>
      </p:sp>
      <p:sp>
        <p:nvSpPr>
          <p:cNvPr id="35" name="Text 31"/>
          <p:cNvSpPr/>
          <p:nvPr/>
        </p:nvSpPr>
        <p:spPr>
          <a:xfrm>
            <a:off x="10429372" y="235000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Segoe UI" pitchFamily="34" charset="0"/>
                <a:ea typeface="Segoe UI" pitchFamily="34" charset="-122"/>
                <a:cs typeface="Segoe UI" pitchFamily="34" charset="-120"/>
              </a:rPr>
              <a:t>5</a:t>
            </a:r>
            <a:endParaRPr lang="en-US" sz="1400" dirty="0"/>
          </a:p>
        </p:txBody>
      </p:sp>
      <p:sp>
        <p:nvSpPr>
          <p:cNvPr id="36" name="Text 32"/>
          <p:cNvSpPr/>
          <p:nvPr/>
        </p:nvSpPr>
        <p:spPr>
          <a:xfrm>
            <a:off x="9727753" y="2898648"/>
            <a:ext cx="1860438" cy="365760"/>
          </a:xfrm>
          <a:prstGeom prst="rect">
            <a:avLst/>
          </a:prstGeom>
          <a:noFill/>
          <a:ln/>
        </p:spPr>
        <p:txBody>
          <a:bodyPr wrap="square" lIns="0" tIns="0" rIns="0" bIns="0" rtlCol="0" anchor="ctr">
            <a:normAutofit/>
          </a:bodyPr>
          <a:lstStyle/>
          <a:p>
            <a:pPr algn="ctr" indent="0" marL="0">
              <a:buNone/>
            </a:pPr>
            <a:r>
              <a:rPr lang="en-US" sz="1300" b="1" dirty="0">
                <a:solidFill>
                  <a:srgbClr val="003087"/>
                </a:solidFill>
                <a:latin typeface="Segoe UI" pitchFamily="34" charset="0"/>
                <a:ea typeface="Segoe UI" pitchFamily="34" charset="-122"/>
                <a:cs typeface="Segoe UI" pitchFamily="34" charset="-120"/>
              </a:rPr>
              <a:t>Returned</a:t>
            </a:r>
            <a:endParaRPr lang="en-US" sz="1300" dirty="0"/>
          </a:p>
        </p:txBody>
      </p:sp>
      <p:sp>
        <p:nvSpPr>
          <p:cNvPr id="37" name="Text 33"/>
          <p:cNvSpPr/>
          <p:nvPr/>
        </p:nvSpPr>
        <p:spPr>
          <a:xfrm>
            <a:off x="9727753" y="3282696"/>
            <a:ext cx="1860438" cy="921004"/>
          </a:xfrm>
          <a:prstGeom prst="rect">
            <a:avLst/>
          </a:prstGeom>
          <a:noFill/>
          <a:ln/>
        </p:spPr>
        <p:txBody>
          <a:bodyPr wrap="square" lIns="0" tIns="0" rIns="0" bIns="0" rtlCol="0" anchor="t">
            <a:normAutofit/>
          </a:bodyPr>
          <a:lstStyle/>
          <a:p>
            <a:pPr algn="ctr" indent="0" marL="0">
              <a:buNone/>
            </a:pPr>
            <a:r>
              <a:rPr lang="en-US" sz="1050" dirty="0">
                <a:solidFill>
                  <a:srgbClr val="4C6272"/>
                </a:solidFill>
                <a:latin typeface="Segoe UI" pitchFamily="34" charset="0"/>
                <a:ea typeface="Segoe UI" pitchFamily="34" charset="-122"/>
                <a:cs typeface="Segoe UI" pitchFamily="34" charset="-120"/>
              </a:rPr>
              <a:t>Into the record you already use, in time for the decision you were going to make anyway.</a:t>
            </a:r>
            <a:endParaRPr lang="en-US" sz="1050" dirty="0"/>
          </a:p>
        </p:txBody>
      </p:sp>
      <p:sp>
        <p:nvSpPr>
          <p:cNvPr id="38" name="Shape 34"/>
          <p:cNvSpPr/>
          <p:nvPr/>
        </p:nvSpPr>
        <p:spPr>
          <a:xfrm>
            <a:off x="457200" y="4642612"/>
            <a:ext cx="11277295" cy="720344"/>
          </a:xfrm>
          <a:prstGeom prst="roundRect">
            <a:avLst>
              <a:gd name="adj" fmla="val 12694"/>
            </a:avLst>
          </a:prstGeom>
          <a:solidFill>
            <a:srgbClr val="FFF9EC"/>
          </a:solidFill>
          <a:ln w="9525">
            <a:solidFill>
              <a:srgbClr val="E6C96A"/>
            </a:solidFill>
            <a:prstDash val="solid"/>
          </a:ln>
        </p:spPr>
      </p:sp>
      <p:sp>
        <p:nvSpPr>
          <p:cNvPr id="39" name="Text 35"/>
          <p:cNvSpPr/>
          <p:nvPr/>
        </p:nvSpPr>
        <p:spPr>
          <a:xfrm>
            <a:off x="731520" y="4752340"/>
            <a:ext cx="10728655" cy="500888"/>
          </a:xfrm>
          <a:prstGeom prst="rect">
            <a:avLst/>
          </a:prstGeom>
          <a:noFill/>
          <a:ln/>
        </p:spPr>
        <p:txBody>
          <a:bodyPr wrap="square" lIns="0" tIns="0" rIns="0" bIns="0" rtlCol="0" anchor="ctr">
            <a:normAutofit/>
          </a:bodyPr>
          <a:lstStyle/>
          <a:p>
            <a:pPr indent="0" marL="0">
              <a:buNone/>
            </a:pPr>
            <a:r>
              <a:rPr lang="en-US" sz="1300" b="1" dirty="0">
                <a:solidFill>
                  <a:srgbClr val="003087"/>
                </a:solidFill>
                <a:latin typeface="Segoe UI" pitchFamily="34" charset="0"/>
                <a:ea typeface="Segoe UI" pitchFamily="34" charset="-122"/>
                <a:cs typeface="Segoe UI" pitchFamily="34" charset="-120"/>
              </a:rPr>
              <a:t>One wrapper around all five: the assurance, the logistics, the notifications and the safety net are the platform’s job, not the clinic’s.</a:t>
            </a:r>
            <a:endParaRPr lang="en-US" sz="1300" dirty="0"/>
          </a:p>
        </p:txBody>
      </p:sp>
      <p:sp>
        <p:nvSpPr>
          <p:cNvPr id="40" name="Text 36"/>
          <p:cNvSpPr/>
          <p:nvPr/>
        </p:nvSpPr>
        <p:spPr>
          <a:xfrm>
            <a:off x="457200" y="6455664"/>
            <a:ext cx="4206240" cy="274320"/>
          </a:xfrm>
          <a:prstGeom prst="rect">
            <a:avLst/>
          </a:prstGeom>
          <a:noFill/>
          <a:ln/>
        </p:spPr>
        <p:txBody>
          <a:bodyPr wrap="square" lIns="0" tIns="0" rIns="0" bIns="0" rtlCol="0" anchor="ctr"/>
          <a:lstStyle/>
          <a:p>
            <a:pPr indent="0" marL="0">
              <a:buNone/>
            </a:pPr>
            <a:r>
              <a:rPr lang="en-US" sz="850" dirty="0">
                <a:solidFill>
                  <a:srgbClr val="7E8B97"/>
                </a:solidFill>
                <a:latin typeface="Segoe UI" pitchFamily="34" charset="0"/>
                <a:ea typeface="Segoe UI" pitchFamily="34" charset="-122"/>
                <a:cs typeface="Segoe UI" pitchFamily="34" charset="-120"/>
              </a:rPr>
              <a:t>Hearts and Minds  ·  audience deck No.2  ·  Clinician edition</a:t>
            </a:r>
            <a:endParaRPr lang="en-US" sz="850" dirty="0"/>
          </a:p>
        </p:txBody>
      </p:sp>
      <p:sp>
        <p:nvSpPr>
          <p:cNvPr id="41" name="Text 37"/>
          <p:cNvSpPr/>
          <p:nvPr/>
        </p:nvSpPr>
        <p:spPr>
          <a:xfrm>
            <a:off x="4754880" y="6455664"/>
            <a:ext cx="6430975" cy="274320"/>
          </a:xfrm>
          <a:prstGeom prst="rect">
            <a:avLst/>
          </a:prstGeom>
          <a:noFill/>
          <a:ln/>
        </p:spPr>
        <p:txBody>
          <a:bodyPr wrap="square" lIns="0" tIns="0" rIns="0" bIns="0" rtlCol="0" anchor="ctr"/>
          <a:lstStyle/>
          <a:p>
            <a:pPr algn="r" indent="0" marL="0">
              <a:buNone/>
            </a:pPr>
            <a:r>
              <a:rPr lang="en-US" sz="800" dirty="0">
                <a:solidFill>
                  <a:srgbClr val="7E8B97"/>
                </a:solidFill>
                <a:latin typeface="Segoe UI" pitchFamily="34" charset="0"/>
                <a:ea typeface="Segoe UI" pitchFamily="34" charset="-122"/>
                <a:cs typeface="Segoe UI" pitchFamily="34" charset="-120"/>
              </a:rPr>
              <a:t>Commercial positions are agreed in principle and remain subject to the live procurement.</a:t>
            </a:r>
            <a:endParaRPr lang="en-US" sz="800" dirty="0"/>
          </a:p>
        </p:txBody>
      </p:sp>
      <p:sp>
        <p:nvSpPr>
          <p:cNvPr id="42" name="Text 38"/>
          <p:cNvSpPr/>
          <p:nvPr/>
        </p:nvSpPr>
        <p:spPr>
          <a:xfrm>
            <a:off x="11323015" y="6455664"/>
            <a:ext cx="411480" cy="274320"/>
          </a:xfrm>
          <a:prstGeom prst="rect">
            <a:avLst/>
          </a:prstGeom>
          <a:noFill/>
          <a:ln/>
        </p:spPr>
        <p:txBody>
          <a:bodyPr wrap="square" lIns="0" tIns="0" rIns="0" bIns="0" rtlCol="0" anchor="ctr"/>
          <a:lstStyle/>
          <a:p>
            <a:pPr algn="r" indent="0" marL="0">
              <a:buNone/>
            </a:pPr>
            <a:r>
              <a:rPr lang="en-US" sz="850" b="1" dirty="0">
                <a:solidFill>
                  <a:srgbClr val="7E8B97"/>
                </a:solidFill>
                <a:latin typeface="Segoe UI" pitchFamily="34" charset="0"/>
                <a:ea typeface="Segoe UI" pitchFamily="34" charset="-122"/>
                <a:cs typeface="Segoe UI" pitchFamily="34" charset="-120"/>
              </a:rPr>
              <a:t>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sessions/quirky-zen-galileo/mnt/NHS/07 Sites &amp; Repos/dtx-ecosystem/hearts-and-minds/_generators/assets/bg-band.jpg">    </p:cNvPr>
          <p:cNvPicPr>
            <a:picLocks noChangeAspect="1"/>
          </p:cNvPicPr>
          <p:nvPr/>
        </p:nvPicPr>
        <p:blipFill>
          <a:blip r:embed="rId1"/>
          <a:stretch>
            <a:fillRect/>
          </a:stretch>
        </p:blipFill>
        <p:spPr>
          <a:xfrm>
            <a:off x="0" y="0"/>
            <a:ext cx="12191695" cy="932688"/>
          </a:xfrm>
          <a:prstGeom prst="rect">
            <a:avLst/>
          </a:prstGeom>
        </p:spPr>
      </p:pic>
      <p:sp>
        <p:nvSpPr>
          <p:cNvPr id="3" name="Shape 0"/>
          <p:cNvSpPr/>
          <p:nvPr/>
        </p:nvSpPr>
        <p:spPr>
          <a:xfrm>
            <a:off x="0" y="932688"/>
            <a:ext cx="12191695" cy="50292"/>
          </a:xfrm>
          <a:prstGeom prst="rect">
            <a:avLst/>
          </a:prstGeom>
          <a:solidFill>
            <a:srgbClr val="C9A0E3"/>
          </a:solidFill>
          <a:ln w="12700">
            <a:solidFill>
              <a:srgbClr val="C9A0E3"/>
            </a:solidFill>
            <a:prstDash val="solid"/>
          </a:ln>
        </p:spPr>
      </p:sp>
      <p:sp>
        <p:nvSpPr>
          <p:cNvPr id="4" name="Text 1"/>
          <p:cNvSpPr/>
          <p:nvPr/>
        </p:nvSpPr>
        <p:spPr>
          <a:xfrm>
            <a:off x="502920" y="137160"/>
            <a:ext cx="8595360" cy="256032"/>
          </a:xfrm>
          <a:prstGeom prst="rect">
            <a:avLst/>
          </a:prstGeom>
          <a:noFill/>
          <a:ln/>
        </p:spPr>
        <p:txBody>
          <a:bodyPr wrap="square" lIns="0" tIns="0" rIns="0" bIns="0" rtlCol="0" anchor="ctr"/>
          <a:lstStyle/>
          <a:p>
            <a:pPr indent="0" marL="0">
              <a:buNone/>
            </a:pPr>
            <a:r>
              <a:rPr lang="en-US" sz="950" b="1" spc="240" kern="0" dirty="0">
                <a:solidFill>
                  <a:srgbClr val="FFD66B"/>
                </a:solidFill>
                <a:latin typeface="Segoe UI" pitchFamily="34" charset="0"/>
                <a:ea typeface="Segoe UI" pitchFamily="34" charset="-122"/>
                <a:cs typeface="Segoe UI" pitchFamily="34" charset="-120"/>
              </a:rPr>
              <a:t>THE OBJECTION, ANSWERED FIRST</a:t>
            </a:r>
            <a:endParaRPr lang="en-US" sz="950" dirty="0"/>
          </a:p>
        </p:txBody>
      </p:sp>
      <p:sp>
        <p:nvSpPr>
          <p:cNvPr id="5" name="Text 2"/>
          <p:cNvSpPr/>
          <p:nvPr/>
        </p:nvSpPr>
        <p:spPr>
          <a:xfrm>
            <a:off x="502920" y="402336"/>
            <a:ext cx="9509760" cy="457200"/>
          </a:xfrm>
          <a:prstGeom prst="rect">
            <a:avLst/>
          </a:prstGeom>
          <a:noFill/>
          <a:ln/>
        </p:spPr>
        <p:txBody>
          <a:bodyPr wrap="square" lIns="0" tIns="0" rIns="0" bIns="0" rtlCol="0" anchor="ctr">
            <a:normAutofit/>
          </a:bodyPr>
          <a:lstStyle/>
          <a:p>
            <a:pPr indent="0" marL="0">
              <a:buNone/>
            </a:pPr>
            <a:r>
              <a:rPr lang="en-US" sz="2100" b="1" dirty="0">
                <a:solidFill>
                  <a:srgbClr val="FFFFFF"/>
                </a:solidFill>
                <a:latin typeface="Segoe UI" pitchFamily="34" charset="0"/>
                <a:ea typeface="Segoe UI" pitchFamily="34" charset="-122"/>
                <a:cs typeface="Segoe UI" pitchFamily="34" charset="-120"/>
              </a:rPr>
              <a:t>What changes, and what does not.</a:t>
            </a:r>
            <a:endParaRPr lang="en-US" sz="2100" dirty="0"/>
          </a:p>
        </p:txBody>
      </p:sp>
      <p:sp>
        <p:nvSpPr>
          <p:cNvPr id="6" name="Shape 3"/>
          <p:cNvSpPr/>
          <p:nvPr/>
        </p:nvSpPr>
        <p:spPr>
          <a:xfrm>
            <a:off x="10942806" y="173736"/>
            <a:ext cx="791689" cy="605699"/>
          </a:xfrm>
          <a:prstGeom prst="roundRect">
            <a:avLst>
              <a:gd name="adj" fmla="val 12077"/>
            </a:avLst>
          </a:prstGeom>
          <a:solidFill>
            <a:srgbClr val="FFFFFF"/>
          </a:solidFill>
          <a:ln w="12700">
            <a:solidFill>
              <a:srgbClr val="FFFFFF"/>
            </a:solidFill>
            <a:prstDash val="solid"/>
          </a:ln>
        </p:spPr>
      </p:sp>
      <p:pic>
        <p:nvPicPr>
          <p:cNvPr id="7" name="Image 1" descr="/sessions/quirky-zen-galileo/mnt/NHS/07 Sites &amp; Repos/dtx-ecosystem/hearts-and-minds/_generators/assets/nhs-logo.png">    </p:cNvPr>
          <p:cNvPicPr>
            <a:picLocks noChangeAspect="1"/>
          </p:cNvPicPr>
          <p:nvPr/>
        </p:nvPicPr>
        <p:blipFill>
          <a:blip r:embed="rId2"/>
          <a:stretch>
            <a:fillRect/>
          </a:stretch>
        </p:blipFill>
        <p:spPr>
          <a:xfrm>
            <a:off x="11068993" y="266273"/>
            <a:ext cx="539315" cy="420624"/>
          </a:xfrm>
          <a:prstGeom prst="rect">
            <a:avLst/>
          </a:prstGeom>
        </p:spPr>
      </p:pic>
      <p:sp>
        <p:nvSpPr>
          <p:cNvPr id="8" name="Shape 4"/>
          <p:cNvSpPr/>
          <p:nvPr/>
        </p:nvSpPr>
        <p:spPr>
          <a:xfrm>
            <a:off x="457200" y="2190496"/>
            <a:ext cx="5501488" cy="384048"/>
          </a:xfrm>
          <a:prstGeom prst="rect">
            <a:avLst/>
          </a:prstGeom>
          <a:solidFill>
            <a:srgbClr val="005EB8"/>
          </a:solidFill>
          <a:ln w="12700">
            <a:solidFill>
              <a:srgbClr val="005EB8"/>
            </a:solidFill>
            <a:prstDash val="solid"/>
          </a:ln>
        </p:spPr>
      </p:sp>
      <p:sp>
        <p:nvSpPr>
          <p:cNvPr id="9" name="Text 5"/>
          <p:cNvSpPr/>
          <p:nvPr/>
        </p:nvSpPr>
        <p:spPr>
          <a:xfrm>
            <a:off x="640080" y="2190496"/>
            <a:ext cx="5135728" cy="384048"/>
          </a:xfrm>
          <a:prstGeom prst="rect">
            <a:avLst/>
          </a:prstGeom>
          <a:noFill/>
          <a:ln/>
        </p:spPr>
        <p:txBody>
          <a:bodyPr wrap="square" lIns="0" tIns="0" rIns="0" bIns="0" rtlCol="0" anchor="ctr"/>
          <a:lstStyle/>
          <a:p>
            <a:pPr indent="0" marL="0">
              <a:buNone/>
            </a:pPr>
            <a:r>
              <a:rPr lang="en-US" sz="1050" b="1" spc="180" kern="0" dirty="0">
                <a:solidFill>
                  <a:srgbClr val="FFFFFF"/>
                </a:solidFill>
                <a:latin typeface="Segoe UI" pitchFamily="34" charset="0"/>
                <a:ea typeface="Segoe UI" pitchFamily="34" charset="-122"/>
                <a:cs typeface="Segoe UI" pitchFamily="34" charset="-120"/>
              </a:rPr>
              <a:t>WHAT CHANGES</a:t>
            </a:r>
            <a:endParaRPr lang="en-US" sz="1050" dirty="0"/>
          </a:p>
        </p:txBody>
      </p:sp>
      <p:sp>
        <p:nvSpPr>
          <p:cNvPr id="10" name="Shape 6"/>
          <p:cNvSpPr/>
          <p:nvPr/>
        </p:nvSpPr>
        <p:spPr>
          <a:xfrm>
            <a:off x="457200" y="2574544"/>
            <a:ext cx="5501488" cy="1920240"/>
          </a:xfrm>
          <a:prstGeom prst="rect">
            <a:avLst/>
          </a:prstGeom>
          <a:solidFill>
            <a:srgbClr val="D5E8F0"/>
          </a:solidFill>
          <a:ln w="12700">
            <a:solidFill>
              <a:srgbClr val="D5E8F0"/>
            </a:solidFill>
            <a:prstDash val="solid"/>
          </a:ln>
        </p:spPr>
      </p:sp>
      <p:sp>
        <p:nvSpPr>
          <p:cNvPr id="11" name="Text 7"/>
          <p:cNvSpPr/>
          <p:nvPr/>
        </p:nvSpPr>
        <p:spPr>
          <a:xfrm>
            <a:off x="658368" y="2702560"/>
            <a:ext cx="5099152" cy="1645920"/>
          </a:xfrm>
          <a:prstGeom prst="rect">
            <a:avLst/>
          </a:prstGeom>
          <a:noFill/>
          <a:ln/>
        </p:spPr>
        <p:txBody>
          <a:bodyPr wrap="square" lIns="0" tIns="0" rIns="0" bIns="0" rtlCol="0" anchor="t">
            <a:normAutofit/>
          </a:bodyPr>
          <a:lstStyle/>
          <a:p>
            <a:pPr marL="342900" indent="-342900">
              <a:spcAft>
                <a:spcPts val="900"/>
              </a:spcAft>
              <a:buSzPct val="100000"/>
              <a:buChar char="▪"/>
            </a:pPr>
            <a:r>
              <a:rPr lang="en-US" sz="1200" dirty="0">
                <a:solidFill>
                  <a:srgbClr val="212B32"/>
                </a:solidFill>
                <a:latin typeface="Segoe UI" pitchFamily="34" charset="0"/>
                <a:ea typeface="Segoe UI" pitchFamily="34" charset="-122"/>
                <a:cs typeface="Segoe UI" pitchFamily="34" charset="-120"/>
              </a:rPr>
              <a:t>Where the sample is taken. Kitchen table, not phlebotomy chair.</a:t>
            </a:r>
            <a:endParaRPr lang="en-US" sz="1200" dirty="0"/>
          </a:p>
          <a:p>
            <a:pPr marL="342900" indent="-342900">
              <a:spcAft>
                <a:spcPts val="900"/>
              </a:spcAft>
              <a:buSzPct val="100000"/>
              <a:buChar char="▪"/>
            </a:pPr>
            <a:r>
              <a:rPr lang="en-US" sz="1200" dirty="0">
                <a:solidFill>
                  <a:srgbClr val="212B32"/>
                </a:solidFill>
                <a:latin typeface="Segoe UI" pitchFamily="34" charset="0"/>
                <a:ea typeface="Segoe UI" pitchFamily="34" charset="-122"/>
                <a:cs typeface="Segoe UI" pitchFamily="34" charset="-120"/>
              </a:rPr>
              <a:t>When it is taken. The patient’s time, not a slot in your week.</a:t>
            </a:r>
            <a:endParaRPr lang="en-US" sz="1200" dirty="0"/>
          </a:p>
          <a:p>
            <a:pPr marL="342900" indent="-342900">
              <a:spcAft>
                <a:spcPts val="900"/>
              </a:spcAft>
              <a:buSzPct val="100000"/>
              <a:buChar char="▪"/>
            </a:pPr>
            <a:r>
              <a:rPr lang="en-US" sz="1200" dirty="0">
                <a:solidFill>
                  <a:srgbClr val="212B32"/>
                </a:solidFill>
                <a:latin typeface="Segoe UI" pitchFamily="34" charset="0"/>
                <a:ea typeface="Segoe UI" pitchFamily="34" charset="-122"/>
                <a:cs typeface="Segoe UI" pitchFamily="34" charset="-120"/>
              </a:rPr>
              <a:t>Who carries the logistics, the reminders and the chasing. The platform does.</a:t>
            </a:r>
            <a:endParaRPr lang="en-US" sz="1200" dirty="0"/>
          </a:p>
          <a:p>
            <a:pPr marL="342900" indent="-342900">
              <a:spcAft>
                <a:spcPts val="900"/>
              </a:spcAft>
              <a:buSzPct val="100000"/>
              <a:buChar char="▪"/>
            </a:pPr>
            <a:r>
              <a:rPr lang="en-US" sz="1200" dirty="0">
                <a:solidFill>
                  <a:srgbClr val="212B32"/>
                </a:solidFill>
                <a:latin typeface="Segoe UI" pitchFamily="34" charset="0"/>
                <a:ea typeface="Segoe UI" pitchFamily="34" charset="-122"/>
                <a:cs typeface="Segoe UI" pitchFamily="34" charset="-120"/>
              </a:rPr>
              <a:t>How many people in your cohort actually complete the test.</a:t>
            </a:r>
            <a:endParaRPr lang="en-US" sz="1200" dirty="0"/>
          </a:p>
        </p:txBody>
      </p:sp>
      <p:sp>
        <p:nvSpPr>
          <p:cNvPr id="12" name="Shape 8"/>
          <p:cNvSpPr/>
          <p:nvPr/>
        </p:nvSpPr>
        <p:spPr>
          <a:xfrm>
            <a:off x="6233008" y="2190496"/>
            <a:ext cx="5501488" cy="384048"/>
          </a:xfrm>
          <a:prstGeom prst="rect">
            <a:avLst/>
          </a:prstGeom>
          <a:solidFill>
            <a:srgbClr val="006747"/>
          </a:solidFill>
          <a:ln w="12700">
            <a:solidFill>
              <a:srgbClr val="006747"/>
            </a:solidFill>
            <a:prstDash val="solid"/>
          </a:ln>
        </p:spPr>
      </p:sp>
      <p:sp>
        <p:nvSpPr>
          <p:cNvPr id="13" name="Text 9"/>
          <p:cNvSpPr/>
          <p:nvPr/>
        </p:nvSpPr>
        <p:spPr>
          <a:xfrm>
            <a:off x="6415888" y="2190496"/>
            <a:ext cx="5135728" cy="384048"/>
          </a:xfrm>
          <a:prstGeom prst="rect">
            <a:avLst/>
          </a:prstGeom>
          <a:noFill/>
          <a:ln/>
        </p:spPr>
        <p:txBody>
          <a:bodyPr wrap="square" lIns="0" tIns="0" rIns="0" bIns="0" rtlCol="0" anchor="ctr"/>
          <a:lstStyle/>
          <a:p>
            <a:pPr indent="0" marL="0">
              <a:buNone/>
            </a:pPr>
            <a:r>
              <a:rPr lang="en-US" sz="1050" b="1" spc="180" kern="0" dirty="0">
                <a:solidFill>
                  <a:srgbClr val="FFFFFF"/>
                </a:solidFill>
                <a:latin typeface="Segoe UI" pitchFamily="34" charset="0"/>
                <a:ea typeface="Segoe UI" pitchFamily="34" charset="-122"/>
                <a:cs typeface="Segoe UI" pitchFamily="34" charset="-120"/>
              </a:rPr>
              <a:t>WHAT DOES NOT CHANGE</a:t>
            </a:r>
            <a:endParaRPr lang="en-US" sz="1050" dirty="0"/>
          </a:p>
        </p:txBody>
      </p:sp>
      <p:sp>
        <p:nvSpPr>
          <p:cNvPr id="14" name="Shape 10"/>
          <p:cNvSpPr/>
          <p:nvPr/>
        </p:nvSpPr>
        <p:spPr>
          <a:xfrm>
            <a:off x="6233008" y="2574544"/>
            <a:ext cx="5501488" cy="1920240"/>
          </a:xfrm>
          <a:prstGeom prst="rect">
            <a:avLst/>
          </a:prstGeom>
          <a:solidFill>
            <a:srgbClr val="E8F3EE"/>
          </a:solidFill>
          <a:ln w="12700">
            <a:solidFill>
              <a:srgbClr val="E8F3EE"/>
            </a:solidFill>
            <a:prstDash val="solid"/>
          </a:ln>
        </p:spPr>
      </p:sp>
      <p:sp>
        <p:nvSpPr>
          <p:cNvPr id="15" name="Text 11"/>
          <p:cNvSpPr/>
          <p:nvPr/>
        </p:nvSpPr>
        <p:spPr>
          <a:xfrm>
            <a:off x="6434176" y="2702560"/>
            <a:ext cx="5099152" cy="1645920"/>
          </a:xfrm>
          <a:prstGeom prst="rect">
            <a:avLst/>
          </a:prstGeom>
          <a:noFill/>
          <a:ln/>
        </p:spPr>
        <p:txBody>
          <a:bodyPr wrap="square" lIns="0" tIns="0" rIns="0" bIns="0" rtlCol="0" anchor="t">
            <a:normAutofit/>
          </a:bodyPr>
          <a:lstStyle/>
          <a:p>
            <a:pPr marL="342900" indent="-342900">
              <a:spcAft>
                <a:spcPts val="900"/>
              </a:spcAft>
              <a:buSzPct val="100000"/>
              <a:buChar char="▪"/>
            </a:pPr>
            <a:r>
              <a:rPr lang="en-US" sz="1200" dirty="0">
                <a:solidFill>
                  <a:srgbClr val="212B32"/>
                </a:solidFill>
                <a:latin typeface="Segoe UI" pitchFamily="34" charset="0"/>
                <a:ea typeface="Segoe UI" pitchFamily="34" charset="-122"/>
                <a:cs typeface="Segoe UI" pitchFamily="34" charset="-120"/>
              </a:rPr>
              <a:t>Who orders. The clinician, on the clinical indication.</a:t>
            </a:r>
            <a:endParaRPr lang="en-US" sz="1200" dirty="0"/>
          </a:p>
          <a:p>
            <a:pPr marL="342900" indent="-342900">
              <a:spcAft>
                <a:spcPts val="900"/>
              </a:spcAft>
              <a:buSzPct val="100000"/>
              <a:buChar char="▪"/>
            </a:pPr>
            <a:r>
              <a:rPr lang="en-US" sz="1200" dirty="0">
                <a:solidFill>
                  <a:srgbClr val="212B32"/>
                </a:solidFill>
                <a:latin typeface="Segoe UI" pitchFamily="34" charset="0"/>
                <a:ea typeface="Segoe UI" pitchFamily="34" charset="-122"/>
                <a:cs typeface="Segoe UI" pitchFamily="34" charset="-120"/>
              </a:rPr>
              <a:t>Who is accountable for the result and the decision that follows.</a:t>
            </a:r>
            <a:endParaRPr lang="en-US" sz="1200" dirty="0"/>
          </a:p>
          <a:p>
            <a:pPr marL="342900" indent="-342900">
              <a:spcAft>
                <a:spcPts val="900"/>
              </a:spcAft>
              <a:buSzPct val="100000"/>
              <a:buChar char="▪"/>
            </a:pPr>
            <a:r>
              <a:rPr lang="en-US" sz="1200" dirty="0">
                <a:solidFill>
                  <a:srgbClr val="212B32"/>
                </a:solidFill>
                <a:latin typeface="Segoe UI" pitchFamily="34" charset="0"/>
                <a:ea typeface="Segoe UI" pitchFamily="34" charset="-122"/>
                <a:cs typeface="Segoe UI" pitchFamily="34" charset="-120"/>
              </a:rPr>
              <a:t>The thresholds, the guideline pathway and the escalation route.</a:t>
            </a:r>
            <a:endParaRPr lang="en-US" sz="1200" dirty="0"/>
          </a:p>
          <a:p>
            <a:pPr marL="342900" indent="-342900">
              <a:spcAft>
                <a:spcPts val="900"/>
              </a:spcAft>
              <a:buSzPct val="100000"/>
              <a:buChar char="▪"/>
            </a:pPr>
            <a:r>
              <a:rPr lang="en-US" sz="1200" dirty="0">
                <a:solidFill>
                  <a:srgbClr val="212B32"/>
                </a:solidFill>
                <a:latin typeface="Segoe UI" pitchFamily="34" charset="0"/>
                <a:ea typeface="Segoe UI" pitchFamily="34" charset="-122"/>
                <a:cs typeface="Segoe UI" pitchFamily="34" charset="-120"/>
              </a:rPr>
              <a:t>The record. The result lands in the same place, with the same governance.</a:t>
            </a:r>
            <a:endParaRPr lang="en-US" sz="1200" dirty="0"/>
          </a:p>
        </p:txBody>
      </p:sp>
      <p:sp>
        <p:nvSpPr>
          <p:cNvPr id="16" name="Shape 12"/>
          <p:cNvSpPr/>
          <p:nvPr/>
        </p:nvSpPr>
        <p:spPr>
          <a:xfrm>
            <a:off x="457200" y="4769104"/>
            <a:ext cx="11277295" cy="515620"/>
          </a:xfrm>
          <a:prstGeom prst="roundRect">
            <a:avLst>
              <a:gd name="adj" fmla="val 17734"/>
            </a:avLst>
          </a:prstGeom>
          <a:solidFill>
            <a:srgbClr val="FFF9EC"/>
          </a:solidFill>
          <a:ln w="9525">
            <a:solidFill>
              <a:srgbClr val="E6C96A"/>
            </a:solidFill>
            <a:prstDash val="solid"/>
          </a:ln>
        </p:spPr>
      </p:sp>
      <p:sp>
        <p:nvSpPr>
          <p:cNvPr id="17" name="Text 13"/>
          <p:cNvSpPr/>
          <p:nvPr/>
        </p:nvSpPr>
        <p:spPr>
          <a:xfrm>
            <a:off x="731520" y="4860544"/>
            <a:ext cx="10728655" cy="332740"/>
          </a:xfrm>
          <a:prstGeom prst="rect">
            <a:avLst/>
          </a:prstGeom>
          <a:noFill/>
          <a:ln/>
        </p:spPr>
        <p:txBody>
          <a:bodyPr wrap="square" lIns="0" tIns="0" rIns="0" bIns="0" rtlCol="0" anchor="ctr">
            <a:normAutofit/>
          </a:bodyPr>
          <a:lstStyle/>
          <a:p>
            <a:pPr indent="0" marL="0">
              <a:buNone/>
            </a:pPr>
            <a:r>
              <a:rPr lang="en-US" sz="1300" b="1" dirty="0">
                <a:solidFill>
                  <a:srgbClr val="003087"/>
                </a:solidFill>
                <a:latin typeface="Segoe UI" pitchFamily="34" charset="0"/>
                <a:ea typeface="Segoe UI" pitchFamily="34" charset="-122"/>
                <a:cs typeface="Segoe UI" pitchFamily="34" charset="-120"/>
              </a:rPr>
              <a:t>The kit changes the venue of the blood. It does not change the medicine, and it does not move clinical accountability anywhere.</a:t>
            </a:r>
            <a:endParaRPr lang="en-US" sz="1300" dirty="0"/>
          </a:p>
        </p:txBody>
      </p:sp>
      <p:sp>
        <p:nvSpPr>
          <p:cNvPr id="18" name="Text 14"/>
          <p:cNvSpPr/>
          <p:nvPr/>
        </p:nvSpPr>
        <p:spPr>
          <a:xfrm>
            <a:off x="457200" y="6455664"/>
            <a:ext cx="4206240" cy="274320"/>
          </a:xfrm>
          <a:prstGeom prst="rect">
            <a:avLst/>
          </a:prstGeom>
          <a:noFill/>
          <a:ln/>
        </p:spPr>
        <p:txBody>
          <a:bodyPr wrap="square" lIns="0" tIns="0" rIns="0" bIns="0" rtlCol="0" anchor="ctr"/>
          <a:lstStyle/>
          <a:p>
            <a:pPr indent="0" marL="0">
              <a:buNone/>
            </a:pPr>
            <a:r>
              <a:rPr lang="en-US" sz="850" dirty="0">
                <a:solidFill>
                  <a:srgbClr val="7E8B97"/>
                </a:solidFill>
                <a:latin typeface="Segoe UI" pitchFamily="34" charset="0"/>
                <a:ea typeface="Segoe UI" pitchFamily="34" charset="-122"/>
                <a:cs typeface="Segoe UI" pitchFamily="34" charset="-120"/>
              </a:rPr>
              <a:t>Hearts and Minds  ·  audience deck No.2  ·  Clinician edition</a:t>
            </a:r>
            <a:endParaRPr lang="en-US" sz="850" dirty="0"/>
          </a:p>
        </p:txBody>
      </p:sp>
      <p:sp>
        <p:nvSpPr>
          <p:cNvPr id="19" name="Text 15"/>
          <p:cNvSpPr/>
          <p:nvPr/>
        </p:nvSpPr>
        <p:spPr>
          <a:xfrm>
            <a:off x="4754880" y="6455664"/>
            <a:ext cx="6430975" cy="274320"/>
          </a:xfrm>
          <a:prstGeom prst="rect">
            <a:avLst/>
          </a:prstGeom>
          <a:noFill/>
          <a:ln/>
        </p:spPr>
        <p:txBody>
          <a:bodyPr wrap="square" lIns="0" tIns="0" rIns="0" bIns="0" rtlCol="0" anchor="ctr"/>
          <a:lstStyle/>
          <a:p>
            <a:pPr algn="r" indent="0" marL="0">
              <a:buNone/>
            </a:pPr>
            <a:r>
              <a:rPr lang="en-US" sz="800" dirty="0">
                <a:solidFill>
                  <a:srgbClr val="7E8B97"/>
                </a:solidFill>
                <a:latin typeface="Segoe UI" pitchFamily="34" charset="0"/>
                <a:ea typeface="Segoe UI" pitchFamily="34" charset="-122"/>
                <a:cs typeface="Segoe UI" pitchFamily="34" charset="-120"/>
              </a:rPr>
              <a:t>Commercial positions are agreed in principle and remain subject to the live procurement.</a:t>
            </a:r>
            <a:endParaRPr lang="en-US" sz="800" dirty="0"/>
          </a:p>
        </p:txBody>
      </p:sp>
      <p:sp>
        <p:nvSpPr>
          <p:cNvPr id="20" name="Text 16"/>
          <p:cNvSpPr/>
          <p:nvPr/>
        </p:nvSpPr>
        <p:spPr>
          <a:xfrm>
            <a:off x="11323015" y="6455664"/>
            <a:ext cx="411480" cy="274320"/>
          </a:xfrm>
          <a:prstGeom prst="rect">
            <a:avLst/>
          </a:prstGeom>
          <a:noFill/>
          <a:ln/>
        </p:spPr>
        <p:txBody>
          <a:bodyPr wrap="square" lIns="0" tIns="0" rIns="0" bIns="0" rtlCol="0" anchor="ctr"/>
          <a:lstStyle/>
          <a:p>
            <a:pPr algn="r" indent="0" marL="0">
              <a:buNone/>
            </a:pPr>
            <a:r>
              <a:rPr lang="en-US" sz="850" b="1" dirty="0">
                <a:solidFill>
                  <a:srgbClr val="7E8B97"/>
                </a:solidFill>
                <a:latin typeface="Segoe UI" pitchFamily="34" charset="0"/>
                <a:ea typeface="Segoe UI" pitchFamily="34" charset="-122"/>
                <a:cs typeface="Segoe UI" pitchFamily="34" charset="-120"/>
              </a:rPr>
              <a:t>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sessions/quirky-zen-galileo/mnt/NHS/07 Sites &amp; Repos/dtx-ecosystem/hearts-and-minds/_generators/assets/bg-band.jpg">    </p:cNvPr>
          <p:cNvPicPr>
            <a:picLocks noChangeAspect="1"/>
          </p:cNvPicPr>
          <p:nvPr/>
        </p:nvPicPr>
        <p:blipFill>
          <a:blip r:embed="rId1"/>
          <a:stretch>
            <a:fillRect/>
          </a:stretch>
        </p:blipFill>
        <p:spPr>
          <a:xfrm>
            <a:off x="0" y="0"/>
            <a:ext cx="12191695" cy="932688"/>
          </a:xfrm>
          <a:prstGeom prst="rect">
            <a:avLst/>
          </a:prstGeom>
        </p:spPr>
      </p:pic>
      <p:sp>
        <p:nvSpPr>
          <p:cNvPr id="3" name="Shape 0"/>
          <p:cNvSpPr/>
          <p:nvPr/>
        </p:nvSpPr>
        <p:spPr>
          <a:xfrm>
            <a:off x="0" y="932688"/>
            <a:ext cx="12191695" cy="50292"/>
          </a:xfrm>
          <a:prstGeom prst="rect">
            <a:avLst/>
          </a:prstGeom>
          <a:solidFill>
            <a:srgbClr val="C9A0E3"/>
          </a:solidFill>
          <a:ln w="12700">
            <a:solidFill>
              <a:srgbClr val="C9A0E3"/>
            </a:solidFill>
            <a:prstDash val="solid"/>
          </a:ln>
        </p:spPr>
      </p:sp>
      <p:sp>
        <p:nvSpPr>
          <p:cNvPr id="4" name="Text 1"/>
          <p:cNvSpPr/>
          <p:nvPr/>
        </p:nvSpPr>
        <p:spPr>
          <a:xfrm>
            <a:off x="502920" y="137160"/>
            <a:ext cx="8595360" cy="256032"/>
          </a:xfrm>
          <a:prstGeom prst="rect">
            <a:avLst/>
          </a:prstGeom>
          <a:noFill/>
          <a:ln/>
        </p:spPr>
        <p:txBody>
          <a:bodyPr wrap="square" lIns="0" tIns="0" rIns="0" bIns="0" rtlCol="0" anchor="ctr"/>
          <a:lstStyle/>
          <a:p>
            <a:pPr indent="0" marL="0">
              <a:buNone/>
            </a:pPr>
            <a:r>
              <a:rPr lang="en-US" sz="950" b="1" spc="240" kern="0" dirty="0">
                <a:solidFill>
                  <a:srgbClr val="FFD66B"/>
                </a:solidFill>
                <a:latin typeface="Segoe UI" pitchFamily="34" charset="0"/>
                <a:ea typeface="Segoe UI" pitchFamily="34" charset="-122"/>
                <a:cs typeface="Segoe UI" pitchFamily="34" charset="-120"/>
              </a:rPr>
              <a:t>WHAT SITS BEHIND THE KIT</a:t>
            </a:r>
            <a:endParaRPr lang="en-US" sz="950" dirty="0"/>
          </a:p>
        </p:txBody>
      </p:sp>
      <p:sp>
        <p:nvSpPr>
          <p:cNvPr id="5" name="Text 2"/>
          <p:cNvSpPr/>
          <p:nvPr/>
        </p:nvSpPr>
        <p:spPr>
          <a:xfrm>
            <a:off x="502920" y="402336"/>
            <a:ext cx="9509760" cy="457200"/>
          </a:xfrm>
          <a:prstGeom prst="rect">
            <a:avLst/>
          </a:prstGeom>
          <a:noFill/>
          <a:ln/>
        </p:spPr>
        <p:txBody>
          <a:bodyPr wrap="square" lIns="0" tIns="0" rIns="0" bIns="0" rtlCol="0" anchor="ctr">
            <a:normAutofit/>
          </a:bodyPr>
          <a:lstStyle/>
          <a:p>
            <a:pPr indent="0" marL="0">
              <a:buNone/>
            </a:pPr>
            <a:r>
              <a:rPr lang="en-US" sz="2050" b="1" dirty="0">
                <a:solidFill>
                  <a:srgbClr val="FFFFFF"/>
                </a:solidFill>
                <a:latin typeface="Segoe UI" pitchFamily="34" charset="0"/>
                <a:ea typeface="Segoe UI" pitchFamily="34" charset="-122"/>
                <a:cs typeface="Segoe UI" pitchFamily="34" charset="-120"/>
              </a:rPr>
              <a:t>The assurance was done nationally, before anyone asked you to trust it.</a:t>
            </a:r>
            <a:endParaRPr lang="en-US" sz="2050" dirty="0"/>
          </a:p>
        </p:txBody>
      </p:sp>
      <p:sp>
        <p:nvSpPr>
          <p:cNvPr id="6" name="Shape 3"/>
          <p:cNvSpPr/>
          <p:nvPr/>
        </p:nvSpPr>
        <p:spPr>
          <a:xfrm>
            <a:off x="10942806" y="173736"/>
            <a:ext cx="791689" cy="605699"/>
          </a:xfrm>
          <a:prstGeom prst="roundRect">
            <a:avLst>
              <a:gd name="adj" fmla="val 12077"/>
            </a:avLst>
          </a:prstGeom>
          <a:solidFill>
            <a:srgbClr val="FFFFFF"/>
          </a:solidFill>
          <a:ln w="12700">
            <a:solidFill>
              <a:srgbClr val="FFFFFF"/>
            </a:solidFill>
            <a:prstDash val="solid"/>
          </a:ln>
        </p:spPr>
      </p:sp>
      <p:pic>
        <p:nvPicPr>
          <p:cNvPr id="7" name="Image 1" descr="/sessions/quirky-zen-galileo/mnt/NHS/07 Sites &amp; Repos/dtx-ecosystem/hearts-and-minds/_generators/assets/nhs-logo.png">    </p:cNvPr>
          <p:cNvPicPr>
            <a:picLocks noChangeAspect="1"/>
          </p:cNvPicPr>
          <p:nvPr/>
        </p:nvPicPr>
        <p:blipFill>
          <a:blip r:embed="rId2"/>
          <a:stretch>
            <a:fillRect/>
          </a:stretch>
        </p:blipFill>
        <p:spPr>
          <a:xfrm>
            <a:off x="11068993" y="266273"/>
            <a:ext cx="539315" cy="420624"/>
          </a:xfrm>
          <a:prstGeom prst="rect">
            <a:avLst/>
          </a:prstGeom>
        </p:spPr>
      </p:pic>
      <p:sp>
        <p:nvSpPr>
          <p:cNvPr id="8" name="Shape 4"/>
          <p:cNvSpPr/>
          <p:nvPr/>
        </p:nvSpPr>
        <p:spPr>
          <a:xfrm>
            <a:off x="457200" y="2072894"/>
            <a:ext cx="5510632" cy="1545844"/>
          </a:xfrm>
          <a:prstGeom prst="roundRect">
            <a:avLst>
              <a:gd name="adj" fmla="val 5915"/>
            </a:avLst>
          </a:prstGeom>
          <a:solidFill>
            <a:srgbClr val="F8FAFC"/>
          </a:solidFill>
          <a:ln w="9525">
            <a:solidFill>
              <a:srgbClr val="EBEEF1"/>
            </a:solidFill>
            <a:prstDash val="solid"/>
          </a:ln>
        </p:spPr>
      </p:sp>
      <p:sp>
        <p:nvSpPr>
          <p:cNvPr id="9" name="Shape 5"/>
          <p:cNvSpPr/>
          <p:nvPr/>
        </p:nvSpPr>
        <p:spPr>
          <a:xfrm>
            <a:off x="457200" y="2072894"/>
            <a:ext cx="5510632" cy="64008"/>
          </a:xfrm>
          <a:prstGeom prst="rect">
            <a:avLst/>
          </a:prstGeom>
          <a:solidFill>
            <a:srgbClr val="C9A0E3"/>
          </a:solidFill>
          <a:ln w="12700">
            <a:solidFill>
              <a:srgbClr val="C9A0E3"/>
            </a:solidFill>
            <a:prstDash val="solid"/>
          </a:ln>
        </p:spPr>
      </p:sp>
      <p:sp>
        <p:nvSpPr>
          <p:cNvPr id="10" name="Text 6"/>
          <p:cNvSpPr/>
          <p:nvPr/>
        </p:nvSpPr>
        <p:spPr>
          <a:xfrm>
            <a:off x="676656" y="2255774"/>
            <a:ext cx="5071720" cy="291084"/>
          </a:xfrm>
          <a:prstGeom prst="rect">
            <a:avLst/>
          </a:prstGeom>
          <a:noFill/>
          <a:ln/>
        </p:spPr>
        <p:txBody>
          <a:bodyPr wrap="square" lIns="0" tIns="0" rIns="0" bIns="0" rtlCol="0" anchor="t">
            <a:normAutofit/>
          </a:bodyPr>
          <a:lstStyle/>
          <a:p>
            <a:pPr indent="0" marL="0">
              <a:buNone/>
            </a:pPr>
            <a:r>
              <a:rPr lang="en-US" sz="1500" b="1" dirty="0">
                <a:solidFill>
                  <a:srgbClr val="003087"/>
                </a:solidFill>
                <a:latin typeface="Segoe UI" pitchFamily="34" charset="0"/>
                <a:ea typeface="Segoe UI" pitchFamily="34" charset="-122"/>
                <a:cs typeface="Segoe UI" pitchFamily="34" charset="-120"/>
              </a:rPr>
              <a:t>The company, once</a:t>
            </a:r>
            <a:endParaRPr lang="en-US" sz="1500" dirty="0"/>
          </a:p>
        </p:txBody>
      </p:sp>
      <p:sp>
        <p:nvSpPr>
          <p:cNvPr id="11" name="Text 7"/>
          <p:cNvSpPr/>
          <p:nvPr/>
        </p:nvSpPr>
        <p:spPr>
          <a:xfrm>
            <a:off x="676656" y="2620010"/>
            <a:ext cx="5071720" cy="815848"/>
          </a:xfrm>
          <a:prstGeom prst="rect">
            <a:avLst/>
          </a:prstGeom>
          <a:noFill/>
          <a:ln/>
        </p:spPr>
        <p:txBody>
          <a:bodyPr wrap="square" lIns="0" tIns="0" rIns="0" bIns="0" rtlCol="0" anchor="t">
            <a:normAutofit/>
          </a:bodyPr>
          <a:lstStyle/>
          <a:p>
            <a:pPr indent="0" marL="0">
              <a:buNone/>
            </a:pPr>
            <a:r>
              <a:rPr lang="en-US" sz="1100" dirty="0">
                <a:solidFill>
                  <a:srgbClr val="212B32"/>
                </a:solidFill>
                <a:latin typeface="Segoe UI" pitchFamily="34" charset="0"/>
                <a:ea typeface="Segoe UI" pitchFamily="34" charset="-122"/>
                <a:cs typeface="Segoe UI" pitchFamily="34" charset="-120"/>
              </a:rPr>
              <a:t>Tier 1 assurance through the Master SCAL: corporate standing, cyber, information governance, clinical safety governance, plus financial standing added by the framework. Passed once, reused by every commissioner.</a:t>
            </a:r>
            <a:endParaRPr lang="en-US" sz="1100" dirty="0"/>
          </a:p>
        </p:txBody>
      </p:sp>
      <p:sp>
        <p:nvSpPr>
          <p:cNvPr id="12" name="Shape 8"/>
          <p:cNvSpPr/>
          <p:nvPr/>
        </p:nvSpPr>
        <p:spPr>
          <a:xfrm>
            <a:off x="6223864" y="2072894"/>
            <a:ext cx="5510632" cy="1545844"/>
          </a:xfrm>
          <a:prstGeom prst="roundRect">
            <a:avLst>
              <a:gd name="adj" fmla="val 5915"/>
            </a:avLst>
          </a:prstGeom>
          <a:solidFill>
            <a:srgbClr val="F8FAFC"/>
          </a:solidFill>
          <a:ln w="9525">
            <a:solidFill>
              <a:srgbClr val="EBEEF1"/>
            </a:solidFill>
            <a:prstDash val="solid"/>
          </a:ln>
        </p:spPr>
      </p:sp>
      <p:sp>
        <p:nvSpPr>
          <p:cNvPr id="13" name="Shape 9"/>
          <p:cNvSpPr/>
          <p:nvPr/>
        </p:nvSpPr>
        <p:spPr>
          <a:xfrm>
            <a:off x="6223864" y="2072894"/>
            <a:ext cx="5510632" cy="64008"/>
          </a:xfrm>
          <a:prstGeom prst="rect">
            <a:avLst/>
          </a:prstGeom>
          <a:solidFill>
            <a:srgbClr val="C9A0E3"/>
          </a:solidFill>
          <a:ln w="12700">
            <a:solidFill>
              <a:srgbClr val="C9A0E3"/>
            </a:solidFill>
            <a:prstDash val="solid"/>
          </a:ln>
        </p:spPr>
      </p:sp>
      <p:sp>
        <p:nvSpPr>
          <p:cNvPr id="14" name="Text 10"/>
          <p:cNvSpPr/>
          <p:nvPr/>
        </p:nvSpPr>
        <p:spPr>
          <a:xfrm>
            <a:off x="6443320" y="2255774"/>
            <a:ext cx="5071720" cy="291084"/>
          </a:xfrm>
          <a:prstGeom prst="rect">
            <a:avLst/>
          </a:prstGeom>
          <a:noFill/>
          <a:ln/>
        </p:spPr>
        <p:txBody>
          <a:bodyPr wrap="square" lIns="0" tIns="0" rIns="0" bIns="0" rtlCol="0" anchor="t">
            <a:normAutofit/>
          </a:bodyPr>
          <a:lstStyle/>
          <a:p>
            <a:pPr indent="0" marL="0">
              <a:buNone/>
            </a:pPr>
            <a:r>
              <a:rPr lang="en-US" sz="1500" b="1" dirty="0">
                <a:solidFill>
                  <a:srgbClr val="003087"/>
                </a:solidFill>
                <a:latin typeface="Segoe UI" pitchFamily="34" charset="0"/>
                <a:ea typeface="Segoe UI" pitchFamily="34" charset="-122"/>
                <a:cs typeface="Segoe UI" pitchFamily="34" charset="-120"/>
              </a:rPr>
              <a:t>The test, per category</a:t>
            </a:r>
            <a:endParaRPr lang="en-US" sz="1500" dirty="0"/>
          </a:p>
        </p:txBody>
      </p:sp>
      <p:sp>
        <p:nvSpPr>
          <p:cNvPr id="15" name="Text 11"/>
          <p:cNvSpPr/>
          <p:nvPr/>
        </p:nvSpPr>
        <p:spPr>
          <a:xfrm>
            <a:off x="6443320" y="2620010"/>
            <a:ext cx="5071720" cy="815848"/>
          </a:xfrm>
          <a:prstGeom prst="rect">
            <a:avLst/>
          </a:prstGeom>
          <a:noFill/>
          <a:ln/>
        </p:spPr>
        <p:txBody>
          <a:bodyPr wrap="square" lIns="0" tIns="0" rIns="0" bIns="0" rtlCol="0" anchor="t">
            <a:normAutofit/>
          </a:bodyPr>
          <a:lstStyle/>
          <a:p>
            <a:pPr indent="0" marL="0">
              <a:buNone/>
            </a:pPr>
            <a:r>
              <a:rPr lang="en-US" sz="1150" dirty="0">
                <a:solidFill>
                  <a:srgbClr val="212B32"/>
                </a:solidFill>
                <a:latin typeface="Segoe UI" pitchFamily="34" charset="0"/>
                <a:ea typeface="Segoe UI" pitchFamily="34" charset="-122"/>
                <a:cs typeface="Segoe UI" pitchFamily="34" charset="-120"/>
              </a:rPr>
              <a:t>Tier 2 at the category gate: clinical evidence including non-inferiority, UKAS accreditation for the named test, MHRA-conformant kit, and API and journey conformance for that test.</a:t>
            </a:r>
            <a:endParaRPr lang="en-US" sz="1150" dirty="0"/>
          </a:p>
        </p:txBody>
      </p:sp>
      <p:sp>
        <p:nvSpPr>
          <p:cNvPr id="16" name="Shape 12"/>
          <p:cNvSpPr/>
          <p:nvPr/>
        </p:nvSpPr>
        <p:spPr>
          <a:xfrm>
            <a:off x="457200" y="3856482"/>
            <a:ext cx="5510632" cy="1545844"/>
          </a:xfrm>
          <a:prstGeom prst="roundRect">
            <a:avLst>
              <a:gd name="adj" fmla="val 5915"/>
            </a:avLst>
          </a:prstGeom>
          <a:solidFill>
            <a:srgbClr val="F8FAFC"/>
          </a:solidFill>
          <a:ln w="9525">
            <a:solidFill>
              <a:srgbClr val="EBEEF1"/>
            </a:solidFill>
            <a:prstDash val="solid"/>
          </a:ln>
        </p:spPr>
      </p:sp>
      <p:sp>
        <p:nvSpPr>
          <p:cNvPr id="17" name="Shape 13"/>
          <p:cNvSpPr/>
          <p:nvPr/>
        </p:nvSpPr>
        <p:spPr>
          <a:xfrm>
            <a:off x="457200" y="3856482"/>
            <a:ext cx="5510632" cy="64008"/>
          </a:xfrm>
          <a:prstGeom prst="rect">
            <a:avLst/>
          </a:prstGeom>
          <a:solidFill>
            <a:srgbClr val="C9A0E3"/>
          </a:solidFill>
          <a:ln w="12700">
            <a:solidFill>
              <a:srgbClr val="C9A0E3"/>
            </a:solidFill>
            <a:prstDash val="solid"/>
          </a:ln>
        </p:spPr>
      </p:sp>
      <p:sp>
        <p:nvSpPr>
          <p:cNvPr id="18" name="Text 14"/>
          <p:cNvSpPr/>
          <p:nvPr/>
        </p:nvSpPr>
        <p:spPr>
          <a:xfrm>
            <a:off x="676656" y="4039362"/>
            <a:ext cx="5071720" cy="291084"/>
          </a:xfrm>
          <a:prstGeom prst="rect">
            <a:avLst/>
          </a:prstGeom>
          <a:noFill/>
          <a:ln/>
        </p:spPr>
        <p:txBody>
          <a:bodyPr wrap="square" lIns="0" tIns="0" rIns="0" bIns="0" rtlCol="0" anchor="t">
            <a:normAutofit/>
          </a:bodyPr>
          <a:lstStyle/>
          <a:p>
            <a:pPr indent="0" marL="0">
              <a:buNone/>
            </a:pPr>
            <a:r>
              <a:rPr lang="en-US" sz="1500" b="1" dirty="0">
                <a:solidFill>
                  <a:srgbClr val="003087"/>
                </a:solidFill>
                <a:latin typeface="Segoe UI" pitchFamily="34" charset="0"/>
                <a:ea typeface="Segoe UI" pitchFamily="34" charset="-122"/>
                <a:cs typeface="Segoe UI" pitchFamily="34" charset="-120"/>
              </a:rPr>
              <a:t>The safety case</a:t>
            </a:r>
            <a:endParaRPr lang="en-US" sz="1500" dirty="0"/>
          </a:p>
        </p:txBody>
      </p:sp>
      <p:sp>
        <p:nvSpPr>
          <p:cNvPr id="19" name="Text 15"/>
          <p:cNvSpPr/>
          <p:nvPr/>
        </p:nvSpPr>
        <p:spPr>
          <a:xfrm>
            <a:off x="676656" y="4403598"/>
            <a:ext cx="5071720" cy="815848"/>
          </a:xfrm>
          <a:prstGeom prst="rect">
            <a:avLst/>
          </a:prstGeom>
          <a:noFill/>
          <a:ln/>
        </p:spPr>
        <p:txBody>
          <a:bodyPr wrap="square" lIns="0" tIns="0" rIns="0" bIns="0" rtlCol="0" anchor="t">
            <a:normAutofit/>
          </a:bodyPr>
          <a:lstStyle/>
          <a:p>
            <a:pPr indent="0" marL="0">
              <a:buNone/>
            </a:pPr>
            <a:r>
              <a:rPr lang="en-US" sz="1150" dirty="0">
                <a:solidFill>
                  <a:srgbClr val="212B32"/>
                </a:solidFill>
                <a:latin typeface="Segoe UI" pitchFamily="34" charset="0"/>
                <a:ea typeface="Segoe UI" pitchFamily="34" charset="-122"/>
                <a:cs typeface="Segoe UI" pitchFamily="34" charset="-120"/>
              </a:rPr>
              <a:t>DCB0129 and DCB0160 executed before go-live for each configuration, with the hazard log and clinical safety officer named. IG artefacts, DPIA and data-sharing agreements executed before the first kit ships.</a:t>
            </a:r>
            <a:endParaRPr lang="en-US" sz="1150" dirty="0"/>
          </a:p>
        </p:txBody>
      </p:sp>
      <p:sp>
        <p:nvSpPr>
          <p:cNvPr id="20" name="Shape 16"/>
          <p:cNvSpPr/>
          <p:nvPr/>
        </p:nvSpPr>
        <p:spPr>
          <a:xfrm>
            <a:off x="6223864" y="3856482"/>
            <a:ext cx="5510632" cy="1545844"/>
          </a:xfrm>
          <a:prstGeom prst="roundRect">
            <a:avLst>
              <a:gd name="adj" fmla="val 5915"/>
            </a:avLst>
          </a:prstGeom>
          <a:solidFill>
            <a:srgbClr val="F8FAFC"/>
          </a:solidFill>
          <a:ln w="9525">
            <a:solidFill>
              <a:srgbClr val="EBEEF1"/>
            </a:solidFill>
            <a:prstDash val="solid"/>
          </a:ln>
        </p:spPr>
      </p:sp>
      <p:sp>
        <p:nvSpPr>
          <p:cNvPr id="21" name="Shape 17"/>
          <p:cNvSpPr/>
          <p:nvPr/>
        </p:nvSpPr>
        <p:spPr>
          <a:xfrm>
            <a:off x="6223864" y="3856482"/>
            <a:ext cx="5510632" cy="64008"/>
          </a:xfrm>
          <a:prstGeom prst="rect">
            <a:avLst/>
          </a:prstGeom>
          <a:solidFill>
            <a:srgbClr val="C9A0E3"/>
          </a:solidFill>
          <a:ln w="12700">
            <a:solidFill>
              <a:srgbClr val="C9A0E3"/>
            </a:solidFill>
            <a:prstDash val="solid"/>
          </a:ln>
        </p:spPr>
      </p:sp>
      <p:sp>
        <p:nvSpPr>
          <p:cNvPr id="22" name="Text 18"/>
          <p:cNvSpPr/>
          <p:nvPr/>
        </p:nvSpPr>
        <p:spPr>
          <a:xfrm>
            <a:off x="6443320" y="4039362"/>
            <a:ext cx="5071720" cy="291084"/>
          </a:xfrm>
          <a:prstGeom prst="rect">
            <a:avLst/>
          </a:prstGeom>
          <a:noFill/>
          <a:ln/>
        </p:spPr>
        <p:txBody>
          <a:bodyPr wrap="square" lIns="0" tIns="0" rIns="0" bIns="0" rtlCol="0" anchor="t">
            <a:normAutofit/>
          </a:bodyPr>
          <a:lstStyle/>
          <a:p>
            <a:pPr indent="0" marL="0">
              <a:buNone/>
            </a:pPr>
            <a:r>
              <a:rPr lang="en-US" sz="1500" b="1" dirty="0">
                <a:solidFill>
                  <a:srgbClr val="003087"/>
                </a:solidFill>
                <a:latin typeface="Segoe UI" pitchFamily="34" charset="0"/>
                <a:ea typeface="Segoe UI" pitchFamily="34" charset="-122"/>
                <a:cs typeface="Segoe UI" pitchFamily="34" charset="-120"/>
              </a:rPr>
              <a:t>The clinical bar</a:t>
            </a:r>
            <a:endParaRPr lang="en-US" sz="1500" dirty="0"/>
          </a:p>
        </p:txBody>
      </p:sp>
      <p:sp>
        <p:nvSpPr>
          <p:cNvPr id="23" name="Text 19"/>
          <p:cNvSpPr/>
          <p:nvPr/>
        </p:nvSpPr>
        <p:spPr>
          <a:xfrm>
            <a:off x="6443320" y="4403598"/>
            <a:ext cx="5071720" cy="815848"/>
          </a:xfrm>
          <a:prstGeom prst="rect">
            <a:avLst/>
          </a:prstGeom>
          <a:noFill/>
          <a:ln/>
        </p:spPr>
        <p:txBody>
          <a:bodyPr wrap="square" lIns="0" tIns="0" rIns="0" bIns="0" rtlCol="0" anchor="t">
            <a:normAutofit/>
          </a:bodyPr>
          <a:lstStyle/>
          <a:p>
            <a:pPr indent="0" marL="0">
              <a:buNone/>
            </a:pPr>
            <a:r>
              <a:rPr lang="en-US" sz="1150" dirty="0">
                <a:solidFill>
                  <a:srgbClr val="212B32"/>
                </a:solidFill>
                <a:latin typeface="Segoe UI" pitchFamily="34" charset="0"/>
                <a:ea typeface="Segoe UI" pitchFamily="34" charset="-122"/>
                <a:cs typeface="Segoe UI" pitchFamily="34" charset="-120"/>
              </a:rPr>
              <a:t>Judged by a clinician panel, not by a procurement scorecard. A test category only opens when enough of the market can serve it; a category one laboratory could serve stays shut.</a:t>
            </a:r>
            <a:endParaRPr lang="en-US" sz="1150" dirty="0"/>
          </a:p>
        </p:txBody>
      </p:sp>
      <p:sp>
        <p:nvSpPr>
          <p:cNvPr id="24" name="Text 20"/>
          <p:cNvSpPr/>
          <p:nvPr/>
        </p:nvSpPr>
        <p:spPr>
          <a:xfrm>
            <a:off x="457200" y="6455664"/>
            <a:ext cx="4206240" cy="274320"/>
          </a:xfrm>
          <a:prstGeom prst="rect">
            <a:avLst/>
          </a:prstGeom>
          <a:noFill/>
          <a:ln/>
        </p:spPr>
        <p:txBody>
          <a:bodyPr wrap="square" lIns="0" tIns="0" rIns="0" bIns="0" rtlCol="0" anchor="ctr"/>
          <a:lstStyle/>
          <a:p>
            <a:pPr indent="0" marL="0">
              <a:buNone/>
            </a:pPr>
            <a:r>
              <a:rPr lang="en-US" sz="850" dirty="0">
                <a:solidFill>
                  <a:srgbClr val="7E8B97"/>
                </a:solidFill>
                <a:latin typeface="Segoe UI" pitchFamily="34" charset="0"/>
                <a:ea typeface="Segoe UI" pitchFamily="34" charset="-122"/>
                <a:cs typeface="Segoe UI" pitchFamily="34" charset="-120"/>
              </a:rPr>
              <a:t>Hearts and Minds  ·  audience deck No.2  ·  Clinician edition</a:t>
            </a:r>
            <a:endParaRPr lang="en-US" sz="850" dirty="0"/>
          </a:p>
        </p:txBody>
      </p:sp>
      <p:sp>
        <p:nvSpPr>
          <p:cNvPr id="25" name="Text 21"/>
          <p:cNvSpPr/>
          <p:nvPr/>
        </p:nvSpPr>
        <p:spPr>
          <a:xfrm>
            <a:off x="4754880" y="6455664"/>
            <a:ext cx="6430975" cy="274320"/>
          </a:xfrm>
          <a:prstGeom prst="rect">
            <a:avLst/>
          </a:prstGeom>
          <a:noFill/>
          <a:ln/>
        </p:spPr>
        <p:txBody>
          <a:bodyPr wrap="square" lIns="0" tIns="0" rIns="0" bIns="0" rtlCol="0" anchor="ctr"/>
          <a:lstStyle/>
          <a:p>
            <a:pPr algn="r" indent="0" marL="0">
              <a:buNone/>
            </a:pPr>
            <a:r>
              <a:rPr lang="en-US" sz="800" dirty="0">
                <a:solidFill>
                  <a:srgbClr val="7E8B97"/>
                </a:solidFill>
                <a:latin typeface="Segoe UI" pitchFamily="34" charset="0"/>
                <a:ea typeface="Segoe UI" pitchFamily="34" charset="-122"/>
                <a:cs typeface="Segoe UI" pitchFamily="34" charset="-120"/>
              </a:rPr>
              <a:t>Commercial positions are agreed in principle and remain subject to the live procurement.</a:t>
            </a:r>
            <a:endParaRPr lang="en-US" sz="800" dirty="0"/>
          </a:p>
        </p:txBody>
      </p:sp>
      <p:sp>
        <p:nvSpPr>
          <p:cNvPr id="26" name="Text 22"/>
          <p:cNvSpPr/>
          <p:nvPr/>
        </p:nvSpPr>
        <p:spPr>
          <a:xfrm>
            <a:off x="11323015" y="6455664"/>
            <a:ext cx="411480" cy="274320"/>
          </a:xfrm>
          <a:prstGeom prst="rect">
            <a:avLst/>
          </a:prstGeom>
          <a:noFill/>
          <a:ln/>
        </p:spPr>
        <p:txBody>
          <a:bodyPr wrap="square" lIns="0" tIns="0" rIns="0" bIns="0" rtlCol="0" anchor="ctr"/>
          <a:lstStyle/>
          <a:p>
            <a:pPr algn="r" indent="0" marL="0">
              <a:buNone/>
            </a:pPr>
            <a:r>
              <a:rPr lang="en-US" sz="850" b="1" dirty="0">
                <a:solidFill>
                  <a:srgbClr val="7E8B97"/>
                </a:solidFill>
                <a:latin typeface="Segoe UI" pitchFamily="34" charset="0"/>
                <a:ea typeface="Segoe UI" pitchFamily="34" charset="-122"/>
                <a:cs typeface="Segoe UI" pitchFamily="34" charset="-120"/>
              </a:rPr>
              <a:t>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sessions/quirky-zen-galileo/mnt/NHS/07 Sites &amp; Repos/dtx-ecosystem/hearts-and-minds/_generators/assets/bg-band.jpg">    </p:cNvPr>
          <p:cNvPicPr>
            <a:picLocks noChangeAspect="1"/>
          </p:cNvPicPr>
          <p:nvPr/>
        </p:nvPicPr>
        <p:blipFill>
          <a:blip r:embed="rId1"/>
          <a:stretch>
            <a:fillRect/>
          </a:stretch>
        </p:blipFill>
        <p:spPr>
          <a:xfrm>
            <a:off x="0" y="0"/>
            <a:ext cx="12191695" cy="932688"/>
          </a:xfrm>
          <a:prstGeom prst="rect">
            <a:avLst/>
          </a:prstGeom>
        </p:spPr>
      </p:pic>
      <p:sp>
        <p:nvSpPr>
          <p:cNvPr id="3" name="Shape 0"/>
          <p:cNvSpPr/>
          <p:nvPr/>
        </p:nvSpPr>
        <p:spPr>
          <a:xfrm>
            <a:off x="0" y="932688"/>
            <a:ext cx="12191695" cy="50292"/>
          </a:xfrm>
          <a:prstGeom prst="rect">
            <a:avLst/>
          </a:prstGeom>
          <a:solidFill>
            <a:srgbClr val="C9A0E3"/>
          </a:solidFill>
          <a:ln w="12700">
            <a:solidFill>
              <a:srgbClr val="C9A0E3"/>
            </a:solidFill>
            <a:prstDash val="solid"/>
          </a:ln>
        </p:spPr>
      </p:sp>
      <p:sp>
        <p:nvSpPr>
          <p:cNvPr id="4" name="Text 1"/>
          <p:cNvSpPr/>
          <p:nvPr/>
        </p:nvSpPr>
        <p:spPr>
          <a:xfrm>
            <a:off x="502920" y="137160"/>
            <a:ext cx="8595360" cy="256032"/>
          </a:xfrm>
          <a:prstGeom prst="rect">
            <a:avLst/>
          </a:prstGeom>
          <a:noFill/>
          <a:ln/>
        </p:spPr>
        <p:txBody>
          <a:bodyPr wrap="square" lIns="0" tIns="0" rIns="0" bIns="0" rtlCol="0" anchor="ctr"/>
          <a:lstStyle/>
          <a:p>
            <a:pPr indent="0" marL="0">
              <a:buNone/>
            </a:pPr>
            <a:r>
              <a:rPr lang="en-US" sz="950" b="1" spc="240" kern="0" dirty="0">
                <a:solidFill>
                  <a:srgbClr val="FFD66B"/>
                </a:solidFill>
                <a:latin typeface="Segoe UI" pitchFamily="34" charset="0"/>
                <a:ea typeface="Segoe UI" pitchFamily="34" charset="-122"/>
                <a:cs typeface="Segoe UI" pitchFamily="34" charset="-120"/>
              </a:rPr>
              <a:t>THE UNHAPPY PATH</a:t>
            </a:r>
            <a:endParaRPr lang="en-US" sz="950" dirty="0"/>
          </a:p>
        </p:txBody>
      </p:sp>
      <p:sp>
        <p:nvSpPr>
          <p:cNvPr id="5" name="Text 2"/>
          <p:cNvSpPr/>
          <p:nvPr/>
        </p:nvSpPr>
        <p:spPr>
          <a:xfrm>
            <a:off x="502920" y="402336"/>
            <a:ext cx="9509760" cy="457200"/>
          </a:xfrm>
          <a:prstGeom prst="rect">
            <a:avLst/>
          </a:prstGeom>
          <a:noFill/>
          <a:ln/>
        </p:spPr>
        <p:txBody>
          <a:bodyPr wrap="square" lIns="0" tIns="0" rIns="0" bIns="0" rtlCol="0" anchor="ctr">
            <a:normAutofit/>
          </a:bodyPr>
          <a:lstStyle/>
          <a:p>
            <a:pPr indent="0" marL="0">
              <a:buNone/>
            </a:pPr>
            <a:r>
              <a:rPr lang="en-US" sz="2100" b="1" dirty="0">
                <a:solidFill>
                  <a:srgbClr val="FFFFFF"/>
                </a:solidFill>
                <a:latin typeface="Segoe UI" pitchFamily="34" charset="0"/>
                <a:ea typeface="Segoe UI" pitchFamily="34" charset="-122"/>
                <a:cs typeface="Segoe UI" pitchFamily="34" charset="-120"/>
              </a:rPr>
              <a:t>What happens when it does not go right.</a:t>
            </a:r>
            <a:endParaRPr lang="en-US" sz="2100" dirty="0"/>
          </a:p>
        </p:txBody>
      </p:sp>
      <p:sp>
        <p:nvSpPr>
          <p:cNvPr id="6" name="Shape 3"/>
          <p:cNvSpPr/>
          <p:nvPr/>
        </p:nvSpPr>
        <p:spPr>
          <a:xfrm>
            <a:off x="10942806" y="173736"/>
            <a:ext cx="791689" cy="605699"/>
          </a:xfrm>
          <a:prstGeom prst="roundRect">
            <a:avLst>
              <a:gd name="adj" fmla="val 12077"/>
            </a:avLst>
          </a:prstGeom>
          <a:solidFill>
            <a:srgbClr val="FFFFFF"/>
          </a:solidFill>
          <a:ln w="12700">
            <a:solidFill>
              <a:srgbClr val="FFFFFF"/>
            </a:solidFill>
            <a:prstDash val="solid"/>
          </a:ln>
        </p:spPr>
      </p:sp>
      <p:pic>
        <p:nvPicPr>
          <p:cNvPr id="7" name="Image 1" descr="/sessions/quirky-zen-galileo/mnt/NHS/07 Sites &amp; Repos/dtx-ecosystem/hearts-and-minds/_generators/assets/nhs-logo.png">    </p:cNvPr>
          <p:cNvPicPr>
            <a:picLocks noChangeAspect="1"/>
          </p:cNvPicPr>
          <p:nvPr/>
        </p:nvPicPr>
        <p:blipFill>
          <a:blip r:embed="rId2"/>
          <a:stretch>
            <a:fillRect/>
          </a:stretch>
        </p:blipFill>
        <p:spPr>
          <a:xfrm>
            <a:off x="11068993" y="266273"/>
            <a:ext cx="539315" cy="420624"/>
          </a:xfrm>
          <a:prstGeom prst="rect">
            <a:avLst/>
          </a:prstGeom>
        </p:spPr>
      </p:pic>
      <p:sp>
        <p:nvSpPr>
          <p:cNvPr id="8" name="Shape 4"/>
          <p:cNvSpPr/>
          <p:nvPr/>
        </p:nvSpPr>
        <p:spPr>
          <a:xfrm>
            <a:off x="457200" y="2072894"/>
            <a:ext cx="5510632" cy="1545844"/>
          </a:xfrm>
          <a:prstGeom prst="roundRect">
            <a:avLst>
              <a:gd name="adj" fmla="val 5915"/>
            </a:avLst>
          </a:prstGeom>
          <a:solidFill>
            <a:srgbClr val="F8FAFC"/>
          </a:solidFill>
          <a:ln w="9525">
            <a:solidFill>
              <a:srgbClr val="EBEEF1"/>
            </a:solidFill>
            <a:prstDash val="solid"/>
          </a:ln>
        </p:spPr>
      </p:sp>
      <p:sp>
        <p:nvSpPr>
          <p:cNvPr id="9" name="Shape 5"/>
          <p:cNvSpPr/>
          <p:nvPr/>
        </p:nvSpPr>
        <p:spPr>
          <a:xfrm>
            <a:off x="457200" y="2072894"/>
            <a:ext cx="5510632" cy="64008"/>
          </a:xfrm>
          <a:prstGeom prst="rect">
            <a:avLst/>
          </a:prstGeom>
          <a:solidFill>
            <a:srgbClr val="C9A0E3"/>
          </a:solidFill>
          <a:ln w="12700">
            <a:solidFill>
              <a:srgbClr val="C9A0E3"/>
            </a:solidFill>
            <a:prstDash val="solid"/>
          </a:ln>
        </p:spPr>
      </p:sp>
      <p:sp>
        <p:nvSpPr>
          <p:cNvPr id="10" name="Text 6"/>
          <p:cNvSpPr/>
          <p:nvPr/>
        </p:nvSpPr>
        <p:spPr>
          <a:xfrm>
            <a:off x="676656" y="2255774"/>
            <a:ext cx="5071720" cy="291084"/>
          </a:xfrm>
          <a:prstGeom prst="rect">
            <a:avLst/>
          </a:prstGeom>
          <a:noFill/>
          <a:ln/>
        </p:spPr>
        <p:txBody>
          <a:bodyPr wrap="square" lIns="0" tIns="0" rIns="0" bIns="0" rtlCol="0" anchor="t">
            <a:normAutofit/>
          </a:bodyPr>
          <a:lstStyle/>
          <a:p>
            <a:pPr indent="0" marL="0">
              <a:buNone/>
            </a:pPr>
            <a:r>
              <a:rPr lang="en-US" sz="1500" b="1" dirty="0">
                <a:solidFill>
                  <a:srgbClr val="003087"/>
                </a:solidFill>
                <a:latin typeface="Segoe UI" pitchFamily="34" charset="0"/>
                <a:ea typeface="Segoe UI" pitchFamily="34" charset="-122"/>
                <a:cs typeface="Segoe UI" pitchFamily="34" charset="-120"/>
              </a:rPr>
              <a:t>A sample that fails</a:t>
            </a:r>
            <a:endParaRPr lang="en-US" sz="1500" dirty="0"/>
          </a:p>
        </p:txBody>
      </p:sp>
      <p:sp>
        <p:nvSpPr>
          <p:cNvPr id="11" name="Text 7"/>
          <p:cNvSpPr/>
          <p:nvPr/>
        </p:nvSpPr>
        <p:spPr>
          <a:xfrm>
            <a:off x="676656" y="2620010"/>
            <a:ext cx="5071720" cy="815848"/>
          </a:xfrm>
          <a:prstGeom prst="rect">
            <a:avLst/>
          </a:prstGeom>
          <a:noFill/>
          <a:ln/>
        </p:spPr>
        <p:txBody>
          <a:bodyPr wrap="square" lIns="0" tIns="0" rIns="0" bIns="0" rtlCol="0" anchor="t">
            <a:normAutofit/>
          </a:bodyPr>
          <a:lstStyle/>
          <a:p>
            <a:pPr indent="0" marL="0">
              <a:buNone/>
            </a:pPr>
            <a:r>
              <a:rPr lang="en-US" sz="1150" dirty="0">
                <a:solidFill>
                  <a:srgbClr val="212B32"/>
                </a:solidFill>
                <a:latin typeface="Segoe UI" pitchFamily="34" charset="0"/>
                <a:ea typeface="Segoe UI" pitchFamily="34" charset="-122"/>
                <a:cs typeface="Segoe UI" pitchFamily="34" charset="-120"/>
              </a:rPr>
              <a:t>Insufficient or degraded samples are detected at the laboratory, the patient is notified and a replacement kit is issued against the same order. The clinician sees the exception, not a silence.</a:t>
            </a:r>
            <a:endParaRPr lang="en-US" sz="1150" dirty="0"/>
          </a:p>
        </p:txBody>
      </p:sp>
      <p:sp>
        <p:nvSpPr>
          <p:cNvPr id="12" name="Shape 8"/>
          <p:cNvSpPr/>
          <p:nvPr/>
        </p:nvSpPr>
        <p:spPr>
          <a:xfrm>
            <a:off x="6223864" y="2072894"/>
            <a:ext cx="5510632" cy="1545844"/>
          </a:xfrm>
          <a:prstGeom prst="roundRect">
            <a:avLst>
              <a:gd name="adj" fmla="val 5915"/>
            </a:avLst>
          </a:prstGeom>
          <a:solidFill>
            <a:srgbClr val="F8FAFC"/>
          </a:solidFill>
          <a:ln w="9525">
            <a:solidFill>
              <a:srgbClr val="EBEEF1"/>
            </a:solidFill>
            <a:prstDash val="solid"/>
          </a:ln>
        </p:spPr>
      </p:sp>
      <p:sp>
        <p:nvSpPr>
          <p:cNvPr id="13" name="Shape 9"/>
          <p:cNvSpPr/>
          <p:nvPr/>
        </p:nvSpPr>
        <p:spPr>
          <a:xfrm>
            <a:off x="6223864" y="2072894"/>
            <a:ext cx="5510632" cy="64008"/>
          </a:xfrm>
          <a:prstGeom prst="rect">
            <a:avLst/>
          </a:prstGeom>
          <a:solidFill>
            <a:srgbClr val="C9A0E3"/>
          </a:solidFill>
          <a:ln w="12700">
            <a:solidFill>
              <a:srgbClr val="C9A0E3"/>
            </a:solidFill>
            <a:prstDash val="solid"/>
          </a:ln>
        </p:spPr>
      </p:sp>
      <p:sp>
        <p:nvSpPr>
          <p:cNvPr id="14" name="Text 10"/>
          <p:cNvSpPr/>
          <p:nvPr/>
        </p:nvSpPr>
        <p:spPr>
          <a:xfrm>
            <a:off x="6443320" y="2255774"/>
            <a:ext cx="5071720" cy="291084"/>
          </a:xfrm>
          <a:prstGeom prst="rect">
            <a:avLst/>
          </a:prstGeom>
          <a:noFill/>
          <a:ln/>
        </p:spPr>
        <p:txBody>
          <a:bodyPr wrap="square" lIns="0" tIns="0" rIns="0" bIns="0" rtlCol="0" anchor="t">
            <a:normAutofit/>
          </a:bodyPr>
          <a:lstStyle/>
          <a:p>
            <a:pPr indent="0" marL="0">
              <a:buNone/>
            </a:pPr>
            <a:r>
              <a:rPr lang="en-US" sz="1500" b="1" dirty="0">
                <a:solidFill>
                  <a:srgbClr val="003087"/>
                </a:solidFill>
                <a:latin typeface="Segoe UI" pitchFamily="34" charset="0"/>
                <a:ea typeface="Segoe UI" pitchFamily="34" charset="-122"/>
                <a:cs typeface="Segoe UI" pitchFamily="34" charset="-120"/>
              </a:rPr>
              <a:t>A result that needs action</a:t>
            </a:r>
            <a:endParaRPr lang="en-US" sz="1500" dirty="0"/>
          </a:p>
        </p:txBody>
      </p:sp>
      <p:sp>
        <p:nvSpPr>
          <p:cNvPr id="15" name="Text 11"/>
          <p:cNvSpPr/>
          <p:nvPr/>
        </p:nvSpPr>
        <p:spPr>
          <a:xfrm>
            <a:off x="6443320" y="2620010"/>
            <a:ext cx="5071720" cy="815848"/>
          </a:xfrm>
          <a:prstGeom prst="rect">
            <a:avLst/>
          </a:prstGeom>
          <a:noFill/>
          <a:ln/>
        </p:spPr>
        <p:txBody>
          <a:bodyPr wrap="square" lIns="0" tIns="0" rIns="0" bIns="0" rtlCol="0" anchor="t">
            <a:normAutofit/>
          </a:bodyPr>
          <a:lstStyle/>
          <a:p>
            <a:pPr indent="0" marL="0">
              <a:buNone/>
            </a:pPr>
            <a:r>
              <a:rPr lang="en-US" sz="1150" dirty="0">
                <a:solidFill>
                  <a:srgbClr val="212B32"/>
                </a:solidFill>
                <a:latin typeface="Segoe UI" pitchFamily="34" charset="0"/>
                <a:ea typeface="Segoe UI" pitchFamily="34" charset="-122"/>
                <a:cs typeface="Segoe UI" pitchFamily="34" charset="-120"/>
              </a:rPr>
              <a:t>Results above the threshold you set route back through the escalation rule in the configuration, to the named clinical owner, in the timeframe the safety case specifies.</a:t>
            </a:r>
            <a:endParaRPr lang="en-US" sz="1150" dirty="0"/>
          </a:p>
        </p:txBody>
      </p:sp>
      <p:sp>
        <p:nvSpPr>
          <p:cNvPr id="16" name="Shape 12"/>
          <p:cNvSpPr/>
          <p:nvPr/>
        </p:nvSpPr>
        <p:spPr>
          <a:xfrm>
            <a:off x="457200" y="3856482"/>
            <a:ext cx="5510632" cy="1545844"/>
          </a:xfrm>
          <a:prstGeom prst="roundRect">
            <a:avLst>
              <a:gd name="adj" fmla="val 5915"/>
            </a:avLst>
          </a:prstGeom>
          <a:solidFill>
            <a:srgbClr val="F8FAFC"/>
          </a:solidFill>
          <a:ln w="9525">
            <a:solidFill>
              <a:srgbClr val="EBEEF1"/>
            </a:solidFill>
            <a:prstDash val="solid"/>
          </a:ln>
        </p:spPr>
      </p:sp>
      <p:sp>
        <p:nvSpPr>
          <p:cNvPr id="17" name="Shape 13"/>
          <p:cNvSpPr/>
          <p:nvPr/>
        </p:nvSpPr>
        <p:spPr>
          <a:xfrm>
            <a:off x="457200" y="3856482"/>
            <a:ext cx="5510632" cy="64008"/>
          </a:xfrm>
          <a:prstGeom prst="rect">
            <a:avLst/>
          </a:prstGeom>
          <a:solidFill>
            <a:srgbClr val="C9A0E3"/>
          </a:solidFill>
          <a:ln w="12700">
            <a:solidFill>
              <a:srgbClr val="C9A0E3"/>
            </a:solidFill>
            <a:prstDash val="solid"/>
          </a:ln>
        </p:spPr>
      </p:sp>
      <p:sp>
        <p:nvSpPr>
          <p:cNvPr id="18" name="Text 14"/>
          <p:cNvSpPr/>
          <p:nvPr/>
        </p:nvSpPr>
        <p:spPr>
          <a:xfrm>
            <a:off x="676656" y="4039362"/>
            <a:ext cx="5071720" cy="291084"/>
          </a:xfrm>
          <a:prstGeom prst="rect">
            <a:avLst/>
          </a:prstGeom>
          <a:noFill/>
          <a:ln/>
        </p:spPr>
        <p:txBody>
          <a:bodyPr wrap="square" lIns="0" tIns="0" rIns="0" bIns="0" rtlCol="0" anchor="t">
            <a:normAutofit/>
          </a:bodyPr>
          <a:lstStyle/>
          <a:p>
            <a:pPr indent="0" marL="0">
              <a:buNone/>
            </a:pPr>
            <a:r>
              <a:rPr lang="en-US" sz="1500" b="1" dirty="0">
                <a:solidFill>
                  <a:srgbClr val="003087"/>
                </a:solidFill>
                <a:latin typeface="Segoe UI" pitchFamily="34" charset="0"/>
                <a:ea typeface="Segoe UI" pitchFamily="34" charset="-122"/>
                <a:cs typeface="Segoe UI" pitchFamily="34" charset="-120"/>
              </a:rPr>
              <a:t>A patient who does not return the kit</a:t>
            </a:r>
            <a:endParaRPr lang="en-US" sz="1500" dirty="0"/>
          </a:p>
        </p:txBody>
      </p:sp>
      <p:sp>
        <p:nvSpPr>
          <p:cNvPr id="19" name="Text 15"/>
          <p:cNvSpPr/>
          <p:nvPr/>
        </p:nvSpPr>
        <p:spPr>
          <a:xfrm>
            <a:off x="676656" y="4403598"/>
            <a:ext cx="5071720" cy="815848"/>
          </a:xfrm>
          <a:prstGeom prst="rect">
            <a:avLst/>
          </a:prstGeom>
          <a:noFill/>
          <a:ln/>
        </p:spPr>
        <p:txBody>
          <a:bodyPr wrap="square" lIns="0" tIns="0" rIns="0" bIns="0" rtlCol="0" anchor="t">
            <a:normAutofit/>
          </a:bodyPr>
          <a:lstStyle/>
          <a:p>
            <a:pPr indent="0" marL="0">
              <a:buNone/>
            </a:pPr>
            <a:r>
              <a:rPr lang="en-US" sz="1150" dirty="0">
                <a:solidFill>
                  <a:srgbClr val="212B32"/>
                </a:solidFill>
                <a:latin typeface="Segoe UI" pitchFamily="34" charset="0"/>
                <a:ea typeface="Segoe UI" pitchFamily="34" charset="-122"/>
                <a:cs typeface="Segoe UI" pitchFamily="34" charset="-120"/>
              </a:rPr>
              <a:t>Non-return surfaces as an exception on the cohort view with the recall date attached. Today, a missed appointment surfaces as nothing at all.</a:t>
            </a:r>
            <a:endParaRPr lang="en-US" sz="1150" dirty="0"/>
          </a:p>
        </p:txBody>
      </p:sp>
      <p:sp>
        <p:nvSpPr>
          <p:cNvPr id="20" name="Shape 16"/>
          <p:cNvSpPr/>
          <p:nvPr/>
        </p:nvSpPr>
        <p:spPr>
          <a:xfrm>
            <a:off x="6223864" y="3856482"/>
            <a:ext cx="5510632" cy="1545844"/>
          </a:xfrm>
          <a:prstGeom prst="roundRect">
            <a:avLst>
              <a:gd name="adj" fmla="val 5915"/>
            </a:avLst>
          </a:prstGeom>
          <a:solidFill>
            <a:srgbClr val="F8FAFC"/>
          </a:solidFill>
          <a:ln w="9525">
            <a:solidFill>
              <a:srgbClr val="EBEEF1"/>
            </a:solidFill>
            <a:prstDash val="solid"/>
          </a:ln>
        </p:spPr>
      </p:sp>
      <p:sp>
        <p:nvSpPr>
          <p:cNvPr id="21" name="Shape 17"/>
          <p:cNvSpPr/>
          <p:nvPr/>
        </p:nvSpPr>
        <p:spPr>
          <a:xfrm>
            <a:off x="6223864" y="3856482"/>
            <a:ext cx="5510632" cy="64008"/>
          </a:xfrm>
          <a:prstGeom prst="rect">
            <a:avLst/>
          </a:prstGeom>
          <a:solidFill>
            <a:srgbClr val="C9A0E3"/>
          </a:solidFill>
          <a:ln w="12700">
            <a:solidFill>
              <a:srgbClr val="C9A0E3"/>
            </a:solidFill>
            <a:prstDash val="solid"/>
          </a:ln>
        </p:spPr>
      </p:sp>
      <p:sp>
        <p:nvSpPr>
          <p:cNvPr id="22" name="Text 18"/>
          <p:cNvSpPr/>
          <p:nvPr/>
        </p:nvSpPr>
        <p:spPr>
          <a:xfrm>
            <a:off x="6443320" y="4039362"/>
            <a:ext cx="5071720" cy="291084"/>
          </a:xfrm>
          <a:prstGeom prst="rect">
            <a:avLst/>
          </a:prstGeom>
          <a:noFill/>
          <a:ln/>
        </p:spPr>
        <p:txBody>
          <a:bodyPr wrap="square" lIns="0" tIns="0" rIns="0" bIns="0" rtlCol="0" anchor="t">
            <a:normAutofit/>
          </a:bodyPr>
          <a:lstStyle/>
          <a:p>
            <a:pPr indent="0" marL="0">
              <a:buNone/>
            </a:pPr>
            <a:r>
              <a:rPr lang="en-US" sz="1500" b="1" dirty="0">
                <a:solidFill>
                  <a:srgbClr val="003087"/>
                </a:solidFill>
                <a:latin typeface="Segoe UI" pitchFamily="34" charset="0"/>
                <a:ea typeface="Segoe UI" pitchFamily="34" charset="-122"/>
                <a:cs typeface="Segoe UI" pitchFamily="34" charset="-120"/>
              </a:rPr>
              <a:t>A supplier that fails</a:t>
            </a:r>
            <a:endParaRPr lang="en-US" sz="1500" dirty="0"/>
          </a:p>
        </p:txBody>
      </p:sp>
      <p:sp>
        <p:nvSpPr>
          <p:cNvPr id="23" name="Text 19"/>
          <p:cNvSpPr/>
          <p:nvPr/>
        </p:nvSpPr>
        <p:spPr>
          <a:xfrm>
            <a:off x="6443320" y="4403598"/>
            <a:ext cx="5071720" cy="815848"/>
          </a:xfrm>
          <a:prstGeom prst="rect">
            <a:avLst/>
          </a:prstGeom>
          <a:noFill/>
          <a:ln/>
        </p:spPr>
        <p:txBody>
          <a:bodyPr wrap="square" lIns="0" tIns="0" rIns="0" bIns="0" rtlCol="0" anchor="t">
            <a:normAutofit/>
          </a:bodyPr>
          <a:lstStyle/>
          <a:p>
            <a:pPr indent="0" marL="0">
              <a:buNone/>
            </a:pPr>
            <a:r>
              <a:rPr lang="en-US" sz="1150" dirty="0">
                <a:solidFill>
                  <a:srgbClr val="212B32"/>
                </a:solidFill>
                <a:latin typeface="Segoe UI" pitchFamily="34" charset="0"/>
                <a:ea typeface="Segoe UI" pitchFamily="34" charset="-122"/>
                <a:cs typeface="Segoe UI" pitchFamily="34" charset="-120"/>
              </a:rPr>
              <a:t>Performance is managed against the framework, with commercial recourse built into the contract; service credits are the worked example. The cohort moves to another accredited supplier on the register.</a:t>
            </a:r>
            <a:endParaRPr lang="en-US" sz="1150" dirty="0"/>
          </a:p>
        </p:txBody>
      </p:sp>
      <p:sp>
        <p:nvSpPr>
          <p:cNvPr id="24" name="Text 20"/>
          <p:cNvSpPr/>
          <p:nvPr/>
        </p:nvSpPr>
        <p:spPr>
          <a:xfrm>
            <a:off x="457200" y="6455664"/>
            <a:ext cx="4206240" cy="274320"/>
          </a:xfrm>
          <a:prstGeom prst="rect">
            <a:avLst/>
          </a:prstGeom>
          <a:noFill/>
          <a:ln/>
        </p:spPr>
        <p:txBody>
          <a:bodyPr wrap="square" lIns="0" tIns="0" rIns="0" bIns="0" rtlCol="0" anchor="ctr"/>
          <a:lstStyle/>
          <a:p>
            <a:pPr indent="0" marL="0">
              <a:buNone/>
            </a:pPr>
            <a:r>
              <a:rPr lang="en-US" sz="850" dirty="0">
                <a:solidFill>
                  <a:srgbClr val="7E8B97"/>
                </a:solidFill>
                <a:latin typeface="Segoe UI" pitchFamily="34" charset="0"/>
                <a:ea typeface="Segoe UI" pitchFamily="34" charset="-122"/>
                <a:cs typeface="Segoe UI" pitchFamily="34" charset="-120"/>
              </a:rPr>
              <a:t>Hearts and Minds  ·  audience deck No.2  ·  Clinician edition</a:t>
            </a:r>
            <a:endParaRPr lang="en-US" sz="850" dirty="0"/>
          </a:p>
        </p:txBody>
      </p:sp>
      <p:sp>
        <p:nvSpPr>
          <p:cNvPr id="25" name="Text 21"/>
          <p:cNvSpPr/>
          <p:nvPr/>
        </p:nvSpPr>
        <p:spPr>
          <a:xfrm>
            <a:off x="4754880" y="6455664"/>
            <a:ext cx="6430975" cy="274320"/>
          </a:xfrm>
          <a:prstGeom prst="rect">
            <a:avLst/>
          </a:prstGeom>
          <a:noFill/>
          <a:ln/>
        </p:spPr>
        <p:txBody>
          <a:bodyPr wrap="square" lIns="0" tIns="0" rIns="0" bIns="0" rtlCol="0" anchor="ctr"/>
          <a:lstStyle/>
          <a:p>
            <a:pPr algn="r" indent="0" marL="0">
              <a:buNone/>
            </a:pPr>
            <a:r>
              <a:rPr lang="en-US" sz="800" dirty="0">
                <a:solidFill>
                  <a:srgbClr val="7E8B97"/>
                </a:solidFill>
                <a:latin typeface="Segoe UI" pitchFamily="34" charset="0"/>
                <a:ea typeface="Segoe UI" pitchFamily="34" charset="-122"/>
                <a:cs typeface="Segoe UI" pitchFamily="34" charset="-120"/>
              </a:rPr>
              <a:t>Commercial positions are agreed in principle and remain subject to the live procurement.</a:t>
            </a:r>
            <a:endParaRPr lang="en-US" sz="800" dirty="0"/>
          </a:p>
        </p:txBody>
      </p:sp>
      <p:sp>
        <p:nvSpPr>
          <p:cNvPr id="26" name="Text 22"/>
          <p:cNvSpPr/>
          <p:nvPr/>
        </p:nvSpPr>
        <p:spPr>
          <a:xfrm>
            <a:off x="11323015" y="6455664"/>
            <a:ext cx="411480" cy="274320"/>
          </a:xfrm>
          <a:prstGeom prst="rect">
            <a:avLst/>
          </a:prstGeom>
          <a:noFill/>
          <a:ln/>
        </p:spPr>
        <p:txBody>
          <a:bodyPr wrap="square" lIns="0" tIns="0" rIns="0" bIns="0" rtlCol="0" anchor="ctr"/>
          <a:lstStyle/>
          <a:p>
            <a:pPr algn="r" indent="0" marL="0">
              <a:buNone/>
            </a:pPr>
            <a:r>
              <a:rPr lang="en-US" sz="850" b="1" dirty="0">
                <a:solidFill>
                  <a:srgbClr val="7E8B97"/>
                </a:solidFill>
                <a:latin typeface="Segoe UI" pitchFamily="34" charset="0"/>
                <a:ea typeface="Segoe UI" pitchFamily="34" charset="-122"/>
                <a:cs typeface="Segoe UI" pitchFamily="34" charset="-120"/>
              </a:rPr>
              <a:t>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sessions/quirky-zen-galileo/mnt/NHS/07 Sites &amp; Repos/dtx-ecosystem/hearts-and-minds/_generators/assets/bg-band.jpg">    </p:cNvPr>
          <p:cNvPicPr>
            <a:picLocks noChangeAspect="1"/>
          </p:cNvPicPr>
          <p:nvPr/>
        </p:nvPicPr>
        <p:blipFill>
          <a:blip r:embed="rId1"/>
          <a:stretch>
            <a:fillRect/>
          </a:stretch>
        </p:blipFill>
        <p:spPr>
          <a:xfrm>
            <a:off x="0" y="0"/>
            <a:ext cx="12191695" cy="932688"/>
          </a:xfrm>
          <a:prstGeom prst="rect">
            <a:avLst/>
          </a:prstGeom>
        </p:spPr>
      </p:pic>
      <p:sp>
        <p:nvSpPr>
          <p:cNvPr id="3" name="Shape 0"/>
          <p:cNvSpPr/>
          <p:nvPr/>
        </p:nvSpPr>
        <p:spPr>
          <a:xfrm>
            <a:off x="0" y="932688"/>
            <a:ext cx="12191695" cy="50292"/>
          </a:xfrm>
          <a:prstGeom prst="rect">
            <a:avLst/>
          </a:prstGeom>
          <a:solidFill>
            <a:srgbClr val="C9A0E3"/>
          </a:solidFill>
          <a:ln w="12700">
            <a:solidFill>
              <a:srgbClr val="C9A0E3"/>
            </a:solidFill>
            <a:prstDash val="solid"/>
          </a:ln>
        </p:spPr>
      </p:sp>
      <p:sp>
        <p:nvSpPr>
          <p:cNvPr id="4" name="Text 1"/>
          <p:cNvSpPr/>
          <p:nvPr/>
        </p:nvSpPr>
        <p:spPr>
          <a:xfrm>
            <a:off x="502920" y="137160"/>
            <a:ext cx="8595360" cy="256032"/>
          </a:xfrm>
          <a:prstGeom prst="rect">
            <a:avLst/>
          </a:prstGeom>
          <a:noFill/>
          <a:ln/>
        </p:spPr>
        <p:txBody>
          <a:bodyPr wrap="square" lIns="0" tIns="0" rIns="0" bIns="0" rtlCol="0" anchor="ctr"/>
          <a:lstStyle/>
          <a:p>
            <a:pPr indent="0" marL="0">
              <a:buNone/>
            </a:pPr>
            <a:r>
              <a:rPr lang="en-US" sz="950" b="1" spc="240" kern="0" dirty="0">
                <a:solidFill>
                  <a:srgbClr val="FFD66B"/>
                </a:solidFill>
                <a:latin typeface="Segoe UI" pitchFamily="34" charset="0"/>
                <a:ea typeface="Segoe UI" pitchFamily="34" charset="-122"/>
                <a:cs typeface="Segoe UI" pitchFamily="34" charset="-120"/>
              </a:rPr>
              <a:t>A CLINICIAN’S STORY</a:t>
            </a:r>
            <a:endParaRPr lang="en-US" sz="950" dirty="0"/>
          </a:p>
        </p:txBody>
      </p:sp>
      <p:sp>
        <p:nvSpPr>
          <p:cNvPr id="5" name="Text 2"/>
          <p:cNvSpPr/>
          <p:nvPr/>
        </p:nvSpPr>
        <p:spPr>
          <a:xfrm>
            <a:off x="502920" y="402336"/>
            <a:ext cx="9509760" cy="457200"/>
          </a:xfrm>
          <a:prstGeom prst="rect">
            <a:avLst/>
          </a:prstGeom>
          <a:noFill/>
          <a:ln/>
        </p:spPr>
        <p:txBody>
          <a:bodyPr wrap="square" lIns="0" tIns="0" rIns="0" bIns="0" rtlCol="0" anchor="ctr">
            <a:normAutofit/>
          </a:bodyPr>
          <a:lstStyle/>
          <a:p>
            <a:pPr indent="0" marL="0">
              <a:buNone/>
            </a:pPr>
            <a:r>
              <a:rPr lang="en-US" sz="2000" b="1" dirty="0">
                <a:solidFill>
                  <a:srgbClr val="FFFFFF"/>
                </a:solidFill>
                <a:latin typeface="Segoe UI" pitchFamily="34" charset="0"/>
                <a:ea typeface="Segoe UI" pitchFamily="34" charset="-122"/>
                <a:cs typeface="Segoe UI" pitchFamily="34" charset="-120"/>
              </a:rPr>
              <a:t>Adam keeps more of his cohort in surveillance without his clinic growing.</a:t>
            </a:r>
            <a:endParaRPr lang="en-US" sz="2000" dirty="0"/>
          </a:p>
        </p:txBody>
      </p:sp>
      <p:sp>
        <p:nvSpPr>
          <p:cNvPr id="6" name="Shape 3"/>
          <p:cNvSpPr/>
          <p:nvPr/>
        </p:nvSpPr>
        <p:spPr>
          <a:xfrm>
            <a:off x="10942806" y="173736"/>
            <a:ext cx="791689" cy="605699"/>
          </a:xfrm>
          <a:prstGeom prst="roundRect">
            <a:avLst>
              <a:gd name="adj" fmla="val 12077"/>
            </a:avLst>
          </a:prstGeom>
          <a:solidFill>
            <a:srgbClr val="FFFFFF"/>
          </a:solidFill>
          <a:ln w="12700">
            <a:solidFill>
              <a:srgbClr val="FFFFFF"/>
            </a:solidFill>
            <a:prstDash val="solid"/>
          </a:ln>
        </p:spPr>
      </p:sp>
      <p:pic>
        <p:nvPicPr>
          <p:cNvPr id="7" name="Image 1" descr="/sessions/quirky-zen-galileo/mnt/NHS/07 Sites &amp; Repos/dtx-ecosystem/hearts-and-minds/_generators/assets/nhs-logo.png">    </p:cNvPr>
          <p:cNvPicPr>
            <a:picLocks noChangeAspect="1"/>
          </p:cNvPicPr>
          <p:nvPr/>
        </p:nvPicPr>
        <p:blipFill>
          <a:blip r:embed="rId2"/>
          <a:stretch>
            <a:fillRect/>
          </a:stretch>
        </p:blipFill>
        <p:spPr>
          <a:xfrm>
            <a:off x="11068993" y="266273"/>
            <a:ext cx="539315" cy="420624"/>
          </a:xfrm>
          <a:prstGeom prst="rect">
            <a:avLst/>
          </a:prstGeom>
        </p:spPr>
      </p:pic>
      <p:sp>
        <p:nvSpPr>
          <p:cNvPr id="8" name="Shape 4"/>
          <p:cNvSpPr/>
          <p:nvPr/>
        </p:nvSpPr>
        <p:spPr>
          <a:xfrm>
            <a:off x="886968" y="1330452"/>
            <a:ext cx="2340864" cy="2340864"/>
          </a:xfrm>
          <a:prstGeom prst="ellipse">
            <a:avLst/>
          </a:prstGeom>
          <a:solidFill>
            <a:srgbClr val="C9A0E3"/>
          </a:solidFill>
          <a:ln w="12700">
            <a:solidFill>
              <a:srgbClr val="C9A0E3"/>
            </a:solidFill>
            <a:prstDash val="solid"/>
          </a:ln>
        </p:spPr>
      </p:sp>
      <p:pic>
        <p:nvPicPr>
          <p:cNvPr id="9" name="Image 2" descr="/sessions/quirky-zen-galileo/mnt/NHS/07 Sites &amp; Repos/dtx-ecosystem/hearts-and-minds/_generators/assets/portraits/adam.jpg">    </p:cNvPr>
          <p:cNvPicPr>
            <a:picLocks noChangeAspect="1"/>
          </p:cNvPicPr>
          <p:nvPr/>
        </p:nvPicPr>
        <p:blipFill>
          <a:blip r:embed="rId3"/>
          <a:srcRect l="0" r="0" t="0" b="0"/>
          <a:stretch/>
        </p:blipFill>
        <p:spPr>
          <a:xfrm>
            <a:off x="960120" y="1403604"/>
            <a:ext cx="2194560" cy="2194560"/>
          </a:xfrm>
          <a:prstGeom prst="ellipse">
            <a:avLst/>
          </a:prstGeom>
        </p:spPr>
      </p:pic>
      <p:sp>
        <p:nvSpPr>
          <p:cNvPr id="10" name="Shape 5"/>
          <p:cNvSpPr/>
          <p:nvPr/>
        </p:nvSpPr>
        <p:spPr>
          <a:xfrm>
            <a:off x="457200" y="3927348"/>
            <a:ext cx="82296" cy="2272284"/>
          </a:xfrm>
          <a:prstGeom prst="rect">
            <a:avLst/>
          </a:prstGeom>
          <a:solidFill>
            <a:srgbClr val="C9A0E3"/>
          </a:solidFill>
          <a:ln w="12700">
            <a:solidFill>
              <a:srgbClr val="C9A0E3"/>
            </a:solidFill>
            <a:prstDash val="solid"/>
          </a:ln>
        </p:spPr>
      </p:sp>
      <p:sp>
        <p:nvSpPr>
          <p:cNvPr id="11" name="Text 6"/>
          <p:cNvSpPr/>
          <p:nvPr/>
        </p:nvSpPr>
        <p:spPr>
          <a:xfrm>
            <a:off x="694944" y="3927348"/>
            <a:ext cx="2926080" cy="2272284"/>
          </a:xfrm>
          <a:prstGeom prst="rect">
            <a:avLst/>
          </a:prstGeom>
          <a:noFill/>
          <a:ln/>
        </p:spPr>
        <p:txBody>
          <a:bodyPr wrap="square" lIns="0" tIns="0" rIns="0" bIns="0" rtlCol="0" anchor="t">
            <a:normAutofit/>
          </a:bodyPr>
          <a:lstStyle/>
          <a:p>
            <a:pPr indent="0" marL="0">
              <a:buNone/>
            </a:pPr>
            <a:r>
              <a:rPr lang="en-US" sz="1300" i="1" dirty="0">
                <a:solidFill>
                  <a:srgbClr val="212B32"/>
                </a:solidFill>
                <a:latin typeface="Segoe UI" pitchFamily="34" charset="0"/>
                <a:ea typeface="Segoe UI" pitchFamily="34" charset="-122"/>
                <a:cs typeface="Segoe UI" pitchFamily="34" charset="-120"/>
              </a:rPr>
              <a:t>“The patients I cannot see are still in surveillance. That is the whole point.”</a:t>
            </a:r>
            <a:endParaRPr lang="en-US" sz="1300" dirty="0"/>
          </a:p>
        </p:txBody>
      </p:sp>
      <p:sp>
        <p:nvSpPr>
          <p:cNvPr id="12" name="Text 7"/>
          <p:cNvSpPr/>
          <p:nvPr/>
        </p:nvSpPr>
        <p:spPr>
          <a:xfrm>
            <a:off x="3977640" y="1275588"/>
            <a:ext cx="7756855" cy="687324"/>
          </a:xfrm>
          <a:prstGeom prst="rect">
            <a:avLst/>
          </a:prstGeom>
          <a:noFill/>
          <a:ln/>
        </p:spPr>
        <p:txBody>
          <a:bodyPr wrap="square" lIns="0" tIns="0" rIns="0" bIns="0" rtlCol="0" anchor="t">
            <a:normAutofit/>
          </a:bodyPr>
          <a:lstStyle/>
          <a:p>
            <a:pPr indent="0" marL="0">
              <a:buNone/>
            </a:pPr>
            <a:r>
              <a:rPr lang="en-US" sz="1300" b="1" dirty="0">
                <a:solidFill>
                  <a:srgbClr val="212B32"/>
                </a:solidFill>
                <a:latin typeface="Segoe UI" pitchFamily="34" charset="0"/>
                <a:ea typeface="Segoe UI" pitchFamily="34" charset="-122"/>
                <a:cs typeface="Segoe UI" pitchFamily="34" charset="-120"/>
              </a:rPr>
              <a:t>The cohort. </a:t>
            </a:r>
            <a:pPr indent="0" marL="0">
              <a:buNone/>
            </a:pPr>
            <a:r>
              <a:rPr lang="en-US" sz="1300" dirty="0">
                <a:solidFill>
                  <a:srgbClr val="212B32"/>
                </a:solidFill>
                <a:latin typeface="Segoe UI" pitchFamily="34" charset="0"/>
                <a:ea typeface="Segoe UI" pitchFamily="34" charset="-122"/>
                <a:cs typeface="Segoe UI" pitchFamily="34" charset="-120"/>
              </a:rPr>
              <a:t>Men on active surveillance for low-risk prostate cancer, on a NICE NG131 monitoring cadence. Around 64,000 men are diagnosed with prostate cancer in the UK each year; roughly 6,500 a year choose active surveillance, with up to 5,000 more who could.</a:t>
            </a:r>
            <a:endParaRPr lang="en-US" sz="1300" dirty="0"/>
          </a:p>
        </p:txBody>
      </p:sp>
      <p:sp>
        <p:nvSpPr>
          <p:cNvPr id="13" name="Text 8"/>
          <p:cNvSpPr/>
          <p:nvPr/>
        </p:nvSpPr>
        <p:spPr>
          <a:xfrm>
            <a:off x="3977640" y="2145792"/>
            <a:ext cx="7756855" cy="687324"/>
          </a:xfrm>
          <a:prstGeom prst="rect">
            <a:avLst/>
          </a:prstGeom>
          <a:noFill/>
          <a:ln/>
        </p:spPr>
        <p:txBody>
          <a:bodyPr wrap="square" lIns="0" tIns="0" rIns="0" bIns="0" rtlCol="0" anchor="t">
            <a:normAutofit/>
          </a:bodyPr>
          <a:lstStyle/>
          <a:p>
            <a:pPr indent="0" marL="0">
              <a:buNone/>
            </a:pPr>
            <a:r>
              <a:rPr lang="en-US" sz="1300" b="1" dirty="0">
                <a:solidFill>
                  <a:srgbClr val="212B32"/>
                </a:solidFill>
                <a:latin typeface="Segoe UI" pitchFamily="34" charset="0"/>
                <a:ea typeface="Segoe UI" pitchFamily="34" charset="-122"/>
                <a:cs typeface="Segoe UI" pitchFamily="34" charset="-120"/>
              </a:rPr>
              <a:t>The change. </a:t>
            </a:r>
            <a:pPr indent="0" marL="0">
              <a:buNone/>
            </a:pPr>
            <a:r>
              <a:rPr lang="en-US" sz="1300" dirty="0">
                <a:solidFill>
                  <a:srgbClr val="212B32"/>
                </a:solidFill>
                <a:latin typeface="Segoe UI" pitchFamily="34" charset="0"/>
                <a:ea typeface="Segoe UI" pitchFamily="34" charset="-122"/>
                <a:cs typeface="Segoe UI" pitchFamily="34" charset="-120"/>
              </a:rPr>
              <a:t>The quarterly PSA happens at home. The trend arrives in the same place, on time, and Adam reviews it as he always did. Clinic time concentrates on the men whose numbers have moved.</a:t>
            </a:r>
            <a:endParaRPr lang="en-US" sz="1300" dirty="0"/>
          </a:p>
        </p:txBody>
      </p:sp>
      <p:sp>
        <p:nvSpPr>
          <p:cNvPr id="14" name="Text 9"/>
          <p:cNvSpPr/>
          <p:nvPr/>
        </p:nvSpPr>
        <p:spPr>
          <a:xfrm>
            <a:off x="3977640" y="3015996"/>
            <a:ext cx="7756855" cy="687324"/>
          </a:xfrm>
          <a:prstGeom prst="rect">
            <a:avLst/>
          </a:prstGeom>
          <a:noFill/>
          <a:ln/>
        </p:spPr>
        <p:txBody>
          <a:bodyPr wrap="square" lIns="0" tIns="0" rIns="0" bIns="0" rtlCol="0" anchor="t">
            <a:normAutofit/>
          </a:bodyPr>
          <a:lstStyle/>
          <a:p>
            <a:pPr indent="0" marL="0">
              <a:buNone/>
            </a:pPr>
            <a:r>
              <a:rPr lang="en-US" sz="1300" b="1" dirty="0">
                <a:solidFill>
                  <a:srgbClr val="212B32"/>
                </a:solidFill>
                <a:latin typeface="Segoe UI" pitchFamily="34" charset="0"/>
                <a:ea typeface="Segoe UI" pitchFamily="34" charset="-122"/>
                <a:cs typeface="Segoe UI" pitchFamily="34" charset="-120"/>
              </a:rPr>
              <a:t>The clinical accountability. </a:t>
            </a:r>
            <a:pPr indent="0" marL="0">
              <a:buNone/>
            </a:pPr>
            <a:r>
              <a:rPr lang="en-US" sz="1300" dirty="0">
                <a:solidFill>
                  <a:srgbClr val="212B32"/>
                </a:solidFill>
                <a:latin typeface="Segoe UI" pitchFamily="34" charset="0"/>
                <a:ea typeface="Segoe UI" pitchFamily="34" charset="-122"/>
                <a:cs typeface="Segoe UI" pitchFamily="34" charset="-120"/>
              </a:rPr>
              <a:t>Unmoved. Adam sets the cadence and the threshold, Adam reads the trend, Adam decides. The platform carries the kit, the laboratory and the exception list.</a:t>
            </a:r>
            <a:endParaRPr lang="en-US" sz="1300" dirty="0"/>
          </a:p>
        </p:txBody>
      </p:sp>
      <p:sp>
        <p:nvSpPr>
          <p:cNvPr id="15" name="Text 10"/>
          <p:cNvSpPr/>
          <p:nvPr/>
        </p:nvSpPr>
        <p:spPr>
          <a:xfrm>
            <a:off x="457200" y="6455664"/>
            <a:ext cx="4206240" cy="274320"/>
          </a:xfrm>
          <a:prstGeom prst="rect">
            <a:avLst/>
          </a:prstGeom>
          <a:noFill/>
          <a:ln/>
        </p:spPr>
        <p:txBody>
          <a:bodyPr wrap="square" lIns="0" tIns="0" rIns="0" bIns="0" rtlCol="0" anchor="ctr"/>
          <a:lstStyle/>
          <a:p>
            <a:pPr indent="0" marL="0">
              <a:buNone/>
            </a:pPr>
            <a:r>
              <a:rPr lang="en-US" sz="850" dirty="0">
                <a:solidFill>
                  <a:srgbClr val="7E8B97"/>
                </a:solidFill>
                <a:latin typeface="Segoe UI" pitchFamily="34" charset="0"/>
                <a:ea typeface="Segoe UI" pitchFamily="34" charset="-122"/>
                <a:cs typeface="Segoe UI" pitchFamily="34" charset="-120"/>
              </a:rPr>
              <a:t>Hearts and Minds  ·  audience deck No.2  ·  Clinician edition</a:t>
            </a:r>
            <a:endParaRPr lang="en-US" sz="850" dirty="0"/>
          </a:p>
        </p:txBody>
      </p:sp>
      <p:sp>
        <p:nvSpPr>
          <p:cNvPr id="16" name="Text 11"/>
          <p:cNvSpPr/>
          <p:nvPr/>
        </p:nvSpPr>
        <p:spPr>
          <a:xfrm>
            <a:off x="4754880" y="6455664"/>
            <a:ext cx="6430975" cy="274320"/>
          </a:xfrm>
          <a:prstGeom prst="rect">
            <a:avLst/>
          </a:prstGeom>
          <a:noFill/>
          <a:ln/>
        </p:spPr>
        <p:txBody>
          <a:bodyPr wrap="square" lIns="0" tIns="0" rIns="0" bIns="0" rtlCol="0" anchor="ctr"/>
          <a:lstStyle/>
          <a:p>
            <a:pPr algn="r" indent="0" marL="0">
              <a:buNone/>
            </a:pPr>
            <a:r>
              <a:rPr lang="en-US" sz="800" dirty="0">
                <a:solidFill>
                  <a:srgbClr val="7E8B97"/>
                </a:solidFill>
                <a:latin typeface="Segoe UI" pitchFamily="34" charset="0"/>
                <a:ea typeface="Segoe UI" pitchFamily="34" charset="-122"/>
                <a:cs typeface="Segoe UI" pitchFamily="34" charset="-120"/>
              </a:rPr>
              <a:t>Commercial positions are agreed in principle and remain subject to the live procurement.</a:t>
            </a:r>
            <a:endParaRPr lang="en-US" sz="800" dirty="0"/>
          </a:p>
        </p:txBody>
      </p:sp>
      <p:sp>
        <p:nvSpPr>
          <p:cNvPr id="17" name="Text 12"/>
          <p:cNvSpPr/>
          <p:nvPr/>
        </p:nvSpPr>
        <p:spPr>
          <a:xfrm>
            <a:off x="11323015" y="6455664"/>
            <a:ext cx="411480" cy="274320"/>
          </a:xfrm>
          <a:prstGeom prst="rect">
            <a:avLst/>
          </a:prstGeom>
          <a:noFill/>
          <a:ln/>
        </p:spPr>
        <p:txBody>
          <a:bodyPr wrap="square" lIns="0" tIns="0" rIns="0" bIns="0" rtlCol="0" anchor="ctr"/>
          <a:lstStyle/>
          <a:p>
            <a:pPr algn="r" indent="0" marL="0">
              <a:buNone/>
            </a:pPr>
            <a:r>
              <a:rPr lang="en-US" sz="850" b="1" dirty="0">
                <a:solidFill>
                  <a:srgbClr val="7E8B97"/>
                </a:solidFill>
                <a:latin typeface="Segoe UI" pitchFamily="34" charset="0"/>
                <a:ea typeface="Segoe UI" pitchFamily="34" charset="-122"/>
                <a:cs typeface="Segoe UI" pitchFamily="34" charset="-120"/>
              </a:rPr>
              <a:t>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sessions/quirky-zen-galileo/mnt/NHS/07 Sites &amp; Repos/dtx-ecosystem/hearts-and-minds/_generators/assets/bg-band.jpg">    </p:cNvPr>
          <p:cNvPicPr>
            <a:picLocks noChangeAspect="1"/>
          </p:cNvPicPr>
          <p:nvPr/>
        </p:nvPicPr>
        <p:blipFill>
          <a:blip r:embed="rId1"/>
          <a:stretch>
            <a:fillRect/>
          </a:stretch>
        </p:blipFill>
        <p:spPr>
          <a:xfrm>
            <a:off x="0" y="0"/>
            <a:ext cx="12191695" cy="932688"/>
          </a:xfrm>
          <a:prstGeom prst="rect">
            <a:avLst/>
          </a:prstGeom>
        </p:spPr>
      </p:pic>
      <p:sp>
        <p:nvSpPr>
          <p:cNvPr id="3" name="Shape 0"/>
          <p:cNvSpPr/>
          <p:nvPr/>
        </p:nvSpPr>
        <p:spPr>
          <a:xfrm>
            <a:off x="0" y="932688"/>
            <a:ext cx="12191695" cy="50292"/>
          </a:xfrm>
          <a:prstGeom prst="rect">
            <a:avLst/>
          </a:prstGeom>
          <a:solidFill>
            <a:srgbClr val="C9A0E3"/>
          </a:solidFill>
          <a:ln w="12700">
            <a:solidFill>
              <a:srgbClr val="C9A0E3"/>
            </a:solidFill>
            <a:prstDash val="solid"/>
          </a:ln>
        </p:spPr>
      </p:sp>
      <p:sp>
        <p:nvSpPr>
          <p:cNvPr id="4" name="Text 1"/>
          <p:cNvSpPr/>
          <p:nvPr/>
        </p:nvSpPr>
        <p:spPr>
          <a:xfrm>
            <a:off x="502920" y="137160"/>
            <a:ext cx="8595360" cy="256032"/>
          </a:xfrm>
          <a:prstGeom prst="rect">
            <a:avLst/>
          </a:prstGeom>
          <a:noFill/>
          <a:ln/>
        </p:spPr>
        <p:txBody>
          <a:bodyPr wrap="square" lIns="0" tIns="0" rIns="0" bIns="0" rtlCol="0" anchor="ctr"/>
          <a:lstStyle/>
          <a:p>
            <a:pPr indent="0" marL="0">
              <a:buNone/>
            </a:pPr>
            <a:r>
              <a:rPr lang="en-US" sz="950" b="1" spc="240" kern="0" dirty="0">
                <a:solidFill>
                  <a:srgbClr val="FFD66B"/>
                </a:solidFill>
                <a:latin typeface="Segoe UI" pitchFamily="34" charset="0"/>
                <a:ea typeface="Segoe UI" pitchFamily="34" charset="-122"/>
                <a:cs typeface="Segoe UI" pitchFamily="34" charset="-120"/>
              </a:rPr>
              <a:t>WHAT YOU GET BACK</a:t>
            </a:r>
            <a:endParaRPr lang="en-US" sz="950" dirty="0"/>
          </a:p>
        </p:txBody>
      </p:sp>
      <p:sp>
        <p:nvSpPr>
          <p:cNvPr id="5" name="Text 2"/>
          <p:cNvSpPr/>
          <p:nvPr/>
        </p:nvSpPr>
        <p:spPr>
          <a:xfrm>
            <a:off x="502920" y="402336"/>
            <a:ext cx="9509760" cy="457200"/>
          </a:xfrm>
          <a:prstGeom prst="rect">
            <a:avLst/>
          </a:prstGeom>
          <a:noFill/>
          <a:ln/>
        </p:spPr>
        <p:txBody>
          <a:bodyPr wrap="square" lIns="0" tIns="0" rIns="0" bIns="0" rtlCol="0" anchor="ctr">
            <a:normAutofit/>
          </a:bodyPr>
          <a:lstStyle/>
          <a:p>
            <a:pPr indent="0" marL="0">
              <a:buNone/>
            </a:pPr>
            <a:r>
              <a:rPr lang="en-US" sz="2100" b="1" dirty="0">
                <a:solidFill>
                  <a:srgbClr val="FFFFFF"/>
                </a:solidFill>
                <a:latin typeface="Segoe UI" pitchFamily="34" charset="0"/>
                <a:ea typeface="Segoe UI" pitchFamily="34" charset="-122"/>
                <a:cs typeface="Segoe UI" pitchFamily="34" charset="-120"/>
              </a:rPr>
              <a:t>Three things worth having.</a:t>
            </a:r>
            <a:endParaRPr lang="en-US" sz="2100" dirty="0"/>
          </a:p>
        </p:txBody>
      </p:sp>
      <p:sp>
        <p:nvSpPr>
          <p:cNvPr id="6" name="Shape 3"/>
          <p:cNvSpPr/>
          <p:nvPr/>
        </p:nvSpPr>
        <p:spPr>
          <a:xfrm>
            <a:off x="10942806" y="173736"/>
            <a:ext cx="791689" cy="605699"/>
          </a:xfrm>
          <a:prstGeom prst="roundRect">
            <a:avLst>
              <a:gd name="adj" fmla="val 12077"/>
            </a:avLst>
          </a:prstGeom>
          <a:solidFill>
            <a:srgbClr val="FFFFFF"/>
          </a:solidFill>
          <a:ln w="12700">
            <a:solidFill>
              <a:srgbClr val="FFFFFF"/>
            </a:solidFill>
            <a:prstDash val="solid"/>
          </a:ln>
        </p:spPr>
      </p:sp>
      <p:pic>
        <p:nvPicPr>
          <p:cNvPr id="7" name="Image 1" descr="/sessions/quirky-zen-galileo/mnt/NHS/07 Sites &amp; Repos/dtx-ecosystem/hearts-and-minds/_generators/assets/nhs-logo.png">    </p:cNvPr>
          <p:cNvPicPr>
            <a:picLocks noChangeAspect="1"/>
          </p:cNvPicPr>
          <p:nvPr/>
        </p:nvPicPr>
        <p:blipFill>
          <a:blip r:embed="rId2"/>
          <a:stretch>
            <a:fillRect/>
          </a:stretch>
        </p:blipFill>
        <p:spPr>
          <a:xfrm>
            <a:off x="11068993" y="266273"/>
            <a:ext cx="539315" cy="420624"/>
          </a:xfrm>
          <a:prstGeom prst="rect">
            <a:avLst/>
          </a:prstGeom>
        </p:spPr>
      </p:pic>
      <p:sp>
        <p:nvSpPr>
          <p:cNvPr id="8" name="Shape 4"/>
          <p:cNvSpPr/>
          <p:nvPr/>
        </p:nvSpPr>
        <p:spPr>
          <a:xfrm>
            <a:off x="457200" y="2511806"/>
            <a:ext cx="3588410" cy="1545844"/>
          </a:xfrm>
          <a:prstGeom prst="roundRect">
            <a:avLst>
              <a:gd name="adj" fmla="val 5915"/>
            </a:avLst>
          </a:prstGeom>
          <a:solidFill>
            <a:srgbClr val="F4F8FC"/>
          </a:solidFill>
          <a:ln w="9525">
            <a:solidFill>
              <a:srgbClr val="EBEEF1"/>
            </a:solidFill>
            <a:prstDash val="solid"/>
          </a:ln>
        </p:spPr>
      </p:sp>
      <p:sp>
        <p:nvSpPr>
          <p:cNvPr id="9" name="Shape 5"/>
          <p:cNvSpPr/>
          <p:nvPr/>
        </p:nvSpPr>
        <p:spPr>
          <a:xfrm>
            <a:off x="457200" y="2511806"/>
            <a:ext cx="3588410" cy="64008"/>
          </a:xfrm>
          <a:prstGeom prst="rect">
            <a:avLst/>
          </a:prstGeom>
          <a:solidFill>
            <a:srgbClr val="006747"/>
          </a:solidFill>
          <a:ln w="12700">
            <a:solidFill>
              <a:srgbClr val="006747"/>
            </a:solidFill>
            <a:prstDash val="solid"/>
          </a:ln>
        </p:spPr>
      </p:sp>
      <p:sp>
        <p:nvSpPr>
          <p:cNvPr id="10" name="Text 6"/>
          <p:cNvSpPr/>
          <p:nvPr/>
        </p:nvSpPr>
        <p:spPr>
          <a:xfrm>
            <a:off x="676656" y="2694686"/>
            <a:ext cx="3149498" cy="291084"/>
          </a:xfrm>
          <a:prstGeom prst="rect">
            <a:avLst/>
          </a:prstGeom>
          <a:noFill/>
          <a:ln/>
        </p:spPr>
        <p:txBody>
          <a:bodyPr wrap="square" lIns="0" tIns="0" rIns="0" bIns="0" rtlCol="0" anchor="t">
            <a:normAutofit/>
          </a:bodyPr>
          <a:lstStyle/>
          <a:p>
            <a:pPr indent="0" marL="0">
              <a:buNone/>
            </a:pPr>
            <a:r>
              <a:rPr lang="en-US" sz="1500" b="1" dirty="0">
                <a:solidFill>
                  <a:srgbClr val="003087"/>
                </a:solidFill>
                <a:latin typeface="Segoe UI" pitchFamily="34" charset="0"/>
                <a:ea typeface="Segoe UI" pitchFamily="34" charset="-122"/>
                <a:cs typeface="Segoe UI" pitchFamily="34" charset="-120"/>
              </a:rPr>
              <a:t>Clinic time</a:t>
            </a:r>
            <a:endParaRPr lang="en-US" sz="1500" dirty="0"/>
          </a:p>
        </p:txBody>
      </p:sp>
      <p:sp>
        <p:nvSpPr>
          <p:cNvPr id="11" name="Text 7"/>
          <p:cNvSpPr/>
          <p:nvPr/>
        </p:nvSpPr>
        <p:spPr>
          <a:xfrm>
            <a:off x="676656" y="3058922"/>
            <a:ext cx="3149498" cy="815848"/>
          </a:xfrm>
          <a:prstGeom prst="rect">
            <a:avLst/>
          </a:prstGeom>
          <a:noFill/>
          <a:ln/>
        </p:spPr>
        <p:txBody>
          <a:bodyPr wrap="square" lIns="0" tIns="0" rIns="0" bIns="0" rtlCol="0" anchor="t">
            <a:normAutofit/>
          </a:bodyPr>
          <a:lstStyle/>
          <a:p>
            <a:pPr indent="0" marL="0">
              <a:buNone/>
            </a:pPr>
            <a:r>
              <a:rPr lang="en-US" sz="1100" dirty="0">
                <a:solidFill>
                  <a:srgbClr val="212B32"/>
                </a:solidFill>
                <a:latin typeface="Segoe UI" pitchFamily="34" charset="0"/>
                <a:ea typeface="Segoe UI" pitchFamily="34" charset="-122"/>
                <a:cs typeface="Segoe UI" pitchFamily="34" charset="-120"/>
              </a:rPr>
              <a:t>Routine and surveillance bloods stop competing with treatment and complex care for the same room, the same nurse and the same hour.</a:t>
            </a:r>
            <a:endParaRPr lang="en-US" sz="1100" dirty="0"/>
          </a:p>
        </p:txBody>
      </p:sp>
      <p:sp>
        <p:nvSpPr>
          <p:cNvPr id="12" name="Shape 8"/>
          <p:cNvSpPr/>
          <p:nvPr/>
        </p:nvSpPr>
        <p:spPr>
          <a:xfrm>
            <a:off x="4301642" y="2511806"/>
            <a:ext cx="3588410" cy="1545844"/>
          </a:xfrm>
          <a:prstGeom prst="roundRect">
            <a:avLst>
              <a:gd name="adj" fmla="val 5915"/>
            </a:avLst>
          </a:prstGeom>
          <a:solidFill>
            <a:srgbClr val="F4F8FC"/>
          </a:solidFill>
          <a:ln w="9525">
            <a:solidFill>
              <a:srgbClr val="EBEEF1"/>
            </a:solidFill>
            <a:prstDash val="solid"/>
          </a:ln>
        </p:spPr>
      </p:sp>
      <p:sp>
        <p:nvSpPr>
          <p:cNvPr id="13" name="Shape 9"/>
          <p:cNvSpPr/>
          <p:nvPr/>
        </p:nvSpPr>
        <p:spPr>
          <a:xfrm>
            <a:off x="4301642" y="2511806"/>
            <a:ext cx="3588410" cy="64008"/>
          </a:xfrm>
          <a:prstGeom prst="rect">
            <a:avLst/>
          </a:prstGeom>
          <a:solidFill>
            <a:srgbClr val="006747"/>
          </a:solidFill>
          <a:ln w="12700">
            <a:solidFill>
              <a:srgbClr val="006747"/>
            </a:solidFill>
            <a:prstDash val="solid"/>
          </a:ln>
        </p:spPr>
      </p:sp>
      <p:sp>
        <p:nvSpPr>
          <p:cNvPr id="14" name="Text 10"/>
          <p:cNvSpPr/>
          <p:nvPr/>
        </p:nvSpPr>
        <p:spPr>
          <a:xfrm>
            <a:off x="4521098" y="2694686"/>
            <a:ext cx="3149498" cy="291084"/>
          </a:xfrm>
          <a:prstGeom prst="rect">
            <a:avLst/>
          </a:prstGeom>
          <a:noFill/>
          <a:ln/>
        </p:spPr>
        <p:txBody>
          <a:bodyPr wrap="square" lIns="0" tIns="0" rIns="0" bIns="0" rtlCol="0" anchor="t">
            <a:normAutofit/>
          </a:bodyPr>
          <a:lstStyle/>
          <a:p>
            <a:pPr indent="0" marL="0">
              <a:buNone/>
            </a:pPr>
            <a:r>
              <a:rPr lang="en-US" sz="1500" b="1" dirty="0">
                <a:solidFill>
                  <a:srgbClr val="003087"/>
                </a:solidFill>
                <a:latin typeface="Segoe UI" pitchFamily="34" charset="0"/>
                <a:ea typeface="Segoe UI" pitchFamily="34" charset="-122"/>
                <a:cs typeface="Segoe UI" pitchFamily="34" charset="-120"/>
              </a:rPr>
              <a:t>A cohort that holds</a:t>
            </a:r>
            <a:endParaRPr lang="en-US" sz="1500" dirty="0"/>
          </a:p>
        </p:txBody>
      </p:sp>
      <p:sp>
        <p:nvSpPr>
          <p:cNvPr id="15" name="Text 11"/>
          <p:cNvSpPr/>
          <p:nvPr/>
        </p:nvSpPr>
        <p:spPr>
          <a:xfrm>
            <a:off x="4521098" y="3058922"/>
            <a:ext cx="3149498" cy="815848"/>
          </a:xfrm>
          <a:prstGeom prst="rect">
            <a:avLst/>
          </a:prstGeom>
          <a:noFill/>
          <a:ln/>
        </p:spPr>
        <p:txBody>
          <a:bodyPr wrap="square" lIns="0" tIns="0" rIns="0" bIns="0" rtlCol="0" anchor="t">
            <a:normAutofit/>
          </a:bodyPr>
          <a:lstStyle/>
          <a:p>
            <a:pPr indent="0" marL="0">
              <a:buNone/>
            </a:pPr>
            <a:r>
              <a:rPr lang="en-US" sz="1100" dirty="0">
                <a:solidFill>
                  <a:srgbClr val="212B32"/>
                </a:solidFill>
                <a:latin typeface="Segoe UI" pitchFamily="34" charset="0"/>
                <a:ea typeface="Segoe UI" pitchFamily="34" charset="-122"/>
                <a:cs typeface="Segoe UI" pitchFamily="34" charset="-120"/>
              </a:rPr>
              <a:t>Completion goes up in exactly the groups that miss appointments today, and non-completion becomes visible instead of silent.</a:t>
            </a:r>
            <a:endParaRPr lang="en-US" sz="1100" dirty="0"/>
          </a:p>
        </p:txBody>
      </p:sp>
      <p:sp>
        <p:nvSpPr>
          <p:cNvPr id="16" name="Shape 12"/>
          <p:cNvSpPr/>
          <p:nvPr/>
        </p:nvSpPr>
        <p:spPr>
          <a:xfrm>
            <a:off x="8146085" y="2511806"/>
            <a:ext cx="3588410" cy="1545844"/>
          </a:xfrm>
          <a:prstGeom prst="roundRect">
            <a:avLst>
              <a:gd name="adj" fmla="val 5915"/>
            </a:avLst>
          </a:prstGeom>
          <a:solidFill>
            <a:srgbClr val="F4F8FC"/>
          </a:solidFill>
          <a:ln w="9525">
            <a:solidFill>
              <a:srgbClr val="EBEEF1"/>
            </a:solidFill>
            <a:prstDash val="solid"/>
          </a:ln>
        </p:spPr>
      </p:sp>
      <p:sp>
        <p:nvSpPr>
          <p:cNvPr id="17" name="Shape 13"/>
          <p:cNvSpPr/>
          <p:nvPr/>
        </p:nvSpPr>
        <p:spPr>
          <a:xfrm>
            <a:off x="8146085" y="2511806"/>
            <a:ext cx="3588410" cy="64008"/>
          </a:xfrm>
          <a:prstGeom prst="rect">
            <a:avLst/>
          </a:prstGeom>
          <a:solidFill>
            <a:srgbClr val="006747"/>
          </a:solidFill>
          <a:ln w="12700">
            <a:solidFill>
              <a:srgbClr val="006747"/>
            </a:solidFill>
            <a:prstDash val="solid"/>
          </a:ln>
        </p:spPr>
      </p:sp>
      <p:sp>
        <p:nvSpPr>
          <p:cNvPr id="18" name="Text 14"/>
          <p:cNvSpPr/>
          <p:nvPr/>
        </p:nvSpPr>
        <p:spPr>
          <a:xfrm>
            <a:off x="8365541" y="2694686"/>
            <a:ext cx="3149498" cy="291084"/>
          </a:xfrm>
          <a:prstGeom prst="rect">
            <a:avLst/>
          </a:prstGeom>
          <a:noFill/>
          <a:ln/>
        </p:spPr>
        <p:txBody>
          <a:bodyPr wrap="square" lIns="0" tIns="0" rIns="0" bIns="0" rtlCol="0" anchor="t">
            <a:normAutofit/>
          </a:bodyPr>
          <a:lstStyle/>
          <a:p>
            <a:pPr indent="0" marL="0">
              <a:buNone/>
            </a:pPr>
            <a:r>
              <a:rPr lang="en-US" sz="1500" b="1" dirty="0">
                <a:solidFill>
                  <a:srgbClr val="003087"/>
                </a:solidFill>
                <a:latin typeface="Segoe UI" pitchFamily="34" charset="0"/>
                <a:ea typeface="Segoe UI" pitchFamily="34" charset="-122"/>
                <a:cs typeface="Segoe UI" pitchFamily="34" charset="-120"/>
              </a:rPr>
              <a:t>An audit trail</a:t>
            </a:r>
            <a:endParaRPr lang="en-US" sz="1500" dirty="0"/>
          </a:p>
        </p:txBody>
      </p:sp>
      <p:sp>
        <p:nvSpPr>
          <p:cNvPr id="19" name="Text 15"/>
          <p:cNvSpPr/>
          <p:nvPr/>
        </p:nvSpPr>
        <p:spPr>
          <a:xfrm>
            <a:off x="8365541" y="3058922"/>
            <a:ext cx="3149498" cy="815848"/>
          </a:xfrm>
          <a:prstGeom prst="rect">
            <a:avLst/>
          </a:prstGeom>
          <a:noFill/>
          <a:ln/>
        </p:spPr>
        <p:txBody>
          <a:bodyPr wrap="square" lIns="0" tIns="0" rIns="0" bIns="0" rtlCol="0" anchor="t">
            <a:normAutofit/>
          </a:bodyPr>
          <a:lstStyle/>
          <a:p>
            <a:pPr indent="0" marL="0">
              <a:buNone/>
            </a:pPr>
            <a:r>
              <a:rPr lang="en-US" sz="1100" dirty="0">
                <a:solidFill>
                  <a:srgbClr val="212B32"/>
                </a:solidFill>
                <a:latin typeface="Segoe UI" pitchFamily="34" charset="0"/>
                <a:ea typeface="Segoe UI" pitchFamily="34" charset="-122"/>
                <a:cs typeface="Segoe UI" pitchFamily="34" charset="-120"/>
              </a:rPr>
              <a:t>Protocol, compliance against it and outcomes in one place, per cohort. What you can currently only estimate, you can show.</a:t>
            </a:r>
            <a:endParaRPr lang="en-US" sz="1100" dirty="0"/>
          </a:p>
        </p:txBody>
      </p:sp>
      <p:sp>
        <p:nvSpPr>
          <p:cNvPr id="20" name="Shape 16"/>
          <p:cNvSpPr/>
          <p:nvPr/>
        </p:nvSpPr>
        <p:spPr>
          <a:xfrm>
            <a:off x="457200" y="4295394"/>
            <a:ext cx="11277295" cy="668020"/>
          </a:xfrm>
          <a:prstGeom prst="roundRect">
            <a:avLst>
              <a:gd name="adj" fmla="val 13688"/>
            </a:avLst>
          </a:prstGeom>
          <a:solidFill>
            <a:srgbClr val="FFF9EC"/>
          </a:solidFill>
          <a:ln w="9525">
            <a:solidFill>
              <a:srgbClr val="E6C96A"/>
            </a:solidFill>
            <a:prstDash val="solid"/>
          </a:ln>
        </p:spPr>
      </p:sp>
      <p:sp>
        <p:nvSpPr>
          <p:cNvPr id="21" name="Text 17"/>
          <p:cNvSpPr/>
          <p:nvPr/>
        </p:nvSpPr>
        <p:spPr>
          <a:xfrm>
            <a:off x="731520" y="4386834"/>
            <a:ext cx="10728655" cy="485140"/>
          </a:xfrm>
          <a:prstGeom prst="rect">
            <a:avLst/>
          </a:prstGeom>
          <a:noFill/>
          <a:ln/>
        </p:spPr>
        <p:txBody>
          <a:bodyPr wrap="square" lIns="0" tIns="0" rIns="0" bIns="0" rtlCol="0" anchor="ctr">
            <a:normAutofit/>
          </a:bodyPr>
          <a:lstStyle/>
          <a:p>
            <a:pPr indent="0" marL="0">
              <a:buNone/>
            </a:pPr>
            <a:r>
              <a:rPr lang="en-US" sz="1250" b="1" dirty="0">
                <a:solidFill>
                  <a:srgbClr val="003087"/>
                </a:solidFill>
                <a:latin typeface="Segoe UI" pitchFamily="34" charset="0"/>
                <a:ea typeface="Segoe UI" pitchFamily="34" charset="-122"/>
                <a:cs typeface="Segoe UI" pitchFamily="34" charset="-120"/>
              </a:rPr>
              <a:t>Honest limit: the Private Beta exists to produce these numbers. We are not asking you to accept a business case, we are asking you to help generate the evidence.</a:t>
            </a:r>
            <a:endParaRPr lang="en-US" sz="1250" dirty="0"/>
          </a:p>
        </p:txBody>
      </p:sp>
      <p:sp>
        <p:nvSpPr>
          <p:cNvPr id="22" name="Text 18"/>
          <p:cNvSpPr/>
          <p:nvPr/>
        </p:nvSpPr>
        <p:spPr>
          <a:xfrm>
            <a:off x="457200" y="6455664"/>
            <a:ext cx="4206240" cy="274320"/>
          </a:xfrm>
          <a:prstGeom prst="rect">
            <a:avLst/>
          </a:prstGeom>
          <a:noFill/>
          <a:ln/>
        </p:spPr>
        <p:txBody>
          <a:bodyPr wrap="square" lIns="0" tIns="0" rIns="0" bIns="0" rtlCol="0" anchor="ctr"/>
          <a:lstStyle/>
          <a:p>
            <a:pPr indent="0" marL="0">
              <a:buNone/>
            </a:pPr>
            <a:r>
              <a:rPr lang="en-US" sz="850" dirty="0">
                <a:solidFill>
                  <a:srgbClr val="7E8B97"/>
                </a:solidFill>
                <a:latin typeface="Segoe UI" pitchFamily="34" charset="0"/>
                <a:ea typeface="Segoe UI" pitchFamily="34" charset="-122"/>
                <a:cs typeface="Segoe UI" pitchFamily="34" charset="-120"/>
              </a:rPr>
              <a:t>Hearts and Minds  ·  audience deck No.2  ·  Clinician edition</a:t>
            </a:r>
            <a:endParaRPr lang="en-US" sz="850" dirty="0"/>
          </a:p>
        </p:txBody>
      </p:sp>
      <p:sp>
        <p:nvSpPr>
          <p:cNvPr id="23" name="Text 19"/>
          <p:cNvSpPr/>
          <p:nvPr/>
        </p:nvSpPr>
        <p:spPr>
          <a:xfrm>
            <a:off x="4754880" y="6455664"/>
            <a:ext cx="6430975" cy="274320"/>
          </a:xfrm>
          <a:prstGeom prst="rect">
            <a:avLst/>
          </a:prstGeom>
          <a:noFill/>
          <a:ln/>
        </p:spPr>
        <p:txBody>
          <a:bodyPr wrap="square" lIns="0" tIns="0" rIns="0" bIns="0" rtlCol="0" anchor="ctr"/>
          <a:lstStyle/>
          <a:p>
            <a:pPr algn="r" indent="0" marL="0">
              <a:buNone/>
            </a:pPr>
            <a:r>
              <a:rPr lang="en-US" sz="800" dirty="0">
                <a:solidFill>
                  <a:srgbClr val="7E8B97"/>
                </a:solidFill>
                <a:latin typeface="Segoe UI" pitchFamily="34" charset="0"/>
                <a:ea typeface="Segoe UI" pitchFamily="34" charset="-122"/>
                <a:cs typeface="Segoe UI" pitchFamily="34" charset="-120"/>
              </a:rPr>
              <a:t>Commercial positions are agreed in principle and remain subject to the live procurement.</a:t>
            </a:r>
            <a:endParaRPr lang="en-US" sz="800" dirty="0"/>
          </a:p>
        </p:txBody>
      </p:sp>
      <p:sp>
        <p:nvSpPr>
          <p:cNvPr id="24" name="Text 20"/>
          <p:cNvSpPr/>
          <p:nvPr/>
        </p:nvSpPr>
        <p:spPr>
          <a:xfrm>
            <a:off x="11323015" y="6455664"/>
            <a:ext cx="411480" cy="274320"/>
          </a:xfrm>
          <a:prstGeom prst="rect">
            <a:avLst/>
          </a:prstGeom>
          <a:noFill/>
          <a:ln/>
        </p:spPr>
        <p:txBody>
          <a:bodyPr wrap="square" lIns="0" tIns="0" rIns="0" bIns="0" rtlCol="0" anchor="ctr"/>
          <a:lstStyle/>
          <a:p>
            <a:pPr algn="r" indent="0" marL="0">
              <a:buNone/>
            </a:pPr>
            <a:r>
              <a:rPr lang="en-US" sz="850" b="1" dirty="0">
                <a:solidFill>
                  <a:srgbClr val="7E8B97"/>
                </a:solidFill>
                <a:latin typeface="Segoe UI" pitchFamily="34" charset="0"/>
                <a:ea typeface="Segoe UI" pitchFamily="34" charset="-122"/>
                <a:cs typeface="Segoe UI" pitchFamily="34" charset="-120"/>
              </a:rPr>
              <a:t>9</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sessions/quirky-zen-galileo/mnt/NHS/07 Sites &amp; Repos/dtx-ecosystem/hearts-and-minds/_generators/assets/bg-band.jpg">    </p:cNvPr>
          <p:cNvPicPr>
            <a:picLocks noChangeAspect="1"/>
          </p:cNvPicPr>
          <p:nvPr/>
        </p:nvPicPr>
        <p:blipFill>
          <a:blip r:embed="rId1"/>
          <a:stretch>
            <a:fillRect/>
          </a:stretch>
        </p:blipFill>
        <p:spPr>
          <a:xfrm>
            <a:off x="0" y="0"/>
            <a:ext cx="12191695" cy="932688"/>
          </a:xfrm>
          <a:prstGeom prst="rect">
            <a:avLst/>
          </a:prstGeom>
        </p:spPr>
      </p:pic>
      <p:sp>
        <p:nvSpPr>
          <p:cNvPr id="3" name="Shape 0"/>
          <p:cNvSpPr/>
          <p:nvPr/>
        </p:nvSpPr>
        <p:spPr>
          <a:xfrm>
            <a:off x="0" y="932688"/>
            <a:ext cx="12191695" cy="50292"/>
          </a:xfrm>
          <a:prstGeom prst="rect">
            <a:avLst/>
          </a:prstGeom>
          <a:solidFill>
            <a:srgbClr val="C9A0E3"/>
          </a:solidFill>
          <a:ln w="12700">
            <a:solidFill>
              <a:srgbClr val="C9A0E3"/>
            </a:solidFill>
            <a:prstDash val="solid"/>
          </a:ln>
        </p:spPr>
      </p:sp>
      <p:sp>
        <p:nvSpPr>
          <p:cNvPr id="4" name="Text 1"/>
          <p:cNvSpPr/>
          <p:nvPr/>
        </p:nvSpPr>
        <p:spPr>
          <a:xfrm>
            <a:off x="502920" y="137160"/>
            <a:ext cx="8595360" cy="256032"/>
          </a:xfrm>
          <a:prstGeom prst="rect">
            <a:avLst/>
          </a:prstGeom>
          <a:noFill/>
          <a:ln/>
        </p:spPr>
        <p:txBody>
          <a:bodyPr wrap="square" lIns="0" tIns="0" rIns="0" bIns="0" rtlCol="0" anchor="ctr"/>
          <a:lstStyle/>
          <a:p>
            <a:pPr indent="0" marL="0">
              <a:buNone/>
            </a:pPr>
            <a:r>
              <a:rPr lang="en-US" sz="950" b="1" spc="240" kern="0" dirty="0">
                <a:solidFill>
                  <a:srgbClr val="FFD66B"/>
                </a:solidFill>
                <a:latin typeface="Segoe UI" pitchFamily="34" charset="0"/>
                <a:ea typeface="Segoe UI" pitchFamily="34" charset="-122"/>
                <a:cs typeface="Segoe UI" pitchFamily="34" charset="-120"/>
              </a:rPr>
              <a:t>WHAT WE NEED FROM CLINICIANS</a:t>
            </a:r>
            <a:endParaRPr lang="en-US" sz="950" dirty="0"/>
          </a:p>
        </p:txBody>
      </p:sp>
      <p:sp>
        <p:nvSpPr>
          <p:cNvPr id="5" name="Text 2"/>
          <p:cNvSpPr/>
          <p:nvPr/>
        </p:nvSpPr>
        <p:spPr>
          <a:xfrm>
            <a:off x="502920" y="402336"/>
            <a:ext cx="9509760" cy="457200"/>
          </a:xfrm>
          <a:prstGeom prst="rect">
            <a:avLst/>
          </a:prstGeom>
          <a:noFill/>
          <a:ln/>
        </p:spPr>
        <p:txBody>
          <a:bodyPr wrap="square" lIns="0" tIns="0" rIns="0" bIns="0" rtlCol="0" anchor="ctr">
            <a:normAutofit/>
          </a:bodyPr>
          <a:lstStyle/>
          <a:p>
            <a:pPr indent="0" marL="0">
              <a:buNone/>
            </a:pPr>
            <a:r>
              <a:rPr lang="en-US" sz="2100" b="1" dirty="0">
                <a:solidFill>
                  <a:srgbClr val="FFFFFF"/>
                </a:solidFill>
                <a:latin typeface="Segoe UI" pitchFamily="34" charset="0"/>
                <a:ea typeface="Segoe UI" pitchFamily="34" charset="-122"/>
                <a:cs typeface="Segoe UI" pitchFamily="34" charset="-120"/>
              </a:rPr>
              <a:t>Three asks, none of them a procurement.</a:t>
            </a:r>
            <a:endParaRPr lang="en-US" sz="2100" dirty="0"/>
          </a:p>
        </p:txBody>
      </p:sp>
      <p:sp>
        <p:nvSpPr>
          <p:cNvPr id="6" name="Shape 3"/>
          <p:cNvSpPr/>
          <p:nvPr/>
        </p:nvSpPr>
        <p:spPr>
          <a:xfrm>
            <a:off x="10942806" y="173736"/>
            <a:ext cx="791689" cy="605699"/>
          </a:xfrm>
          <a:prstGeom prst="roundRect">
            <a:avLst>
              <a:gd name="adj" fmla="val 12077"/>
            </a:avLst>
          </a:prstGeom>
          <a:solidFill>
            <a:srgbClr val="FFFFFF"/>
          </a:solidFill>
          <a:ln w="12700">
            <a:solidFill>
              <a:srgbClr val="FFFFFF"/>
            </a:solidFill>
            <a:prstDash val="solid"/>
          </a:ln>
        </p:spPr>
      </p:sp>
      <p:pic>
        <p:nvPicPr>
          <p:cNvPr id="7" name="Image 1" descr="/sessions/quirky-zen-galileo/mnt/NHS/07 Sites &amp; Repos/dtx-ecosystem/hearts-and-minds/_generators/assets/nhs-logo.png">    </p:cNvPr>
          <p:cNvPicPr>
            <a:picLocks noChangeAspect="1"/>
          </p:cNvPicPr>
          <p:nvPr/>
        </p:nvPicPr>
        <p:blipFill>
          <a:blip r:embed="rId2"/>
          <a:stretch>
            <a:fillRect/>
          </a:stretch>
        </p:blipFill>
        <p:spPr>
          <a:xfrm>
            <a:off x="11068993" y="266273"/>
            <a:ext cx="539315" cy="420624"/>
          </a:xfrm>
          <a:prstGeom prst="rect">
            <a:avLst/>
          </a:prstGeom>
        </p:spPr>
      </p:pic>
      <p:sp>
        <p:nvSpPr>
          <p:cNvPr id="8" name="Shape 4"/>
          <p:cNvSpPr/>
          <p:nvPr/>
        </p:nvSpPr>
        <p:spPr>
          <a:xfrm>
            <a:off x="457200" y="2049526"/>
            <a:ext cx="3588410" cy="2278888"/>
          </a:xfrm>
          <a:prstGeom prst="roundRect">
            <a:avLst>
              <a:gd name="adj" fmla="val 4012"/>
            </a:avLst>
          </a:prstGeom>
          <a:solidFill>
            <a:srgbClr val="F8FAFC"/>
          </a:solidFill>
          <a:ln w="9525">
            <a:solidFill>
              <a:srgbClr val="EBEEF1"/>
            </a:solidFill>
            <a:prstDash val="solid"/>
          </a:ln>
        </p:spPr>
      </p:sp>
      <p:sp>
        <p:nvSpPr>
          <p:cNvPr id="9" name="Shape 5"/>
          <p:cNvSpPr/>
          <p:nvPr/>
        </p:nvSpPr>
        <p:spPr>
          <a:xfrm>
            <a:off x="457200" y="2049526"/>
            <a:ext cx="3588410" cy="64008"/>
          </a:xfrm>
          <a:prstGeom prst="rect">
            <a:avLst/>
          </a:prstGeom>
          <a:solidFill>
            <a:srgbClr val="C9A0E3"/>
          </a:solidFill>
          <a:ln w="12700">
            <a:solidFill>
              <a:srgbClr val="C9A0E3"/>
            </a:solidFill>
            <a:prstDash val="solid"/>
          </a:ln>
        </p:spPr>
      </p:sp>
      <p:sp>
        <p:nvSpPr>
          <p:cNvPr id="10" name="Text 6"/>
          <p:cNvSpPr/>
          <p:nvPr/>
        </p:nvSpPr>
        <p:spPr>
          <a:xfrm>
            <a:off x="676656" y="2177542"/>
            <a:ext cx="731520" cy="658368"/>
          </a:xfrm>
          <a:prstGeom prst="rect">
            <a:avLst/>
          </a:prstGeom>
          <a:noFill/>
          <a:ln/>
        </p:spPr>
        <p:txBody>
          <a:bodyPr wrap="square" lIns="0" tIns="0" rIns="0" bIns="0" rtlCol="0" anchor="ctr"/>
          <a:lstStyle/>
          <a:p>
            <a:pPr indent="0" marL="0">
              <a:buNone/>
            </a:pPr>
            <a:r>
              <a:rPr lang="en-US" sz="4000" b="1" spc="-100" kern="0" dirty="0">
                <a:solidFill>
                  <a:srgbClr val="C9A0E3"/>
                </a:solidFill>
                <a:latin typeface="Segoe UI" pitchFamily="34" charset="0"/>
                <a:ea typeface="Segoe UI" pitchFamily="34" charset="-122"/>
                <a:cs typeface="Segoe UI" pitchFamily="34" charset="-120"/>
              </a:rPr>
              <a:t>1</a:t>
            </a:r>
            <a:endParaRPr lang="en-US" sz="4000" dirty="0"/>
          </a:p>
        </p:txBody>
      </p:sp>
      <p:sp>
        <p:nvSpPr>
          <p:cNvPr id="11" name="Text 7"/>
          <p:cNvSpPr/>
          <p:nvPr/>
        </p:nvSpPr>
        <p:spPr>
          <a:xfrm>
            <a:off x="676656" y="2890774"/>
            <a:ext cx="3149498" cy="420624"/>
          </a:xfrm>
          <a:prstGeom prst="rect">
            <a:avLst/>
          </a:prstGeom>
          <a:noFill/>
          <a:ln/>
        </p:spPr>
        <p:txBody>
          <a:bodyPr wrap="square" lIns="0" tIns="0" rIns="0" bIns="0" rtlCol="0" anchor="t">
            <a:normAutofit/>
          </a:bodyPr>
          <a:lstStyle/>
          <a:p>
            <a:pPr indent="0" marL="0">
              <a:buNone/>
            </a:pPr>
            <a:r>
              <a:rPr lang="en-US" sz="1500" b="1" dirty="0">
                <a:solidFill>
                  <a:srgbClr val="003087"/>
                </a:solidFill>
                <a:latin typeface="Segoe UI" pitchFamily="34" charset="0"/>
                <a:ea typeface="Segoe UI" pitchFamily="34" charset="-122"/>
                <a:cs typeface="Segoe UI" pitchFamily="34" charset="-120"/>
              </a:rPr>
              <a:t>Name the cohort</a:t>
            </a:r>
            <a:endParaRPr lang="en-US" sz="1500" dirty="0"/>
          </a:p>
        </p:txBody>
      </p:sp>
      <p:sp>
        <p:nvSpPr>
          <p:cNvPr id="12" name="Text 8"/>
          <p:cNvSpPr/>
          <p:nvPr/>
        </p:nvSpPr>
        <p:spPr>
          <a:xfrm>
            <a:off x="676656" y="3347974"/>
            <a:ext cx="3149498" cy="815848"/>
          </a:xfrm>
          <a:prstGeom prst="rect">
            <a:avLst/>
          </a:prstGeom>
          <a:noFill/>
          <a:ln/>
        </p:spPr>
        <p:txBody>
          <a:bodyPr wrap="square" lIns="0" tIns="0" rIns="0" bIns="0" rtlCol="0" anchor="t">
            <a:normAutofit/>
          </a:bodyPr>
          <a:lstStyle/>
          <a:p>
            <a:pPr indent="0" marL="0">
              <a:buNone/>
            </a:pPr>
            <a:r>
              <a:rPr lang="en-US" sz="1150" dirty="0">
                <a:solidFill>
                  <a:srgbClr val="212B32"/>
                </a:solidFill>
                <a:latin typeface="Segoe UI" pitchFamily="34" charset="0"/>
                <a:ea typeface="Segoe UI" pitchFamily="34" charset="-122"/>
                <a:cs typeface="Segoe UI" pitchFamily="34" charset="-120"/>
              </a:rPr>
              <a:t>Which of your patients should be in this, and which should not. The eligibility rule is a clinical decision and we will not write it for you.</a:t>
            </a:r>
            <a:endParaRPr lang="en-US" sz="1150" dirty="0"/>
          </a:p>
        </p:txBody>
      </p:sp>
      <p:sp>
        <p:nvSpPr>
          <p:cNvPr id="13" name="Shape 9"/>
          <p:cNvSpPr/>
          <p:nvPr/>
        </p:nvSpPr>
        <p:spPr>
          <a:xfrm>
            <a:off x="4301642" y="2049526"/>
            <a:ext cx="3588410" cy="2278888"/>
          </a:xfrm>
          <a:prstGeom prst="roundRect">
            <a:avLst>
              <a:gd name="adj" fmla="val 4012"/>
            </a:avLst>
          </a:prstGeom>
          <a:solidFill>
            <a:srgbClr val="F8FAFC"/>
          </a:solidFill>
          <a:ln w="9525">
            <a:solidFill>
              <a:srgbClr val="EBEEF1"/>
            </a:solidFill>
            <a:prstDash val="solid"/>
          </a:ln>
        </p:spPr>
      </p:sp>
      <p:sp>
        <p:nvSpPr>
          <p:cNvPr id="14" name="Shape 10"/>
          <p:cNvSpPr/>
          <p:nvPr/>
        </p:nvSpPr>
        <p:spPr>
          <a:xfrm>
            <a:off x="4301642" y="2049526"/>
            <a:ext cx="3588410" cy="64008"/>
          </a:xfrm>
          <a:prstGeom prst="rect">
            <a:avLst/>
          </a:prstGeom>
          <a:solidFill>
            <a:srgbClr val="C9A0E3"/>
          </a:solidFill>
          <a:ln w="12700">
            <a:solidFill>
              <a:srgbClr val="C9A0E3"/>
            </a:solidFill>
            <a:prstDash val="solid"/>
          </a:ln>
        </p:spPr>
      </p:sp>
      <p:sp>
        <p:nvSpPr>
          <p:cNvPr id="15" name="Text 11"/>
          <p:cNvSpPr/>
          <p:nvPr/>
        </p:nvSpPr>
        <p:spPr>
          <a:xfrm>
            <a:off x="4521098" y="2177542"/>
            <a:ext cx="731520" cy="658368"/>
          </a:xfrm>
          <a:prstGeom prst="rect">
            <a:avLst/>
          </a:prstGeom>
          <a:noFill/>
          <a:ln/>
        </p:spPr>
        <p:txBody>
          <a:bodyPr wrap="square" lIns="0" tIns="0" rIns="0" bIns="0" rtlCol="0" anchor="ctr"/>
          <a:lstStyle/>
          <a:p>
            <a:pPr indent="0" marL="0">
              <a:buNone/>
            </a:pPr>
            <a:r>
              <a:rPr lang="en-US" sz="4000" b="1" spc="-100" kern="0" dirty="0">
                <a:solidFill>
                  <a:srgbClr val="C9A0E3"/>
                </a:solidFill>
                <a:latin typeface="Segoe UI" pitchFamily="34" charset="0"/>
                <a:ea typeface="Segoe UI" pitchFamily="34" charset="-122"/>
                <a:cs typeface="Segoe UI" pitchFamily="34" charset="-120"/>
              </a:rPr>
              <a:t>2</a:t>
            </a:r>
            <a:endParaRPr lang="en-US" sz="4000" dirty="0"/>
          </a:p>
        </p:txBody>
      </p:sp>
      <p:sp>
        <p:nvSpPr>
          <p:cNvPr id="16" name="Text 12"/>
          <p:cNvSpPr/>
          <p:nvPr/>
        </p:nvSpPr>
        <p:spPr>
          <a:xfrm>
            <a:off x="4521098" y="2890774"/>
            <a:ext cx="3149498" cy="420624"/>
          </a:xfrm>
          <a:prstGeom prst="rect">
            <a:avLst/>
          </a:prstGeom>
          <a:noFill/>
          <a:ln/>
        </p:spPr>
        <p:txBody>
          <a:bodyPr wrap="square" lIns="0" tIns="0" rIns="0" bIns="0" rtlCol="0" anchor="t">
            <a:normAutofit/>
          </a:bodyPr>
          <a:lstStyle/>
          <a:p>
            <a:pPr indent="0" marL="0">
              <a:buNone/>
            </a:pPr>
            <a:r>
              <a:rPr lang="en-US" sz="1500" b="1" dirty="0">
                <a:solidFill>
                  <a:srgbClr val="003087"/>
                </a:solidFill>
                <a:latin typeface="Segoe UI" pitchFamily="34" charset="0"/>
                <a:ea typeface="Segoe UI" pitchFamily="34" charset="-122"/>
                <a:cs typeface="Segoe UI" pitchFamily="34" charset="-120"/>
              </a:rPr>
              <a:t>Set the protocol</a:t>
            </a:r>
            <a:endParaRPr lang="en-US" sz="1500" dirty="0"/>
          </a:p>
        </p:txBody>
      </p:sp>
      <p:sp>
        <p:nvSpPr>
          <p:cNvPr id="17" name="Text 13"/>
          <p:cNvSpPr/>
          <p:nvPr/>
        </p:nvSpPr>
        <p:spPr>
          <a:xfrm>
            <a:off x="4521098" y="3347974"/>
            <a:ext cx="3149498" cy="815848"/>
          </a:xfrm>
          <a:prstGeom prst="rect">
            <a:avLst/>
          </a:prstGeom>
          <a:noFill/>
          <a:ln/>
        </p:spPr>
        <p:txBody>
          <a:bodyPr wrap="square" lIns="0" tIns="0" rIns="0" bIns="0" rtlCol="0" anchor="t">
            <a:normAutofit/>
          </a:bodyPr>
          <a:lstStyle/>
          <a:p>
            <a:pPr indent="0" marL="0">
              <a:buNone/>
            </a:pPr>
            <a:r>
              <a:rPr lang="en-US" sz="1150" dirty="0">
                <a:solidFill>
                  <a:srgbClr val="212B32"/>
                </a:solidFill>
                <a:latin typeface="Segoe UI" pitchFamily="34" charset="0"/>
                <a:ea typeface="Segoe UI" pitchFamily="34" charset="-122"/>
                <a:cs typeface="Segoe UI" pitchFamily="34" charset="-120"/>
              </a:rPr>
              <a:t>Cadence, thresholds and the escalation route. The platform can run annual, biannual, risk-stratified or symptom-led. It should not choose.</a:t>
            </a:r>
            <a:endParaRPr lang="en-US" sz="1150" dirty="0"/>
          </a:p>
        </p:txBody>
      </p:sp>
      <p:sp>
        <p:nvSpPr>
          <p:cNvPr id="18" name="Shape 14"/>
          <p:cNvSpPr/>
          <p:nvPr/>
        </p:nvSpPr>
        <p:spPr>
          <a:xfrm>
            <a:off x="8146085" y="2049526"/>
            <a:ext cx="3588410" cy="2278888"/>
          </a:xfrm>
          <a:prstGeom prst="roundRect">
            <a:avLst>
              <a:gd name="adj" fmla="val 4012"/>
            </a:avLst>
          </a:prstGeom>
          <a:solidFill>
            <a:srgbClr val="F8FAFC"/>
          </a:solidFill>
          <a:ln w="9525">
            <a:solidFill>
              <a:srgbClr val="EBEEF1"/>
            </a:solidFill>
            <a:prstDash val="solid"/>
          </a:ln>
        </p:spPr>
      </p:sp>
      <p:sp>
        <p:nvSpPr>
          <p:cNvPr id="19" name="Shape 15"/>
          <p:cNvSpPr/>
          <p:nvPr/>
        </p:nvSpPr>
        <p:spPr>
          <a:xfrm>
            <a:off x="8146085" y="2049526"/>
            <a:ext cx="3588410" cy="64008"/>
          </a:xfrm>
          <a:prstGeom prst="rect">
            <a:avLst/>
          </a:prstGeom>
          <a:solidFill>
            <a:srgbClr val="C9A0E3"/>
          </a:solidFill>
          <a:ln w="12700">
            <a:solidFill>
              <a:srgbClr val="C9A0E3"/>
            </a:solidFill>
            <a:prstDash val="solid"/>
          </a:ln>
        </p:spPr>
      </p:sp>
      <p:sp>
        <p:nvSpPr>
          <p:cNvPr id="20" name="Text 16"/>
          <p:cNvSpPr/>
          <p:nvPr/>
        </p:nvSpPr>
        <p:spPr>
          <a:xfrm>
            <a:off x="8365541" y="2177542"/>
            <a:ext cx="731520" cy="658368"/>
          </a:xfrm>
          <a:prstGeom prst="rect">
            <a:avLst/>
          </a:prstGeom>
          <a:noFill/>
          <a:ln/>
        </p:spPr>
        <p:txBody>
          <a:bodyPr wrap="square" lIns="0" tIns="0" rIns="0" bIns="0" rtlCol="0" anchor="ctr"/>
          <a:lstStyle/>
          <a:p>
            <a:pPr indent="0" marL="0">
              <a:buNone/>
            </a:pPr>
            <a:r>
              <a:rPr lang="en-US" sz="4000" b="1" spc="-100" kern="0" dirty="0">
                <a:solidFill>
                  <a:srgbClr val="C9A0E3"/>
                </a:solidFill>
                <a:latin typeface="Segoe UI" pitchFamily="34" charset="0"/>
                <a:ea typeface="Segoe UI" pitchFamily="34" charset="-122"/>
                <a:cs typeface="Segoe UI" pitchFamily="34" charset="-120"/>
              </a:rPr>
              <a:t>3</a:t>
            </a:r>
            <a:endParaRPr lang="en-US" sz="4000" dirty="0"/>
          </a:p>
        </p:txBody>
      </p:sp>
      <p:sp>
        <p:nvSpPr>
          <p:cNvPr id="21" name="Text 17"/>
          <p:cNvSpPr/>
          <p:nvPr/>
        </p:nvSpPr>
        <p:spPr>
          <a:xfrm>
            <a:off x="8365541" y="2890774"/>
            <a:ext cx="3149498" cy="420624"/>
          </a:xfrm>
          <a:prstGeom prst="rect">
            <a:avLst/>
          </a:prstGeom>
          <a:noFill/>
          <a:ln/>
        </p:spPr>
        <p:txBody>
          <a:bodyPr wrap="square" lIns="0" tIns="0" rIns="0" bIns="0" rtlCol="0" anchor="t">
            <a:normAutofit/>
          </a:bodyPr>
          <a:lstStyle/>
          <a:p>
            <a:pPr indent="0" marL="0">
              <a:buNone/>
            </a:pPr>
            <a:r>
              <a:rPr lang="en-US" sz="1500" b="1" dirty="0">
                <a:solidFill>
                  <a:srgbClr val="003087"/>
                </a:solidFill>
                <a:latin typeface="Segoe UI" pitchFamily="34" charset="0"/>
                <a:ea typeface="Segoe UI" pitchFamily="34" charset="-122"/>
                <a:cs typeface="Segoe UI" pitchFamily="34" charset="-120"/>
              </a:rPr>
              <a:t>Sit on the panel</a:t>
            </a:r>
            <a:endParaRPr lang="en-US" sz="1500" dirty="0"/>
          </a:p>
        </p:txBody>
      </p:sp>
      <p:sp>
        <p:nvSpPr>
          <p:cNvPr id="22" name="Text 18"/>
          <p:cNvSpPr/>
          <p:nvPr/>
        </p:nvSpPr>
        <p:spPr>
          <a:xfrm>
            <a:off x="8365541" y="3347974"/>
            <a:ext cx="3149498" cy="815848"/>
          </a:xfrm>
          <a:prstGeom prst="rect">
            <a:avLst/>
          </a:prstGeom>
          <a:noFill/>
          <a:ln/>
        </p:spPr>
        <p:txBody>
          <a:bodyPr wrap="square" lIns="0" tIns="0" rIns="0" bIns="0" rtlCol="0" anchor="t">
            <a:normAutofit/>
          </a:bodyPr>
          <a:lstStyle/>
          <a:p>
            <a:pPr indent="0" marL="0">
              <a:buNone/>
            </a:pPr>
            <a:r>
              <a:rPr lang="en-US" sz="1150" dirty="0">
                <a:solidFill>
                  <a:srgbClr val="212B32"/>
                </a:solidFill>
                <a:latin typeface="Segoe UI" pitchFamily="34" charset="0"/>
                <a:ea typeface="Segoe UI" pitchFamily="34" charset="-122"/>
                <a:cs typeface="Segoe UI" pitchFamily="34" charset="-120"/>
              </a:rPr>
              <a:t>The clinical bar for each test category is judged by clinicians. We need practising ones, not a proxy.</a:t>
            </a:r>
            <a:endParaRPr lang="en-US" sz="1150" dirty="0"/>
          </a:p>
        </p:txBody>
      </p:sp>
      <p:pic>
        <p:nvPicPr>
          <p:cNvPr id="23" name="Image 2" descr="/sessions/quirky-zen-galileo/mnt/NHS/07 Sites &amp; Repos/dtx-ecosystem/hearts-and-minds/_generators/assets/bg-band.jpg">    </p:cNvPr>
          <p:cNvPicPr>
            <a:picLocks noChangeAspect="1"/>
          </p:cNvPicPr>
          <p:nvPr/>
        </p:nvPicPr>
        <p:blipFill>
          <a:blip r:embed="rId3"/>
          <a:stretch>
            <a:fillRect/>
          </a:stretch>
        </p:blipFill>
        <p:spPr>
          <a:xfrm>
            <a:off x="457200" y="4602734"/>
            <a:ext cx="11277295" cy="822960"/>
          </a:xfrm>
          <a:prstGeom prst="rect">
            <a:avLst/>
          </a:prstGeom>
        </p:spPr>
      </p:pic>
      <p:sp>
        <p:nvSpPr>
          <p:cNvPr id="24" name="Text 19"/>
          <p:cNvSpPr/>
          <p:nvPr/>
        </p:nvSpPr>
        <p:spPr>
          <a:xfrm>
            <a:off x="777240" y="4694174"/>
            <a:ext cx="10637215" cy="640080"/>
          </a:xfrm>
          <a:prstGeom prst="rect">
            <a:avLst/>
          </a:prstGeom>
          <a:noFill/>
          <a:ln/>
        </p:spPr>
        <p:txBody>
          <a:bodyPr wrap="square" lIns="0" tIns="0" rIns="0" bIns="0" rtlCol="0" anchor="ctr">
            <a:normAutofit/>
          </a:bodyPr>
          <a:lstStyle/>
          <a:p>
            <a:pPr indent="0" marL="0">
              <a:buNone/>
            </a:pPr>
            <a:r>
              <a:rPr lang="en-US" sz="1400" b="1" dirty="0">
                <a:solidFill>
                  <a:srgbClr val="FFFFFF"/>
                </a:solidFill>
                <a:latin typeface="Segoe UI" pitchFamily="34" charset="0"/>
                <a:ea typeface="Segoe UI" pitchFamily="34" charset="-122"/>
                <a:cs typeface="Segoe UI" pitchFamily="34" charset="-120"/>
              </a:rPr>
              <a:t>One conversation to start: your cohort, our journey maps and what the Beta is already showing.</a:t>
            </a:r>
            <a:endParaRPr lang="en-US" sz="1400" dirty="0"/>
          </a:p>
        </p:txBody>
      </p:sp>
      <p:sp>
        <p:nvSpPr>
          <p:cNvPr id="25" name="Text 20"/>
          <p:cNvSpPr/>
          <p:nvPr/>
        </p:nvSpPr>
        <p:spPr>
          <a:xfrm>
            <a:off x="457200" y="6455664"/>
            <a:ext cx="4206240" cy="274320"/>
          </a:xfrm>
          <a:prstGeom prst="rect">
            <a:avLst/>
          </a:prstGeom>
          <a:noFill/>
          <a:ln/>
        </p:spPr>
        <p:txBody>
          <a:bodyPr wrap="square" lIns="0" tIns="0" rIns="0" bIns="0" rtlCol="0" anchor="ctr"/>
          <a:lstStyle/>
          <a:p>
            <a:pPr indent="0" marL="0">
              <a:buNone/>
            </a:pPr>
            <a:r>
              <a:rPr lang="en-US" sz="850" dirty="0">
                <a:solidFill>
                  <a:srgbClr val="7E8B97"/>
                </a:solidFill>
                <a:latin typeface="Segoe UI" pitchFamily="34" charset="0"/>
                <a:ea typeface="Segoe UI" pitchFamily="34" charset="-122"/>
                <a:cs typeface="Segoe UI" pitchFamily="34" charset="-120"/>
              </a:rPr>
              <a:t>Hearts and Minds  ·  audience deck No.2  ·  Clinician edition</a:t>
            </a:r>
            <a:endParaRPr lang="en-US" sz="850" dirty="0"/>
          </a:p>
        </p:txBody>
      </p:sp>
      <p:sp>
        <p:nvSpPr>
          <p:cNvPr id="26" name="Text 21"/>
          <p:cNvSpPr/>
          <p:nvPr/>
        </p:nvSpPr>
        <p:spPr>
          <a:xfrm>
            <a:off x="4754880" y="6455664"/>
            <a:ext cx="6430975" cy="274320"/>
          </a:xfrm>
          <a:prstGeom prst="rect">
            <a:avLst/>
          </a:prstGeom>
          <a:noFill/>
          <a:ln/>
        </p:spPr>
        <p:txBody>
          <a:bodyPr wrap="square" lIns="0" tIns="0" rIns="0" bIns="0" rtlCol="0" anchor="ctr"/>
          <a:lstStyle/>
          <a:p>
            <a:pPr algn="r" indent="0" marL="0">
              <a:buNone/>
            </a:pPr>
            <a:r>
              <a:rPr lang="en-US" sz="800" dirty="0">
                <a:solidFill>
                  <a:srgbClr val="7E8B97"/>
                </a:solidFill>
                <a:latin typeface="Segoe UI" pitchFamily="34" charset="0"/>
                <a:ea typeface="Segoe UI" pitchFamily="34" charset="-122"/>
                <a:cs typeface="Segoe UI" pitchFamily="34" charset="-120"/>
              </a:rPr>
              <a:t>Commercial positions are agreed in principle and remain subject to the live procurement.</a:t>
            </a:r>
            <a:endParaRPr lang="en-US" sz="800" dirty="0"/>
          </a:p>
        </p:txBody>
      </p:sp>
      <p:sp>
        <p:nvSpPr>
          <p:cNvPr id="27" name="Text 22"/>
          <p:cNvSpPr/>
          <p:nvPr/>
        </p:nvSpPr>
        <p:spPr>
          <a:xfrm>
            <a:off x="11323015" y="6455664"/>
            <a:ext cx="411480" cy="274320"/>
          </a:xfrm>
          <a:prstGeom prst="rect">
            <a:avLst/>
          </a:prstGeom>
          <a:noFill/>
          <a:ln/>
        </p:spPr>
        <p:txBody>
          <a:bodyPr wrap="square" lIns="0" tIns="0" rIns="0" bIns="0" rtlCol="0" anchor="ctr"/>
          <a:lstStyle/>
          <a:p>
            <a:pPr algn="r" indent="0" marL="0">
              <a:buNone/>
            </a:pPr>
            <a:r>
              <a:rPr lang="en-US" sz="850" b="1" dirty="0">
                <a:solidFill>
                  <a:srgbClr val="7E8B97"/>
                </a:solidFill>
                <a:latin typeface="Segoe UI" pitchFamily="34" charset="0"/>
                <a:ea typeface="Segoe UI" pitchFamily="34" charset="-122"/>
                <a:cs typeface="Segoe UI" pitchFamily="34" charset="-120"/>
              </a:rPr>
              <a:t>10</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sessions/quirky-zen-galileo/mnt/NHS/07 Sites &amp; Repos/dtx-ecosystem/hearts-and-minds/_generators/assets/bg-hero.jp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10782523" y="457200"/>
            <a:ext cx="860532" cy="658368"/>
          </a:xfrm>
          <a:prstGeom prst="roundRect">
            <a:avLst>
              <a:gd name="adj" fmla="val 11111"/>
            </a:avLst>
          </a:prstGeom>
          <a:solidFill>
            <a:srgbClr val="FFFFFF"/>
          </a:solidFill>
          <a:ln w="12700">
            <a:solidFill>
              <a:srgbClr val="FFFFFF"/>
            </a:solidFill>
            <a:prstDash val="solid"/>
          </a:ln>
        </p:spPr>
      </p:sp>
      <p:pic>
        <p:nvPicPr>
          <p:cNvPr id="4" name="Image 1" descr="/sessions/quirky-zen-galileo/mnt/NHS/07 Sites &amp; Repos/dtx-ecosystem/hearts-and-minds/_generators/assets/nhs-logo.png">    </p:cNvPr>
          <p:cNvPicPr>
            <a:picLocks noChangeAspect="1"/>
          </p:cNvPicPr>
          <p:nvPr/>
        </p:nvPicPr>
        <p:blipFill>
          <a:blip r:embed="rId2"/>
          <a:stretch>
            <a:fillRect/>
          </a:stretch>
        </p:blipFill>
        <p:spPr>
          <a:xfrm>
            <a:off x="10919683" y="557784"/>
            <a:ext cx="586212" cy="457200"/>
          </a:xfrm>
          <a:prstGeom prst="rect">
            <a:avLst/>
          </a:prstGeom>
        </p:spPr>
      </p:pic>
      <p:sp>
        <p:nvSpPr>
          <p:cNvPr id="5" name="Text 1"/>
          <p:cNvSpPr/>
          <p:nvPr/>
        </p:nvSpPr>
        <p:spPr>
          <a:xfrm>
            <a:off x="685800" y="566928"/>
            <a:ext cx="8595360" cy="274320"/>
          </a:xfrm>
          <a:prstGeom prst="rect">
            <a:avLst/>
          </a:prstGeom>
          <a:noFill/>
          <a:ln/>
        </p:spPr>
        <p:txBody>
          <a:bodyPr wrap="square" lIns="0" tIns="0" rIns="0" bIns="0" rtlCol="0" anchor="ctr"/>
          <a:lstStyle/>
          <a:p>
            <a:pPr indent="0" marL="0">
              <a:buNone/>
            </a:pPr>
            <a:r>
              <a:rPr lang="en-US" sz="1000" b="1" spc="280" kern="0" dirty="0">
                <a:solidFill>
                  <a:srgbClr val="FFD66B"/>
                </a:solidFill>
                <a:latin typeface="Segoe UI" pitchFamily="34" charset="0"/>
                <a:ea typeface="Segoe UI" pitchFamily="34" charset="-122"/>
                <a:cs typeface="Segoe UI" pitchFamily="34" charset="-120"/>
              </a:rPr>
              <a:t>HEARTS AND MINDS  ·  CLINICIAN EDITION</a:t>
            </a:r>
            <a:endParaRPr lang="en-US" sz="1000" dirty="0"/>
          </a:p>
        </p:txBody>
      </p:sp>
      <p:sp>
        <p:nvSpPr>
          <p:cNvPr id="6" name="Shape 2"/>
          <p:cNvSpPr/>
          <p:nvPr/>
        </p:nvSpPr>
        <p:spPr>
          <a:xfrm>
            <a:off x="685800" y="969264"/>
            <a:ext cx="822960" cy="50292"/>
          </a:xfrm>
          <a:prstGeom prst="rect">
            <a:avLst/>
          </a:prstGeom>
          <a:solidFill>
            <a:srgbClr val="FFD66B"/>
          </a:solidFill>
          <a:ln w="12700">
            <a:solidFill>
              <a:srgbClr val="FFD66B"/>
            </a:solidFill>
            <a:prstDash val="solid"/>
          </a:ln>
        </p:spPr>
      </p:sp>
      <p:sp>
        <p:nvSpPr>
          <p:cNvPr id="7" name="Text 3"/>
          <p:cNvSpPr/>
          <p:nvPr/>
        </p:nvSpPr>
        <p:spPr>
          <a:xfrm>
            <a:off x="685800" y="1234440"/>
            <a:ext cx="10424160" cy="1371600"/>
          </a:xfrm>
          <a:prstGeom prst="rect">
            <a:avLst/>
          </a:prstGeom>
          <a:noFill/>
          <a:ln/>
        </p:spPr>
        <p:txBody>
          <a:bodyPr wrap="square" lIns="0" tIns="0" rIns="0" bIns="0" rtlCol="0" anchor="t">
            <a:normAutofit/>
          </a:bodyPr>
          <a:lstStyle/>
          <a:p>
            <a:pPr indent="0" marL="0">
              <a:buNone/>
            </a:pPr>
            <a:r>
              <a:rPr lang="en-US" sz="3800" b="1" spc="-120" kern="0" dirty="0">
                <a:solidFill>
                  <a:srgbClr val="FFFFFF"/>
                </a:solidFill>
                <a:latin typeface="Segoe UI" pitchFamily="34" charset="0"/>
                <a:ea typeface="Segoe UI" pitchFamily="34" charset="-122"/>
                <a:cs typeface="Segoe UI" pitchFamily="34" charset="-120"/>
              </a:rPr>
              <a:t>The test moves. The medicine does not.</a:t>
            </a:r>
            <a:endParaRPr lang="en-US" sz="3800" dirty="0"/>
          </a:p>
        </p:txBody>
      </p:sp>
      <p:sp>
        <p:nvSpPr>
          <p:cNvPr id="8" name="Shape 4"/>
          <p:cNvSpPr/>
          <p:nvPr/>
        </p:nvSpPr>
        <p:spPr>
          <a:xfrm>
            <a:off x="704088" y="2944368"/>
            <a:ext cx="1517904" cy="1517904"/>
          </a:xfrm>
          <a:prstGeom prst="ellipse">
            <a:avLst/>
          </a:prstGeom>
          <a:solidFill>
            <a:srgbClr val="FFD66B"/>
          </a:solidFill>
          <a:ln w="12700">
            <a:solidFill>
              <a:srgbClr val="FFD66B"/>
            </a:solidFill>
            <a:prstDash val="solid"/>
          </a:ln>
        </p:spPr>
      </p:sp>
      <p:pic>
        <p:nvPicPr>
          <p:cNvPr id="9" name="Image 2" descr="/sessions/quirky-zen-galileo/mnt/NHS/07 Sites &amp; Repos/dtx-ecosystem/hearts-and-minds/_generators/assets/portraits/adam.jpg">    </p:cNvPr>
          <p:cNvPicPr>
            <a:picLocks noChangeAspect="1"/>
          </p:cNvPicPr>
          <p:nvPr/>
        </p:nvPicPr>
        <p:blipFill>
          <a:blip r:embed="rId3"/>
          <a:srcRect l="0" r="0" t="0" b="0"/>
          <a:stretch/>
        </p:blipFill>
        <p:spPr>
          <a:xfrm>
            <a:off x="777240" y="3017520"/>
            <a:ext cx="1371600" cy="1371600"/>
          </a:xfrm>
          <a:prstGeom prst="ellipse">
            <a:avLst/>
          </a:prstGeom>
        </p:spPr>
      </p:pic>
      <p:sp>
        <p:nvSpPr>
          <p:cNvPr id="10" name="Text 5"/>
          <p:cNvSpPr/>
          <p:nvPr/>
        </p:nvSpPr>
        <p:spPr>
          <a:xfrm>
            <a:off x="548640" y="4526280"/>
            <a:ext cx="1828800" cy="274320"/>
          </a:xfrm>
          <a:prstGeom prst="rect">
            <a:avLst/>
          </a:prstGeom>
          <a:noFill/>
          <a:ln/>
        </p:spPr>
        <p:txBody>
          <a:bodyPr wrap="square" lIns="0" tIns="0" rIns="0" bIns="0" rtlCol="0" anchor="ctr"/>
          <a:lstStyle/>
          <a:p>
            <a:pPr algn="ctr" indent="0" marL="0">
              <a:buNone/>
            </a:pPr>
            <a:r>
              <a:rPr lang="en-US" sz="1400" b="1" dirty="0">
                <a:solidFill>
                  <a:srgbClr val="FFFFFF"/>
                </a:solidFill>
                <a:latin typeface="Segoe UI" pitchFamily="34" charset="0"/>
                <a:ea typeface="Segoe UI" pitchFamily="34" charset="-122"/>
                <a:cs typeface="Segoe UI" pitchFamily="34" charset="-120"/>
              </a:rPr>
              <a:t>Adam</a:t>
            </a:r>
            <a:endParaRPr lang="en-US" sz="1400" dirty="0"/>
          </a:p>
        </p:txBody>
      </p:sp>
      <p:sp>
        <p:nvSpPr>
          <p:cNvPr id="11" name="Shape 6"/>
          <p:cNvSpPr/>
          <p:nvPr/>
        </p:nvSpPr>
        <p:spPr>
          <a:xfrm>
            <a:off x="2715768" y="2944368"/>
            <a:ext cx="1517904" cy="1517904"/>
          </a:xfrm>
          <a:prstGeom prst="ellipse">
            <a:avLst/>
          </a:prstGeom>
          <a:solidFill>
            <a:srgbClr val="FFD66B"/>
          </a:solidFill>
          <a:ln w="12700">
            <a:solidFill>
              <a:srgbClr val="FFD66B"/>
            </a:solidFill>
            <a:prstDash val="solid"/>
          </a:ln>
        </p:spPr>
      </p:sp>
      <p:pic>
        <p:nvPicPr>
          <p:cNvPr id="12" name="Image 3" descr="/sessions/quirky-zen-galileo/mnt/NHS/07 Sites &amp; Repos/dtx-ecosystem/hearts-and-minds/_generators/assets/portraits/hannah.jpg">    </p:cNvPr>
          <p:cNvPicPr>
            <a:picLocks noChangeAspect="1"/>
          </p:cNvPicPr>
          <p:nvPr/>
        </p:nvPicPr>
        <p:blipFill>
          <a:blip r:embed="rId4"/>
          <a:srcRect l="0" r="0" t="0" b="0"/>
          <a:stretch/>
        </p:blipFill>
        <p:spPr>
          <a:xfrm>
            <a:off x="2788920" y="3017520"/>
            <a:ext cx="1371600" cy="1371600"/>
          </a:xfrm>
          <a:prstGeom prst="ellipse">
            <a:avLst/>
          </a:prstGeom>
        </p:spPr>
      </p:pic>
      <p:sp>
        <p:nvSpPr>
          <p:cNvPr id="13" name="Text 7"/>
          <p:cNvSpPr/>
          <p:nvPr/>
        </p:nvSpPr>
        <p:spPr>
          <a:xfrm>
            <a:off x="2560320" y="4526280"/>
            <a:ext cx="1828800" cy="274320"/>
          </a:xfrm>
          <a:prstGeom prst="rect">
            <a:avLst/>
          </a:prstGeom>
          <a:noFill/>
          <a:ln/>
        </p:spPr>
        <p:txBody>
          <a:bodyPr wrap="square" lIns="0" tIns="0" rIns="0" bIns="0" rtlCol="0" anchor="ctr"/>
          <a:lstStyle/>
          <a:p>
            <a:pPr algn="ctr" indent="0" marL="0">
              <a:buNone/>
            </a:pPr>
            <a:r>
              <a:rPr lang="en-US" sz="1400" b="1" dirty="0">
                <a:solidFill>
                  <a:srgbClr val="FFFFFF"/>
                </a:solidFill>
                <a:latin typeface="Segoe UI" pitchFamily="34" charset="0"/>
                <a:ea typeface="Segoe UI" pitchFamily="34" charset="-122"/>
                <a:cs typeface="Segoe UI" pitchFamily="34" charset="-120"/>
              </a:rPr>
              <a:t>Hannah</a:t>
            </a:r>
            <a:endParaRPr lang="en-US" sz="1400" dirty="0"/>
          </a:p>
        </p:txBody>
      </p:sp>
      <p:sp>
        <p:nvSpPr>
          <p:cNvPr id="14" name="Text 8"/>
          <p:cNvSpPr/>
          <p:nvPr/>
        </p:nvSpPr>
        <p:spPr>
          <a:xfrm>
            <a:off x="777240" y="5074920"/>
            <a:ext cx="10241280" cy="457200"/>
          </a:xfrm>
          <a:prstGeom prst="rect">
            <a:avLst/>
          </a:prstGeom>
          <a:noFill/>
          <a:ln/>
        </p:spPr>
        <p:txBody>
          <a:bodyPr wrap="square" lIns="0" tIns="0" rIns="0" bIns="0" rtlCol="0" anchor="ctr">
            <a:normAutofit/>
          </a:bodyPr>
          <a:lstStyle/>
          <a:p>
            <a:pPr indent="0" marL="0">
              <a:buNone/>
            </a:pPr>
            <a:r>
              <a:rPr lang="en-US" sz="1700" b="1" dirty="0">
                <a:solidFill>
                  <a:srgbClr val="FFD66B"/>
                </a:solidFill>
                <a:latin typeface="Segoe UI" pitchFamily="34" charset="0"/>
                <a:ea typeface="Segoe UI" pitchFamily="34" charset="-122"/>
                <a:cs typeface="Segoe UI" pitchFamily="34" charset="-120"/>
              </a:rPr>
              <a:t>The venue moves. The medicine, and the accountability, stay where they are.</a:t>
            </a:r>
            <a:endParaRPr lang="en-US" sz="1700" dirty="0"/>
          </a:p>
        </p:txBody>
      </p:sp>
      <p:sp>
        <p:nvSpPr>
          <p:cNvPr id="15" name="Text 9"/>
          <p:cNvSpPr/>
          <p:nvPr/>
        </p:nvSpPr>
        <p:spPr>
          <a:xfrm>
            <a:off x="777240" y="5532120"/>
            <a:ext cx="10241280" cy="402336"/>
          </a:xfrm>
          <a:prstGeom prst="rect">
            <a:avLst/>
          </a:prstGeom>
          <a:noFill/>
          <a:ln/>
        </p:spPr>
        <p:txBody>
          <a:bodyPr wrap="square" lIns="0" tIns="0" rIns="0" bIns="0" rtlCol="0" anchor="t"/>
          <a:lstStyle/>
          <a:p>
            <a:pPr indent="0" marL="0">
              <a:buNone/>
            </a:pPr>
            <a:r>
              <a:rPr lang="en-US" sz="1000" i="1" dirty="0">
                <a:solidFill>
                  <a:srgbClr val="9FC2E8"/>
                </a:solidFill>
                <a:latin typeface="Segoe UI" pitchFamily="34" charset="0"/>
                <a:ea typeface="Segoe UI" pitchFamily="34" charset="-122"/>
                <a:cs typeface="Segoe UI" pitchFamily="34" charset="-120"/>
              </a:rPr>
              <a:t>Commercial positions are agreed in principle and remain subject to the live procurement. Figures carry their source in the Hearts and Minds evidence register.</a:t>
            </a:r>
            <a:endParaRPr lang="en-US" sz="1000" dirty="0"/>
          </a:p>
        </p:txBody>
      </p:sp>
      <p:sp>
        <p:nvSpPr>
          <p:cNvPr id="16" name="Text 10"/>
          <p:cNvSpPr/>
          <p:nvPr/>
        </p:nvSpPr>
        <p:spPr>
          <a:xfrm>
            <a:off x="457200" y="6455664"/>
            <a:ext cx="4206240" cy="274320"/>
          </a:xfrm>
          <a:prstGeom prst="rect">
            <a:avLst/>
          </a:prstGeom>
          <a:noFill/>
          <a:ln/>
        </p:spPr>
        <p:txBody>
          <a:bodyPr wrap="square" lIns="0" tIns="0" rIns="0" bIns="0" rtlCol="0" anchor="ctr"/>
          <a:lstStyle/>
          <a:p>
            <a:pPr indent="0" marL="0">
              <a:buNone/>
            </a:pPr>
            <a:r>
              <a:rPr lang="en-US" sz="850" dirty="0">
                <a:solidFill>
                  <a:srgbClr val="9FC2E8"/>
                </a:solidFill>
                <a:latin typeface="Segoe UI" pitchFamily="34" charset="0"/>
                <a:ea typeface="Segoe UI" pitchFamily="34" charset="-122"/>
                <a:cs typeface="Segoe UI" pitchFamily="34" charset="-120"/>
              </a:rPr>
              <a:t>Hearts and Minds  ·  audience deck No.2  ·  Clinician edition</a:t>
            </a:r>
            <a:endParaRPr lang="en-US" sz="850" dirty="0"/>
          </a:p>
        </p:txBody>
      </p:sp>
      <p:sp>
        <p:nvSpPr>
          <p:cNvPr id="17" name="Text 11"/>
          <p:cNvSpPr/>
          <p:nvPr/>
        </p:nvSpPr>
        <p:spPr>
          <a:xfrm>
            <a:off x="4754880" y="6455664"/>
            <a:ext cx="6430975" cy="274320"/>
          </a:xfrm>
          <a:prstGeom prst="rect">
            <a:avLst/>
          </a:prstGeom>
          <a:noFill/>
          <a:ln/>
        </p:spPr>
        <p:txBody>
          <a:bodyPr wrap="square" lIns="0" tIns="0" rIns="0" bIns="0" rtlCol="0" anchor="ctr"/>
          <a:lstStyle/>
          <a:p>
            <a:pPr algn="r" indent="0" marL="0">
              <a:buNone/>
            </a:pPr>
            <a:r>
              <a:rPr lang="en-US" sz="800" dirty="0">
                <a:solidFill>
                  <a:srgbClr val="9FC2E8"/>
                </a:solidFill>
                <a:latin typeface="Segoe UI" pitchFamily="34" charset="0"/>
                <a:ea typeface="Segoe UI" pitchFamily="34" charset="-122"/>
                <a:cs typeface="Segoe UI" pitchFamily="34" charset="-120"/>
              </a:rPr>
              <a:t>Commercial positions are agreed in principle and remain subject to the live procurement.</a:t>
            </a:r>
            <a:endParaRPr lang="en-US" sz="800" dirty="0"/>
          </a:p>
        </p:txBody>
      </p:sp>
      <p:sp>
        <p:nvSpPr>
          <p:cNvPr id="18" name="Text 12"/>
          <p:cNvSpPr/>
          <p:nvPr/>
        </p:nvSpPr>
        <p:spPr>
          <a:xfrm>
            <a:off x="11323015" y="6455664"/>
            <a:ext cx="411480" cy="274320"/>
          </a:xfrm>
          <a:prstGeom prst="rect">
            <a:avLst/>
          </a:prstGeom>
          <a:noFill/>
          <a:ln/>
        </p:spPr>
        <p:txBody>
          <a:bodyPr wrap="square" lIns="0" tIns="0" rIns="0" bIns="0" rtlCol="0" anchor="ctr"/>
          <a:lstStyle/>
          <a:p>
            <a:pPr algn="r" indent="0" marL="0">
              <a:buNone/>
            </a:pPr>
            <a:r>
              <a:rPr lang="en-US" sz="850" b="1" dirty="0">
                <a:solidFill>
                  <a:srgbClr val="9FC2E8"/>
                </a:solidFill>
                <a:latin typeface="Segoe UI" pitchFamily="34" charset="0"/>
                <a:ea typeface="Segoe UI" pitchFamily="34" charset="-122"/>
                <a:cs typeface="Segoe UI" pitchFamily="34" charset="-120"/>
              </a:rPr>
              <a:t>11</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NHS England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HomeTest Hearts and Minds No.2: Clinician edition</dc:title>
  <dc:subject>PptxGenJS Presentation</dc:subject>
  <dc:creator>HomeTest Programme</dc:creator>
  <cp:lastModifiedBy>HomeTest Programme</cp:lastModifiedBy>
  <cp:revision>1</cp:revision>
  <dcterms:created xsi:type="dcterms:W3CDTF">2026-09-05T09:22:18Z</dcterms:created>
  <dcterms:modified xsi:type="dcterms:W3CDTF">2026-09-05T09:22:18Z</dcterms:modified>
</cp:coreProperties>
</file>