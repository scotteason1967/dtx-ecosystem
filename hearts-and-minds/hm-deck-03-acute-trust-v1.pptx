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promise, not the product. Read the standfirst aloud: it is the proof that this is a live service rather than a strategy document.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early that this is NHS to NHS. Nobody is selling the Trust a product; the Trust is being offered a way to move a cohort off its own estate while keeping the clinical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DNA asymmetry is the line a finance director writes down. Say it once, clearly,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Trust in the room is not a urology centre, name the pattern instead of the cohort: any routine surveillance blood on a fixed cadence fits this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Trusts fear losing sight of patients. The right of this slide is the reassurance; the kicker is the sentence to repeat if the conversation drifts.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scrupulous about the last card. Overstating commercial certainty in an NHS-to-NHS conversation is how you lose the relationship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is the patient the Trust already knows. The value to the Trust is in the third paragraph: capacity plus retention, not one or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proportionality. Trusts are being asked for pilots constantly; the differentiator is that the assurance and the buying route already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faces and stop talking. If there is one line to leave in the room, it is the one under the portraits.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82523" y="457200"/>
            <a:ext cx="86053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683" y="557784"/>
            <a:ext cx="586212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5669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8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ACUTE TRUST EDITION  ·  NO.3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685800" y="969264"/>
            <a:ext cx="822960" cy="50292"/>
          </a:xfrm>
          <a:prstGeom prst="rect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1207008"/>
            <a:ext cx="10424160" cy="154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600" b="1" spc="-12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Surveillance that does not need the building.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685800" y="3058160"/>
            <a:ext cx="8595360" cy="752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7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NHS-to-NHS case: move routine surveillance and follow-up bloods out of outpatients, keep the clinical ownership in the Trust, and give the estate back to the patients who need to be in it.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85800" y="4195064"/>
            <a:ext cx="10424160" cy="673100"/>
          </a:xfrm>
          <a:prstGeom prst="roundRect">
            <a:avLst>
              <a:gd name="adj" fmla="val 13585"/>
            </a:avLst>
          </a:prstGeom>
          <a:solidFill>
            <a:srgbClr val="0A3D8F"/>
          </a:solidFill>
          <a:ln w="9525">
            <a:solidFill>
              <a:srgbClr val="2C5FA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" y="4195064"/>
            <a:ext cx="10424160" cy="64008"/>
          </a:xfrm>
          <a:prstGeom prst="rect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4323080"/>
            <a:ext cx="9966960" cy="453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Royal Devon University Healthcare is the selected acute partner for PSA active surveillance, mobilising from June 2026. HIV self-testing is live in Private Beta with two local authority areas.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No.3  ·  Acute trust edition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AROUND THE PEOPLE WHO CARRY 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commissioner with a pathway to protect, a consultant with a list that grows.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347214"/>
            <a:ext cx="5501488" cy="1969008"/>
          </a:xfrm>
          <a:prstGeom prst="roundRect">
            <a:avLst>
              <a:gd name="adj" fmla="val 4644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347214"/>
            <a:ext cx="5501488" cy="6400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2603246"/>
            <a:ext cx="1106424" cy="1106424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pic>
        <p:nvPicPr>
          <p:cNvPr id="11" name="Image 2" descr="/sessions/quirky-zen-galileo/mnt/NHS/07 Sites &amp; Repos/dtx-ecosystem/hearts-and-minds/_generators/assets/portraits/catherin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2676398"/>
            <a:ext cx="960120" cy="960120"/>
          </a:xfrm>
          <a:prstGeom prst="ellipse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74520" y="263982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Catherine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874520" y="3005582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ICB commissioner, PSA active surveillance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13232" y="3764534"/>
            <a:ext cx="64008" cy="41452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77824" y="3727958"/>
            <a:ext cx="47882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 commission the pathway, not each patient. I need it to hold across every Trust in my patch.”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33008" y="2347214"/>
            <a:ext cx="5501488" cy="1969008"/>
          </a:xfrm>
          <a:prstGeom prst="roundRect">
            <a:avLst>
              <a:gd name="adj" fmla="val 4644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33008" y="2347214"/>
            <a:ext cx="5501488" cy="6400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15888" y="2603246"/>
            <a:ext cx="1106424" cy="1106424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pic>
        <p:nvPicPr>
          <p:cNvPr id="19" name="Image 3" descr="/sessions/quirky-zen-galileo/mnt/NHS/07 Sites &amp; Repos/dtx-ecosystem/hearts-and-minds/_generators/assets/portraits/adam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89040" y="2676398"/>
            <a:ext cx="960120" cy="960120"/>
          </a:xfrm>
          <a:prstGeom prst="ellipse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50328" y="263982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Adam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650328" y="3005582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Consultant urologist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489040" y="3764534"/>
            <a:ext cx="64008" cy="41452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653632" y="3727958"/>
            <a:ext cx="47882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 monitoring caseload is real men on my list. The clinic cannot hold all of them in a room.”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627118"/>
            <a:ext cx="11277295" cy="50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acute case has two buyers in the room: the commissioner who funds the pathway and the clinical service that runs it. </a:t>
            </a:r>
            <a:pPr indent="0" marL="0">
              <a:buNone/>
            </a:pPr>
            <a:r>
              <a:rPr lang="en-US" sz="1300" b="1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deck is written for the conversation where both are present.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No.3  ·  Acute trust edition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PRESSURE ON THE ESTATE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follow-up burden is the outpatient problem.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238121"/>
            <a:ext cx="3588410" cy="2004314"/>
          </a:xfrm>
          <a:prstGeom prst="roundRect">
            <a:avLst>
              <a:gd name="adj" fmla="val 4562"/>
            </a:avLst>
          </a:prstGeom>
          <a:solidFill>
            <a:srgbClr val="F4F8FC"/>
          </a:solidFill>
          <a:ln w="9525">
            <a:solidFill>
              <a:srgbClr val="B8D3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238121"/>
            <a:ext cx="358841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6656" y="2457577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spc="-150" kern="0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135.4m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676656" y="3280537"/>
            <a:ext cx="3149498" cy="522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outpatient appointments booked in England in 2023/24. Routine surveillance bloods need not be among them.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76656" y="3803523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NHS England, Hospital Outpatient Activity 2023-24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301642" y="2238121"/>
            <a:ext cx="3588410" cy="2004314"/>
          </a:xfrm>
          <a:prstGeom prst="roundRect">
            <a:avLst>
              <a:gd name="adj" fmla="val 4562"/>
            </a:avLst>
          </a:prstGeom>
          <a:solidFill>
            <a:srgbClr val="F4F8FC"/>
          </a:solidFill>
          <a:ln w="9525">
            <a:solidFill>
              <a:srgbClr val="B8D3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01642" y="2238121"/>
            <a:ext cx="358841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1098" y="2457577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spc="-150" kern="0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54%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4521098" y="3280537"/>
            <a:ext cx="3149498" cy="522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outpatient activity is follow-up; standardised and remote models could unlock one to two million slots.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21098" y="3803523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GIRFT, Further Faster programme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8146085" y="2238121"/>
            <a:ext cx="3588410" cy="2004314"/>
          </a:xfrm>
          <a:prstGeom prst="roundRect">
            <a:avLst>
              <a:gd name="adj" fmla="val 4562"/>
            </a:avLst>
          </a:prstGeom>
          <a:solidFill>
            <a:srgbClr val="F4F8FC"/>
          </a:solidFill>
          <a:ln w="9525">
            <a:solidFill>
              <a:srgbClr val="B8D3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46085" y="2238121"/>
            <a:ext cx="358841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65541" y="2457577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spc="-150" kern="0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£120</a:t>
            </a:r>
            <a:endParaRPr lang="en-US" sz="4200" dirty="0"/>
          </a:p>
        </p:txBody>
      </p:sp>
      <p:sp>
        <p:nvSpPr>
          <p:cNvPr id="21" name="Text 17"/>
          <p:cNvSpPr/>
          <p:nvPr/>
        </p:nvSpPr>
        <p:spPr>
          <a:xfrm>
            <a:off x="8365541" y="3280537"/>
            <a:ext cx="3149498" cy="522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 of a missed outpatient appointment, on 8.0m unattended appointments: roughly £1bn a year of clinical time.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365541" y="3803523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NHS Digital 2023-24; NHS England DNA costings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57200" y="4516755"/>
            <a:ext cx="11277295" cy="720344"/>
          </a:xfrm>
          <a:prstGeom prst="roundRect">
            <a:avLst>
              <a:gd name="adj" fmla="val 12694"/>
            </a:avLst>
          </a:prstGeom>
          <a:solidFill>
            <a:srgbClr val="FFF9EC"/>
          </a:solidFill>
          <a:ln w="9525">
            <a:solidFill>
              <a:srgbClr val="E6C96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" y="4626483"/>
            <a:ext cx="10728655" cy="500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missed appointment still costs the slot, the room and the rota. An unreturned kit costs a kit. That asymmetry is the whole financial argument.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No.3  ·  Acute trust edition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STARTING COHORT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PSA active surveillance: a defined group, an agreed cadence, a national configuration.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253996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253996"/>
            <a:ext cx="5510632" cy="6400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6656" y="2436876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cohort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76656" y="2801112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 on active monitoring for low-risk prostate cancer. Around 64,000 men a year are diagnosed in the UK; roughly 6,500 choose active surveillance, with up to 5,000 more who could.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23864" y="2253996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23864" y="2253996"/>
            <a:ext cx="5510632" cy="6400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3320" y="2436876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cadence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43320" y="2801112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NICE NG131 monitoring schedule, unchanged. The platform runs the recall; the Trust sets the interval and the thresholds.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856482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856482"/>
            <a:ext cx="5510632" cy="6400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6656" y="4039362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status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6656" y="4403598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Scored 35 out of 45 under the HomeTest Prioritisation Framework and endorsed in principle as the board-selected acute use case at the HomeTest Programme Board on 9 June 2026.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23864" y="3856482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23864" y="3856482"/>
            <a:ext cx="5510632" cy="6400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3320" y="4039362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proof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43320" y="4403598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acute partner is mobilising now. The first configuration is designed with a Trust, not designed for one and offered afterwards.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No.3  ·  Acute trust edition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DIVISION OF LABOUR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moves off the Trust, and what stays inside it.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190496"/>
            <a:ext cx="5501488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2190496"/>
            <a:ext cx="513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MOVES TO THE PLATFORM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7200" y="2574544"/>
            <a:ext cx="5501488" cy="1920240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2702560"/>
            <a:ext cx="509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 fulfilment, return logistics and the laboratory contract.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notifications, reminders and the recall schedule.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assurance, clinical safety artefacts and information governance.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exception list: who has not completed, and when they were due.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33008" y="2190496"/>
            <a:ext cx="5501488" cy="384048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15888" y="2190496"/>
            <a:ext cx="513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STAYS WITH THE TRUST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3008" y="2574544"/>
            <a:ext cx="5501488" cy="1920240"/>
          </a:xfrm>
          <a:prstGeom prst="rect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34176" y="2702560"/>
            <a:ext cx="509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clinical relationship with the patient, and the consultant of record.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Eligibility, cadence, thresholds and the escalation rule.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result and the decision that follows it.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cohort. These remain your patients throughout.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769104"/>
            <a:ext cx="11277295" cy="515620"/>
          </a:xfrm>
          <a:prstGeom prst="roundRect">
            <a:avLst>
              <a:gd name="adj" fmla="val 17734"/>
            </a:avLst>
          </a:prstGeom>
          <a:solidFill>
            <a:srgbClr val="FFF9EC"/>
          </a:solidFill>
          <a:ln w="9525">
            <a:solidFill>
              <a:srgbClr val="E6C96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1520" y="4860544"/>
            <a:ext cx="10728655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Trust is not outsourcing a cohort. It is outsourcing the logistics of getting blood out of that cohort on time.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No.3  ·  Acute trust edition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TRUST BUYS 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call-off, not a procurement.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253996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4F8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253996"/>
            <a:ext cx="5510632" cy="64008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6656" y="2436876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buys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76656" y="2801112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authority, Trust, ICB or pathology network, depending on where the budget for that cohort sits. Where a pathway crosses budgets, the buyer follows the budget holder.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23864" y="2253996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4F8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23864" y="2253996"/>
            <a:ext cx="5510632" cy="64008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3320" y="2436876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43320" y="2801112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award or mini-competition against the accredited register, on published call-off terms. The assurance, integration and safety case were completed before you started.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856482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4F8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856482"/>
            <a:ext cx="5510632" cy="64008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6656" y="4039362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6656" y="4403598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cost per activity for each completed test, at or below a national maximum price that local competition can beat. Volume tiers are still open.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23864" y="3856482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4F8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23864" y="3856482"/>
            <a:ext cx="5510632" cy="64008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3320" y="4039362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43320" y="4403598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Agreed in principle and being tested with buyers before the sourcing strategy is finalised. Good enough for planning, not a tender document.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No.3  ·  Acute trust edition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LOOKS LIKE FOR A PATIENT ON YOUR LIST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Mark, 65, on active surveillance. His consultant still reads the trend.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86968" y="1330452"/>
            <a:ext cx="2340864" cy="2340864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pic>
        <p:nvPicPr>
          <p:cNvPr id="9" name="Image 2" descr="/sessions/quirky-zen-galileo/mnt/NHS/07 Sites &amp; Repos/dtx-ecosystem/hearts-and-minds/_generators/assets/portraits/mark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60120" y="1403604"/>
            <a:ext cx="2194560" cy="2194560"/>
          </a:xfrm>
          <a:prstGeom prst="ellipse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3927348"/>
            <a:ext cx="82296" cy="227228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94944" y="3927348"/>
            <a:ext cx="2926080" cy="2272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 quarterly test is routine. Getting to the hospital for it never was.”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977640" y="1275588"/>
            <a:ext cx="775685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Before. </a:t>
            </a:r>
            <a:pPr indent="0" marL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half-day for a fifteen-minute blood test: parking, the wait, the walk back. Three or four times a year, on a cadence he is expected to keep for years.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977640" y="1941068"/>
            <a:ext cx="775685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After. </a:t>
            </a:r>
            <a:pPr indent="0" marL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kit arrives on schedule, the sample goes back by post, the result reaches Adam in time for the review that was going to happen anyway.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977640" y="2606548"/>
            <a:ext cx="775685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Trust’s side of it. </a:t>
            </a:r>
            <a:pPr indent="0" marL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surveillance cohort stops occupying phlebotomy slots that acute demand needs, and the men who quietly dropped out of the cadence become visible again.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No.3  ·  Acute trust edition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ARE ASKING A TRUST FOR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steps, in this order.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049526"/>
            <a:ext cx="3588410" cy="2278888"/>
          </a:xfrm>
          <a:prstGeom prst="roundRect">
            <a:avLst>
              <a:gd name="adj" fmla="val 4012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049526"/>
            <a:ext cx="3588410" cy="6400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6656" y="217754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05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76656" y="2890774"/>
            <a:ext cx="31494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one cohort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76656" y="3347974"/>
            <a:ext cx="3149498" cy="81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surveillance or routine-monitoring group where the venue, not the test, is the problem. Small enough to run, big enough to measure.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01642" y="2049526"/>
            <a:ext cx="3588410" cy="2278888"/>
          </a:xfrm>
          <a:prstGeom prst="roundRect">
            <a:avLst>
              <a:gd name="adj" fmla="val 4012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01642" y="2049526"/>
            <a:ext cx="3588410" cy="6400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1098" y="217754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05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4521098" y="2890774"/>
            <a:ext cx="31494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 the protocol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21098" y="3347974"/>
            <a:ext cx="3149498" cy="81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clinicians set eligibility, cadence, thresholds and escalation. We configure to it and execute the safety case against it.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46085" y="2049526"/>
            <a:ext cx="3588410" cy="2278888"/>
          </a:xfrm>
          <a:prstGeom prst="roundRect">
            <a:avLst>
              <a:gd name="adj" fmla="val 4012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46085" y="2049526"/>
            <a:ext cx="3588410" cy="6400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65541" y="217754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05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8365541" y="2890774"/>
            <a:ext cx="31494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one call-off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8365541" y="3347974"/>
            <a:ext cx="3149498" cy="81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published terms against the accredited register, with the measurement built in from day one so the second cohort argues for itself.</a:t>
            </a:r>
            <a:endParaRPr lang="en-US" sz="1150" dirty="0"/>
          </a:p>
        </p:txBody>
      </p:sp>
      <p:pic>
        <p:nvPicPr>
          <p:cNvPr id="23" name="Image 2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02734"/>
            <a:ext cx="11277295" cy="8229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77240" y="469417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 is one cohort and one conversation, not a transformation programme.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No.3  ·  Acute trust edition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82523" y="457200"/>
            <a:ext cx="86053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683" y="557784"/>
            <a:ext cx="586212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5669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8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ACUTE TRUST EDITION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685800" y="969264"/>
            <a:ext cx="822960" cy="50292"/>
          </a:xfrm>
          <a:prstGeom prst="rect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1234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spc="-12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Surveillance that does not need the building.</a:t>
            </a:r>
            <a:endParaRPr lang="en-US" sz="3800" dirty="0"/>
          </a:p>
        </p:txBody>
      </p:sp>
      <p:sp>
        <p:nvSpPr>
          <p:cNvPr id="8" name="Shape 4"/>
          <p:cNvSpPr/>
          <p:nvPr/>
        </p:nvSpPr>
        <p:spPr>
          <a:xfrm>
            <a:off x="704088" y="2944368"/>
            <a:ext cx="1517904" cy="1517904"/>
          </a:xfrm>
          <a:prstGeom prst="ellipse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pic>
        <p:nvPicPr>
          <p:cNvPr id="9" name="Image 2" descr="/sessions/quirky-zen-galileo/mnt/NHS/07 Sites &amp; Repos/dtx-ecosystem/hearts-and-minds/_generators/assets/portraits/catherin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7240" y="3017520"/>
            <a:ext cx="1371600" cy="1371600"/>
          </a:xfrm>
          <a:prstGeom prst="ellipse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Catherine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2715768" y="2944368"/>
            <a:ext cx="1517904" cy="1517904"/>
          </a:xfrm>
          <a:prstGeom prst="ellipse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pic>
        <p:nvPicPr>
          <p:cNvPr id="12" name="Image 3" descr="/sessions/quirky-zen-galileo/mnt/NHS/07 Sites &amp; Repos/dtx-ecosystem/hearts-and-minds/_generators/assets/portraits/adam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88920" y="3017520"/>
            <a:ext cx="1371600" cy="1371600"/>
          </a:xfrm>
          <a:prstGeom prst="ellipse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603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Adam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77240" y="5074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cohort. One protocol. One call-off. The capacity you get back is yours.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77240" y="553212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 Figures carry their source in the Hearts and Minds evidence register.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No.3  ·  Acute trust edition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NHS England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HomeTest Hearts and Minds No.3: Acute trust edition</dc:title>
  <dc:subject>PptxGenJS Presentation</dc:subject>
  <dc:creator>HomeTest Programme</dc:creator>
  <cp:lastModifiedBy>HomeTest Programme</cp:lastModifiedBy>
  <cp:revision>1</cp:revision>
  <dcterms:created xsi:type="dcterms:W3CDTF">2026-09-05T09:22:19Z</dcterms:created>
  <dcterms:modified xsi:type="dcterms:W3CDTF">2026-09-05T09:22:19Z</dcterms:modified>
</cp:coreProperties>
</file>