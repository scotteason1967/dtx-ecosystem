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promise, not the product. An NHS-to-NHS case: move routine surveillance and follow-up bloods out of outpatients, keep the clinical ownership in the Trust, and give the estate back to the patients who need to be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early that this is NHS to NHS. Nobody is selling the Trust a product; the Trust is being offered a way to move a cohort off its own estate while keeping the clinical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DNA asymmetry is the line a finance director writes down. Say it once, clearly,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Trust in the room is not a urology centre, name the pattern instead of the cohort: any routine surveillance blood on a fixed cadence fits this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Trusts fear losing sight of patients. The right of this slide is the reassurance; the kicker is the sentence to repeat if the conversation drifts.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scrupulous about the last card. Overstating commercial certainty in an NHS-to-NHS conversation is how you lose the relationship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 is the patient the Trust already knows. The value to the Trust is in the third paragraph: capacity plus retention, not one or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proportionality. Trusts are being asked for pilots constantly; the differentiator is that the assurance and the buying route already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crops/catherine-1-0.7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6735" y="0"/>
            <a:ext cx="53949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3214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48640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7784"/>
            <a:ext cx="586212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1417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FB9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ACUTE TRUST EDITION · NO.3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1783080"/>
            <a:ext cx="5760720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Surveillance that does not need the building.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48640" y="3992880"/>
            <a:ext cx="5669280" cy="97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NHS-to-NHS case: move routine surveillance and follow-up bloods out of outpatients, keep the clinical ownership in the Trust, and give the estate back to the patients who need to be in it.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5200904"/>
            <a:ext cx="56692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8F0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Royal Devon University Healthcare is the selected acute partner for PSA active surveillance, mobilising from June 2026. HIV self-testing is live in Private Beta with two local authority areas.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285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407512" y="6473952"/>
            <a:ext cx="240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THE PEOPLE WHO CARRY IT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11064240" cy="904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commissioner with a pathway to protect, a consultant with a list that grows.</a:t>
            </a:r>
            <a:endParaRPr lang="en-US" sz="2600" dirty="0"/>
          </a:p>
        </p:txBody>
      </p:sp>
      <p:pic>
        <p:nvPicPr>
          <p:cNvPr id="5" name="Image 0" descr="/sessions/quirky-zen-galileo/mnt/NHS/07 Sites &amp; Repos/dtx-ecosystem/hearts-and-minds/_generators/assets/portraits/cathe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10080"/>
            <a:ext cx="1072451" cy="1072451"/>
          </a:xfrm>
          <a:prstGeom prst="ellipse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760" y="3028251"/>
            <a:ext cx="1803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Catherine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2352611" y="1910080"/>
            <a:ext cx="9290444" cy="1072451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2626931" y="2001520"/>
            <a:ext cx="8741804" cy="8895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 commission the pathway, not each patient. I need it to hold across every Trust in my patch.”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2626931" y="3009963"/>
            <a:ext cx="8741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ICB commissioner, PSA active surveillance</a:t>
            </a:r>
            <a:endParaRPr lang="en-US" sz="1050" dirty="0"/>
          </a:p>
        </p:txBody>
      </p:sp>
      <p:pic>
        <p:nvPicPr>
          <p:cNvPr id="10" name="Image 1" descr="/sessions/quirky-zen-galileo/mnt/NHS/07 Sites &amp; Repos/dtx-ecosystem/hearts-and-minds/_generators/assets/portraits/ad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485451"/>
            <a:ext cx="1072451" cy="1072451"/>
          </a:xfrm>
          <a:prstGeom prst="ellipse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4603623"/>
            <a:ext cx="1803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352611" y="3485451"/>
            <a:ext cx="9290444" cy="1072451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2626931" y="3576892"/>
            <a:ext cx="8741804" cy="8895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monitoring caseload is real men on my list. The clinic cannot hold all of them in a room.”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2626931" y="4585335"/>
            <a:ext cx="8741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Consultant urologist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548640" y="5106543"/>
            <a:ext cx="11064240" cy="7730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acute case has two buyers in the room: the commissioner who funds the pathway and the clinical service that runs it. </a:t>
            </a:r>
            <a:pPr indent="0" marL="0">
              <a:buNone/>
            </a:pPr>
            <a:r>
              <a:rPr lang="en-US" sz="1450" b="1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deck is written for the conversation where both are present.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adam-2-0.6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5510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4949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 ON THE ESTATE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494983" cy="97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follow-up burden is the outpatient problem.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502920" y="1884680"/>
            <a:ext cx="357224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135.4m</a:t>
            </a:r>
            <a:endParaRPr lang="en-US" sz="6000" dirty="0"/>
          </a:p>
        </p:txBody>
      </p:sp>
      <p:sp>
        <p:nvSpPr>
          <p:cNvPr id="8" name="Text 4"/>
          <p:cNvSpPr/>
          <p:nvPr/>
        </p:nvSpPr>
        <p:spPr>
          <a:xfrm>
            <a:off x="4120881" y="2021840"/>
            <a:ext cx="2922742" cy="8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outpatient appointments booked in England in 2023/24. Routine surveillance bloods need not be among them.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48640" y="3146552"/>
            <a:ext cx="64949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England, Hospital Outpatient Activity 2023-24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3484880"/>
            <a:ext cx="311033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48640" y="3484880"/>
            <a:ext cx="73152" cy="1508760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04672" y="3594608"/>
            <a:ext cx="2744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54%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804672" y="4198112"/>
            <a:ext cx="2653132" cy="475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outpatient activity is follow-up; standardised and remote models could unlock one to two million slots.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804672" y="4719320"/>
            <a:ext cx="2653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GIRFT, Further Faster programme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933292" y="3484880"/>
            <a:ext cx="311033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933292" y="3484880"/>
            <a:ext cx="73152" cy="150876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189324" y="3594608"/>
            <a:ext cx="2744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£120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4189324" y="4198112"/>
            <a:ext cx="26531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 of a missed outpatient appointment, on 8.0m unattended appointments: roughly £1bn a year of clinical time.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189324" y="4719320"/>
            <a:ext cx="2653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NHS Digital 2023-24; NHS England DNA costings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48640" y="5267960"/>
            <a:ext cx="6494983" cy="1000506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777240" y="5377688"/>
            <a:ext cx="6037783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missed appointment still costs the slot, the room and the rota. An unreturned kit costs a kit. That asymmetry is the whole financial argument.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473952"/>
            <a:ext cx="324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796132" y="6473952"/>
            <a:ext cx="2790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663214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mark-1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2086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860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STARTING COHORT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860743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PSA active surveillance: a defined group, an agreed cadence, a national configuration.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48640" y="1943100"/>
            <a:ext cx="3293212" cy="205968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943100"/>
            <a:ext cx="73152" cy="2059686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212598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cohort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04672" y="2514600"/>
            <a:ext cx="2836012" cy="1144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on active monitoring for low-risk prostate cancer. Around 64,000 men a year are diagnosed in the UK; roughly 6,500 choose active surveillance, with up to 5,000 more who could.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6172" y="1943100"/>
            <a:ext cx="3293212" cy="205968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16172" y="1943100"/>
            <a:ext cx="73152" cy="2059686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72204" y="212598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cadence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372204" y="2514600"/>
            <a:ext cx="2836012" cy="1128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NICE NG131 monitoring schedule, unchanged. The platform runs the recall; the Trust sets the interval and the thresholds.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231386"/>
            <a:ext cx="3293212" cy="205968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4231386"/>
            <a:ext cx="73152" cy="2059686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" y="4414266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status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04672" y="4802886"/>
            <a:ext cx="2836012" cy="1144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Scored 35 out of 45 under the HomeTest Prioritisation Framework and endorsed in principle as the board-selected acute use case at the HomeTest Programme Board on 9 June 2026.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116172" y="4231386"/>
            <a:ext cx="3293212" cy="205968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116172" y="4231386"/>
            <a:ext cx="73152" cy="2059686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372204" y="4414266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proof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372204" y="4802886"/>
            <a:ext cx="2836012" cy="108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acute partner is mobilising now. The first configuration is designed with a Trust, not designed for one and offered afterwards.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343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979012" y="6473952"/>
            <a:ext cx="2973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699790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adam-4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206240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4800600" y="411480"/>
            <a:ext cx="6842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DIVISION OF LABOUR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4800600" y="731520"/>
            <a:ext cx="6842455" cy="904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moves off the Trust, and what stays inside it.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800600" y="1910080"/>
            <a:ext cx="3284068" cy="45720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983480" y="1910080"/>
            <a:ext cx="2918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Moves to the platform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800600" y="2367280"/>
            <a:ext cx="3284068" cy="29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937760" y="2504440"/>
            <a:ext cx="2964028" cy="265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Kit fulfilment, return logistics and the laboratory contract.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notifications, reminders and the recall schedule.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 assurance, clinical safety artefacts and information governance.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exception list: who has not completed, and when they were due.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358988" y="1910080"/>
            <a:ext cx="3284068" cy="457200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541868" y="1910080"/>
            <a:ext cx="2918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Stays with the Trust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358988" y="2367280"/>
            <a:ext cx="3284068" cy="29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496148" y="2504440"/>
            <a:ext cx="2964028" cy="265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clinical relationship with the patient, and the consultant of record.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Eligibility, cadence, thresholds and the escalation rule.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result and the decision that follows it.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cohort. These remain your patients throughout.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800600" y="5521706"/>
            <a:ext cx="6842455" cy="769366"/>
          </a:xfrm>
          <a:prstGeom prst="rect">
            <a:avLst/>
          </a:prstGeom>
          <a:solidFill>
            <a:srgbClr val="FFF9EC"/>
          </a:solidFill>
          <a:ln w="15875">
            <a:solidFill>
              <a:srgbClr val="FFB91D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029200" y="5631434"/>
            <a:ext cx="6385255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Trust is not outsourcing a cohort. It is outsourcing the logistics of getting blood out of that cohort on time.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800600" y="6473952"/>
            <a:ext cx="3421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1828" y="6473952"/>
            <a:ext cx="29640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catherine-4-0.6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20863" y="0"/>
            <a:ext cx="164592" cy="6858000"/>
          </a:xfrm>
          <a:prstGeom prst="rect">
            <a:avLst/>
          </a:prstGeom>
          <a:solidFill>
            <a:srgbClr val="FFB91D"/>
          </a:solidFill>
          <a:ln w="12700">
            <a:solidFill>
              <a:srgbClr val="FFB91D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48640" y="411480"/>
            <a:ext cx="6860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TRUST BUYS IT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731520"/>
            <a:ext cx="6860743" cy="953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5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call-off, not a procurement.</a:t>
            </a:r>
            <a:endParaRPr lang="en-US" sz="2750" dirty="0"/>
          </a:p>
        </p:txBody>
      </p:sp>
      <p:sp>
        <p:nvSpPr>
          <p:cNvPr id="7" name="Shape 3"/>
          <p:cNvSpPr/>
          <p:nvPr/>
        </p:nvSpPr>
        <p:spPr>
          <a:xfrm>
            <a:off x="548640" y="1959610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959610"/>
            <a:ext cx="73152" cy="2051431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214249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buys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04672" y="2531110"/>
            <a:ext cx="2836012" cy="1144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authority, Trust, ICB or pathology network, depending on where the budget for that cohort sits. Where a pathway crosses budgets, the buyer follows the budget holder.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6172" y="1959610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16172" y="1959610"/>
            <a:ext cx="73152" cy="2051431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72204" y="2142490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372204" y="2531110"/>
            <a:ext cx="2836012" cy="1144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award or mini-competition against the accredited register, on published call-off terms. The assurance, integration and safety case were completed before you started.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4239641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4239641"/>
            <a:ext cx="73152" cy="2051431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" y="4422521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7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04672" y="4811141"/>
            <a:ext cx="283601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cost per activity for each completed test, at or below a national maximum price that local competition can beat. Volume tiers are still open.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116172" y="4239641"/>
            <a:ext cx="3293212" cy="2051431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116172" y="4239641"/>
            <a:ext cx="73152" cy="2051431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372204" y="4422521"/>
            <a:ext cx="283601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372204" y="4811141"/>
            <a:ext cx="283601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Agreed in principle and being tested with buyers before the sourcing strategy is finalised. Good enough for planning, not a tender document.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48640" y="6473952"/>
            <a:ext cx="343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979012" y="6473952"/>
            <a:ext cx="2973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6997903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quirky-zen-galileo/mnt/NHS/07 Sites &amp; Repos/dtx-ecosystem/hearts-and-minds/_generators/assets/crops/mark-3-0.7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120640" y="0"/>
            <a:ext cx="7071055" cy="6858000"/>
          </a:xfrm>
          <a:prstGeom prst="rect">
            <a:avLst/>
          </a:prstGeom>
          <a:solidFill>
            <a:srgbClr val="F3EEFA"/>
          </a:solidFill>
          <a:ln w="12700">
            <a:solidFill>
              <a:srgbClr val="F3EEFA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5623560" y="457200"/>
            <a:ext cx="6019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4527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LOOKS LIKE FOR A PATIENT ON YOUR LIST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623560" y="777240"/>
            <a:ext cx="6019495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4527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Mark, 65, on active surveillance. His consultant still reads the trend.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577840" y="2095500"/>
            <a:ext cx="822960" cy="822960"/>
          </a:xfrm>
          <a:prstGeom prst="ellipse">
            <a:avLst/>
          </a:prstGeom>
          <a:solidFill>
            <a:srgbClr val="4527A0"/>
          </a:solidFill>
          <a:ln w="12700">
            <a:solidFill>
              <a:srgbClr val="4527A0"/>
            </a:solidFill>
            <a:prstDash val="solid"/>
          </a:ln>
        </p:spPr>
      </p:sp>
      <p:pic>
        <p:nvPicPr>
          <p:cNvPr id="8" name="Image 1" descr="/sessions/quirky-zen-galileo/mnt/NHS/07 Sites &amp; Repos/dtx-ecosystem/hearts-and-minds/_generators/assets/portraits/mar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41220"/>
            <a:ext cx="731520" cy="731520"/>
          </a:xfrm>
          <a:prstGeom prst="ellipse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92240" y="23058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7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5623560" y="3101340"/>
            <a:ext cx="6019495" cy="2041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Before.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half-day for a fifteen-minute blood test: parking, the wait, the walk back. Three or four times a year, on a cadence he is expected to keep for years.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After.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kit arrives on schedule, the sample goes back by post, the result reaches Adam in time for the review that was going to happen anyway.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Trust’s side of it.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surveillance cohort stops occupying phlebotomy slots that acute demand needs, and the men who quietly dropped out of the cadence become visible again.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5623560" y="5371592"/>
            <a:ext cx="6019495" cy="873760"/>
          </a:xfrm>
          <a:prstGeom prst="rect">
            <a:avLst/>
          </a:prstGeom>
          <a:solidFill>
            <a:srgbClr val="4527A0"/>
          </a:solidFill>
          <a:ln w="12700">
            <a:solidFill>
              <a:srgbClr val="4527A0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897880" y="5371592"/>
            <a:ext cx="5470855" cy="8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quarterly test is routine. Getting to the hospital for it never was.”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23560" y="6473952"/>
            <a:ext cx="3009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8633308" y="647395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700" dirty="0"/>
          </a:p>
        </p:txBody>
      </p:sp>
      <p:sp>
        <p:nvSpPr>
          <p:cNvPr id="15" name="Text 10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005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A TRUST FOR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1106424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steps, in this order.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92580"/>
            <a:ext cx="73152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one cohort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3284220"/>
            <a:ext cx="1838858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surveillance or routine-monitoring group where the venue, not the test, is the problem. Small enough to run, big enough to measure.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119018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119018" y="1592580"/>
            <a:ext cx="73152" cy="465277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93338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93338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93338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the protocol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393338" y="3284220"/>
            <a:ext cx="1838858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clinicians set eligibility, cadence, thresholds and escalation. We configure to it and execute the safety case against it.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89397" y="1592580"/>
            <a:ext cx="2341778" cy="46527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  <a:prstDash val="solid"/>
          </a:ln>
          <a:effectLst>
            <a:outerShdw sx="100000" sy="100000" kx="0" ky="0" algn="bl" rotWithShape="0" blurRad="101600" dist="38100" dir="8100000">
              <a:srgbClr val="0A1F3C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689397" y="1592580"/>
            <a:ext cx="73152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63717" y="1821180"/>
            <a:ext cx="548640" cy="54864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63717" y="18211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963717" y="2506980"/>
            <a:ext cx="1838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one call-off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5963717" y="3284220"/>
            <a:ext cx="1838858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published terms against the accredited register, with the measurement built in from day one so the second cohort argues for itself.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351215" y="1592580"/>
            <a:ext cx="3291840" cy="4652772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25535" y="1866900"/>
            <a:ext cx="2743200" cy="2641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 is one cohort and one conversation, not a transformation programme.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826703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0" descr="/sessions/quirky-zen-galileo/mnt/NHS/07 Sites &amp; Repos/dtx-ecosystem/hearts-and-minds/_generators/assets/portraits/cathe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2423" y="5358384"/>
            <a:ext cx="566928" cy="566928"/>
          </a:xfrm>
          <a:prstGeom prst="ellipse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9576511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1" descr="/sessions/quirky-zen-galileo/mnt/NHS/07 Sites &amp; Repos/dtx-ecosystem/hearts-and-minds/_generators/assets/portraits/ad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2231" y="5358384"/>
            <a:ext cx="566928" cy="566928"/>
          </a:xfrm>
          <a:prstGeom prst="ellipse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0326319" y="5312664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/sessions/quirky-zen-galileo/mnt/NHS/07 Sites &amp; Repos/dtx-ecosystem/hearts-and-minds/_generators/assets/portraits/mark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2039" y="5358384"/>
            <a:ext cx="566928" cy="566928"/>
          </a:xfrm>
          <a:prstGeom prst="ellipse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2523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9683" y="557784"/>
            <a:ext cx="586212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FB9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ACUTE TRUST EDITION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039569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/sessions/quirky-zen-galileo/mnt/NHS/07 Sites &amp; Repos/dtx-ecosystem/hearts-and-minds/_generators/assets/portraits/cather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289" y="1554480"/>
            <a:ext cx="1600200" cy="1600200"/>
          </a:xfrm>
          <a:prstGeom prst="ellipse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Catherine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71600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commissioner of the pathway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250028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/sessions/quirky-zen-galileo/mnt/NHS/07 Sites &amp; Repos/dtx-ecosystem/hearts-and-minds/_generators/assets/portraits/ada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748" y="1554480"/>
            <a:ext cx="1600200" cy="1600200"/>
          </a:xfrm>
          <a:prstGeom prst="ellipse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582058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consultant of record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460486" y="1508760"/>
            <a:ext cx="1691640" cy="1691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/sessions/quirky-zen-galileo/mnt/NHS/07 Sites &amp; Repos/dtx-ecosystem/hearts-and-minds/_generators/assets/portraits/mark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6" y="1554480"/>
            <a:ext cx="1600200" cy="1600200"/>
          </a:xfrm>
          <a:prstGeom prst="ellipse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701077" y="324612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792517" y="35661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man on the list</a:t>
            </a:r>
            <a:endParaRPr lang="en-US" sz="1050" dirty="0"/>
          </a:p>
        </p:txBody>
      </p:sp>
      <p:sp>
        <p:nvSpPr>
          <p:cNvPr id="17" name="Text 11"/>
          <p:cNvSpPr/>
          <p:nvPr/>
        </p:nvSpPr>
        <p:spPr>
          <a:xfrm>
            <a:off x="822960" y="43434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cohort. One protocol. One call-off. The capacity you get back is yours.</a:t>
            </a:r>
            <a:endParaRPr lang="en-US" sz="2800" dirty="0"/>
          </a:p>
        </p:txBody>
      </p:sp>
      <p:sp>
        <p:nvSpPr>
          <p:cNvPr id="18" name="Text 12"/>
          <p:cNvSpPr/>
          <p:nvPr/>
        </p:nvSpPr>
        <p:spPr>
          <a:xfrm>
            <a:off x="822960" y="53949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people. Bought without pain. Live today.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· audience deck No.3 · Acute trust edition · proof-of-concept draft · September 2026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6309360" y="647395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1123157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FB6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Hearts and Minds No.3 Acute trust edition: Surveillance that does not need the building.</dc:title>
  <dc:subject>PptxGenJS Presentation</dc:subject>
  <dc:creator>HomeTest Commercial</dc:creator>
  <cp:lastModifiedBy>HomeTest Commercial</cp:lastModifiedBy>
  <cp:revision>1</cp:revision>
  <dcterms:created xsi:type="dcterms:W3CDTF">2026-09-05T10:52:50Z</dcterms:created>
  <dcterms:modified xsi:type="dcterms:W3CDTF">2026-09-05T10:52:50Z</dcterms:modified>
</cp:coreProperties>
</file>