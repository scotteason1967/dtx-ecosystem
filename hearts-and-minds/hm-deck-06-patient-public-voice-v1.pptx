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product. What HomeTest is, in plain terms: a test that arrives at your home, a sample you take yourself, a proper NHS laboratory, and a result that goes to the clinician who already looks after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room will test whether patients were involved or invented. Be honest: these are composites drawn from discovery, except Sean, who is real and whose story is shared with his family’s blessing.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NHS Digital 2023-24, NHS England, and the LeDeR annual report 2023 published 2025. The kicker is the reframe this audience most wants to hear said by the system rather than by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kicker is the single most important sentence in this deck for this audience. Say it early and repeat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right down. Do not rush to the policy point. The curb-cut argument at the end is what turns an access story into a design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come up in every patient and public voice session. Answer them before they are asked; the deck loses credibility if the audience has to drag the answers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A patient and public voice audience will forgive uncertainty and will not forgive discovering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last line and stop. It is the promise the whole programme is accountable for, and it is the one this audience will hold us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interlude-0.787.jpg">    </p:cNvPr>
          <p:cNvPicPr>
            <a:picLocks noChangeAspect="1"/>
          </p:cNvPicPr>
          <p:nvPr/>
        </p:nvPicPr>
        <p:blipFill>
          <a:blip r:embed="rId1"/>
          <a:stretch>
            <a:fillRect/>
          </a:stretch>
        </p:blipFill>
        <p:spPr>
          <a:xfrm>
            <a:off x="6796735" y="0"/>
            <a:ext cx="5394960" cy="6858000"/>
          </a:xfrm>
          <a:prstGeom prst="rect">
            <a:avLst/>
          </a:prstGeom>
        </p:spPr>
      </p:pic>
      <p:sp>
        <p:nvSpPr>
          <p:cNvPr id="3" name="Shape 0"/>
          <p:cNvSpPr/>
          <p:nvPr/>
        </p:nvSpPr>
        <p:spPr>
          <a:xfrm>
            <a:off x="6632143" y="0"/>
            <a:ext cx="164592" cy="6858000"/>
          </a:xfrm>
          <a:prstGeom prst="rect">
            <a:avLst/>
          </a:prstGeom>
          <a:solidFill>
            <a:srgbClr val="FFB91D"/>
          </a:solidFill>
          <a:ln w="12700">
            <a:solidFill>
              <a:srgbClr val="FFB91D"/>
            </a:solidFill>
            <a:prstDash val="solid"/>
          </a:ln>
        </p:spPr>
      </p:sp>
      <p:sp>
        <p:nvSpPr>
          <p:cNvPr id="4" name="Shape 1"/>
          <p:cNvSpPr/>
          <p:nvPr/>
        </p:nvSpPr>
        <p:spPr>
          <a:xfrm>
            <a:off x="548640" y="457200"/>
            <a:ext cx="860532" cy="658368"/>
          </a:xfrm>
          <a:prstGeom prst="roundRect">
            <a:avLst>
              <a:gd name="adj" fmla="val 11111"/>
            </a:avLst>
          </a:prstGeom>
          <a:solidFill>
            <a:srgbClr val="FFFFFF"/>
          </a:solidFill>
          <a:ln w="12700">
            <a:solidFill>
              <a:srgbClr val="FFFFFF"/>
            </a:solidFill>
            <a:prstDash val="solid"/>
          </a:ln>
        </p:spPr>
      </p:sp>
      <p:pic>
        <p:nvPicPr>
          <p:cNvPr id="5" name="Image 1" descr="/sessions/quirky-zen-galileo/mnt/NHS/07 Sites &amp; Repos/dtx-ecosystem/hearts-and-minds/_generators/assets/nhs-logo.png">    </p:cNvPr>
          <p:cNvPicPr>
            <a:picLocks noChangeAspect="1"/>
          </p:cNvPicPr>
          <p:nvPr/>
        </p:nvPicPr>
        <p:blipFill>
          <a:blip r:embed="rId2"/>
          <a:stretch>
            <a:fillRect/>
          </a:stretch>
        </p:blipFill>
        <p:spPr>
          <a:xfrm>
            <a:off x="685800" y="557784"/>
            <a:ext cx="586212" cy="457200"/>
          </a:xfrm>
          <a:prstGeom prst="rect">
            <a:avLst/>
          </a:prstGeom>
        </p:spPr>
      </p:pic>
      <p:sp>
        <p:nvSpPr>
          <p:cNvPr id="6" name="Text 2"/>
          <p:cNvSpPr/>
          <p:nvPr/>
        </p:nvSpPr>
        <p:spPr>
          <a:xfrm>
            <a:off x="548640" y="1417320"/>
            <a:ext cx="5852160" cy="274320"/>
          </a:xfrm>
          <a:prstGeom prst="rect">
            <a:avLst/>
          </a:prstGeom>
          <a:noFill/>
          <a:ln/>
        </p:spPr>
        <p:txBody>
          <a:bodyPr wrap="square" lIns="0" tIns="0" rIns="0" bIns="0" rtlCol="0" anchor="ctr"/>
          <a:lstStyle/>
          <a:p>
            <a:pPr indent="0" marL="0">
              <a:buNone/>
            </a:pPr>
            <a:r>
              <a:rPr lang="en-US" sz="1000" b="1" spc="260" kern="0" dirty="0">
                <a:solidFill>
                  <a:srgbClr val="FFB91D"/>
                </a:solidFill>
                <a:latin typeface="Segoe UI" pitchFamily="34" charset="0"/>
                <a:ea typeface="Segoe UI" pitchFamily="34" charset="-122"/>
                <a:cs typeface="Segoe UI" pitchFamily="34" charset="-120"/>
              </a:rPr>
              <a:t>HEARTS AND MINDS · PATIENT AND PUBLIC VOICE EDITION · NO.6</a:t>
            </a:r>
            <a:endParaRPr lang="en-US" sz="1000" dirty="0"/>
          </a:p>
        </p:txBody>
      </p:sp>
      <p:sp>
        <p:nvSpPr>
          <p:cNvPr id="7" name="Text 3"/>
          <p:cNvSpPr/>
          <p:nvPr/>
        </p:nvSpPr>
        <p:spPr>
          <a:xfrm>
            <a:off x="548640" y="1783080"/>
            <a:ext cx="5760720" cy="1498600"/>
          </a:xfrm>
          <a:prstGeom prst="rect">
            <a:avLst/>
          </a:prstGeom>
          <a:noFill/>
          <a:ln/>
        </p:spPr>
        <p:txBody>
          <a:bodyPr wrap="square" lIns="0" tIns="0" rIns="0" bIns="0" rtlCol="0" anchor="t"/>
          <a:lstStyle/>
          <a:p>
            <a:pPr indent="0" marL="0">
              <a:buNone/>
            </a:pPr>
            <a:r>
              <a:rPr lang="en-US" sz="4400" b="1" dirty="0">
                <a:solidFill>
                  <a:srgbClr val="FFFFFF"/>
                </a:solidFill>
                <a:latin typeface="Segoe UI" pitchFamily="34" charset="0"/>
                <a:ea typeface="Segoe UI" pitchFamily="34" charset="-122"/>
                <a:cs typeface="Segoe UI" pitchFamily="34" charset="-120"/>
              </a:rPr>
              <a:t>A test that comes to you.</a:t>
            </a:r>
            <a:endParaRPr lang="en-US" sz="4400" dirty="0"/>
          </a:p>
        </p:txBody>
      </p:sp>
      <p:sp>
        <p:nvSpPr>
          <p:cNvPr id="8" name="Text 4"/>
          <p:cNvSpPr/>
          <p:nvPr/>
        </p:nvSpPr>
        <p:spPr>
          <a:xfrm>
            <a:off x="548640" y="3464560"/>
            <a:ext cx="5669280" cy="979424"/>
          </a:xfrm>
          <a:prstGeom prst="rect">
            <a:avLst/>
          </a:prstGeom>
          <a:noFill/>
          <a:ln/>
        </p:spPr>
        <p:txBody>
          <a:bodyPr wrap="square" lIns="0" tIns="0" rIns="0" bIns="0" rtlCol="0" anchor="t">
            <a:normAutofit/>
          </a:bodyPr>
          <a:lstStyle/>
          <a:p>
            <a:pPr indent="0" marL="0">
              <a:buNone/>
            </a:pPr>
            <a:r>
              <a:rPr lang="en-US" sz="1400" dirty="0">
                <a:solidFill>
                  <a:srgbClr val="CFE0F5"/>
                </a:solidFill>
                <a:latin typeface="Segoe UI" pitchFamily="34" charset="0"/>
                <a:ea typeface="Segoe UI" pitchFamily="34" charset="-122"/>
                <a:cs typeface="Segoe UI" pitchFamily="34" charset="-120"/>
              </a:rPr>
              <a:t>What HomeTest is, in plain terms: a test that arrives at your home, a sample you take yourself, a proper NHS laboratory, and a result that goes to the clinician who already looks after you.</a:t>
            </a:r>
            <a:endParaRPr lang="en-US" sz="1400" dirty="0"/>
          </a:p>
        </p:txBody>
      </p:sp>
      <p:sp>
        <p:nvSpPr>
          <p:cNvPr id="9" name="Text 5"/>
          <p:cNvSpPr/>
          <p:nvPr/>
        </p:nvSpPr>
        <p:spPr>
          <a:xfrm>
            <a:off x="548640" y="4672584"/>
            <a:ext cx="5669280" cy="946404"/>
          </a:xfrm>
          <a:prstGeom prst="rect">
            <a:avLst/>
          </a:prstGeom>
          <a:noFill/>
          <a:ln/>
        </p:spPr>
        <p:txBody>
          <a:bodyPr wrap="square" lIns="0" tIns="0" rIns="0" bIns="0" rtlCol="0" anchor="t">
            <a:normAutofit/>
          </a:bodyPr>
          <a:lstStyle/>
          <a:p>
            <a:pPr indent="0" marL="0">
              <a:buNone/>
            </a:pPr>
            <a:r>
              <a:rPr lang="en-US" sz="1350" dirty="0">
                <a:solidFill>
                  <a:srgbClr val="E8F0FA"/>
                </a:solidFill>
                <a:latin typeface="Segoe UI" pitchFamily="34" charset="0"/>
                <a:ea typeface="Segoe UI" pitchFamily="34" charset="-122"/>
                <a:cs typeface="Segoe UI" pitchFamily="34" charset="-120"/>
              </a:rPr>
              <a:t>HIV self-testing is live now with two local authority areas. Other tests follow as they are approved. Nothing here replaces the care you already have.</a:t>
            </a:r>
            <a:endParaRPr lang="en-US" sz="1350" dirty="0"/>
          </a:p>
        </p:txBody>
      </p:sp>
      <p:sp>
        <p:nvSpPr>
          <p:cNvPr id="10" name="Text 6"/>
          <p:cNvSpPr/>
          <p:nvPr/>
        </p:nvSpPr>
        <p:spPr>
          <a:xfrm>
            <a:off x="548640" y="6473952"/>
            <a:ext cx="2858872"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11" name="Text 7"/>
          <p:cNvSpPr/>
          <p:nvPr/>
        </p:nvSpPr>
        <p:spPr>
          <a:xfrm>
            <a:off x="3407512" y="6473952"/>
            <a:ext cx="2401672" cy="274320"/>
          </a:xfrm>
          <a:prstGeom prst="rect">
            <a:avLst/>
          </a:prstGeom>
          <a:noFill/>
          <a:ln/>
        </p:spPr>
        <p:txBody>
          <a:bodyPr wrap="square" lIns="0" tIns="0" rIns="0" bIns="0" rtlCol="0" anchor="ctr">
            <a:normAutofit/>
          </a:bodyPr>
          <a:lstStyle/>
          <a:p>
            <a:pPr algn="r" indent="0" marL="0">
              <a:buNone/>
            </a:pPr>
            <a:r>
              <a:rPr lang="en-US" sz="7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WHO WE DESIGNED THIS AROUND</a:t>
            </a:r>
            <a:endParaRPr lang="en-US" sz="1000" dirty="0"/>
          </a:p>
        </p:txBody>
      </p:sp>
      <p:sp>
        <p:nvSpPr>
          <p:cNvPr id="4" name="Text 1"/>
          <p:cNvSpPr/>
          <p:nvPr/>
        </p:nvSpPr>
        <p:spPr>
          <a:xfrm>
            <a:off x="548640" y="731520"/>
            <a:ext cx="11064240"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Five people, and what the current system asks of them.</a:t>
            </a:r>
            <a:endParaRPr lang="en-US" sz="2600" dirty="0"/>
          </a:p>
        </p:txBody>
      </p:sp>
      <p:pic>
        <p:nvPicPr>
          <p:cNvPr id="5" name="Image 0" descr="/sessions/quirky-zen-galileo/mnt/NHS/07 Sites &amp; Repos/dtx-ecosystem/hearts-and-minds/_generators/assets/portraits/sean.jpg">    </p:cNvPr>
          <p:cNvPicPr>
            <a:picLocks noChangeAspect="1"/>
          </p:cNvPicPr>
          <p:nvPr/>
        </p:nvPicPr>
        <p:blipFill>
          <a:blip r:embed="rId1"/>
          <a:stretch>
            <a:fillRect/>
          </a:stretch>
        </p:blipFill>
        <p:spPr>
          <a:xfrm>
            <a:off x="731520" y="1910080"/>
            <a:ext cx="952754" cy="952754"/>
          </a:xfrm>
          <a:prstGeom prst="ellipse">
            <a:avLst/>
          </a:prstGeom>
        </p:spPr>
      </p:pic>
      <p:sp>
        <p:nvSpPr>
          <p:cNvPr id="6" name="Text 2"/>
          <p:cNvSpPr/>
          <p:nvPr/>
        </p:nvSpPr>
        <p:spPr>
          <a:xfrm>
            <a:off x="365760" y="2908554"/>
            <a:ext cx="1684274" cy="274320"/>
          </a:xfrm>
          <a:prstGeom prst="rect">
            <a:avLst/>
          </a:prstGeom>
          <a:noFill/>
          <a:ln/>
        </p:spPr>
        <p:txBody>
          <a:bodyPr wrap="square" lIns="0" tIns="0" rIns="0" bIns="0" rtlCol="0" anchor="ctr"/>
          <a:lstStyle/>
          <a:p>
            <a:pPr algn="ctr" indent="0" marL="0">
              <a:buNone/>
            </a:pPr>
            <a:r>
              <a:rPr lang="en-US" sz="1400" b="1" dirty="0">
                <a:solidFill>
                  <a:srgbClr val="003087"/>
                </a:solidFill>
                <a:latin typeface="Segoe UI" pitchFamily="34" charset="0"/>
                <a:ea typeface="Segoe UI" pitchFamily="34" charset="-122"/>
                <a:cs typeface="Segoe UI" pitchFamily="34" charset="-120"/>
              </a:rPr>
              <a:t>Sean</a:t>
            </a:r>
            <a:endParaRPr lang="en-US" sz="1400" dirty="0"/>
          </a:p>
        </p:txBody>
      </p:sp>
      <p:sp>
        <p:nvSpPr>
          <p:cNvPr id="7" name="Shape 3"/>
          <p:cNvSpPr/>
          <p:nvPr/>
        </p:nvSpPr>
        <p:spPr>
          <a:xfrm>
            <a:off x="2232914" y="1910080"/>
            <a:ext cx="9410141" cy="952754"/>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8" name="Text 4"/>
          <p:cNvSpPr/>
          <p:nvPr/>
        </p:nvSpPr>
        <p:spPr>
          <a:xfrm>
            <a:off x="2507234" y="2001520"/>
            <a:ext cx="8861501" cy="769874"/>
          </a:xfrm>
          <a:prstGeom prst="rect">
            <a:avLst/>
          </a:prstGeom>
          <a:noFill/>
          <a:ln/>
        </p:spPr>
        <p:txBody>
          <a:bodyPr wrap="square" lIns="0" tIns="0" rIns="0" bIns="0" rtlCol="0" anchor="ctr">
            <a:normAutofit/>
          </a:bodyPr>
          <a:lstStyle/>
          <a:p>
            <a:pPr indent="0" marL="0">
              <a:buNone/>
            </a:pPr>
            <a:r>
              <a:rPr lang="en-US" sz="1650" i="1" dirty="0">
                <a:solidFill>
                  <a:srgbClr val="212B32"/>
                </a:solidFill>
                <a:latin typeface="Segoe UI" pitchFamily="34" charset="0"/>
                <a:ea typeface="Segoe UI" pitchFamily="34" charset="-122"/>
                <a:cs typeface="Segoe UI" pitchFamily="34" charset="-120"/>
              </a:rPr>
              <a:t>“Being on the register was never the problem. Everything between the register and the result was.”</a:t>
            </a:r>
            <a:endParaRPr lang="en-US" sz="1650" dirty="0"/>
          </a:p>
        </p:txBody>
      </p:sp>
      <p:sp>
        <p:nvSpPr>
          <p:cNvPr id="9" name="Text 5"/>
          <p:cNvSpPr/>
          <p:nvPr/>
        </p:nvSpPr>
        <p:spPr>
          <a:xfrm>
            <a:off x="2507234" y="2890266"/>
            <a:ext cx="8861501" cy="274320"/>
          </a:xfrm>
          <a:prstGeom prst="rect">
            <a:avLst/>
          </a:prstGeom>
          <a:noFill/>
          <a:ln/>
        </p:spPr>
        <p:txBody>
          <a:bodyPr wrap="square" lIns="0" tIns="0" rIns="0" bIns="0" rtlCol="0" anchor="ctr"/>
          <a:lstStyle/>
          <a:p>
            <a:pPr indent="0" marL="0">
              <a:buNone/>
            </a:pPr>
            <a:r>
              <a:rPr lang="en-US" sz="1050" dirty="0">
                <a:solidFill>
                  <a:srgbClr val="4C6272"/>
                </a:solidFill>
                <a:latin typeface="Segoe UI" pitchFamily="34" charset="0"/>
                <a:ea typeface="Segoe UI" pitchFamily="34" charset="-122"/>
                <a:cs typeface="Segoe UI" pitchFamily="34" charset="-120"/>
              </a:rPr>
              <a:t>Every list since childhood, and still hard to reach</a:t>
            </a:r>
            <a:endParaRPr lang="en-US" sz="1050" dirty="0"/>
          </a:p>
        </p:txBody>
      </p:sp>
      <p:pic>
        <p:nvPicPr>
          <p:cNvPr id="10" name="Image 1" descr="/sessions/quirky-zen-galileo/mnt/NHS/07 Sites &amp; Repos/dtx-ecosystem/hearts-and-minds/_generators/assets/portraits/layla.jpg">    </p:cNvPr>
          <p:cNvPicPr>
            <a:picLocks noChangeAspect="1"/>
          </p:cNvPicPr>
          <p:nvPr/>
        </p:nvPicPr>
        <p:blipFill>
          <a:blip r:embed="rId2"/>
          <a:stretch>
            <a:fillRect/>
          </a:stretch>
        </p:blipFill>
        <p:spPr>
          <a:xfrm>
            <a:off x="731520" y="3365754"/>
            <a:ext cx="952754" cy="952754"/>
          </a:xfrm>
          <a:prstGeom prst="ellipse">
            <a:avLst/>
          </a:prstGeom>
        </p:spPr>
      </p:pic>
      <p:sp>
        <p:nvSpPr>
          <p:cNvPr id="11" name="Text 6"/>
          <p:cNvSpPr/>
          <p:nvPr/>
        </p:nvSpPr>
        <p:spPr>
          <a:xfrm>
            <a:off x="365760" y="4364228"/>
            <a:ext cx="1684274" cy="274320"/>
          </a:xfrm>
          <a:prstGeom prst="rect">
            <a:avLst/>
          </a:prstGeom>
          <a:noFill/>
          <a:ln/>
        </p:spPr>
        <p:txBody>
          <a:bodyPr wrap="square" lIns="0" tIns="0" rIns="0" bIns="0" rtlCol="0" anchor="ctr"/>
          <a:lstStyle/>
          <a:p>
            <a:pPr algn="ctr" indent="0" marL="0">
              <a:buNone/>
            </a:pPr>
            <a:r>
              <a:rPr lang="en-US" sz="1400" b="1" dirty="0">
                <a:solidFill>
                  <a:srgbClr val="003087"/>
                </a:solidFill>
                <a:latin typeface="Segoe UI" pitchFamily="34" charset="0"/>
                <a:ea typeface="Segoe UI" pitchFamily="34" charset="-122"/>
                <a:cs typeface="Segoe UI" pitchFamily="34" charset="-120"/>
              </a:rPr>
              <a:t>Layla</a:t>
            </a:r>
            <a:endParaRPr lang="en-US" sz="1400" dirty="0"/>
          </a:p>
        </p:txBody>
      </p:sp>
      <p:sp>
        <p:nvSpPr>
          <p:cNvPr id="12" name="Shape 7"/>
          <p:cNvSpPr/>
          <p:nvPr/>
        </p:nvSpPr>
        <p:spPr>
          <a:xfrm>
            <a:off x="2232914" y="3365754"/>
            <a:ext cx="9410141" cy="952754"/>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3" name="Text 8"/>
          <p:cNvSpPr/>
          <p:nvPr/>
        </p:nvSpPr>
        <p:spPr>
          <a:xfrm>
            <a:off x="2507234" y="3457194"/>
            <a:ext cx="8861501" cy="769874"/>
          </a:xfrm>
          <a:prstGeom prst="rect">
            <a:avLst/>
          </a:prstGeom>
          <a:noFill/>
          <a:ln/>
        </p:spPr>
        <p:txBody>
          <a:bodyPr wrap="square" lIns="0" tIns="0" rIns="0" bIns="0" rtlCol="0" anchor="ctr">
            <a:normAutofit/>
          </a:bodyPr>
          <a:lstStyle/>
          <a:p>
            <a:pPr indent="0" marL="0">
              <a:buNone/>
            </a:pPr>
            <a:r>
              <a:rPr lang="en-US" sz="1650" i="1" dirty="0">
                <a:solidFill>
                  <a:srgbClr val="212B32"/>
                </a:solidFill>
                <a:latin typeface="Segoe UI" pitchFamily="34" charset="0"/>
                <a:ea typeface="Segoe UI" pitchFamily="34" charset="-122"/>
                <a:cs typeface="Segoe UI" pitchFamily="34" charset="-120"/>
              </a:rPr>
              <a:t>“I take the tablets every day. It is the blood test I keep missing.”</a:t>
            </a:r>
            <a:endParaRPr lang="en-US" sz="1650" dirty="0"/>
          </a:p>
        </p:txBody>
      </p:sp>
      <p:sp>
        <p:nvSpPr>
          <p:cNvPr id="14" name="Text 9"/>
          <p:cNvSpPr/>
          <p:nvPr/>
        </p:nvSpPr>
        <p:spPr>
          <a:xfrm>
            <a:off x="2507234" y="4345940"/>
            <a:ext cx="8861501" cy="274320"/>
          </a:xfrm>
          <a:prstGeom prst="rect">
            <a:avLst/>
          </a:prstGeom>
          <a:noFill/>
          <a:ln/>
        </p:spPr>
        <p:txBody>
          <a:bodyPr wrap="square" lIns="0" tIns="0" rIns="0" bIns="0" rtlCol="0" anchor="ctr"/>
          <a:lstStyle/>
          <a:p>
            <a:pPr indent="0" marL="0">
              <a:buNone/>
            </a:pPr>
            <a:r>
              <a:rPr lang="en-US" sz="1050" dirty="0">
                <a:solidFill>
                  <a:srgbClr val="4C6272"/>
                </a:solidFill>
                <a:latin typeface="Segoe UI" pitchFamily="34" charset="0"/>
                <a:ea typeface="Segoe UI" pitchFamily="34" charset="-122"/>
                <a:cs typeface="Segoe UI" pitchFamily="34" charset="-120"/>
              </a:rPr>
              <a:t>Two part-time jobs, two kids, a six-month blood test</a:t>
            </a:r>
            <a:endParaRPr lang="en-US" sz="1050" dirty="0"/>
          </a:p>
        </p:txBody>
      </p:sp>
      <p:sp>
        <p:nvSpPr>
          <p:cNvPr id="15" name="Text 10"/>
          <p:cNvSpPr/>
          <p:nvPr/>
        </p:nvSpPr>
        <p:spPr>
          <a:xfrm>
            <a:off x="548640" y="4867148"/>
            <a:ext cx="11064240" cy="1012444"/>
          </a:xfrm>
          <a:prstGeom prst="rect">
            <a:avLst/>
          </a:prstGeom>
          <a:noFill/>
          <a:ln/>
        </p:spPr>
        <p:txBody>
          <a:bodyPr wrap="square" lIns="0" tIns="0" rIns="0" bIns="0" rtlCol="0" anchor="t">
            <a:normAutofit/>
          </a:bodyPr>
          <a:lstStyle/>
          <a:p>
            <a:pPr indent="0" marL="0">
              <a:buNone/>
            </a:pPr>
            <a:r>
              <a:rPr lang="en-US" sz="1450" dirty="0">
                <a:solidFill>
                  <a:srgbClr val="4C6272"/>
                </a:solidFill>
                <a:latin typeface="Segoe UI" pitchFamily="34" charset="0"/>
                <a:ea typeface="Segoe UI" pitchFamily="34" charset="-122"/>
                <a:cs typeface="Segoe UI" pitchFamily="34" charset="-120"/>
              </a:rPr>
              <a:t>The service was designed around named people rather than an average patient: a man with a learning disability, a single parent on shifts, a woman on an at-risk register, a man on cancer surveillance, a man who would never sit in a sexual health clinic. </a:t>
            </a:r>
            <a:pPr indent="0" marL="0">
              <a:buNone/>
            </a:pPr>
            <a:r>
              <a:rPr lang="en-US" sz="1450" b="1" dirty="0">
                <a:solidFill>
                  <a:srgbClr val="4C6272"/>
                </a:solidFill>
                <a:latin typeface="Segoe UI" pitchFamily="34" charset="0"/>
                <a:ea typeface="Segoe UI" pitchFamily="34" charset="-122"/>
                <a:cs typeface="Segoe UI" pitchFamily="34" charset="-120"/>
              </a:rPr>
              <a:t>If it does not work for them, it does not work.</a:t>
            </a:r>
            <a:endParaRPr lang="en-US" sz="1450" dirty="0"/>
          </a:p>
        </p:txBody>
      </p:sp>
      <p:sp>
        <p:nvSpPr>
          <p:cNvPr id="16" name="Text 11"/>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17" name="Text 12"/>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8" name="Text 13"/>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layla-4-0.613.jpg">    </p:cNvPr>
          <p:cNvPicPr>
            <a:picLocks noChangeAspect="1"/>
          </p:cNvPicPr>
          <p:nvPr/>
        </p:nvPicPr>
        <p:blipFill>
          <a:blip r:embed="rId1"/>
          <a:stretch>
            <a:fillRect/>
          </a:stretch>
        </p:blipFill>
        <p:spPr>
          <a:xfrm>
            <a:off x="0" y="0"/>
            <a:ext cx="4206240" cy="6858000"/>
          </a:xfrm>
          <a:prstGeom prst="rect">
            <a:avLst/>
          </a:prstGeom>
        </p:spPr>
      </p:pic>
      <p:sp>
        <p:nvSpPr>
          <p:cNvPr id="4" name="Shape 0"/>
          <p:cNvSpPr/>
          <p:nvPr/>
        </p:nvSpPr>
        <p:spPr>
          <a:xfrm>
            <a:off x="4206240" y="0"/>
            <a:ext cx="164592" cy="6858000"/>
          </a:xfrm>
          <a:prstGeom prst="rect">
            <a:avLst/>
          </a:prstGeom>
          <a:solidFill>
            <a:srgbClr val="FFB91D"/>
          </a:solidFill>
          <a:ln w="12700">
            <a:solidFill>
              <a:srgbClr val="FFB91D"/>
            </a:solidFill>
            <a:prstDash val="solid"/>
          </a:ln>
        </p:spPr>
      </p:sp>
      <p:sp>
        <p:nvSpPr>
          <p:cNvPr id="5" name="Text 1"/>
          <p:cNvSpPr/>
          <p:nvPr/>
        </p:nvSpPr>
        <p:spPr>
          <a:xfrm>
            <a:off x="4800600" y="411480"/>
            <a:ext cx="684245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THE PROBLEM, IN PLAIN TERMS</a:t>
            </a:r>
            <a:endParaRPr lang="en-US" sz="1000" dirty="0"/>
          </a:p>
        </p:txBody>
      </p:sp>
      <p:sp>
        <p:nvSpPr>
          <p:cNvPr id="6" name="Text 2"/>
          <p:cNvSpPr/>
          <p:nvPr/>
        </p:nvSpPr>
        <p:spPr>
          <a:xfrm>
            <a:off x="4800600" y="731520"/>
            <a:ext cx="6842455"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The test is easy. Getting to it is not.</a:t>
            </a:r>
            <a:endParaRPr lang="en-US" sz="2600" dirty="0"/>
          </a:p>
        </p:txBody>
      </p:sp>
      <p:sp>
        <p:nvSpPr>
          <p:cNvPr id="7" name="Shape 3"/>
          <p:cNvSpPr/>
          <p:nvPr/>
        </p:nvSpPr>
        <p:spPr>
          <a:xfrm>
            <a:off x="4800600" y="1910080"/>
            <a:ext cx="3284068" cy="457200"/>
          </a:xfrm>
          <a:prstGeom prst="rect">
            <a:avLst/>
          </a:prstGeom>
          <a:solidFill>
            <a:srgbClr val="5B6770"/>
          </a:solidFill>
          <a:ln w="12700">
            <a:solidFill>
              <a:srgbClr val="5B6770"/>
            </a:solidFill>
            <a:prstDash val="solid"/>
          </a:ln>
        </p:spPr>
      </p:sp>
      <p:sp>
        <p:nvSpPr>
          <p:cNvPr id="8" name="Text 4"/>
          <p:cNvSpPr/>
          <p:nvPr/>
        </p:nvSpPr>
        <p:spPr>
          <a:xfrm>
            <a:off x="4983480" y="1910080"/>
            <a:ext cx="2918308"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Segoe UI" pitchFamily="34" charset="0"/>
                <a:ea typeface="Segoe UI" pitchFamily="34" charset="-122"/>
                <a:cs typeface="Segoe UI" pitchFamily="34" charset="-120"/>
              </a:rPr>
              <a:t>What the current model assumes</a:t>
            </a:r>
            <a:endParaRPr lang="en-US" sz="1400" dirty="0"/>
          </a:p>
        </p:txBody>
      </p:sp>
      <p:sp>
        <p:nvSpPr>
          <p:cNvPr id="9" name="Shape 5"/>
          <p:cNvSpPr/>
          <p:nvPr/>
        </p:nvSpPr>
        <p:spPr>
          <a:xfrm>
            <a:off x="4800600" y="2367280"/>
            <a:ext cx="3284068" cy="292582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0" name="Text 6"/>
          <p:cNvSpPr/>
          <p:nvPr/>
        </p:nvSpPr>
        <p:spPr>
          <a:xfrm>
            <a:off x="4937760" y="2504440"/>
            <a:ext cx="2964028" cy="2651506"/>
          </a:xfrm>
          <a:prstGeom prst="rect">
            <a:avLst/>
          </a:prstGeom>
          <a:noFill/>
          <a:ln/>
        </p:spPr>
        <p:txBody>
          <a:bodyPr wrap="square" lIns="0" tIns="0" rIns="0" bIns="0" rtlCol="0" anchor="t">
            <a:normAutofit/>
          </a:bodyPr>
          <a:lstStyle/>
          <a:p>
            <a:pPr marL="342900" indent="-342900">
              <a:spcAft>
                <a:spcPts val="700"/>
              </a:spcAft>
              <a:buSzPct val="100000"/>
              <a:buChar char="●"/>
            </a:pPr>
            <a:r>
              <a:rPr lang="en-US" sz="1200" dirty="0">
                <a:solidFill>
                  <a:srgbClr val="212B32"/>
                </a:solidFill>
                <a:latin typeface="Segoe UI" pitchFamily="34" charset="0"/>
                <a:ea typeface="Segoe UI" pitchFamily="34" charset="-122"/>
                <a:cs typeface="Segoe UI" pitchFamily="34" charset="-120"/>
              </a:rPr>
              <a:t>You can take time off, in working hours, without losing pay.</a:t>
            </a:r>
            <a:endParaRPr lang="en-US" sz="1200" dirty="0"/>
          </a:p>
          <a:p>
            <a:pPr marL="342900" indent="-342900">
              <a:spcAft>
                <a:spcPts val="700"/>
              </a:spcAft>
              <a:buSzPct val="100000"/>
              <a:buChar char="●"/>
            </a:pPr>
            <a:r>
              <a:rPr lang="en-US" sz="1200" dirty="0">
                <a:solidFill>
                  <a:srgbClr val="212B32"/>
                </a:solidFill>
                <a:latin typeface="Segoe UI" pitchFamily="34" charset="0"/>
                <a:ea typeface="Segoe UI" pitchFamily="34" charset="-122"/>
                <a:cs typeface="Segoe UI" pitchFamily="34" charset="-120"/>
              </a:rPr>
              <a:t>You can get to the building, and wait when you arrive.</a:t>
            </a:r>
            <a:endParaRPr lang="en-US" sz="1200" dirty="0"/>
          </a:p>
          <a:p>
            <a:pPr marL="342900" indent="-342900">
              <a:spcAft>
                <a:spcPts val="700"/>
              </a:spcAft>
              <a:buSzPct val="100000"/>
              <a:buChar char="●"/>
            </a:pPr>
            <a:r>
              <a:rPr lang="en-US" sz="1200" dirty="0">
                <a:solidFill>
                  <a:srgbClr val="212B32"/>
                </a:solidFill>
                <a:latin typeface="Segoe UI" pitchFamily="34" charset="0"/>
                <a:ea typeface="Segoe UI" pitchFamily="34" charset="-122"/>
                <a:cs typeface="Segoe UI" pitchFamily="34" charset="-120"/>
              </a:rPr>
              <a:t>A letter reaches you, and you can read and act on it.</a:t>
            </a:r>
            <a:endParaRPr lang="en-US" sz="1200" dirty="0"/>
          </a:p>
          <a:p>
            <a:pPr marL="342900" indent="-342900">
              <a:spcAft>
                <a:spcPts val="700"/>
              </a:spcAft>
              <a:buSzPct val="100000"/>
              <a:buChar char="●"/>
            </a:pPr>
            <a:r>
              <a:rPr lang="en-US" sz="1200" dirty="0">
                <a:solidFill>
                  <a:srgbClr val="212B32"/>
                </a:solidFill>
                <a:latin typeface="Segoe UI" pitchFamily="34" charset="0"/>
                <a:ea typeface="Segoe UI" pitchFamily="34" charset="-122"/>
                <a:cs typeface="Segoe UI" pitchFamily="34" charset="-120"/>
              </a:rPr>
              <a:t>You are comfortable being seen walking into that particular clinic.</a:t>
            </a:r>
            <a:endParaRPr lang="en-US" sz="1200" dirty="0"/>
          </a:p>
        </p:txBody>
      </p:sp>
      <p:sp>
        <p:nvSpPr>
          <p:cNvPr id="11" name="Shape 7"/>
          <p:cNvSpPr/>
          <p:nvPr/>
        </p:nvSpPr>
        <p:spPr>
          <a:xfrm>
            <a:off x="8358988" y="1910080"/>
            <a:ext cx="3284068" cy="457200"/>
          </a:xfrm>
          <a:prstGeom prst="rect">
            <a:avLst/>
          </a:prstGeom>
          <a:solidFill>
            <a:srgbClr val="C9A227"/>
          </a:solidFill>
          <a:ln w="12700">
            <a:solidFill>
              <a:srgbClr val="C9A227"/>
            </a:solidFill>
            <a:prstDash val="solid"/>
          </a:ln>
        </p:spPr>
      </p:sp>
      <p:sp>
        <p:nvSpPr>
          <p:cNvPr id="12" name="Text 8"/>
          <p:cNvSpPr/>
          <p:nvPr/>
        </p:nvSpPr>
        <p:spPr>
          <a:xfrm>
            <a:off x="8541868" y="1910080"/>
            <a:ext cx="2918308"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Segoe UI" pitchFamily="34" charset="0"/>
                <a:ea typeface="Segoe UI" pitchFamily="34" charset="-122"/>
                <a:cs typeface="Segoe UI" pitchFamily="34" charset="-120"/>
              </a:rPr>
              <a:t>What that means in practice</a:t>
            </a:r>
            <a:endParaRPr lang="en-US" sz="1400" dirty="0"/>
          </a:p>
        </p:txBody>
      </p:sp>
      <p:sp>
        <p:nvSpPr>
          <p:cNvPr id="13" name="Shape 9"/>
          <p:cNvSpPr/>
          <p:nvPr/>
        </p:nvSpPr>
        <p:spPr>
          <a:xfrm>
            <a:off x="8358988" y="2367280"/>
            <a:ext cx="3284068" cy="292582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0"/>
          <p:cNvSpPr/>
          <p:nvPr/>
        </p:nvSpPr>
        <p:spPr>
          <a:xfrm>
            <a:off x="8496148" y="2504440"/>
            <a:ext cx="2964028" cy="2651506"/>
          </a:xfrm>
          <a:prstGeom prst="rect">
            <a:avLst/>
          </a:prstGeom>
          <a:noFill/>
          <a:ln/>
        </p:spPr>
        <p:txBody>
          <a:bodyPr wrap="square" lIns="0" tIns="0" rIns="0" bIns="0" rtlCol="0" anchor="t">
            <a:normAutofit/>
          </a:bodyPr>
          <a:lstStyle/>
          <a:p>
            <a:pPr marL="342900" indent="-342900">
              <a:spcAft>
                <a:spcPts val="700"/>
              </a:spcAft>
              <a:buSzPct val="100000"/>
              <a:buChar char="●"/>
            </a:pPr>
            <a:r>
              <a:rPr lang="en-US" sz="1000" dirty="0">
                <a:solidFill>
                  <a:srgbClr val="212B32"/>
                </a:solidFill>
                <a:latin typeface="Segoe UI" pitchFamily="34" charset="0"/>
                <a:ea typeface="Segoe UI" pitchFamily="34" charset="-122"/>
                <a:cs typeface="Segoe UI" pitchFamily="34" charset="-120"/>
              </a:rPr>
              <a:t>Around 8.0m outpatient appointments went unattended in 2023/24, of 135.4m booked.</a:t>
            </a:r>
            <a:endParaRPr lang="en-US" sz="1000" dirty="0"/>
          </a:p>
          <a:p>
            <a:pPr marL="342900" indent="-342900">
              <a:spcAft>
                <a:spcPts val="700"/>
              </a:spcAft>
              <a:buSzPct val="100000"/>
              <a:buChar char="●"/>
            </a:pPr>
            <a:r>
              <a:rPr lang="en-US" sz="1000" dirty="0">
                <a:solidFill>
                  <a:srgbClr val="212B32"/>
                </a:solidFill>
                <a:latin typeface="Segoe UI" pitchFamily="34" charset="0"/>
                <a:ea typeface="Segoe UI" pitchFamily="34" charset="-122"/>
                <a:cs typeface="Segoe UI" pitchFamily="34" charset="-120"/>
              </a:rPr>
              <a:t>Around 15m general-practice appointments are missed each year.</a:t>
            </a:r>
            <a:endParaRPr lang="en-US" sz="1000" dirty="0"/>
          </a:p>
          <a:p>
            <a:pPr marL="342900" indent="-342900">
              <a:spcAft>
                <a:spcPts val="700"/>
              </a:spcAft>
              <a:buSzPct val="100000"/>
              <a:buChar char="●"/>
            </a:pPr>
            <a:r>
              <a:rPr lang="en-US" sz="1000" dirty="0">
                <a:solidFill>
                  <a:srgbClr val="212B32"/>
                </a:solidFill>
                <a:latin typeface="Segoe UI" pitchFamily="34" charset="0"/>
                <a:ea typeface="Segoe UI" pitchFamily="34" charset="-122"/>
                <a:cs typeface="Segoe UI" pitchFamily="34" charset="-120"/>
              </a:rPr>
              <a:t>79.9% of people on the learning disability register had their annual health check in the year to March 2025.</a:t>
            </a:r>
            <a:endParaRPr lang="en-US" sz="1000" dirty="0"/>
          </a:p>
          <a:p>
            <a:pPr marL="342900" indent="-342900">
              <a:spcAft>
                <a:spcPts val="700"/>
              </a:spcAft>
              <a:buSzPct val="100000"/>
              <a:buChar char="●"/>
            </a:pPr>
            <a:r>
              <a:rPr lang="en-US" sz="1000" dirty="0">
                <a:solidFill>
                  <a:srgbClr val="212B32"/>
                </a:solidFill>
                <a:latin typeface="Segoe UI" pitchFamily="34" charset="0"/>
                <a:ea typeface="Segoe UI" pitchFamily="34" charset="-122"/>
                <a:cs typeface="Segoe UI" pitchFamily="34" charset="-120"/>
              </a:rPr>
              <a:t>People with a learning disability die a median 19.5 years earlier than the general population.</a:t>
            </a:r>
            <a:endParaRPr lang="en-US" sz="1000" dirty="0"/>
          </a:p>
        </p:txBody>
      </p:sp>
      <p:sp>
        <p:nvSpPr>
          <p:cNvPr id="15" name="Shape 11"/>
          <p:cNvSpPr/>
          <p:nvPr/>
        </p:nvSpPr>
        <p:spPr>
          <a:xfrm>
            <a:off x="4800600" y="5521706"/>
            <a:ext cx="6842455" cy="76936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6" name="Text 12"/>
          <p:cNvSpPr/>
          <p:nvPr/>
        </p:nvSpPr>
        <p:spPr>
          <a:xfrm>
            <a:off x="5029200" y="5631434"/>
            <a:ext cx="6385255" cy="549910"/>
          </a:xfrm>
          <a:prstGeom prst="rect">
            <a:avLst/>
          </a:prstGeom>
          <a:noFill/>
          <a:ln/>
        </p:spPr>
        <p:txBody>
          <a:bodyPr wrap="square" lIns="0" tIns="0" rIns="0" bIns="0" rtlCol="0" anchor="ctr">
            <a:normAutofit/>
          </a:bodyPr>
          <a:lstStyle/>
          <a:p>
            <a:pPr indent="0" marL="0">
              <a:buNone/>
            </a:pPr>
            <a:r>
              <a:rPr lang="en-US" sz="1300" i="1" dirty="0">
                <a:solidFill>
                  <a:srgbClr val="212B32"/>
                </a:solidFill>
                <a:latin typeface="Segoe UI" pitchFamily="34" charset="0"/>
                <a:ea typeface="Segoe UI" pitchFamily="34" charset="-122"/>
                <a:cs typeface="Segoe UI" pitchFamily="34" charset="-120"/>
              </a:rPr>
              <a:t>Missing an appointment is usually a sign the appointment did not fit the life, not that the person did not care.</a:t>
            </a:r>
            <a:endParaRPr lang="en-US" sz="1300" dirty="0"/>
          </a:p>
        </p:txBody>
      </p:sp>
      <p:sp>
        <p:nvSpPr>
          <p:cNvPr id="17" name="Text 13"/>
          <p:cNvSpPr/>
          <p:nvPr/>
        </p:nvSpPr>
        <p:spPr>
          <a:xfrm>
            <a:off x="4800600" y="6473952"/>
            <a:ext cx="342122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18" name="Text 14"/>
          <p:cNvSpPr/>
          <p:nvPr/>
        </p:nvSpPr>
        <p:spPr>
          <a:xfrm>
            <a:off x="8221828" y="6473952"/>
            <a:ext cx="296402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19" name="Text 15"/>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WHAT ACTUALLY HAPPENS</a:t>
            </a:r>
            <a:endParaRPr lang="en-US" sz="1000" dirty="0"/>
          </a:p>
        </p:txBody>
      </p:sp>
      <p:sp>
        <p:nvSpPr>
          <p:cNvPr id="4" name="Text 1"/>
          <p:cNvSpPr/>
          <p:nvPr/>
        </p:nvSpPr>
        <p:spPr>
          <a:xfrm>
            <a:off x="548640" y="731520"/>
            <a:ext cx="11064240"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Five steps, and none of them is a waiting room.</a:t>
            </a:r>
            <a:endParaRPr lang="en-US" sz="2600" dirty="0"/>
          </a:p>
        </p:txBody>
      </p:sp>
      <p:sp>
        <p:nvSpPr>
          <p:cNvPr id="5" name="Shape 2"/>
          <p:cNvSpPr/>
          <p:nvPr/>
        </p:nvSpPr>
        <p:spPr>
          <a:xfrm>
            <a:off x="1280160" y="1955800"/>
            <a:ext cx="749808" cy="749808"/>
          </a:xfrm>
          <a:prstGeom prst="ellipse">
            <a:avLst/>
          </a:prstGeom>
          <a:solidFill>
            <a:srgbClr val="003087"/>
          </a:solidFill>
          <a:ln w="12700">
            <a:solidFill>
              <a:srgbClr val="003087"/>
            </a:solidFill>
            <a:prstDash val="solid"/>
          </a:ln>
        </p:spPr>
      </p:sp>
      <p:sp>
        <p:nvSpPr>
          <p:cNvPr id="6" name="Text 3"/>
          <p:cNvSpPr/>
          <p:nvPr/>
        </p:nvSpPr>
        <p:spPr>
          <a:xfrm>
            <a:off x="1280160"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7" name="Text 4"/>
          <p:cNvSpPr/>
          <p:nvPr/>
        </p:nvSpPr>
        <p:spPr>
          <a:xfrm>
            <a:off x="2441448"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8" name="Text 5"/>
          <p:cNvSpPr/>
          <p:nvPr/>
        </p:nvSpPr>
        <p:spPr>
          <a:xfrm>
            <a:off x="548640" y="2815336"/>
            <a:ext cx="2212848" cy="365760"/>
          </a:xfrm>
          <a:prstGeom prst="rect">
            <a:avLst/>
          </a:prstGeom>
          <a:noFill/>
          <a:ln/>
        </p:spPr>
        <p:txBody>
          <a:bodyPr wrap="square" lIns="0" tIns="0" rIns="0" bIns="0" rtlCol="0" anchor="t">
            <a:normAutofit/>
          </a:bodyPr>
          <a:lstStyle/>
          <a:p>
            <a:pPr algn="ctr" indent="0" marL="0">
              <a:buNone/>
            </a:pPr>
            <a:r>
              <a:rPr lang="en-US" sz="1500" b="1" dirty="0">
                <a:solidFill>
                  <a:srgbClr val="003087"/>
                </a:solidFill>
                <a:latin typeface="Segoe UI" pitchFamily="34" charset="0"/>
                <a:ea typeface="Segoe UI" pitchFamily="34" charset="-122"/>
                <a:cs typeface="Segoe UI" pitchFamily="34" charset="-120"/>
              </a:rPr>
              <a:t>It is offered</a:t>
            </a:r>
            <a:endParaRPr lang="en-US" sz="1500" dirty="0"/>
          </a:p>
        </p:txBody>
      </p:sp>
      <p:sp>
        <p:nvSpPr>
          <p:cNvPr id="9" name="Text 6"/>
          <p:cNvSpPr/>
          <p:nvPr/>
        </p:nvSpPr>
        <p:spPr>
          <a:xfrm>
            <a:off x="685800" y="3208528"/>
            <a:ext cx="1938528" cy="814324"/>
          </a:xfrm>
          <a:prstGeom prst="rect">
            <a:avLst/>
          </a:prstGeom>
          <a:noFill/>
          <a:ln/>
        </p:spPr>
        <p:txBody>
          <a:bodyPr wrap="square" lIns="0" tIns="0" rIns="0" bIns="0" rtlCol="0" anchor="t">
            <a:normAutofit/>
          </a:bodyPr>
          <a:lstStyle/>
          <a:p>
            <a:pPr algn="ctr" indent="0" marL="0">
              <a:buNone/>
            </a:pPr>
            <a:r>
              <a:rPr lang="en-US" sz="1150" dirty="0">
                <a:solidFill>
                  <a:srgbClr val="4C6272"/>
                </a:solidFill>
                <a:latin typeface="Segoe UI" pitchFamily="34" charset="0"/>
                <a:ea typeface="Segoe UI" pitchFamily="34" charset="-122"/>
                <a:cs typeface="Segoe UI" pitchFamily="34" charset="-120"/>
              </a:rPr>
              <a:t>Either your clinician arranges it, or you choose it yourself in the NHS App.</a:t>
            </a:r>
            <a:endParaRPr lang="en-US" sz="1150" dirty="0"/>
          </a:p>
        </p:txBody>
      </p:sp>
      <p:sp>
        <p:nvSpPr>
          <p:cNvPr id="10" name="Shape 7"/>
          <p:cNvSpPr/>
          <p:nvPr/>
        </p:nvSpPr>
        <p:spPr>
          <a:xfrm>
            <a:off x="3493008" y="1955800"/>
            <a:ext cx="749808" cy="749808"/>
          </a:xfrm>
          <a:prstGeom prst="ellipse">
            <a:avLst/>
          </a:prstGeom>
          <a:solidFill>
            <a:srgbClr val="003087"/>
          </a:solidFill>
          <a:ln w="12700">
            <a:solidFill>
              <a:srgbClr val="003087"/>
            </a:solidFill>
            <a:prstDash val="solid"/>
          </a:ln>
        </p:spPr>
      </p:sp>
      <p:sp>
        <p:nvSpPr>
          <p:cNvPr id="11" name="Text 8"/>
          <p:cNvSpPr/>
          <p:nvPr/>
        </p:nvSpPr>
        <p:spPr>
          <a:xfrm>
            <a:off x="3493008"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2" name="Text 9"/>
          <p:cNvSpPr/>
          <p:nvPr/>
        </p:nvSpPr>
        <p:spPr>
          <a:xfrm>
            <a:off x="4654296"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3" name="Text 10"/>
          <p:cNvSpPr/>
          <p:nvPr/>
        </p:nvSpPr>
        <p:spPr>
          <a:xfrm>
            <a:off x="2761488" y="2815336"/>
            <a:ext cx="2212848" cy="365760"/>
          </a:xfrm>
          <a:prstGeom prst="rect">
            <a:avLst/>
          </a:prstGeom>
          <a:noFill/>
          <a:ln/>
        </p:spPr>
        <p:txBody>
          <a:bodyPr wrap="square" lIns="0" tIns="0" rIns="0" bIns="0" rtlCol="0" anchor="t">
            <a:normAutofit/>
          </a:bodyPr>
          <a:lstStyle/>
          <a:p>
            <a:pPr algn="ctr" indent="0" marL="0">
              <a:buNone/>
            </a:pPr>
            <a:r>
              <a:rPr lang="en-US" sz="1500" b="1" dirty="0">
                <a:solidFill>
                  <a:srgbClr val="003087"/>
                </a:solidFill>
                <a:latin typeface="Segoe UI" pitchFamily="34" charset="0"/>
                <a:ea typeface="Segoe UI" pitchFamily="34" charset="-122"/>
                <a:cs typeface="Segoe UI" pitchFamily="34" charset="-120"/>
              </a:rPr>
              <a:t>It arrives</a:t>
            </a:r>
            <a:endParaRPr lang="en-US" sz="1500" dirty="0"/>
          </a:p>
        </p:txBody>
      </p:sp>
      <p:sp>
        <p:nvSpPr>
          <p:cNvPr id="14" name="Text 11"/>
          <p:cNvSpPr/>
          <p:nvPr/>
        </p:nvSpPr>
        <p:spPr>
          <a:xfrm>
            <a:off x="2898648" y="3208528"/>
            <a:ext cx="1938528" cy="814324"/>
          </a:xfrm>
          <a:prstGeom prst="rect">
            <a:avLst/>
          </a:prstGeom>
          <a:noFill/>
          <a:ln/>
        </p:spPr>
        <p:txBody>
          <a:bodyPr wrap="square" lIns="0" tIns="0" rIns="0" bIns="0" rtlCol="0" anchor="t">
            <a:normAutofit/>
          </a:bodyPr>
          <a:lstStyle/>
          <a:p>
            <a:pPr algn="ctr" indent="0" marL="0">
              <a:buNone/>
            </a:pPr>
            <a:r>
              <a:rPr lang="en-US" sz="1150" dirty="0">
                <a:solidFill>
                  <a:srgbClr val="4C6272"/>
                </a:solidFill>
                <a:latin typeface="Segoe UI" pitchFamily="34" charset="0"/>
                <a:ea typeface="Segoe UI" pitchFamily="34" charset="-122"/>
                <a:cs typeface="Segoe UI" pitchFamily="34" charset="-120"/>
              </a:rPr>
              <a:t>A kit through the door, with instructions written to be followed at home.</a:t>
            </a:r>
            <a:endParaRPr lang="en-US" sz="1150" dirty="0"/>
          </a:p>
        </p:txBody>
      </p:sp>
      <p:sp>
        <p:nvSpPr>
          <p:cNvPr id="15" name="Shape 12"/>
          <p:cNvSpPr/>
          <p:nvPr/>
        </p:nvSpPr>
        <p:spPr>
          <a:xfrm>
            <a:off x="5705856" y="1955800"/>
            <a:ext cx="749808" cy="749808"/>
          </a:xfrm>
          <a:prstGeom prst="ellipse">
            <a:avLst/>
          </a:prstGeom>
          <a:solidFill>
            <a:srgbClr val="003087"/>
          </a:solidFill>
          <a:ln w="12700">
            <a:solidFill>
              <a:srgbClr val="003087"/>
            </a:solidFill>
            <a:prstDash val="solid"/>
          </a:ln>
        </p:spPr>
      </p:sp>
      <p:sp>
        <p:nvSpPr>
          <p:cNvPr id="16" name="Text 13"/>
          <p:cNvSpPr/>
          <p:nvPr/>
        </p:nvSpPr>
        <p:spPr>
          <a:xfrm>
            <a:off x="5705856"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7" name="Text 14"/>
          <p:cNvSpPr/>
          <p:nvPr/>
        </p:nvSpPr>
        <p:spPr>
          <a:xfrm>
            <a:off x="6867144"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8" name="Text 15"/>
          <p:cNvSpPr/>
          <p:nvPr/>
        </p:nvSpPr>
        <p:spPr>
          <a:xfrm>
            <a:off x="4974336" y="2815336"/>
            <a:ext cx="2212848" cy="365760"/>
          </a:xfrm>
          <a:prstGeom prst="rect">
            <a:avLst/>
          </a:prstGeom>
          <a:noFill/>
          <a:ln/>
        </p:spPr>
        <p:txBody>
          <a:bodyPr wrap="square" lIns="0" tIns="0" rIns="0" bIns="0" rtlCol="0" anchor="t">
            <a:normAutofit/>
          </a:bodyPr>
          <a:lstStyle/>
          <a:p>
            <a:pPr algn="ctr" indent="0" marL="0">
              <a:buNone/>
            </a:pPr>
            <a:r>
              <a:rPr lang="en-US" sz="1500" b="1" dirty="0">
                <a:solidFill>
                  <a:srgbClr val="003087"/>
                </a:solidFill>
                <a:latin typeface="Segoe UI" pitchFamily="34" charset="0"/>
                <a:ea typeface="Segoe UI" pitchFamily="34" charset="-122"/>
                <a:cs typeface="Segoe UI" pitchFamily="34" charset="-120"/>
              </a:rPr>
              <a:t>You take it</a:t>
            </a:r>
            <a:endParaRPr lang="en-US" sz="1500" dirty="0"/>
          </a:p>
        </p:txBody>
      </p:sp>
      <p:sp>
        <p:nvSpPr>
          <p:cNvPr id="19" name="Text 16"/>
          <p:cNvSpPr/>
          <p:nvPr/>
        </p:nvSpPr>
        <p:spPr>
          <a:xfrm>
            <a:off x="5111496" y="3208528"/>
            <a:ext cx="1938528" cy="781304"/>
          </a:xfrm>
          <a:prstGeom prst="rect">
            <a:avLst/>
          </a:prstGeom>
          <a:noFill/>
          <a:ln/>
        </p:spPr>
        <p:txBody>
          <a:bodyPr wrap="square" lIns="0" tIns="0" rIns="0" bIns="0" rtlCol="0" anchor="t">
            <a:normAutofit/>
          </a:bodyPr>
          <a:lstStyle/>
          <a:p>
            <a:pPr algn="ctr" indent="0" marL="0">
              <a:buNone/>
            </a:pPr>
            <a:r>
              <a:rPr lang="en-US" sz="1100" dirty="0">
                <a:solidFill>
                  <a:srgbClr val="4C6272"/>
                </a:solidFill>
                <a:latin typeface="Segoe UI" pitchFamily="34" charset="0"/>
                <a:ea typeface="Segoe UI" pitchFamily="34" charset="-122"/>
                <a:cs typeface="Segoe UI" pitchFamily="34" charset="-120"/>
              </a:rPr>
              <a:t>In your own time, at your own table, with someone helping you if you want that.</a:t>
            </a:r>
            <a:endParaRPr lang="en-US" sz="1100" dirty="0"/>
          </a:p>
        </p:txBody>
      </p:sp>
      <p:sp>
        <p:nvSpPr>
          <p:cNvPr id="20" name="Shape 17"/>
          <p:cNvSpPr/>
          <p:nvPr/>
        </p:nvSpPr>
        <p:spPr>
          <a:xfrm>
            <a:off x="7918704" y="1955800"/>
            <a:ext cx="749808" cy="749808"/>
          </a:xfrm>
          <a:prstGeom prst="ellipse">
            <a:avLst/>
          </a:prstGeom>
          <a:solidFill>
            <a:srgbClr val="003087"/>
          </a:solidFill>
          <a:ln w="12700">
            <a:solidFill>
              <a:srgbClr val="003087"/>
            </a:solidFill>
            <a:prstDash val="solid"/>
          </a:ln>
        </p:spPr>
      </p:sp>
      <p:sp>
        <p:nvSpPr>
          <p:cNvPr id="21" name="Text 18"/>
          <p:cNvSpPr/>
          <p:nvPr/>
        </p:nvSpPr>
        <p:spPr>
          <a:xfrm>
            <a:off x="7918704"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2" name="Text 19"/>
          <p:cNvSpPr/>
          <p:nvPr/>
        </p:nvSpPr>
        <p:spPr>
          <a:xfrm>
            <a:off x="9079992"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23" name="Text 20"/>
          <p:cNvSpPr/>
          <p:nvPr/>
        </p:nvSpPr>
        <p:spPr>
          <a:xfrm>
            <a:off x="7187184" y="2815336"/>
            <a:ext cx="2212848" cy="365760"/>
          </a:xfrm>
          <a:prstGeom prst="rect">
            <a:avLst/>
          </a:prstGeom>
          <a:noFill/>
          <a:ln/>
        </p:spPr>
        <p:txBody>
          <a:bodyPr wrap="square" lIns="0" tIns="0" rIns="0" bIns="0" rtlCol="0" anchor="t">
            <a:normAutofit/>
          </a:bodyPr>
          <a:lstStyle/>
          <a:p>
            <a:pPr algn="ctr" indent="0" marL="0">
              <a:buNone/>
            </a:pPr>
            <a:r>
              <a:rPr lang="en-US" sz="1500" b="1" dirty="0">
                <a:solidFill>
                  <a:srgbClr val="003087"/>
                </a:solidFill>
                <a:latin typeface="Segoe UI" pitchFamily="34" charset="0"/>
                <a:ea typeface="Segoe UI" pitchFamily="34" charset="-122"/>
                <a:cs typeface="Segoe UI" pitchFamily="34" charset="-120"/>
              </a:rPr>
              <a:t>It is tested</a:t>
            </a:r>
            <a:endParaRPr lang="en-US" sz="1500" dirty="0"/>
          </a:p>
        </p:txBody>
      </p:sp>
      <p:sp>
        <p:nvSpPr>
          <p:cNvPr id="24" name="Text 21"/>
          <p:cNvSpPr/>
          <p:nvPr/>
        </p:nvSpPr>
        <p:spPr>
          <a:xfrm>
            <a:off x="7324344" y="3208528"/>
            <a:ext cx="1938528" cy="8803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At an accredited NHS laboratory, to exactly the same standard as a sample taken in clinic.</a:t>
            </a:r>
            <a:endParaRPr lang="en-US" sz="1000" dirty="0"/>
          </a:p>
        </p:txBody>
      </p:sp>
      <p:sp>
        <p:nvSpPr>
          <p:cNvPr id="25" name="Shape 22"/>
          <p:cNvSpPr/>
          <p:nvPr/>
        </p:nvSpPr>
        <p:spPr>
          <a:xfrm>
            <a:off x="10131552" y="1955800"/>
            <a:ext cx="749808" cy="749808"/>
          </a:xfrm>
          <a:prstGeom prst="ellipse">
            <a:avLst/>
          </a:prstGeom>
          <a:solidFill>
            <a:srgbClr val="003087"/>
          </a:solidFill>
          <a:ln w="12700">
            <a:solidFill>
              <a:srgbClr val="003087"/>
            </a:solidFill>
            <a:prstDash val="solid"/>
          </a:ln>
        </p:spPr>
      </p:sp>
      <p:sp>
        <p:nvSpPr>
          <p:cNvPr id="26" name="Text 23"/>
          <p:cNvSpPr/>
          <p:nvPr/>
        </p:nvSpPr>
        <p:spPr>
          <a:xfrm>
            <a:off x="10131552"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27" name="Text 24"/>
          <p:cNvSpPr/>
          <p:nvPr/>
        </p:nvSpPr>
        <p:spPr>
          <a:xfrm>
            <a:off x="9400032" y="2815336"/>
            <a:ext cx="2212848" cy="398018"/>
          </a:xfrm>
          <a:prstGeom prst="rect">
            <a:avLst/>
          </a:prstGeom>
          <a:noFill/>
          <a:ln/>
        </p:spPr>
        <p:txBody>
          <a:bodyPr wrap="square" lIns="0" tIns="0" rIns="0" bIns="0" rtlCol="0" anchor="t">
            <a:normAutofit/>
          </a:bodyPr>
          <a:lstStyle/>
          <a:p>
            <a:pPr algn="ctr" indent="0" marL="0">
              <a:buNone/>
            </a:pPr>
            <a:r>
              <a:rPr lang="en-US" sz="1150" b="1" dirty="0">
                <a:solidFill>
                  <a:srgbClr val="003087"/>
                </a:solidFill>
                <a:latin typeface="Segoe UI" pitchFamily="34" charset="0"/>
                <a:ea typeface="Segoe UI" pitchFamily="34" charset="-122"/>
                <a:cs typeface="Segoe UI" pitchFamily="34" charset="-120"/>
              </a:rPr>
              <a:t>The result comes back</a:t>
            </a:r>
            <a:endParaRPr lang="en-US" sz="1150" dirty="0"/>
          </a:p>
        </p:txBody>
      </p:sp>
      <p:sp>
        <p:nvSpPr>
          <p:cNvPr id="28" name="Text 25"/>
          <p:cNvSpPr/>
          <p:nvPr/>
        </p:nvSpPr>
        <p:spPr>
          <a:xfrm>
            <a:off x="9537192" y="3240786"/>
            <a:ext cx="1938528" cy="748284"/>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To your health record and to you, with a clear route to a person if it needs one.</a:t>
            </a:r>
            <a:endParaRPr lang="en-US" sz="1050" dirty="0"/>
          </a:p>
        </p:txBody>
      </p:sp>
      <p:pic>
        <p:nvPicPr>
          <p:cNvPr id="29" name="Image 0" descr="/sessions/quirky-zen-galileo/mnt/NHS/07 Sites &amp; Repos/dtx-ecosystem/hearts-and-minds/_generators/assets/crops/sean-4-1.000.jpg">    </p:cNvPr>
          <p:cNvPicPr>
            <a:picLocks noChangeAspect="1"/>
          </p:cNvPicPr>
          <p:nvPr/>
        </p:nvPicPr>
        <p:blipFill>
          <a:blip r:embed="rId1"/>
          <a:stretch>
            <a:fillRect/>
          </a:stretch>
        </p:blipFill>
        <p:spPr>
          <a:xfrm>
            <a:off x="548640" y="4397248"/>
            <a:ext cx="1893824" cy="1893824"/>
          </a:xfrm>
          <a:prstGeom prst="rect">
            <a:avLst/>
          </a:prstGeom>
        </p:spPr>
      </p:pic>
      <p:sp>
        <p:nvSpPr>
          <p:cNvPr id="30" name="Shape 26"/>
          <p:cNvSpPr/>
          <p:nvPr/>
        </p:nvSpPr>
        <p:spPr>
          <a:xfrm>
            <a:off x="2716784" y="4930140"/>
            <a:ext cx="8926271" cy="81889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31" name="Text 27"/>
          <p:cNvSpPr/>
          <p:nvPr/>
        </p:nvSpPr>
        <p:spPr>
          <a:xfrm>
            <a:off x="2945384" y="5039868"/>
            <a:ext cx="8469071" cy="599440"/>
          </a:xfrm>
          <a:prstGeom prst="rect">
            <a:avLst/>
          </a:prstGeom>
          <a:noFill/>
          <a:ln/>
        </p:spPr>
        <p:txBody>
          <a:bodyPr wrap="square" lIns="0" tIns="0" rIns="0" bIns="0" rtlCol="0" anchor="ctr">
            <a:normAutofit/>
          </a:bodyPr>
          <a:lstStyle/>
          <a:p>
            <a:pPr indent="0" marL="0">
              <a:buNone/>
            </a:pPr>
            <a:r>
              <a:rPr lang="en-US" sz="1400" i="1" dirty="0">
                <a:solidFill>
                  <a:srgbClr val="212B32"/>
                </a:solidFill>
                <a:latin typeface="Segoe UI" pitchFamily="34" charset="0"/>
                <a:ea typeface="Segoe UI" pitchFamily="34" charset="-122"/>
                <a:cs typeface="Segoe UI" pitchFamily="34" charset="-120"/>
              </a:rPr>
              <a:t>Nobody is required to use an app or to test at home. This is an extra door into the same service, not a replacement for the one that exists.</a:t>
            </a:r>
            <a:endParaRPr lang="en-US" sz="1400" dirty="0"/>
          </a:p>
        </p:txBody>
      </p:sp>
      <p:sp>
        <p:nvSpPr>
          <p:cNvPr id="32" name="Text 28"/>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33" name="Text 29"/>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4" name="Text 3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sean-3-0.747.jpg">    </p:cNvPr>
          <p:cNvPicPr>
            <a:picLocks noChangeAspect="1"/>
          </p:cNvPicPr>
          <p:nvPr/>
        </p:nvPicPr>
        <p:blipFill>
          <a:blip r:embed="rId1"/>
          <a:stretch>
            <a:fillRect/>
          </a:stretch>
        </p:blipFill>
        <p:spPr>
          <a:xfrm>
            <a:off x="0" y="0"/>
            <a:ext cx="5120640" cy="6858000"/>
          </a:xfrm>
          <a:prstGeom prst="rect">
            <a:avLst/>
          </a:prstGeom>
        </p:spPr>
      </p:pic>
      <p:sp>
        <p:nvSpPr>
          <p:cNvPr id="4" name="Shape 0"/>
          <p:cNvSpPr/>
          <p:nvPr/>
        </p:nvSpPr>
        <p:spPr>
          <a:xfrm>
            <a:off x="5120640" y="0"/>
            <a:ext cx="7071055" cy="6858000"/>
          </a:xfrm>
          <a:prstGeom prst="rect">
            <a:avLst/>
          </a:prstGeom>
          <a:solidFill>
            <a:srgbClr val="F3EEFA"/>
          </a:solidFill>
          <a:ln w="12700">
            <a:solidFill>
              <a:srgbClr val="F3EEFA"/>
            </a:solidFill>
            <a:prstDash val="solid"/>
          </a:ln>
        </p:spPr>
      </p:sp>
      <p:sp>
        <p:nvSpPr>
          <p:cNvPr id="5" name="Text 1"/>
          <p:cNvSpPr/>
          <p:nvPr/>
        </p:nvSpPr>
        <p:spPr>
          <a:xfrm>
            <a:off x="5623560" y="457200"/>
            <a:ext cx="6019495" cy="274320"/>
          </a:xfrm>
          <a:prstGeom prst="rect">
            <a:avLst/>
          </a:prstGeom>
          <a:noFill/>
          <a:ln/>
        </p:spPr>
        <p:txBody>
          <a:bodyPr wrap="square" lIns="0" tIns="0" rIns="0" bIns="0" rtlCol="0" anchor="ctr"/>
          <a:lstStyle/>
          <a:p>
            <a:pPr indent="0" marL="0">
              <a:buNone/>
            </a:pPr>
            <a:r>
              <a:rPr lang="en-US" sz="1000" b="1" spc="260" kern="0" dirty="0">
                <a:solidFill>
                  <a:srgbClr val="4527A0"/>
                </a:solidFill>
                <a:latin typeface="Segoe UI" pitchFamily="34" charset="0"/>
                <a:ea typeface="Segoe UI" pitchFamily="34" charset="-122"/>
                <a:cs typeface="Segoe UI" pitchFamily="34" charset="-120"/>
              </a:rPr>
              <a:t>A REAL STORY, TOLD WITH HIS FAMILY’S BLESSING</a:t>
            </a:r>
            <a:endParaRPr lang="en-US" sz="1000" dirty="0"/>
          </a:p>
        </p:txBody>
      </p:sp>
      <p:sp>
        <p:nvSpPr>
          <p:cNvPr id="6" name="Text 2"/>
          <p:cNvSpPr/>
          <p:nvPr/>
        </p:nvSpPr>
        <p:spPr>
          <a:xfrm>
            <a:off x="5623560" y="777240"/>
            <a:ext cx="6019495" cy="986790"/>
          </a:xfrm>
          <a:prstGeom prst="rect">
            <a:avLst/>
          </a:prstGeom>
          <a:noFill/>
          <a:ln/>
        </p:spPr>
        <p:txBody>
          <a:bodyPr wrap="square" lIns="0" tIns="0" rIns="0" bIns="0" rtlCol="0" anchor="t">
            <a:normAutofit/>
          </a:bodyPr>
          <a:lstStyle/>
          <a:p>
            <a:pPr indent="0" marL="0">
              <a:buNone/>
            </a:pPr>
            <a:r>
              <a:rPr lang="en-US" sz="2850" b="1" dirty="0">
                <a:solidFill>
                  <a:srgbClr val="4527A0"/>
                </a:solidFill>
                <a:latin typeface="Segoe UI" pitchFamily="34" charset="0"/>
                <a:ea typeface="Segoe UI" pitchFamily="34" charset="-122"/>
                <a:cs typeface="Segoe UI" pitchFamily="34" charset="-120"/>
              </a:rPr>
              <a:t>Sean, 46. The test was never the hard part.</a:t>
            </a:r>
            <a:endParaRPr lang="en-US" sz="2850" dirty="0"/>
          </a:p>
        </p:txBody>
      </p:sp>
      <p:sp>
        <p:nvSpPr>
          <p:cNvPr id="7" name="Shape 3"/>
          <p:cNvSpPr/>
          <p:nvPr/>
        </p:nvSpPr>
        <p:spPr>
          <a:xfrm>
            <a:off x="5577840" y="1946910"/>
            <a:ext cx="822960" cy="822960"/>
          </a:xfrm>
          <a:prstGeom prst="ellipse">
            <a:avLst/>
          </a:prstGeom>
          <a:solidFill>
            <a:srgbClr val="4527A0"/>
          </a:solidFill>
          <a:ln w="12700">
            <a:solidFill>
              <a:srgbClr val="4527A0"/>
            </a:solidFill>
            <a:prstDash val="solid"/>
          </a:ln>
        </p:spPr>
      </p:sp>
      <p:pic>
        <p:nvPicPr>
          <p:cNvPr id="8" name="Image 1" descr="/sessions/quirky-zen-galileo/mnt/NHS/07 Sites &amp; Repos/dtx-ecosystem/hearts-and-minds/_generators/assets/portraits/sean.jpg">    </p:cNvPr>
          <p:cNvPicPr>
            <a:picLocks noChangeAspect="1"/>
          </p:cNvPicPr>
          <p:nvPr/>
        </p:nvPicPr>
        <p:blipFill>
          <a:blip r:embed="rId2"/>
          <a:stretch>
            <a:fillRect/>
          </a:stretch>
        </p:blipFill>
        <p:spPr>
          <a:xfrm>
            <a:off x="5623560" y="1992630"/>
            <a:ext cx="731520" cy="731520"/>
          </a:xfrm>
          <a:prstGeom prst="ellipse">
            <a:avLst/>
          </a:prstGeom>
        </p:spPr>
      </p:pic>
      <p:sp>
        <p:nvSpPr>
          <p:cNvPr id="9" name="Text 4"/>
          <p:cNvSpPr/>
          <p:nvPr/>
        </p:nvSpPr>
        <p:spPr>
          <a:xfrm>
            <a:off x="6492240" y="2157222"/>
            <a:ext cx="2743200" cy="411480"/>
          </a:xfrm>
          <a:prstGeom prst="rect">
            <a:avLst/>
          </a:prstGeom>
          <a:noFill/>
          <a:ln/>
        </p:spPr>
        <p:txBody>
          <a:bodyPr wrap="square" lIns="0" tIns="0" rIns="0" bIns="0" rtlCol="0" anchor="ctr"/>
          <a:lstStyle/>
          <a:p>
            <a:pPr indent="0" marL="0">
              <a:buNone/>
            </a:pPr>
            <a:r>
              <a:rPr lang="en-US" sz="1500" b="1" dirty="0">
                <a:solidFill>
                  <a:srgbClr val="4527A0"/>
                </a:solidFill>
                <a:latin typeface="Segoe UI" pitchFamily="34" charset="0"/>
                <a:ea typeface="Segoe UI" pitchFamily="34" charset="-122"/>
                <a:cs typeface="Segoe UI" pitchFamily="34" charset="-120"/>
              </a:rPr>
              <a:t>Sean</a:t>
            </a:r>
            <a:endParaRPr lang="en-US" sz="1500" dirty="0"/>
          </a:p>
        </p:txBody>
      </p:sp>
      <p:sp>
        <p:nvSpPr>
          <p:cNvPr id="10" name="Text 5"/>
          <p:cNvSpPr/>
          <p:nvPr/>
        </p:nvSpPr>
        <p:spPr>
          <a:xfrm>
            <a:off x="5623560" y="2952750"/>
            <a:ext cx="6019495" cy="2421382"/>
          </a:xfrm>
          <a:prstGeom prst="rect">
            <a:avLst/>
          </a:prstGeom>
          <a:noFill/>
          <a:ln/>
        </p:spPr>
        <p:txBody>
          <a:bodyPr wrap="square" lIns="0" tIns="0" rIns="0" bIns="0" rtlCol="0" anchor="t">
            <a:normAutofit/>
          </a:bodyPr>
          <a:lstStyle/>
          <a:p>
            <a:pPr indent="0" marL="0">
              <a:spcAft>
                <a:spcPts val="600"/>
              </a:spcAft>
              <a:buNone/>
            </a:pPr>
            <a:r>
              <a:rPr lang="en-US" sz="1150" b="1" dirty="0">
                <a:solidFill>
                  <a:srgbClr val="212B32"/>
                </a:solidFill>
                <a:latin typeface="Segoe UI" pitchFamily="34" charset="0"/>
                <a:ea typeface="Segoe UI" pitchFamily="34" charset="-122"/>
                <a:cs typeface="Segoe UI" pitchFamily="34" charset="-120"/>
              </a:rPr>
              <a:t>The walls. </a:t>
            </a:r>
            <a:pPr indent="0" marL="0">
              <a:spcAft>
                <a:spcPts val="600"/>
              </a:spcAft>
              <a:buNone/>
            </a:pPr>
            <a:r>
              <a:rPr lang="en-US" sz="1150" dirty="0">
                <a:solidFill>
                  <a:srgbClr val="212B32"/>
                </a:solidFill>
                <a:latin typeface="Segoe UI" pitchFamily="34" charset="0"/>
                <a:ea typeface="Segoe UI" pitchFamily="34" charset="-122"/>
                <a:cs typeface="Segoe UI" pitchFamily="34" charset="-120"/>
              </a:rPr>
              <a:t>Sean has a learning disability, is autistic and lives with OCD. Attending was hard, understanding a standard letter was hard, and being in an unfamiliar room was hard. Any one of those was enough to end the process.</a:t>
            </a:r>
            <a:endParaRPr lang="en-US" sz="1150" dirty="0"/>
          </a:p>
          <a:p>
            <a:pPr indent="0" marL="0">
              <a:spcAft>
                <a:spcPts val="600"/>
              </a:spcAft>
              <a:buNone/>
            </a:pPr>
            <a:r>
              <a:rPr lang="en-US" sz="1150" b="1" dirty="0">
                <a:solidFill>
                  <a:srgbClr val="212B32"/>
                </a:solidFill>
                <a:latin typeface="Segoe UI" pitchFamily="34" charset="0"/>
                <a:ea typeface="Segoe UI" pitchFamily="34" charset="-122"/>
                <a:cs typeface="Segoe UI" pitchFamily="34" charset="-120"/>
              </a:rPr>
              <a:t>What changed. </a:t>
            </a:r>
            <a:pPr indent="0" marL="0">
              <a:spcAft>
                <a:spcPts val="600"/>
              </a:spcAft>
              <a:buNone/>
            </a:pPr>
            <a:r>
              <a:rPr lang="en-US" sz="1150" dirty="0">
                <a:solidFill>
                  <a:srgbClr val="212B32"/>
                </a:solidFill>
                <a:latin typeface="Segoe UI" pitchFamily="34" charset="0"/>
                <a:ea typeface="Segoe UI" pitchFamily="34" charset="-122"/>
                <a:cs typeface="Segoe UI" pitchFamily="34" charset="-120"/>
              </a:rPr>
              <a:t>His own table, easy-read instructions, and the people who support him brought into the loop properly rather than by accident.</a:t>
            </a:r>
            <a:endParaRPr lang="en-US" sz="1150" dirty="0"/>
          </a:p>
          <a:p>
            <a:pPr indent="0" marL="0">
              <a:spcAft>
                <a:spcPts val="600"/>
              </a:spcAft>
              <a:buNone/>
            </a:pPr>
            <a:r>
              <a:rPr lang="en-US" sz="1150" b="1" dirty="0">
                <a:solidFill>
                  <a:srgbClr val="212B32"/>
                </a:solidFill>
                <a:latin typeface="Segoe UI" pitchFamily="34" charset="0"/>
                <a:ea typeface="Segoe UI" pitchFamily="34" charset="-122"/>
                <a:cs typeface="Segoe UI" pitchFamily="34" charset="-120"/>
              </a:rPr>
              <a:t>The wider point. </a:t>
            </a:r>
            <a:pPr indent="0" marL="0">
              <a:spcAft>
                <a:spcPts val="600"/>
              </a:spcAft>
              <a:buNone/>
            </a:pPr>
            <a:r>
              <a:rPr lang="en-US" sz="1150" dirty="0">
                <a:solidFill>
                  <a:srgbClr val="212B32"/>
                </a:solidFill>
                <a:latin typeface="Segoe UI" pitchFamily="34" charset="0"/>
                <a:ea typeface="Segoe UI" pitchFamily="34" charset="-122"/>
                <a:cs typeface="Segoe UI" pitchFamily="34" charset="-120"/>
              </a:rPr>
              <a:t>A journey designed so Sean can finish it is a calmer, clearer journey for everyone. The adjustments that make it possible for him make it easier for people who would never ask for adjustments at all.</a:t>
            </a:r>
            <a:endParaRPr lang="en-US" sz="1150" dirty="0"/>
          </a:p>
        </p:txBody>
      </p:sp>
      <p:sp>
        <p:nvSpPr>
          <p:cNvPr id="11" name="Shape 6"/>
          <p:cNvSpPr/>
          <p:nvPr/>
        </p:nvSpPr>
        <p:spPr>
          <a:xfrm>
            <a:off x="5623560" y="5602732"/>
            <a:ext cx="6019495" cy="642620"/>
          </a:xfrm>
          <a:prstGeom prst="rect">
            <a:avLst/>
          </a:prstGeom>
          <a:solidFill>
            <a:srgbClr val="4527A0"/>
          </a:solidFill>
          <a:ln w="12700">
            <a:solidFill>
              <a:srgbClr val="4527A0"/>
            </a:solidFill>
            <a:prstDash val="solid"/>
          </a:ln>
        </p:spPr>
      </p:sp>
      <p:sp>
        <p:nvSpPr>
          <p:cNvPr id="12" name="Text 7"/>
          <p:cNvSpPr/>
          <p:nvPr/>
        </p:nvSpPr>
        <p:spPr>
          <a:xfrm>
            <a:off x="5897880" y="5602732"/>
            <a:ext cx="5470855" cy="642620"/>
          </a:xfrm>
          <a:prstGeom prst="rect">
            <a:avLst/>
          </a:prstGeom>
          <a:noFill/>
          <a:ln/>
        </p:spPr>
        <p:txBody>
          <a:bodyPr wrap="square" lIns="0" tIns="0" rIns="0" bIns="0" rtlCol="0" anchor="ctr">
            <a:normAutofit/>
          </a:bodyPr>
          <a:lstStyle/>
          <a:p>
            <a:pPr indent="0" marL="0">
              <a:buNone/>
            </a:pPr>
            <a:r>
              <a:rPr lang="en-US" sz="1400" b="1" i="1" dirty="0">
                <a:solidFill>
                  <a:srgbClr val="FFFFFF"/>
                </a:solidFill>
                <a:latin typeface="Segoe UI" pitchFamily="34" charset="0"/>
                <a:ea typeface="Segoe UI" pitchFamily="34" charset="-122"/>
                <a:cs typeface="Segoe UI" pitchFamily="34" charset="-120"/>
              </a:rPr>
              <a:t>“I want to do this. I just need to know when.”</a:t>
            </a:r>
            <a:endParaRPr lang="en-US" sz="1400" dirty="0"/>
          </a:p>
        </p:txBody>
      </p:sp>
      <p:sp>
        <p:nvSpPr>
          <p:cNvPr id="13" name="Text 8"/>
          <p:cNvSpPr/>
          <p:nvPr/>
        </p:nvSpPr>
        <p:spPr>
          <a:xfrm>
            <a:off x="5623560" y="6473952"/>
            <a:ext cx="300974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14" name="Text 9"/>
          <p:cNvSpPr/>
          <p:nvPr/>
        </p:nvSpPr>
        <p:spPr>
          <a:xfrm>
            <a:off x="8633308" y="6473952"/>
            <a:ext cx="255254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15" name="Text 1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abdul-3-0.613.jpg">    </p:cNvPr>
          <p:cNvPicPr>
            <a:picLocks noChangeAspect="1"/>
          </p:cNvPicPr>
          <p:nvPr/>
        </p:nvPicPr>
        <p:blipFill>
          <a:blip r:embed="rId1"/>
          <a:stretch>
            <a:fillRect/>
          </a:stretch>
        </p:blipFill>
        <p:spPr>
          <a:xfrm>
            <a:off x="7985455" y="0"/>
            <a:ext cx="4206240" cy="6858000"/>
          </a:xfrm>
          <a:prstGeom prst="rect">
            <a:avLst/>
          </a:prstGeom>
        </p:spPr>
      </p:pic>
      <p:sp>
        <p:nvSpPr>
          <p:cNvPr id="4" name="Shape 0"/>
          <p:cNvSpPr/>
          <p:nvPr/>
        </p:nvSpPr>
        <p:spPr>
          <a:xfrm>
            <a:off x="7820863" y="0"/>
            <a:ext cx="164592" cy="6858000"/>
          </a:xfrm>
          <a:prstGeom prst="rect">
            <a:avLst/>
          </a:prstGeom>
          <a:solidFill>
            <a:srgbClr val="FFB91D"/>
          </a:solidFill>
          <a:ln w="12700">
            <a:solidFill>
              <a:srgbClr val="FFB91D"/>
            </a:solidFill>
            <a:prstDash val="solid"/>
          </a:ln>
        </p:spPr>
      </p:sp>
      <p:sp>
        <p:nvSpPr>
          <p:cNvPr id="5" name="Text 1"/>
          <p:cNvSpPr/>
          <p:nvPr/>
        </p:nvSpPr>
        <p:spPr>
          <a:xfrm>
            <a:off x="548640" y="411480"/>
            <a:ext cx="686074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THE QUESTIONS THIS AUDIENCE ALWAYS ASKS</a:t>
            </a:r>
            <a:endParaRPr lang="en-US" sz="1000" dirty="0"/>
          </a:p>
        </p:txBody>
      </p:sp>
      <p:sp>
        <p:nvSpPr>
          <p:cNvPr id="6" name="Text 2"/>
          <p:cNvSpPr/>
          <p:nvPr/>
        </p:nvSpPr>
        <p:spPr>
          <a:xfrm>
            <a:off x="548640" y="731520"/>
            <a:ext cx="6860743"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Straight answers.</a:t>
            </a:r>
            <a:endParaRPr lang="en-US" sz="3000" dirty="0"/>
          </a:p>
        </p:txBody>
      </p:sp>
      <p:sp>
        <p:nvSpPr>
          <p:cNvPr id="7" name="Shape 3"/>
          <p:cNvSpPr/>
          <p:nvPr/>
        </p:nvSpPr>
        <p:spPr>
          <a:xfrm>
            <a:off x="548640" y="1546860"/>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8" name="Shape 4"/>
          <p:cNvSpPr/>
          <p:nvPr/>
        </p:nvSpPr>
        <p:spPr>
          <a:xfrm>
            <a:off x="548640" y="1546860"/>
            <a:ext cx="73152" cy="2257806"/>
          </a:xfrm>
          <a:prstGeom prst="rect">
            <a:avLst/>
          </a:prstGeom>
          <a:solidFill>
            <a:srgbClr val="006747"/>
          </a:solidFill>
          <a:ln w="12700">
            <a:solidFill>
              <a:srgbClr val="006747"/>
            </a:solidFill>
            <a:prstDash val="solid"/>
          </a:ln>
        </p:spPr>
      </p:sp>
      <p:sp>
        <p:nvSpPr>
          <p:cNvPr id="9" name="Text 5"/>
          <p:cNvSpPr/>
          <p:nvPr/>
        </p:nvSpPr>
        <p:spPr>
          <a:xfrm>
            <a:off x="804672" y="1729740"/>
            <a:ext cx="2836012" cy="61264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Who holds my information?</a:t>
            </a:r>
            <a:endParaRPr lang="en-US" sz="1800" dirty="0"/>
          </a:p>
        </p:txBody>
      </p:sp>
      <p:sp>
        <p:nvSpPr>
          <p:cNvPr id="10" name="Text 6"/>
          <p:cNvSpPr/>
          <p:nvPr/>
        </p:nvSpPr>
        <p:spPr>
          <a:xfrm>
            <a:off x="804672" y="2415540"/>
            <a:ext cx="2836012" cy="995934"/>
          </a:xfrm>
          <a:prstGeom prst="rect">
            <a:avLst/>
          </a:prstGeom>
          <a:noFill/>
          <a:ln/>
        </p:spPr>
        <p:txBody>
          <a:bodyPr wrap="square" lIns="0" tIns="0" rIns="0" bIns="0" rtlCol="0" anchor="t">
            <a:normAutofit/>
          </a:bodyPr>
          <a:lstStyle/>
          <a:p>
            <a:pPr indent="0" marL="0">
              <a:buNone/>
            </a:pPr>
            <a:r>
              <a:rPr lang="en-US" sz="950" dirty="0">
                <a:solidFill>
                  <a:srgbClr val="4C6272"/>
                </a:solidFill>
                <a:latin typeface="Segoe UI" pitchFamily="34" charset="0"/>
                <a:ea typeface="Segoe UI" pitchFamily="34" charset="-122"/>
                <a:cs typeface="Segoe UI" pitchFamily="34" charset="-120"/>
              </a:rPr>
              <a:t>The NHS. The result goes into your NHS record. Suppliers process samples on the NHS’s instructions and do not own your data. The privacy assessments and data agreements are signed before any kit is sent.</a:t>
            </a:r>
            <a:endParaRPr lang="en-US" sz="950" dirty="0"/>
          </a:p>
        </p:txBody>
      </p:sp>
      <p:sp>
        <p:nvSpPr>
          <p:cNvPr id="11" name="Shape 7"/>
          <p:cNvSpPr/>
          <p:nvPr/>
        </p:nvSpPr>
        <p:spPr>
          <a:xfrm>
            <a:off x="4116172" y="1546860"/>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2" name="Shape 8"/>
          <p:cNvSpPr/>
          <p:nvPr/>
        </p:nvSpPr>
        <p:spPr>
          <a:xfrm>
            <a:off x="4116172" y="1546860"/>
            <a:ext cx="73152" cy="2257806"/>
          </a:xfrm>
          <a:prstGeom prst="rect">
            <a:avLst/>
          </a:prstGeom>
          <a:solidFill>
            <a:srgbClr val="005EB8"/>
          </a:solidFill>
          <a:ln w="12700">
            <a:solidFill>
              <a:srgbClr val="005EB8"/>
            </a:solidFill>
            <a:prstDash val="solid"/>
          </a:ln>
        </p:spPr>
      </p:sp>
      <p:sp>
        <p:nvSpPr>
          <p:cNvPr id="13" name="Text 9"/>
          <p:cNvSpPr/>
          <p:nvPr/>
        </p:nvSpPr>
        <p:spPr>
          <a:xfrm>
            <a:off x="4372204" y="1729740"/>
            <a:ext cx="2836012" cy="61264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Is the test as good?</a:t>
            </a:r>
            <a:endParaRPr lang="en-US" sz="1800" dirty="0"/>
          </a:p>
        </p:txBody>
      </p:sp>
      <p:sp>
        <p:nvSpPr>
          <p:cNvPr id="14" name="Text 10"/>
          <p:cNvSpPr/>
          <p:nvPr/>
        </p:nvSpPr>
        <p:spPr>
          <a:xfrm>
            <a:off x="4372204" y="2415540"/>
            <a:ext cx="2836012" cy="1094994"/>
          </a:xfrm>
          <a:prstGeom prst="rect">
            <a:avLst/>
          </a:prstGeom>
          <a:noFill/>
          <a:ln/>
        </p:spPr>
        <p:txBody>
          <a:bodyPr wrap="square" lIns="0" tIns="0" rIns="0" bIns="0" rtlCol="0" anchor="t">
            <a:normAutofit/>
          </a:bodyPr>
          <a:lstStyle/>
          <a:p>
            <a:pPr indent="0" marL="0">
              <a:buNone/>
            </a:pPr>
            <a:r>
              <a:rPr lang="en-US" sz="1050" dirty="0">
                <a:solidFill>
                  <a:srgbClr val="4C6272"/>
                </a:solidFill>
                <a:latin typeface="Segoe UI" pitchFamily="34" charset="0"/>
                <a:ea typeface="Segoe UI" pitchFamily="34" charset="-122"/>
                <a:cs typeface="Segoe UI" pitchFamily="34" charset="-120"/>
              </a:rPr>
              <a:t>The laboratory is UKAS accredited for that named test, the kit is MHRA conformant, and suppliers must show the home route is not inferior to the clinic route before the category opens.</a:t>
            </a:r>
            <a:endParaRPr lang="en-US" sz="1050" dirty="0"/>
          </a:p>
        </p:txBody>
      </p:sp>
      <p:sp>
        <p:nvSpPr>
          <p:cNvPr id="15" name="Shape 11"/>
          <p:cNvSpPr/>
          <p:nvPr/>
        </p:nvSpPr>
        <p:spPr>
          <a:xfrm>
            <a:off x="548640" y="4033266"/>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6" name="Shape 12"/>
          <p:cNvSpPr/>
          <p:nvPr/>
        </p:nvSpPr>
        <p:spPr>
          <a:xfrm>
            <a:off x="548640" y="4033266"/>
            <a:ext cx="73152" cy="2257806"/>
          </a:xfrm>
          <a:prstGeom prst="rect">
            <a:avLst/>
          </a:prstGeom>
          <a:solidFill>
            <a:srgbClr val="006747"/>
          </a:solidFill>
          <a:ln w="12700">
            <a:solidFill>
              <a:srgbClr val="006747"/>
            </a:solidFill>
            <a:prstDash val="solid"/>
          </a:ln>
        </p:spPr>
      </p:sp>
      <p:sp>
        <p:nvSpPr>
          <p:cNvPr id="17" name="Text 13"/>
          <p:cNvSpPr/>
          <p:nvPr/>
        </p:nvSpPr>
        <p:spPr>
          <a:xfrm>
            <a:off x="804672" y="4216146"/>
            <a:ext cx="2836012" cy="61264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What if I cannot do it myself?</a:t>
            </a:r>
            <a:endParaRPr lang="en-US" sz="1800" dirty="0"/>
          </a:p>
        </p:txBody>
      </p:sp>
      <p:sp>
        <p:nvSpPr>
          <p:cNvPr id="18" name="Text 14"/>
          <p:cNvSpPr/>
          <p:nvPr/>
        </p:nvSpPr>
        <p:spPr>
          <a:xfrm>
            <a:off x="804672" y="4901946"/>
            <a:ext cx="2836012" cy="1144524"/>
          </a:xfrm>
          <a:prstGeom prst="rect">
            <a:avLst/>
          </a:prstGeom>
          <a:noFill/>
          <a:ln/>
        </p:spPr>
        <p:txBody>
          <a:bodyPr wrap="square" lIns="0" tIns="0" rIns="0" bIns="0" rtlCol="0" anchor="t">
            <a:normAutofit/>
          </a:bodyPr>
          <a:lstStyle/>
          <a:p>
            <a:pPr indent="0" marL="0">
              <a:buNone/>
            </a:pPr>
            <a:r>
              <a:rPr lang="en-US" sz="1100" dirty="0">
                <a:solidFill>
                  <a:srgbClr val="4C6272"/>
                </a:solidFill>
                <a:latin typeface="Segoe UI" pitchFamily="34" charset="0"/>
                <a:ea typeface="Segoe UI" pitchFamily="34" charset="-122"/>
                <a:cs typeface="Segoe UI" pitchFamily="34" charset="-120"/>
              </a:rPr>
              <a:t>Then you should not have to. Support from family or carers is part of the design, and the clinic route stays open. Nobody is removed from a service for not using the kit.</a:t>
            </a:r>
            <a:endParaRPr lang="en-US" sz="1100" dirty="0"/>
          </a:p>
        </p:txBody>
      </p:sp>
      <p:sp>
        <p:nvSpPr>
          <p:cNvPr id="19" name="Shape 15"/>
          <p:cNvSpPr/>
          <p:nvPr/>
        </p:nvSpPr>
        <p:spPr>
          <a:xfrm>
            <a:off x="4116172" y="4033266"/>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20" name="Shape 16"/>
          <p:cNvSpPr/>
          <p:nvPr/>
        </p:nvSpPr>
        <p:spPr>
          <a:xfrm>
            <a:off x="4116172" y="4033266"/>
            <a:ext cx="73152" cy="2257806"/>
          </a:xfrm>
          <a:prstGeom prst="rect">
            <a:avLst/>
          </a:prstGeom>
          <a:solidFill>
            <a:srgbClr val="005EB8"/>
          </a:solidFill>
          <a:ln w="12700">
            <a:solidFill>
              <a:srgbClr val="005EB8"/>
            </a:solidFill>
            <a:prstDash val="solid"/>
          </a:ln>
        </p:spPr>
      </p:sp>
      <p:sp>
        <p:nvSpPr>
          <p:cNvPr id="21" name="Text 17"/>
          <p:cNvSpPr/>
          <p:nvPr/>
        </p:nvSpPr>
        <p:spPr>
          <a:xfrm>
            <a:off x="4372204" y="4216146"/>
            <a:ext cx="2836012" cy="61264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What if something is wrong?</a:t>
            </a:r>
            <a:endParaRPr lang="en-US" sz="1800" dirty="0"/>
          </a:p>
        </p:txBody>
      </p:sp>
      <p:sp>
        <p:nvSpPr>
          <p:cNvPr id="22" name="Text 18"/>
          <p:cNvSpPr/>
          <p:nvPr/>
        </p:nvSpPr>
        <p:spPr>
          <a:xfrm>
            <a:off x="4372204" y="4901946"/>
            <a:ext cx="2836012" cy="962914"/>
          </a:xfrm>
          <a:prstGeom prst="rect">
            <a:avLst/>
          </a:prstGeom>
          <a:noFill/>
          <a:ln/>
        </p:spPr>
        <p:txBody>
          <a:bodyPr wrap="square" lIns="0" tIns="0" rIns="0" bIns="0" rtlCol="0" anchor="t">
            <a:normAutofit/>
          </a:bodyPr>
          <a:lstStyle/>
          <a:p>
            <a:pPr indent="0" marL="0">
              <a:buNone/>
            </a:pPr>
            <a:r>
              <a:rPr lang="en-US" sz="1100" dirty="0">
                <a:solidFill>
                  <a:srgbClr val="4C6272"/>
                </a:solidFill>
                <a:latin typeface="Segoe UI" pitchFamily="34" charset="0"/>
                <a:ea typeface="Segoe UI" pitchFamily="34" charset="-122"/>
                <a:cs typeface="Segoe UI" pitchFamily="34" charset="-120"/>
              </a:rPr>
              <a:t>Results that need action route to a named clinician on a defined timescale, with an escalation route built into the configuration before it goes live.</a:t>
            </a:r>
            <a:endParaRPr lang="en-US" sz="1100" dirty="0"/>
          </a:p>
        </p:txBody>
      </p:sp>
      <p:sp>
        <p:nvSpPr>
          <p:cNvPr id="23" name="Text 19"/>
          <p:cNvSpPr/>
          <p:nvPr/>
        </p:nvSpPr>
        <p:spPr>
          <a:xfrm>
            <a:off x="548640" y="6473952"/>
            <a:ext cx="343037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24" name="Text 20"/>
          <p:cNvSpPr/>
          <p:nvPr/>
        </p:nvSpPr>
        <p:spPr>
          <a:xfrm>
            <a:off x="3979012" y="6473952"/>
            <a:ext cx="297317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5" name="Text 21"/>
          <p:cNvSpPr/>
          <p:nvPr/>
        </p:nvSpPr>
        <p:spPr>
          <a:xfrm>
            <a:off x="699790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devi-3-0.613.jpg">    </p:cNvPr>
          <p:cNvPicPr>
            <a:picLocks noChangeAspect="1"/>
          </p:cNvPicPr>
          <p:nvPr/>
        </p:nvPicPr>
        <p:blipFill>
          <a:blip r:embed="rId1"/>
          <a:stretch>
            <a:fillRect/>
          </a:stretch>
        </p:blipFill>
        <p:spPr>
          <a:xfrm>
            <a:off x="7985455" y="0"/>
            <a:ext cx="4206240" cy="6858000"/>
          </a:xfrm>
          <a:prstGeom prst="rect">
            <a:avLst/>
          </a:prstGeom>
        </p:spPr>
      </p:pic>
      <p:sp>
        <p:nvSpPr>
          <p:cNvPr id="4" name="Shape 0"/>
          <p:cNvSpPr/>
          <p:nvPr/>
        </p:nvSpPr>
        <p:spPr>
          <a:xfrm>
            <a:off x="7820863" y="0"/>
            <a:ext cx="164592" cy="6858000"/>
          </a:xfrm>
          <a:prstGeom prst="rect">
            <a:avLst/>
          </a:prstGeom>
          <a:solidFill>
            <a:srgbClr val="FFB91D"/>
          </a:solidFill>
          <a:ln w="12700">
            <a:solidFill>
              <a:srgbClr val="FFB91D"/>
            </a:solidFill>
            <a:prstDash val="solid"/>
          </a:ln>
        </p:spPr>
      </p:sp>
      <p:sp>
        <p:nvSpPr>
          <p:cNvPr id="5" name="Text 1"/>
          <p:cNvSpPr/>
          <p:nvPr/>
        </p:nvSpPr>
        <p:spPr>
          <a:xfrm>
            <a:off x="548640" y="411480"/>
            <a:ext cx="686074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BEING STRAIGHT WITH YOU</a:t>
            </a:r>
            <a:endParaRPr lang="en-US" sz="1000" dirty="0"/>
          </a:p>
        </p:txBody>
      </p:sp>
      <p:sp>
        <p:nvSpPr>
          <p:cNvPr id="6" name="Text 2"/>
          <p:cNvSpPr/>
          <p:nvPr/>
        </p:nvSpPr>
        <p:spPr>
          <a:xfrm>
            <a:off x="548640" y="731520"/>
            <a:ext cx="6860743"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What is not decided yet.</a:t>
            </a:r>
            <a:endParaRPr lang="en-US" sz="3000" dirty="0"/>
          </a:p>
        </p:txBody>
      </p:sp>
      <p:sp>
        <p:nvSpPr>
          <p:cNvPr id="7" name="Shape 3"/>
          <p:cNvSpPr/>
          <p:nvPr/>
        </p:nvSpPr>
        <p:spPr>
          <a:xfrm>
            <a:off x="548640" y="1546860"/>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8" name="Shape 4"/>
          <p:cNvSpPr/>
          <p:nvPr/>
        </p:nvSpPr>
        <p:spPr>
          <a:xfrm>
            <a:off x="548640" y="1546860"/>
            <a:ext cx="73152" cy="2257806"/>
          </a:xfrm>
          <a:prstGeom prst="rect">
            <a:avLst/>
          </a:prstGeom>
          <a:solidFill>
            <a:srgbClr val="006747"/>
          </a:solidFill>
          <a:ln w="12700">
            <a:solidFill>
              <a:srgbClr val="006747"/>
            </a:solidFill>
            <a:prstDash val="solid"/>
          </a:ln>
        </p:spPr>
      </p:sp>
      <p:sp>
        <p:nvSpPr>
          <p:cNvPr id="9" name="Text 5"/>
          <p:cNvSpPr/>
          <p:nvPr/>
        </p:nvSpPr>
        <p:spPr>
          <a:xfrm>
            <a:off x="804672" y="1729740"/>
            <a:ext cx="2836012" cy="61264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Which tests, and when</a:t>
            </a:r>
            <a:endParaRPr lang="en-US" sz="1800" dirty="0"/>
          </a:p>
        </p:txBody>
      </p:sp>
      <p:sp>
        <p:nvSpPr>
          <p:cNvPr id="10" name="Text 6"/>
          <p:cNvSpPr/>
          <p:nvPr/>
        </p:nvSpPr>
        <p:spPr>
          <a:xfrm>
            <a:off x="804672" y="2415540"/>
            <a:ext cx="2836012" cy="1144524"/>
          </a:xfrm>
          <a:prstGeom prst="rect">
            <a:avLst/>
          </a:prstGeom>
          <a:noFill/>
          <a:ln/>
        </p:spPr>
        <p:txBody>
          <a:bodyPr wrap="square" lIns="0" tIns="0" rIns="0" bIns="0" rtlCol="0" anchor="t">
            <a:normAutofit/>
          </a:bodyPr>
          <a:lstStyle/>
          <a:p>
            <a:pPr indent="0" marL="0">
              <a:buNone/>
            </a:pPr>
            <a:r>
              <a:rPr lang="en-US" sz="1100" dirty="0">
                <a:solidFill>
                  <a:srgbClr val="4C6272"/>
                </a:solidFill>
                <a:latin typeface="Segoe UI" pitchFamily="34" charset="0"/>
                <a:ea typeface="Segoe UI" pitchFamily="34" charset="-122"/>
                <a:cs typeface="Segoe UI" pitchFamily="34" charset="-120"/>
              </a:rPr>
              <a:t>HIV is live. PSA active surveillance is the selected acute case. A core sexual health panel is the leading candidate in discovery. Others are scored and sequenced, not promised.</a:t>
            </a:r>
            <a:endParaRPr lang="en-US" sz="1100" dirty="0"/>
          </a:p>
        </p:txBody>
      </p:sp>
      <p:sp>
        <p:nvSpPr>
          <p:cNvPr id="11" name="Shape 7"/>
          <p:cNvSpPr/>
          <p:nvPr/>
        </p:nvSpPr>
        <p:spPr>
          <a:xfrm>
            <a:off x="4116172" y="1546860"/>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2" name="Shape 8"/>
          <p:cNvSpPr/>
          <p:nvPr/>
        </p:nvSpPr>
        <p:spPr>
          <a:xfrm>
            <a:off x="4116172" y="1546860"/>
            <a:ext cx="73152" cy="2257806"/>
          </a:xfrm>
          <a:prstGeom prst="rect">
            <a:avLst/>
          </a:prstGeom>
          <a:solidFill>
            <a:srgbClr val="005EB8"/>
          </a:solidFill>
          <a:ln w="12700">
            <a:solidFill>
              <a:srgbClr val="005EB8"/>
            </a:solidFill>
            <a:prstDash val="solid"/>
          </a:ln>
        </p:spPr>
      </p:sp>
      <p:sp>
        <p:nvSpPr>
          <p:cNvPr id="13" name="Text 9"/>
          <p:cNvSpPr/>
          <p:nvPr/>
        </p:nvSpPr>
        <p:spPr>
          <a:xfrm>
            <a:off x="4372204" y="1729740"/>
            <a:ext cx="2836012" cy="61264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How it will be bought</a:t>
            </a:r>
            <a:endParaRPr lang="en-US" sz="1800" dirty="0"/>
          </a:p>
        </p:txBody>
      </p:sp>
      <p:sp>
        <p:nvSpPr>
          <p:cNvPr id="14" name="Text 10"/>
          <p:cNvSpPr/>
          <p:nvPr/>
        </p:nvSpPr>
        <p:spPr>
          <a:xfrm>
            <a:off x="4372204" y="2415540"/>
            <a:ext cx="2836012" cy="1144524"/>
          </a:xfrm>
          <a:prstGeom prst="rect">
            <a:avLst/>
          </a:prstGeom>
          <a:noFill/>
          <a:ln/>
        </p:spPr>
        <p:txBody>
          <a:bodyPr wrap="square" lIns="0" tIns="0" rIns="0" bIns="0" rtlCol="0" anchor="t">
            <a:normAutofit/>
          </a:bodyPr>
          <a:lstStyle/>
          <a:p>
            <a:pPr indent="0" marL="0">
              <a:buNone/>
            </a:pPr>
            <a:r>
              <a:rPr lang="en-US" sz="1100" dirty="0">
                <a:solidFill>
                  <a:srgbClr val="4C6272"/>
                </a:solidFill>
                <a:latin typeface="Segoe UI" pitchFamily="34" charset="0"/>
                <a:ea typeface="Segoe UI" pitchFamily="34" charset="-122"/>
                <a:cs typeface="Segoe UI" pitchFamily="34" charset="-120"/>
              </a:rPr>
              <a:t>The framework, the payment mechanism and the price ceiling are agreed in principle and remain subject to a live procurement. Nothing commercial here is final.</a:t>
            </a:r>
            <a:endParaRPr lang="en-US" sz="1100" dirty="0"/>
          </a:p>
        </p:txBody>
      </p:sp>
      <p:sp>
        <p:nvSpPr>
          <p:cNvPr id="15" name="Shape 11"/>
          <p:cNvSpPr/>
          <p:nvPr/>
        </p:nvSpPr>
        <p:spPr>
          <a:xfrm>
            <a:off x="548640" y="4033266"/>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6" name="Shape 12"/>
          <p:cNvSpPr/>
          <p:nvPr/>
        </p:nvSpPr>
        <p:spPr>
          <a:xfrm>
            <a:off x="548640" y="4033266"/>
            <a:ext cx="73152" cy="2257806"/>
          </a:xfrm>
          <a:prstGeom prst="rect">
            <a:avLst/>
          </a:prstGeom>
          <a:solidFill>
            <a:srgbClr val="006747"/>
          </a:solidFill>
          <a:ln w="12700">
            <a:solidFill>
              <a:srgbClr val="006747"/>
            </a:solidFill>
            <a:prstDash val="solid"/>
          </a:ln>
        </p:spPr>
      </p:sp>
      <p:sp>
        <p:nvSpPr>
          <p:cNvPr id="17" name="Text 13"/>
          <p:cNvSpPr/>
          <p:nvPr/>
        </p:nvSpPr>
        <p:spPr>
          <a:xfrm>
            <a:off x="804672" y="4216146"/>
            <a:ext cx="2836012" cy="61264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Who pays for what</a:t>
            </a:r>
            <a:endParaRPr lang="en-US" sz="1800" dirty="0"/>
          </a:p>
        </p:txBody>
      </p:sp>
      <p:sp>
        <p:nvSpPr>
          <p:cNvPr id="18" name="Text 14"/>
          <p:cNvSpPr/>
          <p:nvPr/>
        </p:nvSpPr>
        <p:spPr>
          <a:xfrm>
            <a:off x="804672" y="4901946"/>
            <a:ext cx="2836012" cy="1045464"/>
          </a:xfrm>
          <a:prstGeom prst="rect">
            <a:avLst/>
          </a:prstGeom>
          <a:noFill/>
          <a:ln/>
        </p:spPr>
        <p:txBody>
          <a:bodyPr wrap="square" lIns="0" tIns="0" rIns="0" bIns="0" rtlCol="0" anchor="t">
            <a:normAutofit/>
          </a:bodyPr>
          <a:lstStyle/>
          <a:p>
            <a:pPr indent="0" marL="0">
              <a:buNone/>
            </a:pPr>
            <a:r>
              <a:rPr lang="en-US" sz="1200" dirty="0">
                <a:solidFill>
                  <a:srgbClr val="4C6272"/>
                </a:solidFill>
                <a:latin typeface="Segoe UI" pitchFamily="34" charset="0"/>
                <a:ea typeface="Segoe UI" pitchFamily="34" charset="-122"/>
                <a:cs typeface="Segoe UI" pitchFamily="34" charset="-120"/>
              </a:rPr>
              <a:t>Patients pay nothing. Which NHS body funds which cohort is settled pathway by pathway, and for one cohort it is genuinely still open.</a:t>
            </a:r>
            <a:endParaRPr lang="en-US" sz="1200" dirty="0"/>
          </a:p>
        </p:txBody>
      </p:sp>
      <p:sp>
        <p:nvSpPr>
          <p:cNvPr id="19" name="Shape 15"/>
          <p:cNvSpPr/>
          <p:nvPr/>
        </p:nvSpPr>
        <p:spPr>
          <a:xfrm>
            <a:off x="4116172" y="4033266"/>
            <a:ext cx="3293212" cy="225780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20" name="Shape 16"/>
          <p:cNvSpPr/>
          <p:nvPr/>
        </p:nvSpPr>
        <p:spPr>
          <a:xfrm>
            <a:off x="4116172" y="4033266"/>
            <a:ext cx="73152" cy="2257806"/>
          </a:xfrm>
          <a:prstGeom prst="rect">
            <a:avLst/>
          </a:prstGeom>
          <a:solidFill>
            <a:srgbClr val="005EB8"/>
          </a:solidFill>
          <a:ln w="12700">
            <a:solidFill>
              <a:srgbClr val="005EB8"/>
            </a:solidFill>
            <a:prstDash val="solid"/>
          </a:ln>
        </p:spPr>
      </p:sp>
      <p:sp>
        <p:nvSpPr>
          <p:cNvPr id="21" name="Text 17"/>
          <p:cNvSpPr/>
          <p:nvPr/>
        </p:nvSpPr>
        <p:spPr>
          <a:xfrm>
            <a:off x="4372204" y="4216146"/>
            <a:ext cx="2836012" cy="61264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What we cannot yet prove</a:t>
            </a:r>
            <a:endParaRPr lang="en-US" sz="1800" dirty="0"/>
          </a:p>
        </p:txBody>
      </p:sp>
      <p:sp>
        <p:nvSpPr>
          <p:cNvPr id="22" name="Text 18"/>
          <p:cNvSpPr/>
          <p:nvPr/>
        </p:nvSpPr>
        <p:spPr>
          <a:xfrm>
            <a:off x="4372204" y="4901946"/>
            <a:ext cx="2836012" cy="1004189"/>
          </a:xfrm>
          <a:prstGeom prst="rect">
            <a:avLst/>
          </a:prstGeom>
          <a:noFill/>
          <a:ln/>
        </p:spPr>
        <p:txBody>
          <a:bodyPr wrap="square" lIns="0" tIns="0" rIns="0" bIns="0" rtlCol="0" anchor="t">
            <a:normAutofit/>
          </a:bodyPr>
          <a:lstStyle/>
          <a:p>
            <a:pPr indent="0" marL="0">
              <a:buNone/>
            </a:pPr>
            <a:r>
              <a:rPr lang="en-US" sz="1150" dirty="0">
                <a:solidFill>
                  <a:srgbClr val="4C6272"/>
                </a:solidFill>
                <a:latin typeface="Segoe UI" pitchFamily="34" charset="0"/>
                <a:ea typeface="Segoe UI" pitchFamily="34" charset="-122"/>
                <a:cs typeface="Segoe UI" pitchFamily="34" charset="-120"/>
              </a:rPr>
              <a:t>The Beta exists to produce evidence on uptake, completion and reach. We are not asking you to accept a business case built on assumption.</a:t>
            </a:r>
            <a:endParaRPr lang="en-US" sz="1150" dirty="0"/>
          </a:p>
        </p:txBody>
      </p:sp>
      <p:sp>
        <p:nvSpPr>
          <p:cNvPr id="23" name="Text 19"/>
          <p:cNvSpPr/>
          <p:nvPr/>
        </p:nvSpPr>
        <p:spPr>
          <a:xfrm>
            <a:off x="548640" y="6473952"/>
            <a:ext cx="343037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24" name="Text 20"/>
          <p:cNvSpPr/>
          <p:nvPr/>
        </p:nvSpPr>
        <p:spPr>
          <a:xfrm>
            <a:off x="3979012" y="6473952"/>
            <a:ext cx="297317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5" name="Text 21"/>
          <p:cNvSpPr/>
          <p:nvPr/>
        </p:nvSpPr>
        <p:spPr>
          <a:xfrm>
            <a:off x="699790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WHAT WE ARE ASKING OF YOU</a:t>
            </a:r>
            <a:endParaRPr lang="en-US" sz="1000" dirty="0"/>
          </a:p>
        </p:txBody>
      </p:sp>
      <p:sp>
        <p:nvSpPr>
          <p:cNvPr id="4" name="Text 1"/>
          <p:cNvSpPr/>
          <p:nvPr/>
        </p:nvSpPr>
        <p:spPr>
          <a:xfrm>
            <a:off x="548640" y="731520"/>
            <a:ext cx="11064240"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Three things, and they are real asks.</a:t>
            </a:r>
            <a:endParaRPr lang="en-US" sz="3000" dirty="0"/>
          </a:p>
        </p:txBody>
      </p:sp>
      <p:sp>
        <p:nvSpPr>
          <p:cNvPr id="5" name="Shape 2"/>
          <p:cNvSpPr/>
          <p:nvPr/>
        </p:nvSpPr>
        <p:spPr>
          <a:xfrm>
            <a:off x="548640" y="1592580"/>
            <a:ext cx="2341778" cy="465277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6" name="Shape 3"/>
          <p:cNvSpPr/>
          <p:nvPr/>
        </p:nvSpPr>
        <p:spPr>
          <a:xfrm>
            <a:off x="548640" y="1592580"/>
            <a:ext cx="73152" cy="4652772"/>
          </a:xfrm>
          <a:prstGeom prst="rect">
            <a:avLst/>
          </a:prstGeom>
          <a:solidFill>
            <a:srgbClr val="006747"/>
          </a:solidFill>
          <a:ln w="12700">
            <a:solidFill>
              <a:srgbClr val="006747"/>
            </a:solidFill>
            <a:prstDash val="solid"/>
          </a:ln>
        </p:spPr>
      </p:sp>
      <p:sp>
        <p:nvSpPr>
          <p:cNvPr id="7" name="Shape 4"/>
          <p:cNvSpPr/>
          <p:nvPr/>
        </p:nvSpPr>
        <p:spPr>
          <a:xfrm>
            <a:off x="822960" y="1821180"/>
            <a:ext cx="548640" cy="548640"/>
          </a:xfrm>
          <a:prstGeom prst="ellipse">
            <a:avLst/>
          </a:prstGeom>
          <a:solidFill>
            <a:srgbClr val="003087"/>
          </a:solidFill>
          <a:ln w="12700">
            <a:solidFill>
              <a:srgbClr val="003087"/>
            </a:solidFill>
            <a:prstDash val="solid"/>
          </a:ln>
        </p:spPr>
      </p:sp>
      <p:sp>
        <p:nvSpPr>
          <p:cNvPr id="8" name="Text 5"/>
          <p:cNvSpPr/>
          <p:nvPr/>
        </p:nvSpPr>
        <p:spPr>
          <a:xfrm>
            <a:off x="822960" y="18211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9" name="Text 6"/>
          <p:cNvSpPr/>
          <p:nvPr/>
        </p:nvSpPr>
        <p:spPr>
          <a:xfrm>
            <a:off x="822960" y="2506980"/>
            <a:ext cx="1838858" cy="731520"/>
          </a:xfrm>
          <a:prstGeom prst="rect">
            <a:avLst/>
          </a:prstGeom>
          <a:noFill/>
          <a:ln/>
        </p:spPr>
        <p:txBody>
          <a:bodyPr wrap="square" lIns="0" tIns="0" rIns="0" bIns="0" rtlCol="0" anchor="t">
            <a:normAutofit/>
          </a:bodyPr>
          <a:lstStyle/>
          <a:p>
            <a:pPr indent="0" marL="0">
              <a:buNone/>
            </a:pPr>
            <a:r>
              <a:rPr lang="en-US" sz="1750" b="1" dirty="0">
                <a:solidFill>
                  <a:srgbClr val="003087"/>
                </a:solidFill>
                <a:latin typeface="Segoe UI" pitchFamily="34" charset="0"/>
                <a:ea typeface="Segoe UI" pitchFamily="34" charset="-122"/>
                <a:cs typeface="Segoe UI" pitchFamily="34" charset="-120"/>
              </a:rPr>
              <a:t>Tell us where it breaks</a:t>
            </a:r>
            <a:endParaRPr lang="en-US" sz="1750" dirty="0"/>
          </a:p>
        </p:txBody>
      </p:sp>
      <p:sp>
        <p:nvSpPr>
          <p:cNvPr id="10" name="Text 7"/>
          <p:cNvSpPr/>
          <p:nvPr/>
        </p:nvSpPr>
        <p:spPr>
          <a:xfrm>
            <a:off x="822960" y="3284220"/>
            <a:ext cx="1838858" cy="1903984"/>
          </a:xfrm>
          <a:prstGeom prst="rect">
            <a:avLst/>
          </a:prstGeom>
          <a:noFill/>
          <a:ln/>
        </p:spPr>
        <p:txBody>
          <a:bodyPr wrap="square" lIns="0" tIns="0" rIns="0" bIns="0" rtlCol="0" anchor="t">
            <a:normAutofit/>
          </a:bodyPr>
          <a:lstStyle/>
          <a:p>
            <a:pPr indent="0" marL="0">
              <a:buNone/>
            </a:pPr>
            <a:r>
              <a:rPr lang="en-US" sz="1400" dirty="0">
                <a:solidFill>
                  <a:srgbClr val="4C6272"/>
                </a:solidFill>
                <a:latin typeface="Segoe UI" pitchFamily="34" charset="0"/>
                <a:ea typeface="Segoe UI" pitchFamily="34" charset="-122"/>
                <a:cs typeface="Segoe UI" pitchFamily="34" charset="-120"/>
              </a:rPr>
              <a:t>The step that will not work for the people you represent. We would rather redesign it now than defend it later.</a:t>
            </a:r>
            <a:endParaRPr lang="en-US" sz="1400" dirty="0"/>
          </a:p>
        </p:txBody>
      </p:sp>
      <p:sp>
        <p:nvSpPr>
          <p:cNvPr id="11" name="Shape 8"/>
          <p:cNvSpPr/>
          <p:nvPr/>
        </p:nvSpPr>
        <p:spPr>
          <a:xfrm>
            <a:off x="3119018" y="1592580"/>
            <a:ext cx="2341778" cy="465277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2" name="Shape 9"/>
          <p:cNvSpPr/>
          <p:nvPr/>
        </p:nvSpPr>
        <p:spPr>
          <a:xfrm>
            <a:off x="3119018" y="1592580"/>
            <a:ext cx="73152" cy="4652772"/>
          </a:xfrm>
          <a:prstGeom prst="rect">
            <a:avLst/>
          </a:prstGeom>
          <a:solidFill>
            <a:srgbClr val="005EB8"/>
          </a:solidFill>
          <a:ln w="12700">
            <a:solidFill>
              <a:srgbClr val="005EB8"/>
            </a:solidFill>
            <a:prstDash val="solid"/>
          </a:ln>
        </p:spPr>
      </p:sp>
      <p:sp>
        <p:nvSpPr>
          <p:cNvPr id="13" name="Shape 10"/>
          <p:cNvSpPr/>
          <p:nvPr/>
        </p:nvSpPr>
        <p:spPr>
          <a:xfrm>
            <a:off x="3393338" y="1821180"/>
            <a:ext cx="548640" cy="548640"/>
          </a:xfrm>
          <a:prstGeom prst="ellipse">
            <a:avLst/>
          </a:prstGeom>
          <a:solidFill>
            <a:srgbClr val="003087"/>
          </a:solidFill>
          <a:ln w="12700">
            <a:solidFill>
              <a:srgbClr val="003087"/>
            </a:solidFill>
            <a:prstDash val="solid"/>
          </a:ln>
        </p:spPr>
      </p:sp>
      <p:sp>
        <p:nvSpPr>
          <p:cNvPr id="14" name="Text 11"/>
          <p:cNvSpPr/>
          <p:nvPr/>
        </p:nvSpPr>
        <p:spPr>
          <a:xfrm>
            <a:off x="3393338" y="18211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5" name="Text 12"/>
          <p:cNvSpPr/>
          <p:nvPr/>
        </p:nvSpPr>
        <p:spPr>
          <a:xfrm>
            <a:off x="3393338" y="2506980"/>
            <a:ext cx="1838858" cy="731520"/>
          </a:xfrm>
          <a:prstGeom prst="rect">
            <a:avLst/>
          </a:prstGeom>
          <a:noFill/>
          <a:ln/>
        </p:spPr>
        <p:txBody>
          <a:bodyPr wrap="square" lIns="0" tIns="0" rIns="0" bIns="0" rtlCol="0" anchor="t">
            <a:normAutofit/>
          </a:bodyPr>
          <a:lstStyle/>
          <a:p>
            <a:pPr indent="0" marL="0">
              <a:buNone/>
            </a:pPr>
            <a:r>
              <a:rPr lang="en-US" sz="1800" b="1" dirty="0">
                <a:solidFill>
                  <a:srgbClr val="003087"/>
                </a:solidFill>
                <a:latin typeface="Segoe UI" pitchFamily="34" charset="0"/>
                <a:ea typeface="Segoe UI" pitchFamily="34" charset="-122"/>
                <a:cs typeface="Segoe UI" pitchFamily="34" charset="-120"/>
              </a:rPr>
              <a:t>Test the materials</a:t>
            </a:r>
            <a:endParaRPr lang="en-US" sz="1800" dirty="0"/>
          </a:p>
        </p:txBody>
      </p:sp>
      <p:sp>
        <p:nvSpPr>
          <p:cNvPr id="16" name="Text 13"/>
          <p:cNvSpPr/>
          <p:nvPr/>
        </p:nvSpPr>
        <p:spPr>
          <a:xfrm>
            <a:off x="3393338" y="3284220"/>
            <a:ext cx="1838858" cy="2366264"/>
          </a:xfrm>
          <a:prstGeom prst="rect">
            <a:avLst/>
          </a:prstGeom>
          <a:noFill/>
          <a:ln/>
        </p:spPr>
        <p:txBody>
          <a:bodyPr wrap="square" lIns="0" tIns="0" rIns="0" bIns="0" rtlCol="0" anchor="t">
            <a:normAutofit/>
          </a:bodyPr>
          <a:lstStyle/>
          <a:p>
            <a:pPr indent="0" marL="0">
              <a:buNone/>
            </a:pPr>
            <a:r>
              <a:rPr lang="en-US" sz="1400" dirty="0">
                <a:solidFill>
                  <a:srgbClr val="4C6272"/>
                </a:solidFill>
                <a:latin typeface="Segoe UI" pitchFamily="34" charset="0"/>
                <a:ea typeface="Segoe UI" pitchFamily="34" charset="-122"/>
                <a:cs typeface="Segoe UI" pitchFamily="34" charset="-120"/>
              </a:rPr>
              <a:t>Instructions, easy-read versions, the App journey and the words used when a result is not what someone hoped. Written for people, checked by people.</a:t>
            </a:r>
            <a:endParaRPr lang="en-US" sz="1400" dirty="0"/>
          </a:p>
        </p:txBody>
      </p:sp>
      <p:sp>
        <p:nvSpPr>
          <p:cNvPr id="17" name="Shape 14"/>
          <p:cNvSpPr/>
          <p:nvPr/>
        </p:nvSpPr>
        <p:spPr>
          <a:xfrm>
            <a:off x="5689397" y="1592580"/>
            <a:ext cx="2341778" cy="465277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Shape 15"/>
          <p:cNvSpPr/>
          <p:nvPr/>
        </p:nvSpPr>
        <p:spPr>
          <a:xfrm>
            <a:off x="5689397" y="1592580"/>
            <a:ext cx="73152" cy="4652772"/>
          </a:xfrm>
          <a:prstGeom prst="rect">
            <a:avLst/>
          </a:prstGeom>
          <a:solidFill>
            <a:srgbClr val="006747"/>
          </a:solidFill>
          <a:ln w="12700">
            <a:solidFill>
              <a:srgbClr val="006747"/>
            </a:solidFill>
            <a:prstDash val="solid"/>
          </a:ln>
        </p:spPr>
      </p:sp>
      <p:sp>
        <p:nvSpPr>
          <p:cNvPr id="19" name="Shape 16"/>
          <p:cNvSpPr/>
          <p:nvPr/>
        </p:nvSpPr>
        <p:spPr>
          <a:xfrm>
            <a:off x="5963717" y="1821180"/>
            <a:ext cx="548640" cy="548640"/>
          </a:xfrm>
          <a:prstGeom prst="ellipse">
            <a:avLst/>
          </a:prstGeom>
          <a:solidFill>
            <a:srgbClr val="003087"/>
          </a:solidFill>
          <a:ln w="12700">
            <a:solidFill>
              <a:srgbClr val="003087"/>
            </a:solidFill>
            <a:prstDash val="solid"/>
          </a:ln>
        </p:spPr>
      </p:sp>
      <p:sp>
        <p:nvSpPr>
          <p:cNvPr id="20" name="Text 17"/>
          <p:cNvSpPr/>
          <p:nvPr/>
        </p:nvSpPr>
        <p:spPr>
          <a:xfrm>
            <a:off x="5963717" y="18211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1" name="Text 18"/>
          <p:cNvSpPr/>
          <p:nvPr/>
        </p:nvSpPr>
        <p:spPr>
          <a:xfrm>
            <a:off x="5963717" y="2506980"/>
            <a:ext cx="1838858" cy="731520"/>
          </a:xfrm>
          <a:prstGeom prst="rect">
            <a:avLst/>
          </a:prstGeom>
          <a:noFill/>
          <a:ln/>
        </p:spPr>
        <p:txBody>
          <a:bodyPr wrap="square" lIns="0" tIns="0" rIns="0" bIns="0" rtlCol="0" anchor="t">
            <a:normAutofit/>
          </a:bodyPr>
          <a:lstStyle/>
          <a:p>
            <a:pPr indent="0" marL="0">
              <a:buNone/>
            </a:pPr>
            <a:r>
              <a:rPr lang="en-US" sz="1750" b="1" dirty="0">
                <a:solidFill>
                  <a:srgbClr val="003087"/>
                </a:solidFill>
                <a:latin typeface="Segoe UI" pitchFamily="34" charset="0"/>
                <a:ea typeface="Segoe UI" pitchFamily="34" charset="-122"/>
                <a:cs typeface="Segoe UI" pitchFamily="34" charset="-120"/>
              </a:rPr>
              <a:t>Hold us to the outcomes</a:t>
            </a:r>
            <a:endParaRPr lang="en-US" sz="1750" dirty="0"/>
          </a:p>
        </p:txBody>
      </p:sp>
      <p:sp>
        <p:nvSpPr>
          <p:cNvPr id="22" name="Text 19"/>
          <p:cNvSpPr/>
          <p:nvPr/>
        </p:nvSpPr>
        <p:spPr>
          <a:xfrm>
            <a:off x="5963717" y="3284220"/>
            <a:ext cx="1838858" cy="1903984"/>
          </a:xfrm>
          <a:prstGeom prst="rect">
            <a:avLst/>
          </a:prstGeom>
          <a:noFill/>
          <a:ln/>
        </p:spPr>
        <p:txBody>
          <a:bodyPr wrap="square" lIns="0" tIns="0" rIns="0" bIns="0" rtlCol="0" anchor="t">
            <a:normAutofit/>
          </a:bodyPr>
          <a:lstStyle/>
          <a:p>
            <a:pPr indent="0" marL="0">
              <a:buNone/>
            </a:pPr>
            <a:r>
              <a:rPr lang="en-US" sz="1400" dirty="0">
                <a:solidFill>
                  <a:srgbClr val="4C6272"/>
                </a:solidFill>
                <a:latin typeface="Segoe UI" pitchFamily="34" charset="0"/>
                <a:ea typeface="Segoe UI" pitchFamily="34" charset="-122"/>
                <a:cs typeface="Segoe UI" pitchFamily="34" charset="-120"/>
              </a:rPr>
              <a:t>Reach, completion and access for the groups the current model misses. Those are the measures we have put our name to.</a:t>
            </a:r>
            <a:endParaRPr lang="en-US" sz="1400" dirty="0"/>
          </a:p>
        </p:txBody>
      </p:sp>
      <p:sp>
        <p:nvSpPr>
          <p:cNvPr id="23" name="Shape 20"/>
          <p:cNvSpPr/>
          <p:nvPr/>
        </p:nvSpPr>
        <p:spPr>
          <a:xfrm>
            <a:off x="8351215" y="1592580"/>
            <a:ext cx="3291840" cy="4652772"/>
          </a:xfrm>
          <a:prstGeom prst="rect">
            <a:avLst/>
          </a:prstGeom>
          <a:solidFill>
            <a:srgbClr val="006747"/>
          </a:solidFill>
          <a:ln w="12700">
            <a:solidFill>
              <a:srgbClr val="006747"/>
            </a:solidFill>
            <a:prstDash val="solid"/>
          </a:ln>
        </p:spPr>
      </p:sp>
      <p:sp>
        <p:nvSpPr>
          <p:cNvPr id="24" name="Text 21"/>
          <p:cNvSpPr/>
          <p:nvPr/>
        </p:nvSpPr>
        <p:spPr>
          <a:xfrm>
            <a:off x="8625535" y="1866900"/>
            <a:ext cx="2743200" cy="2641092"/>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Segoe UI" pitchFamily="34" charset="0"/>
                <a:ea typeface="Segoe UI" pitchFamily="34" charset="-122"/>
                <a:cs typeface="Segoe UI" pitchFamily="34" charset="-120"/>
              </a:rPr>
              <a:t>The test of this service is not how many kits go out. It is who finally gets tested who would not have been.</a:t>
            </a:r>
            <a:endParaRPr lang="en-US" sz="1800" dirty="0"/>
          </a:p>
        </p:txBody>
      </p:sp>
      <p:sp>
        <p:nvSpPr>
          <p:cNvPr id="25" name="Shape 22"/>
          <p:cNvSpPr/>
          <p:nvPr/>
        </p:nvSpPr>
        <p:spPr>
          <a:xfrm>
            <a:off x="8826703" y="5312664"/>
            <a:ext cx="658368" cy="658368"/>
          </a:xfrm>
          <a:prstGeom prst="ellipse">
            <a:avLst/>
          </a:prstGeom>
          <a:solidFill>
            <a:srgbClr val="FFFFFF"/>
          </a:solidFill>
          <a:ln w="12700">
            <a:solidFill>
              <a:srgbClr val="FFFFFF"/>
            </a:solidFill>
            <a:prstDash val="solid"/>
          </a:ln>
        </p:spPr>
      </p:sp>
      <p:pic>
        <p:nvPicPr>
          <p:cNvPr id="26" name="Image 0" descr="/sessions/quirky-zen-galileo/mnt/NHS/07 Sites &amp; Repos/dtx-ecosystem/hearts-and-minds/_generators/assets/portraits/sean.jpg">    </p:cNvPr>
          <p:cNvPicPr>
            <a:picLocks noChangeAspect="1"/>
          </p:cNvPicPr>
          <p:nvPr/>
        </p:nvPicPr>
        <p:blipFill>
          <a:blip r:embed="rId1"/>
          <a:stretch>
            <a:fillRect/>
          </a:stretch>
        </p:blipFill>
        <p:spPr>
          <a:xfrm>
            <a:off x="8872423" y="5358384"/>
            <a:ext cx="566928" cy="566928"/>
          </a:xfrm>
          <a:prstGeom prst="ellipse">
            <a:avLst/>
          </a:prstGeom>
        </p:spPr>
      </p:pic>
      <p:sp>
        <p:nvSpPr>
          <p:cNvPr id="27" name="Shape 23"/>
          <p:cNvSpPr/>
          <p:nvPr/>
        </p:nvSpPr>
        <p:spPr>
          <a:xfrm>
            <a:off x="9576511" y="5312664"/>
            <a:ext cx="658368" cy="658368"/>
          </a:xfrm>
          <a:prstGeom prst="ellipse">
            <a:avLst/>
          </a:prstGeom>
          <a:solidFill>
            <a:srgbClr val="FFFFFF"/>
          </a:solidFill>
          <a:ln w="12700">
            <a:solidFill>
              <a:srgbClr val="FFFFFF"/>
            </a:solidFill>
            <a:prstDash val="solid"/>
          </a:ln>
        </p:spPr>
      </p:sp>
      <p:pic>
        <p:nvPicPr>
          <p:cNvPr id="28" name="Image 1" descr="/sessions/quirky-zen-galileo/mnt/NHS/07 Sites &amp; Repos/dtx-ecosystem/hearts-and-minds/_generators/assets/portraits/layla.jpg">    </p:cNvPr>
          <p:cNvPicPr>
            <a:picLocks noChangeAspect="1"/>
          </p:cNvPicPr>
          <p:nvPr/>
        </p:nvPicPr>
        <p:blipFill>
          <a:blip r:embed="rId2"/>
          <a:stretch>
            <a:fillRect/>
          </a:stretch>
        </p:blipFill>
        <p:spPr>
          <a:xfrm>
            <a:off x="9622231" y="5358384"/>
            <a:ext cx="566928" cy="566928"/>
          </a:xfrm>
          <a:prstGeom prst="ellipse">
            <a:avLst/>
          </a:prstGeom>
        </p:spPr>
      </p:pic>
      <p:sp>
        <p:nvSpPr>
          <p:cNvPr id="29" name="Shape 24"/>
          <p:cNvSpPr/>
          <p:nvPr/>
        </p:nvSpPr>
        <p:spPr>
          <a:xfrm>
            <a:off x="10326319" y="5312664"/>
            <a:ext cx="658368" cy="658368"/>
          </a:xfrm>
          <a:prstGeom prst="ellipse">
            <a:avLst/>
          </a:prstGeom>
          <a:solidFill>
            <a:srgbClr val="FFFFFF"/>
          </a:solidFill>
          <a:ln w="12700">
            <a:solidFill>
              <a:srgbClr val="FFFFFF"/>
            </a:solidFill>
            <a:prstDash val="solid"/>
          </a:ln>
        </p:spPr>
      </p:sp>
      <p:pic>
        <p:nvPicPr>
          <p:cNvPr id="30" name="Image 2" descr="/sessions/quirky-zen-galileo/mnt/NHS/07 Sites &amp; Repos/dtx-ecosystem/hearts-and-minds/_generators/assets/portraits/devi.jpg">    </p:cNvPr>
          <p:cNvPicPr>
            <a:picLocks noChangeAspect="1"/>
          </p:cNvPicPr>
          <p:nvPr/>
        </p:nvPicPr>
        <p:blipFill>
          <a:blip r:embed="rId3"/>
          <a:stretch>
            <a:fillRect/>
          </a:stretch>
        </p:blipFill>
        <p:spPr>
          <a:xfrm>
            <a:off x="10372039" y="5358384"/>
            <a:ext cx="566928" cy="566928"/>
          </a:xfrm>
          <a:prstGeom prst="ellipse">
            <a:avLst/>
          </a:prstGeom>
        </p:spPr>
      </p:pic>
      <p:sp>
        <p:nvSpPr>
          <p:cNvPr id="31" name="Text 25"/>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32" name="Text 26"/>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3" name="Text 27"/>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3" name="Image 0" descr="/sessions/quirky-zen-galileo/mnt/NHS/07 Sites &amp; Repos/dtx-ecosystem/hearts-and-minds/_generators/assets/nhs-logo.png">    </p:cNvPr>
          <p:cNvPicPr>
            <a:picLocks noChangeAspect="1"/>
          </p:cNvPicPr>
          <p:nvPr/>
        </p:nvPicPr>
        <p:blipFill>
          <a:blip r:embed="rId1"/>
          <a:stretch>
            <a:fillRect/>
          </a:stretch>
        </p:blipFill>
        <p:spPr>
          <a:xfrm>
            <a:off x="10919683" y="557784"/>
            <a:ext cx="586212" cy="457200"/>
          </a:xfrm>
          <a:prstGeom prst="rect">
            <a:avLst/>
          </a:prstGeom>
        </p:spPr>
      </p:pic>
      <p:sp>
        <p:nvSpPr>
          <p:cNvPr id="4" name="Text 1"/>
          <p:cNvSpPr/>
          <p:nvPr/>
        </p:nvSpPr>
        <p:spPr>
          <a:xfrm>
            <a:off x="548640" y="548640"/>
            <a:ext cx="7315200" cy="274320"/>
          </a:xfrm>
          <a:prstGeom prst="rect">
            <a:avLst/>
          </a:prstGeom>
          <a:noFill/>
          <a:ln/>
        </p:spPr>
        <p:txBody>
          <a:bodyPr wrap="square" lIns="0" tIns="0" rIns="0" bIns="0" rtlCol="0" anchor="ctr"/>
          <a:lstStyle/>
          <a:p>
            <a:pPr indent="0" marL="0">
              <a:buNone/>
            </a:pPr>
            <a:r>
              <a:rPr lang="en-US" sz="1000" b="1" spc="260" kern="0" dirty="0">
                <a:solidFill>
                  <a:srgbClr val="FFB91D"/>
                </a:solidFill>
                <a:latin typeface="Segoe UI" pitchFamily="34" charset="0"/>
                <a:ea typeface="Segoe UI" pitchFamily="34" charset="-122"/>
                <a:cs typeface="Segoe UI" pitchFamily="34" charset="-120"/>
              </a:rPr>
              <a:t>HEARTS AND MINDS · PATIENT AND PUBLIC VOICE EDITION</a:t>
            </a:r>
            <a:endParaRPr lang="en-US" sz="1000" dirty="0"/>
          </a:p>
        </p:txBody>
      </p:sp>
      <p:sp>
        <p:nvSpPr>
          <p:cNvPr id="5" name="Shape 2"/>
          <p:cNvSpPr/>
          <p:nvPr/>
        </p:nvSpPr>
        <p:spPr>
          <a:xfrm>
            <a:off x="2039569" y="1508760"/>
            <a:ext cx="1691640" cy="1691640"/>
          </a:xfrm>
          <a:prstGeom prst="ellipse">
            <a:avLst/>
          </a:prstGeom>
          <a:solidFill>
            <a:srgbClr val="FFFFFF"/>
          </a:solidFill>
          <a:ln w="12700">
            <a:solidFill>
              <a:srgbClr val="FFFFFF"/>
            </a:solidFill>
            <a:prstDash val="solid"/>
          </a:ln>
        </p:spPr>
      </p:sp>
      <p:pic>
        <p:nvPicPr>
          <p:cNvPr id="6" name="Image 1" descr="/sessions/quirky-zen-galileo/mnt/NHS/07 Sites &amp; Repos/dtx-ecosystem/hearts-and-minds/_generators/assets/portraits/sean.jpg">    </p:cNvPr>
          <p:cNvPicPr>
            <a:picLocks noChangeAspect="1"/>
          </p:cNvPicPr>
          <p:nvPr/>
        </p:nvPicPr>
        <p:blipFill>
          <a:blip r:embed="rId2"/>
          <a:stretch>
            <a:fillRect/>
          </a:stretch>
        </p:blipFill>
        <p:spPr>
          <a:xfrm>
            <a:off x="2085289" y="1554480"/>
            <a:ext cx="1600200" cy="1600200"/>
          </a:xfrm>
          <a:prstGeom prst="ellipse">
            <a:avLst/>
          </a:prstGeom>
        </p:spPr>
      </p:pic>
      <p:sp>
        <p:nvSpPr>
          <p:cNvPr id="7" name="Text 3"/>
          <p:cNvSpPr/>
          <p:nvPr/>
        </p:nvSpPr>
        <p:spPr>
          <a:xfrm>
            <a:off x="1280160" y="3246120"/>
            <a:ext cx="3210458"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Sean</a:t>
            </a:r>
            <a:endParaRPr lang="en-US" sz="1500" dirty="0"/>
          </a:p>
        </p:txBody>
      </p:sp>
      <p:sp>
        <p:nvSpPr>
          <p:cNvPr id="8" name="Text 4"/>
          <p:cNvSpPr/>
          <p:nvPr/>
        </p:nvSpPr>
        <p:spPr>
          <a:xfrm>
            <a:off x="1371600" y="3566160"/>
            <a:ext cx="3027578" cy="457200"/>
          </a:xfrm>
          <a:prstGeom prst="rect">
            <a:avLst/>
          </a:prstGeom>
          <a:noFill/>
          <a:ln/>
        </p:spPr>
        <p:txBody>
          <a:bodyPr wrap="square" lIns="0" tIns="0" rIns="0" bIns="0" rtlCol="0" anchor="t">
            <a:normAutofit/>
          </a:bodyPr>
          <a:lstStyle/>
          <a:p>
            <a:pPr algn="ctr" indent="0" marL="0">
              <a:buNone/>
            </a:pPr>
            <a:r>
              <a:rPr lang="en-US" sz="1050" dirty="0">
                <a:solidFill>
                  <a:srgbClr val="CFE0F5"/>
                </a:solidFill>
                <a:latin typeface="Segoe UI" pitchFamily="34" charset="0"/>
                <a:ea typeface="Segoe UI" pitchFamily="34" charset="-122"/>
                <a:cs typeface="Segoe UI" pitchFamily="34" charset="-120"/>
              </a:rPr>
              <a:t>the man the system kept missing</a:t>
            </a:r>
            <a:endParaRPr lang="en-US" sz="1050" dirty="0"/>
          </a:p>
        </p:txBody>
      </p:sp>
      <p:sp>
        <p:nvSpPr>
          <p:cNvPr id="9" name="Shape 5"/>
          <p:cNvSpPr/>
          <p:nvPr/>
        </p:nvSpPr>
        <p:spPr>
          <a:xfrm>
            <a:off x="5250028" y="1508760"/>
            <a:ext cx="1691640" cy="1691640"/>
          </a:xfrm>
          <a:prstGeom prst="ellipse">
            <a:avLst/>
          </a:prstGeom>
          <a:solidFill>
            <a:srgbClr val="FFFFFF"/>
          </a:solidFill>
          <a:ln w="12700">
            <a:solidFill>
              <a:srgbClr val="FFFFFF"/>
            </a:solidFill>
            <a:prstDash val="solid"/>
          </a:ln>
        </p:spPr>
      </p:sp>
      <p:pic>
        <p:nvPicPr>
          <p:cNvPr id="10" name="Image 2" descr="/sessions/quirky-zen-galileo/mnt/NHS/07 Sites &amp; Repos/dtx-ecosystem/hearts-and-minds/_generators/assets/portraits/layla.jpg">    </p:cNvPr>
          <p:cNvPicPr>
            <a:picLocks noChangeAspect="1"/>
          </p:cNvPicPr>
          <p:nvPr/>
        </p:nvPicPr>
        <p:blipFill>
          <a:blip r:embed="rId3"/>
          <a:stretch>
            <a:fillRect/>
          </a:stretch>
        </p:blipFill>
        <p:spPr>
          <a:xfrm>
            <a:off x="5295748" y="1554480"/>
            <a:ext cx="1600200" cy="1600200"/>
          </a:xfrm>
          <a:prstGeom prst="ellipse">
            <a:avLst/>
          </a:prstGeom>
        </p:spPr>
      </p:pic>
      <p:sp>
        <p:nvSpPr>
          <p:cNvPr id="11" name="Text 6"/>
          <p:cNvSpPr/>
          <p:nvPr/>
        </p:nvSpPr>
        <p:spPr>
          <a:xfrm>
            <a:off x="4490618" y="3246120"/>
            <a:ext cx="3210458"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Layla</a:t>
            </a:r>
            <a:endParaRPr lang="en-US" sz="1500" dirty="0"/>
          </a:p>
        </p:txBody>
      </p:sp>
      <p:sp>
        <p:nvSpPr>
          <p:cNvPr id="12" name="Text 7"/>
          <p:cNvSpPr/>
          <p:nvPr/>
        </p:nvSpPr>
        <p:spPr>
          <a:xfrm>
            <a:off x="4582058" y="3566160"/>
            <a:ext cx="3027578" cy="457200"/>
          </a:xfrm>
          <a:prstGeom prst="rect">
            <a:avLst/>
          </a:prstGeom>
          <a:noFill/>
          <a:ln/>
        </p:spPr>
        <p:txBody>
          <a:bodyPr wrap="square" lIns="0" tIns="0" rIns="0" bIns="0" rtlCol="0" anchor="t">
            <a:normAutofit/>
          </a:bodyPr>
          <a:lstStyle/>
          <a:p>
            <a:pPr algn="ctr" indent="0" marL="0">
              <a:buNone/>
            </a:pPr>
            <a:r>
              <a:rPr lang="en-US" sz="1050" dirty="0">
                <a:solidFill>
                  <a:srgbClr val="CFE0F5"/>
                </a:solidFill>
                <a:latin typeface="Segoe UI" pitchFamily="34" charset="0"/>
                <a:ea typeface="Segoe UI" pitchFamily="34" charset="-122"/>
                <a:cs typeface="Segoe UI" pitchFamily="34" charset="-120"/>
              </a:rPr>
              <a:t>the mum with no spare half-day</a:t>
            </a:r>
            <a:endParaRPr lang="en-US" sz="1050" dirty="0"/>
          </a:p>
        </p:txBody>
      </p:sp>
      <p:sp>
        <p:nvSpPr>
          <p:cNvPr id="13" name="Shape 8"/>
          <p:cNvSpPr/>
          <p:nvPr/>
        </p:nvSpPr>
        <p:spPr>
          <a:xfrm>
            <a:off x="8460486" y="1508760"/>
            <a:ext cx="1691640" cy="1691640"/>
          </a:xfrm>
          <a:prstGeom prst="ellipse">
            <a:avLst/>
          </a:prstGeom>
          <a:solidFill>
            <a:srgbClr val="FFFFFF"/>
          </a:solidFill>
          <a:ln w="12700">
            <a:solidFill>
              <a:srgbClr val="FFFFFF"/>
            </a:solidFill>
            <a:prstDash val="solid"/>
          </a:ln>
        </p:spPr>
      </p:sp>
      <p:pic>
        <p:nvPicPr>
          <p:cNvPr id="14" name="Image 3" descr="/sessions/quirky-zen-galileo/mnt/NHS/07 Sites &amp; Repos/dtx-ecosystem/hearts-and-minds/_generators/assets/portraits/devi.jpg">    </p:cNvPr>
          <p:cNvPicPr>
            <a:picLocks noChangeAspect="1"/>
          </p:cNvPicPr>
          <p:nvPr/>
        </p:nvPicPr>
        <p:blipFill>
          <a:blip r:embed="rId4"/>
          <a:stretch>
            <a:fillRect/>
          </a:stretch>
        </p:blipFill>
        <p:spPr>
          <a:xfrm>
            <a:off x="8506206" y="1554480"/>
            <a:ext cx="1600200" cy="1600200"/>
          </a:xfrm>
          <a:prstGeom prst="ellipse">
            <a:avLst/>
          </a:prstGeom>
        </p:spPr>
      </p:pic>
      <p:sp>
        <p:nvSpPr>
          <p:cNvPr id="15" name="Text 9"/>
          <p:cNvSpPr/>
          <p:nvPr/>
        </p:nvSpPr>
        <p:spPr>
          <a:xfrm>
            <a:off x="7701077" y="3246120"/>
            <a:ext cx="3210458"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Devi</a:t>
            </a:r>
            <a:endParaRPr lang="en-US" sz="1500" dirty="0"/>
          </a:p>
        </p:txBody>
      </p:sp>
      <p:sp>
        <p:nvSpPr>
          <p:cNvPr id="16" name="Text 10"/>
          <p:cNvSpPr/>
          <p:nvPr/>
        </p:nvSpPr>
        <p:spPr>
          <a:xfrm>
            <a:off x="7792517" y="3566160"/>
            <a:ext cx="3027578" cy="457200"/>
          </a:xfrm>
          <a:prstGeom prst="rect">
            <a:avLst/>
          </a:prstGeom>
          <a:noFill/>
          <a:ln/>
        </p:spPr>
        <p:txBody>
          <a:bodyPr wrap="square" lIns="0" tIns="0" rIns="0" bIns="0" rtlCol="0" anchor="t">
            <a:normAutofit/>
          </a:bodyPr>
          <a:lstStyle/>
          <a:p>
            <a:pPr algn="ctr" indent="0" marL="0">
              <a:buNone/>
            </a:pPr>
            <a:r>
              <a:rPr lang="en-US" sz="1050" dirty="0">
                <a:solidFill>
                  <a:srgbClr val="CFE0F5"/>
                </a:solidFill>
                <a:latin typeface="Segoe UI" pitchFamily="34" charset="0"/>
                <a:ea typeface="Segoe UI" pitchFamily="34" charset="-122"/>
                <a:cs typeface="Segoe UI" pitchFamily="34" charset="-120"/>
              </a:rPr>
              <a:t>the woman who needs a result, not a visit</a:t>
            </a:r>
            <a:endParaRPr lang="en-US" sz="1050" dirty="0"/>
          </a:p>
        </p:txBody>
      </p:sp>
      <p:sp>
        <p:nvSpPr>
          <p:cNvPr id="17" name="Text 11"/>
          <p:cNvSpPr/>
          <p:nvPr/>
        </p:nvSpPr>
        <p:spPr>
          <a:xfrm>
            <a:off x="822960" y="4343400"/>
            <a:ext cx="10545775" cy="1005840"/>
          </a:xfrm>
          <a:prstGeom prst="rect">
            <a:avLst/>
          </a:prstGeom>
          <a:noFill/>
          <a:ln/>
        </p:spPr>
        <p:txBody>
          <a:bodyPr wrap="square" lIns="0" tIns="0" rIns="0" bIns="0" rtlCol="0" anchor="ctr">
            <a:normAutofit/>
          </a:bodyPr>
          <a:lstStyle/>
          <a:p>
            <a:pPr algn="ctr" indent="0" marL="0">
              <a:buNone/>
            </a:pPr>
            <a:r>
              <a:rPr lang="en-US" sz="2800" b="1" dirty="0">
                <a:solidFill>
                  <a:srgbClr val="FFD66B"/>
                </a:solidFill>
                <a:latin typeface="Segoe UI" pitchFamily="34" charset="0"/>
                <a:ea typeface="Segoe UI" pitchFamily="34" charset="-122"/>
                <a:cs typeface="Segoe UI" pitchFamily="34" charset="-120"/>
              </a:rPr>
              <a:t>The test of this service is who finally gets tested.</a:t>
            </a:r>
            <a:endParaRPr lang="en-US" sz="2800" dirty="0"/>
          </a:p>
        </p:txBody>
      </p:sp>
      <p:sp>
        <p:nvSpPr>
          <p:cNvPr id="18" name="Text 12"/>
          <p:cNvSpPr/>
          <p:nvPr/>
        </p:nvSpPr>
        <p:spPr>
          <a:xfrm>
            <a:off x="822960" y="5394960"/>
            <a:ext cx="10545775" cy="457200"/>
          </a:xfrm>
          <a:prstGeom prst="rect">
            <a:avLst/>
          </a:prstGeom>
          <a:noFill/>
          <a:ln/>
        </p:spPr>
        <p:txBody>
          <a:bodyPr wrap="square" lIns="0" tIns="0" rIns="0" bIns="0" rtlCol="0" anchor="ctr"/>
          <a:lstStyle/>
          <a:p>
            <a:pPr algn="ctr" indent="0" marL="0">
              <a:buNone/>
            </a:pPr>
            <a:r>
              <a:rPr lang="en-US" sz="1500" dirty="0">
                <a:solidFill>
                  <a:srgbClr val="CFE0F5"/>
                </a:solidFill>
                <a:latin typeface="Segoe UI" pitchFamily="34" charset="0"/>
                <a:ea typeface="Segoe UI" pitchFamily="34" charset="-122"/>
                <a:cs typeface="Segoe UI" pitchFamily="34" charset="-120"/>
              </a:rPr>
              <a:t>Built around people. Bought without pain. Live today.</a:t>
            </a:r>
            <a:endParaRPr lang="en-US" sz="1500" dirty="0"/>
          </a:p>
        </p:txBody>
      </p:sp>
      <p:sp>
        <p:nvSpPr>
          <p:cNvPr id="19" name="Text 13"/>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audience deck No.6 · Patient and public voice edition · proof-of-concept draft · September 2026</a:t>
            </a:r>
            <a:endParaRPr lang="en-US" sz="800" dirty="0"/>
          </a:p>
        </p:txBody>
      </p:sp>
      <p:sp>
        <p:nvSpPr>
          <p:cNvPr id="20" name="Text 14"/>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1" name="Text 15"/>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9FB6D9"/>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Hearts and Minds No.6 Patient and public voice edition: A test that comes to you.</dc:title>
  <dc:subject>PptxGenJS Presentation</dc:subject>
  <dc:creator>HomeTest Commercial</dc:creator>
  <cp:lastModifiedBy>HomeTest Commercial</cp:lastModifiedBy>
  <cp:revision>1</cp:revision>
  <dcterms:created xsi:type="dcterms:W3CDTF">2026-09-05T10:52:52Z</dcterms:created>
  <dcterms:modified xsi:type="dcterms:W3CDTF">2026-09-05T10:52:52Z</dcterms:modified>
</cp:coreProperties>
</file>