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 a population, a gap, twelve months to move
Sarah has an HIV detection gap she can see on the UKHSA dashboard. The late diagnoses are concentrated in MSM under-25s and the wards her clinics struggle hardest to reach. The Health and Wellbeing Board wants outcomes. She has twelve months and the LA sexual health budget. She does not have the headcount to bespoke a procurement around every supplier on the market.
Quote: I can see the gap on the dashboard. I've got money on the table and the Board wants to see movement inside a year. What I don't have is the headcount to bespoke a procurement for every supplier.
What the model is doing underneath: UKHSA late-diagnosis data showing the cohort concentrated in specific wards. A Health and Wellbeing Board paper asking what digital does for the gap. The LA sexual health budget. An existing sexual health service contract with the local provider. The clinical case is settled: home self-testing for HIV removes the clinic-visit barrier that keeps the late-diagnosed cohort away. What's in front of her is procurement, integration with the existing service, and reach into the wards that don't engage.
The old way: A bespoke procurement against the LA's contract regulations. Six to nine months. Clinical safety assurance per supplier. IG assessment per supplier. Service-contract amendment to carry the new pathway. Twelve to fifteen months from Board paper to first kit, on a good run. The last new pathway she stood up before the framework existed took twenty-two months. That is a year her late-diagnosed patients did not have.
What the care team sees: Her sexual health service provider lead. Her LA Clinical Safety Officer. Her IG lead. The public-health intelligence team who built the cohort analysis. Procurement, not yet engaged because the route is not yet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front door · the framework opens
She opens the framework. The HomeTest platform is admitted. The HIV configuration is live. Suppliers are listed against published call-off terms. Templates ready. National pricing visible. No procurement to design from scratch.
Quote: I expected to be writing a spec. I'm looking at suppliers I can already call off. The framework did the heavy lifting before I logged in.
What the model is doing underneath: The framework page. HIV self-test suppliers admitted to the HomeTest platform. Standard call-off terms. DSA, DPIA, privacy notice and clinical safety case starter templates pre-built. NHS Login carries the cohort. Targeting and reach capabilities exposed via UKHSA data overlays and NHSE social channels. The route is published; she just has to choose to take it.
The old way: A clean-sheet procurement compliant with the LA's contract regulations. Spec writing. Supplier engagement. Two or three rounds of clarifications. A standstill period. Bespoke clinical safety case from a blank page. Bespoke IG. Bespoke MI. Three months gone before the first contract draft.
What the care team sees: The platform's commissioner-engagement contact for the configuration. Her LA procurement lead, sense-checking the call-off route. Her sexual health service provider lead, sense-checking how the pathway plugs into the existing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for HER cohort · the questions standard answers don't solve
Standard answers don't help her if her late-diagnosed patients are exactly the ones standard provision misses. Unsafe-address households. Low digital literacy. Reach into the wards her clinics don't see. She runs her open questions against the framework, expecting friction.
Quote: Standard answers don't help me if my late-diagnosed patients are exactly the ones standard provision misses. I need to know how this works for the people I'm trying to reach.
What the model is doing underneath: Her open questions list against the framework's published outputs. The unsafe-address pathway: how kit goes to a patient whose home address is not a safe delivery point. The low-digital-literacy path: an alternative entry route for patients who can't engage with an app-led journey. The ward-level outreach overlay: how UKHSA data and NHSE social channels reach the cohorts her clinic doesn't see. The framework either answers these or it doesn't. The platform either has the capability or it doesn't. She finds out before signing.
The old way: Six rounds of meetings with each supplier to discover what they actually do for her cohort. Bespoke service design negotiated supplier by supplier. Pilot phase running into year two. Or, in the worst case, skip the question entirely and assume what is on offer is fine. The pattern from her last new pathway: assumed it would work for everyone, found out at month nine that the cohort she was targeting hadn't engaged.
What the care team sees: Her public-health intelligence lead on the cohort. Her sexual health service's outreach lead. The platform's engagement contact on unsafe-address policy and the alternative entry route. Her safeguarding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call-off · signing, not procuring
The call-off goes in. Six weeks from brief to live, not eighteen months. The LA's sexual health service contract carries the home-testing pathway as an extension. NHS Login carries the cohort. Payment via published call-off terms. The procurement scar she carried in is not the procurement she ran.
Quote: I've signed call-offs that took twenty minutes. The eighteen months I didn't spend negotiating is the eighteen months my patients didn't wait.
What the model is doing underneath: The call-off itself. The supplier admitted to the platform under the framework. The local sexual health service contract amended to carry the new pathway as an extension. DSA executed against the framework's template. Clinical safety case approved by the LA's CSO using the framework's starter case as the spine. First batch of kits ordered. Outbound communications drafted for the wards the public-health team flagged. Every step has a published template. Nothing is being designed in the moment.
The old way: A multi-year bilateral contract with each supplier. Bespoke pricing schedule. Bespoke clinical safety case from a blank page. Bespoke IG. Bespoke MI. Each adding months to the deployment timeline. Each reducing the budget left for the actual outreach.
What the care team sees: Her LA procurement lead. Her LA CSO. Her IG lead. The sexual health service provider lead. The platform's engagement contact handling the call-off process. The supplier's account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operation · kits out, results back
Quarter one live. Kits going out to the wards her public-health team targeted. Self-test results triaged through her existing sexual health service. The MI feed shows reach into the cohorts standard provision missed. The pathway just works for the patient.
Quote: Patients don't see procurement. They see a kit in the post and a follow-up from a service they trust. The pathway just works for them.
What the model is doing underneath: The MI dashboard. Kits ordered. Kits delivered. Results returned (positive, negative, invalid). Triage decisions. Follow-up clinic bookings. Reach into the target wards versus the LA baseline. Equity reach against the LA's inequality targets. Reactive support paths for unsafe-result delivery. The numbers are visible in real time. She doesn't need to wait for the annual return.
The old way: Hand-rolled MI. Manual chasing of result returns. Manual follow-up. No view of equity reach until the annual report. The risk: finding out a year late that the cohort the LA targeted hadn't actually engaged, by which time the next year's budget had been set on the assumption it had.
What the care team sees: The sexual health service provider running the clinical pathway. The supplier running the kit logistics. The platform running the data layer. The LA outreach team running ward-level engagement. Sarah herself looking at the MI feed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paper · what the members see
First-year outcomes. HIV detection rate up. Late-diagnosis rate down. Equity reach into the wards her clinics didn't see, verified. The board paper writes itself. The next year's ask is for the next configuration, not the next procurement.
Quote: The Health and Wellbeing Board wanted to know whether it worked. The numbers do most of the talking. The pathway behind them is what made the numbers possible.
What the model is doing underneath: HIV detection rate against the LA baseline. Late-diagnosis rate, by ward. Equity reach into the cohorts the LA targeted. Cost per detection. Clinic capacity released back to the service for follow-up and treatment. Patient feedback. Reactive-pathway performance for unsafe-result delivery. The recommendation for year two: extend to the next configuration the platform admits. Same framework. Same call-off shape. Same MI feed.
The old way: A board paper hedged with ‘data still maturing’ and ‘next year we will have a fuller picture’. Three years before a programme of this size could be evaluated against equity targets. By which time the LA had moved on, the funding had been re-prioritised, or the member who sponsored it had left office.
What the care team sees: The Health and Wellbeing Board. The Director of Public Health. Elected members on the relevant scrutiny committee. The LA finance team setting the next year's commissioning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COMMISSIONER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Sarah.</a:t>
            </a:r>
            <a:endParaRPr lang="en-US" sz="6000" dirty="0"/>
          </a:p>
        </p:txBody>
      </p:sp>
      <p:sp>
        <p:nvSpPr>
          <p:cNvPr id="6" name="Text 3"/>
          <p:cNvSpPr/>
          <p:nvPr/>
        </p:nvSpPr>
        <p:spPr>
          <a:xfrm>
            <a:off x="640080" y="2148840"/>
            <a:ext cx="6949440" cy="835152"/>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Sarah signs once.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Not once a quarter.</a:t>
            </a:r>
            <a:endParaRPr lang="en-US" sz="2400" dirty="0"/>
          </a:p>
        </p:txBody>
      </p:sp>
      <p:sp>
        <p:nvSpPr>
          <p:cNvPr id="7" name="Text 4"/>
          <p:cNvSpPr/>
          <p:nvPr/>
        </p:nvSpPr>
        <p:spPr>
          <a:xfrm>
            <a:off x="640080" y="3258312"/>
            <a:ext cx="6949440" cy="1021080"/>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Sarah commissions sexual health for her Local Authority. UKHSA data shows an HIV detection gap concentrated in the wards her service struggles hardest to reach. She has the budget. She does not have the headcount to design a bespoke procurement around home self-testing for every supplier on the market. </a:t>
            </a:r>
            <a:pPr indent="0" marL="0">
              <a:buNone/>
            </a:pPr>
            <a:r>
              <a:rPr lang="en-US" sz="1200" b="1" dirty="0">
                <a:solidFill>
                  <a:srgbClr val="DCE7F0"/>
                </a:solidFill>
                <a:latin typeface="Arial" pitchFamily="34" charset="0"/>
                <a:ea typeface="Arial" pitchFamily="34" charset="-122"/>
                <a:cs typeface="Arial" pitchFamily="34" charset="-120"/>
              </a:rPr>
              <a:t>This is the story of one commissioner, one platform, one signature, and an operating model that does the procurement work for her.</a:t>
            </a:r>
            <a:endParaRPr lang="en-US" sz="1200" dirty="0"/>
          </a:p>
        </p:txBody>
      </p:sp>
      <p:sp>
        <p:nvSpPr>
          <p:cNvPr id="8" name="Text 5"/>
          <p:cNvSpPr/>
          <p:nvPr/>
        </p:nvSpPr>
        <p:spPr>
          <a:xfrm>
            <a:off x="640080" y="4416552"/>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commissioner's story through the operating model</a:t>
            </a:r>
            <a:endParaRPr lang="en-US" sz="1050" dirty="0"/>
          </a:p>
        </p:txBody>
      </p:sp>
      <p:sp>
        <p:nvSpPr>
          <p:cNvPr id="9" name="Shape 6"/>
          <p:cNvSpPr/>
          <p:nvPr/>
        </p:nvSpPr>
        <p:spPr>
          <a:xfrm>
            <a:off x="8476488" y="1344168"/>
            <a:ext cx="2889504" cy="2889504"/>
          </a:xfrm>
          <a:prstGeom prst="ellipse">
            <a:avLst/>
          </a:prstGeom>
          <a:solidFill>
            <a:srgbClr val="7EC8E3"/>
          </a:solidFill>
          <a:ln w="12700">
            <a:solidFill>
              <a:srgbClr val="7EC8E3"/>
            </a:solidFill>
            <a:prstDash val="solid"/>
          </a:ln>
        </p:spPr>
      </p:sp>
      <p:pic>
        <p:nvPicPr>
          <p:cNvPr id="10" name="Image 1" descr="/sessions/quirky-zen-galileo/mnt/outputs/hmdecks/img/sarah-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Sarah</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LA sexual health commissioner · HomeTest HIV</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COMMISSIONER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Sarah's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1788109"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1788109" cy="54864"/>
          </a:xfrm>
          <a:prstGeom prst="rect">
            <a:avLst/>
          </a:prstGeom>
          <a:solidFill>
            <a:srgbClr val="005EB8"/>
          </a:solidFill>
          <a:ln w="12700">
            <a:solidFill>
              <a:srgbClr val="005EB8"/>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brief</a:t>
            </a:r>
            <a:endParaRPr lang="en-US" sz="1100" dirty="0"/>
          </a:p>
        </p:txBody>
      </p:sp>
      <p:sp>
        <p:nvSpPr>
          <p:cNvPr id="12" name="Text 9"/>
          <p:cNvSpPr/>
          <p:nvPr/>
        </p:nvSpPr>
        <p:spPr>
          <a:xfrm>
            <a:off x="585216"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A gap on the dashboard</a:t>
            </a:r>
            <a:endParaRPr lang="en-US" sz="900" dirty="0"/>
          </a:p>
        </p:txBody>
      </p:sp>
      <p:sp>
        <p:nvSpPr>
          <p:cNvPr id="13" name="Shape 10"/>
          <p:cNvSpPr/>
          <p:nvPr/>
        </p:nvSpPr>
        <p:spPr>
          <a:xfrm>
            <a:off x="2355037" y="1234440"/>
            <a:ext cx="1788109"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355037" y="1234440"/>
            <a:ext cx="1788109" cy="54864"/>
          </a:xfrm>
          <a:prstGeom prst="rect">
            <a:avLst/>
          </a:prstGeom>
          <a:solidFill>
            <a:srgbClr val="005EB8"/>
          </a:solidFill>
          <a:ln w="12700">
            <a:solidFill>
              <a:srgbClr val="005EB8"/>
            </a:solidFill>
            <a:prstDash val="solid"/>
          </a:ln>
        </p:spPr>
      </p:sp>
      <p:sp>
        <p:nvSpPr>
          <p:cNvPr id="15" name="Shape 12"/>
          <p:cNvSpPr/>
          <p:nvPr/>
        </p:nvSpPr>
        <p:spPr>
          <a:xfrm>
            <a:off x="2483053"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483053"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2903677"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One front door</a:t>
            </a:r>
            <a:endParaRPr lang="en-US" sz="1100" dirty="0"/>
          </a:p>
        </p:txBody>
      </p:sp>
      <p:sp>
        <p:nvSpPr>
          <p:cNvPr id="18" name="Text 15"/>
          <p:cNvSpPr/>
          <p:nvPr/>
        </p:nvSpPr>
        <p:spPr>
          <a:xfrm>
            <a:off x="2483053"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framework opens</a:t>
            </a:r>
            <a:endParaRPr lang="en-US" sz="900" dirty="0"/>
          </a:p>
        </p:txBody>
      </p:sp>
      <p:sp>
        <p:nvSpPr>
          <p:cNvPr id="19" name="Shape 16"/>
          <p:cNvSpPr/>
          <p:nvPr/>
        </p:nvSpPr>
        <p:spPr>
          <a:xfrm>
            <a:off x="4252874" y="1234440"/>
            <a:ext cx="1788109"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4252874" y="1234440"/>
            <a:ext cx="1788109" cy="54864"/>
          </a:xfrm>
          <a:prstGeom prst="rect">
            <a:avLst/>
          </a:prstGeom>
          <a:solidFill>
            <a:srgbClr val="005EB8"/>
          </a:solidFill>
          <a:ln w="12700">
            <a:solidFill>
              <a:srgbClr val="005EB8"/>
            </a:solidFill>
            <a:prstDash val="solid"/>
          </a:ln>
        </p:spPr>
      </p:sp>
      <p:sp>
        <p:nvSpPr>
          <p:cNvPr id="21" name="Shape 18"/>
          <p:cNvSpPr/>
          <p:nvPr/>
        </p:nvSpPr>
        <p:spPr>
          <a:xfrm>
            <a:off x="4380890"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438089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4801514"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Fit for HER cohort</a:t>
            </a:r>
            <a:endParaRPr lang="en-US" sz="1100" dirty="0"/>
          </a:p>
        </p:txBody>
      </p:sp>
      <p:sp>
        <p:nvSpPr>
          <p:cNvPr id="24" name="Text 21"/>
          <p:cNvSpPr/>
          <p:nvPr/>
        </p:nvSpPr>
        <p:spPr>
          <a:xfrm>
            <a:off x="4380890"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questions standard answers don't solve</a:t>
            </a:r>
            <a:endParaRPr lang="en-US" sz="900" dirty="0"/>
          </a:p>
        </p:txBody>
      </p:sp>
      <p:sp>
        <p:nvSpPr>
          <p:cNvPr id="25" name="Shape 22"/>
          <p:cNvSpPr/>
          <p:nvPr/>
        </p:nvSpPr>
        <p:spPr>
          <a:xfrm>
            <a:off x="6150712" y="1234440"/>
            <a:ext cx="1788109"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6150712" y="1234440"/>
            <a:ext cx="1788109" cy="54864"/>
          </a:xfrm>
          <a:prstGeom prst="rect">
            <a:avLst/>
          </a:prstGeom>
          <a:solidFill>
            <a:srgbClr val="005EB8"/>
          </a:solidFill>
          <a:ln w="12700">
            <a:solidFill>
              <a:srgbClr val="005EB8"/>
            </a:solidFill>
            <a:prstDash val="solid"/>
          </a:ln>
        </p:spPr>
      </p:sp>
      <p:sp>
        <p:nvSpPr>
          <p:cNvPr id="27" name="Shape 24"/>
          <p:cNvSpPr/>
          <p:nvPr/>
        </p:nvSpPr>
        <p:spPr>
          <a:xfrm>
            <a:off x="6278728"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6278728"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6699352"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One call-off</a:t>
            </a:r>
            <a:endParaRPr lang="en-US" sz="1100" dirty="0"/>
          </a:p>
        </p:txBody>
      </p:sp>
      <p:sp>
        <p:nvSpPr>
          <p:cNvPr id="30" name="Text 27"/>
          <p:cNvSpPr/>
          <p:nvPr/>
        </p:nvSpPr>
        <p:spPr>
          <a:xfrm>
            <a:off x="6278728"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Signing, not procuring</a:t>
            </a:r>
            <a:endParaRPr lang="en-US" sz="900" dirty="0"/>
          </a:p>
        </p:txBody>
      </p:sp>
      <p:sp>
        <p:nvSpPr>
          <p:cNvPr id="31" name="Shape 28"/>
          <p:cNvSpPr/>
          <p:nvPr/>
        </p:nvSpPr>
        <p:spPr>
          <a:xfrm>
            <a:off x="8048549" y="1234440"/>
            <a:ext cx="1788109"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8048549" y="1234440"/>
            <a:ext cx="1788109" cy="54864"/>
          </a:xfrm>
          <a:prstGeom prst="rect">
            <a:avLst/>
          </a:prstGeom>
          <a:solidFill>
            <a:srgbClr val="005EB8"/>
          </a:solidFill>
          <a:ln w="12700">
            <a:solidFill>
              <a:srgbClr val="005EB8"/>
            </a:solidFill>
            <a:prstDash val="solid"/>
          </a:ln>
        </p:spPr>
      </p:sp>
      <p:sp>
        <p:nvSpPr>
          <p:cNvPr id="33" name="Shape 30"/>
          <p:cNvSpPr/>
          <p:nvPr/>
        </p:nvSpPr>
        <p:spPr>
          <a:xfrm>
            <a:off x="817656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817656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8597189"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Live operation</a:t>
            </a:r>
            <a:endParaRPr lang="en-US" sz="1100" dirty="0"/>
          </a:p>
        </p:txBody>
      </p:sp>
      <p:sp>
        <p:nvSpPr>
          <p:cNvPr id="36" name="Text 33"/>
          <p:cNvSpPr/>
          <p:nvPr/>
        </p:nvSpPr>
        <p:spPr>
          <a:xfrm>
            <a:off x="8176565"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Kits out, results back</a:t>
            </a:r>
            <a:endParaRPr lang="en-US" sz="900" dirty="0"/>
          </a:p>
        </p:txBody>
      </p:sp>
      <p:sp>
        <p:nvSpPr>
          <p:cNvPr id="37" name="Shape 34"/>
          <p:cNvSpPr/>
          <p:nvPr/>
        </p:nvSpPr>
        <p:spPr>
          <a:xfrm>
            <a:off x="9946386" y="1234440"/>
            <a:ext cx="1788109" cy="1234440"/>
          </a:xfrm>
          <a:prstGeom prst="roundRect">
            <a:avLst>
              <a:gd name="adj" fmla="val 5926"/>
            </a:avLst>
          </a:prstGeom>
          <a:solidFill>
            <a:srgbClr val="F0F4F5"/>
          </a:solidFill>
          <a:ln w="9525">
            <a:solidFill>
              <a:srgbClr val="DDE3E8"/>
            </a:solidFill>
            <a:prstDash val="solid"/>
          </a:ln>
        </p:spPr>
      </p:sp>
      <p:sp>
        <p:nvSpPr>
          <p:cNvPr id="38" name="Shape 35"/>
          <p:cNvSpPr/>
          <p:nvPr/>
        </p:nvSpPr>
        <p:spPr>
          <a:xfrm>
            <a:off x="9946386" y="1234440"/>
            <a:ext cx="1788109" cy="54864"/>
          </a:xfrm>
          <a:prstGeom prst="rect">
            <a:avLst/>
          </a:prstGeom>
          <a:solidFill>
            <a:srgbClr val="005EB8"/>
          </a:solidFill>
          <a:ln w="12700">
            <a:solidFill>
              <a:srgbClr val="005EB8"/>
            </a:solidFill>
            <a:prstDash val="solid"/>
          </a:ln>
        </p:spPr>
      </p:sp>
      <p:sp>
        <p:nvSpPr>
          <p:cNvPr id="39" name="Shape 36"/>
          <p:cNvSpPr/>
          <p:nvPr/>
        </p:nvSpPr>
        <p:spPr>
          <a:xfrm>
            <a:off x="10074402" y="1417320"/>
            <a:ext cx="347472" cy="347472"/>
          </a:xfrm>
          <a:prstGeom prst="ellipse">
            <a:avLst/>
          </a:prstGeom>
          <a:solidFill>
            <a:srgbClr val="003087"/>
          </a:solidFill>
          <a:ln w="12700">
            <a:solidFill>
              <a:srgbClr val="003087"/>
            </a:solidFill>
            <a:prstDash val="solid"/>
          </a:ln>
        </p:spPr>
      </p:sp>
      <p:sp>
        <p:nvSpPr>
          <p:cNvPr id="40" name="Text 37"/>
          <p:cNvSpPr/>
          <p:nvPr/>
        </p:nvSpPr>
        <p:spPr>
          <a:xfrm>
            <a:off x="10074402"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1" name="Text 38"/>
          <p:cNvSpPr/>
          <p:nvPr/>
        </p:nvSpPr>
        <p:spPr>
          <a:xfrm>
            <a:off x="10495026"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board paper</a:t>
            </a:r>
            <a:endParaRPr lang="en-US" sz="1100" dirty="0"/>
          </a:p>
        </p:txBody>
      </p:sp>
      <p:sp>
        <p:nvSpPr>
          <p:cNvPr id="42" name="Text 39"/>
          <p:cNvSpPr/>
          <p:nvPr/>
        </p:nvSpPr>
        <p:spPr>
          <a:xfrm>
            <a:off x="10074402"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What the members see</a:t>
            </a:r>
            <a:endParaRPr lang="en-US" sz="900" dirty="0"/>
          </a:p>
        </p:txBody>
      </p:sp>
      <p:sp>
        <p:nvSpPr>
          <p:cNvPr id="43" name="Shape 40"/>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44" name="Text 41"/>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THE NORTH STAR</a:t>
            </a:r>
            <a:endParaRPr lang="en-US" sz="900" dirty="0"/>
          </a:p>
        </p:txBody>
      </p:sp>
      <p:sp>
        <p:nvSpPr>
          <p:cNvPr id="45" name="Text 42"/>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Easy buying. So the buying gets out of the way and the population outcome stays in focus.</a:t>
            </a:r>
            <a:endParaRPr lang="en-US" sz="1500" dirty="0"/>
          </a:p>
        </p:txBody>
      </p:sp>
      <p:sp>
        <p:nvSpPr>
          <p:cNvPr id="46" name="Text 43"/>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Commissioners do not buy home testing for the joy of running procurements. They buy it to close a detection gap, reduce late diagnoses, or get more out of a stretched service. The operating model exists so the buying stops being the work. </a:t>
            </a:r>
            <a:pPr indent="0" marL="0">
              <a:buNone/>
            </a:pPr>
            <a:r>
              <a:rPr lang="en-US" sz="1100" b="1" dirty="0">
                <a:solidFill>
                  <a:srgbClr val="231F20"/>
                </a:solidFill>
                <a:latin typeface="Arial" pitchFamily="34" charset="0"/>
                <a:ea typeface="Arial" pitchFamily="34" charset="-122"/>
                <a:cs typeface="Arial" pitchFamily="34" charset="-120"/>
              </a:rPr>
              <a:t>Easy buying is the North Star</a:t>
            </a:r>
            <a:pPr indent="0" marL="0">
              <a:buNone/>
            </a:pPr>
            <a:r>
              <a:rPr lang="en-US" sz="1100" dirty="0">
                <a:solidFill>
                  <a:srgbClr val="231F20"/>
                </a:solidFill>
                <a:latin typeface="Arial" pitchFamily="34" charset="0"/>
                <a:ea typeface="Arial" pitchFamily="34" charset="-122"/>
                <a:cs typeface="Arial" pitchFamily="34" charset="-120"/>
              </a:rPr>
              <a:t>, not because procurement should be lazy, but because effort spent on procurement is effort not spent on population health.</a:t>
            </a:r>
            <a:endParaRPr lang="en-US" sz="1100" dirty="0"/>
          </a:p>
        </p:txBody>
      </p:sp>
      <p:sp>
        <p:nvSpPr>
          <p:cNvPr id="47" name="Shape 44"/>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8" name="Text 45"/>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WHY ONE PLATFORM MATTERS TO HER</a:t>
            </a:r>
            <a:endParaRPr lang="en-US" sz="900" dirty="0"/>
          </a:p>
        </p:txBody>
      </p:sp>
      <p:sp>
        <p:nvSpPr>
          <p:cNvPr id="49" name="Text 46"/>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One framework. One signature. One platform she can come back to as her cohorts and questions change.</a:t>
            </a:r>
            <a:endParaRPr lang="en-US" sz="1500" dirty="0"/>
          </a:p>
        </p:txBody>
      </p:sp>
      <p:sp>
        <p:nvSpPr>
          <p:cNvPr id="50" name="Text 47"/>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A bespoke HIV-only procurement would buy a single deployment. The next cohort (chlamydia, syphilis, the next configuration the platform admits) would mean another procurement, another assurance set, another contract, another integration. The framework means Sarah signs once, the same NHS Login carries her cohorts, the same MI feed answers the same questions, and the next configuration is an extension, not a new programme. </a:t>
            </a:r>
            <a:pPr indent="0" marL="0">
              <a:buNone/>
            </a:pPr>
            <a:r>
              <a:rPr lang="en-US" sz="1100" b="1" dirty="0">
                <a:solidFill>
                  <a:srgbClr val="231F20"/>
                </a:solidFill>
                <a:latin typeface="Arial" pitchFamily="34" charset="0"/>
                <a:ea typeface="Arial" pitchFamily="34" charset="-122"/>
                <a:cs typeface="Arial" pitchFamily="34" charset="-120"/>
              </a:rPr>
              <a:t>The integration was done before she walked in.</a:t>
            </a:r>
            <a:endParaRPr lang="en-US" sz="1100" dirty="0"/>
          </a:p>
        </p:txBody>
      </p:sp>
      <p:sp>
        <p:nvSpPr>
          <p:cNvPr id="51" name="Text 48"/>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52" name="Text 49"/>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53" name="Text 50"/>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1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brief · a population, a gap, twelve months to move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892040" cy="1160526"/>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Arial" pitchFamily="34" charset="0"/>
                <a:ea typeface="Arial" pitchFamily="34" charset="-122"/>
                <a:cs typeface="Arial" pitchFamily="34" charset="-120"/>
              </a:rPr>
              <a:t>Sarah has an HIV detection gap she can see on the UKHSA dashboard. The late diagnoses are concentrated in MSM under-25s and the wards her clinics struggle hardest to reach. The Health and Wellbeing Board wants outcomes. She has twelve months and the LA sexual health budget. She does not have the headcount to bespoke a procurement around every supplier on the market.</a:t>
            </a:r>
            <a:endParaRPr lang="en-US" sz="1150" dirty="0"/>
          </a:p>
        </p:txBody>
      </p:sp>
      <p:sp>
        <p:nvSpPr>
          <p:cNvPr id="9" name="Shape 6"/>
          <p:cNvSpPr/>
          <p:nvPr/>
        </p:nvSpPr>
        <p:spPr>
          <a:xfrm>
            <a:off x="457200" y="3190494"/>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90494"/>
            <a:ext cx="82296" cy="944499"/>
          </a:xfrm>
          <a:prstGeom prst="rect">
            <a:avLst/>
          </a:prstGeom>
          <a:solidFill>
            <a:srgbClr val="005EB8"/>
          </a:solidFill>
          <a:ln w="12700">
            <a:solidFill>
              <a:srgbClr val="005EB8"/>
            </a:solidFill>
            <a:prstDash val="solid"/>
          </a:ln>
        </p:spPr>
      </p:sp>
      <p:sp>
        <p:nvSpPr>
          <p:cNvPr id="11" name="Text 8"/>
          <p:cNvSpPr/>
          <p:nvPr/>
        </p:nvSpPr>
        <p:spPr>
          <a:xfrm>
            <a:off x="685800" y="3245358"/>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can see the gap on the dashboard. I've got money on the table and the Board wants to see movement inside a year. What I don't have is the headcount to bespoke a procurement for every supplier.”</a:t>
            </a:r>
            <a:endParaRPr lang="en-US" sz="950" dirty="0"/>
          </a:p>
        </p:txBody>
      </p:sp>
      <p:sp>
        <p:nvSpPr>
          <p:cNvPr id="12" name="Text 9"/>
          <p:cNvSpPr/>
          <p:nvPr/>
        </p:nvSpPr>
        <p:spPr>
          <a:xfrm>
            <a:off x="685800" y="3824097"/>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1.jpg">    </p:cNvPr>
          <p:cNvPicPr>
            <a:picLocks noChangeAspect="1"/>
          </p:cNvPicPr>
          <p:nvPr/>
        </p:nvPicPr>
        <p:blipFill>
          <a:blip r:embed="rId2"/>
          <a:stretch>
            <a:fillRect/>
          </a:stretch>
        </p:blipFill>
        <p:spPr>
          <a:xfrm>
            <a:off x="457200" y="4299585"/>
            <a:ext cx="3568081" cy="1991487"/>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394206"/>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UKHSA late-diagnosis data showing the cohort concentrated in specific wards. A Health and Wellbeing Board paper asking what digital does for the gap. The LA sexual health budget. An existing sexual health service contract with the local provider. The clinical case is settled: home self-testing for HIV removes the clinic-visit barrier that keeps the late-diagnosed cohort away. </a:t>
            </a:r>
            <a:pPr indent="0" marL="0">
              <a:buNone/>
            </a:pPr>
            <a:r>
              <a:rPr lang="en-US" sz="1100" b="1" dirty="0">
                <a:solidFill>
                  <a:srgbClr val="231F20"/>
                </a:solidFill>
                <a:latin typeface="Arial" pitchFamily="34" charset="0"/>
                <a:ea typeface="Arial" pitchFamily="34" charset="-122"/>
                <a:cs typeface="Arial" pitchFamily="34" charset="-120"/>
              </a:rPr>
              <a:t>What's in front of her is procurement, integration with the existing service, and reach into the wards that don't engage.</a:t>
            </a:r>
            <a:endParaRPr lang="en-US" sz="1100" dirty="0"/>
          </a:p>
        </p:txBody>
      </p:sp>
      <p:sp>
        <p:nvSpPr>
          <p:cNvPr id="18" name="Shape 14"/>
          <p:cNvSpPr/>
          <p:nvPr/>
        </p:nvSpPr>
        <p:spPr>
          <a:xfrm>
            <a:off x="5669280" y="2893822"/>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893822"/>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3168142"/>
            <a:ext cx="6065215" cy="1223772"/>
          </a:xfrm>
          <a:prstGeom prst="rect">
            <a:avLst/>
          </a:prstGeom>
          <a:solidFill>
            <a:srgbClr val="F0F4F5"/>
          </a:solidFill>
          <a:ln w="12700">
            <a:solidFill>
              <a:srgbClr val="F0F4F5"/>
            </a:solidFill>
            <a:prstDash val="solid"/>
          </a:ln>
        </p:spPr>
      </p:sp>
      <p:sp>
        <p:nvSpPr>
          <p:cNvPr id="21" name="Text 17"/>
          <p:cNvSpPr/>
          <p:nvPr/>
        </p:nvSpPr>
        <p:spPr>
          <a:xfrm>
            <a:off x="5779008" y="3204718"/>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bespoke procurement against the LA's contract regulations. Six to nine months. Clinical safety assurance per supplier. IG assessment per supplier. Service-contract amendment to carry the new pathway. Twelve to fifteen months from Board paper to first kit, on a good run. The last new pathway she stood up before the framework existed took twenty-two months. That is a year her late-diagnosed patients did not have.</a:t>
            </a:r>
            <a:endParaRPr lang="en-US" sz="1100" dirty="0"/>
          </a:p>
        </p:txBody>
      </p:sp>
      <p:sp>
        <p:nvSpPr>
          <p:cNvPr id="22" name="Shape 18"/>
          <p:cNvSpPr/>
          <p:nvPr/>
        </p:nvSpPr>
        <p:spPr>
          <a:xfrm>
            <a:off x="5669280" y="451993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51993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794250"/>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830826"/>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 sexual health service provider lead. Her LA Clinical Safety Officer. Her IG lead. The public-health intelligence team who built the cohort analysis. Procurement, not yet engaged because the route is not yet chosen.</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2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One front door · the framework opens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She opens the framework. The HomeTest platform is admitted. The HIV configuration is live. Suppliers are listed against published call-off terms. Templates ready. National pricing visible. No procurement to design from scratch.</a:t>
            </a:r>
            <a:endParaRPr lang="en-US" sz="1450" dirty="0"/>
          </a:p>
        </p:txBody>
      </p:sp>
      <p:sp>
        <p:nvSpPr>
          <p:cNvPr id="9" name="Shape 6"/>
          <p:cNvSpPr/>
          <p:nvPr/>
        </p:nvSpPr>
        <p:spPr>
          <a:xfrm>
            <a:off x="457200" y="3244723"/>
            <a:ext cx="4892040" cy="797306"/>
          </a:xfrm>
          <a:prstGeom prst="rect">
            <a:avLst/>
          </a:prstGeom>
          <a:solidFill>
            <a:srgbClr val="F0F4F5"/>
          </a:solidFill>
          <a:ln w="12700">
            <a:solidFill>
              <a:srgbClr val="F0F4F5"/>
            </a:solidFill>
            <a:prstDash val="solid"/>
          </a:ln>
        </p:spPr>
      </p:sp>
      <p:sp>
        <p:nvSpPr>
          <p:cNvPr id="10" name="Shape 7"/>
          <p:cNvSpPr/>
          <p:nvPr/>
        </p:nvSpPr>
        <p:spPr>
          <a:xfrm>
            <a:off x="457200" y="3244723"/>
            <a:ext cx="82296" cy="797306"/>
          </a:xfrm>
          <a:prstGeom prst="rect">
            <a:avLst/>
          </a:prstGeom>
          <a:solidFill>
            <a:srgbClr val="005EB8"/>
          </a:solidFill>
          <a:ln w="12700">
            <a:solidFill>
              <a:srgbClr val="005EB8"/>
            </a:solidFill>
            <a:prstDash val="solid"/>
          </a:ln>
        </p:spPr>
      </p:sp>
      <p:sp>
        <p:nvSpPr>
          <p:cNvPr id="11" name="Text 8"/>
          <p:cNvSpPr/>
          <p:nvPr/>
        </p:nvSpPr>
        <p:spPr>
          <a:xfrm>
            <a:off x="685800" y="3299587"/>
            <a:ext cx="4526280" cy="431546"/>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expected to be writing a spec. I'm looking at suppliers I can already call off. The framework did the heavy lifting before I logged in.”</a:t>
            </a:r>
            <a:endParaRPr lang="en-US" sz="950" dirty="0"/>
          </a:p>
        </p:txBody>
      </p:sp>
      <p:sp>
        <p:nvSpPr>
          <p:cNvPr id="12" name="Text 9"/>
          <p:cNvSpPr/>
          <p:nvPr/>
        </p:nvSpPr>
        <p:spPr>
          <a:xfrm>
            <a:off x="685800" y="3731133"/>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2.jpg">    </p:cNvPr>
          <p:cNvPicPr>
            <a:picLocks noChangeAspect="1"/>
          </p:cNvPicPr>
          <p:nvPr/>
        </p:nvPicPr>
        <p:blipFill>
          <a:blip r:embed="rId2"/>
          <a:stretch>
            <a:fillRect/>
          </a:stretch>
        </p:blipFill>
        <p:spPr>
          <a:xfrm>
            <a:off x="457200" y="4206621"/>
            <a:ext cx="3734641" cy="2084451"/>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page. HIV self-test suppliers admitted to the HomeTest platform. Standard call-off terms. DSA, DPIA, privacy notice and clinical safety case starter templates pre-built. NHS Login carries the cohort. Targeting and reach capabilities exposed via UKHSA data overlays and NHSE social channels. </a:t>
            </a:r>
            <a:pPr indent="0" marL="0">
              <a:buNone/>
            </a:pPr>
            <a:r>
              <a:rPr lang="en-US" sz="1100" b="1" dirty="0">
                <a:solidFill>
                  <a:srgbClr val="231F20"/>
                </a:solidFill>
                <a:latin typeface="Arial" pitchFamily="34" charset="0"/>
                <a:ea typeface="Arial" pitchFamily="34" charset="-122"/>
                <a:cs typeface="Arial" pitchFamily="34" charset="-120"/>
              </a:rPr>
              <a:t>The route is published; she just has to choose to take it.</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clean-sheet procurement compliant with the LA's contract regulations. Spec writing. Supplier engagement. Two or three rounds of clarifications. A standstill period. Bespoke clinical safety case from a blank page. Bespoke IG. Bespoke MI. Three months gone before the first contract draft.</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platform's commissioner-engagement contact for the configuration. Her LA procurement lead, sense-checking the call-off route. Her sexual health service provider lead, sense-checking how the pathway plugs into the existing service.</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3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Fit for HER cohort · the questions standard answers don't solve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892040" cy="1098550"/>
          </a:xfrm>
          <a:prstGeom prst="rect">
            <a:avLst/>
          </a:prstGeom>
          <a:noFill/>
          <a:ln/>
        </p:spPr>
        <p:txBody>
          <a:bodyPr wrap="square" lIns="0" tIns="0" rIns="0" bIns="0" rtlCol="0" anchor="t">
            <a:normAutofit/>
          </a:bodyPr>
          <a:lstStyle/>
          <a:p>
            <a:pPr indent="0" marL="0">
              <a:buNone/>
            </a:pPr>
            <a:r>
              <a:rPr lang="en-US" sz="1300" b="1" dirty="0">
                <a:solidFill>
                  <a:srgbClr val="003087"/>
                </a:solidFill>
                <a:latin typeface="Arial" pitchFamily="34" charset="0"/>
                <a:ea typeface="Arial" pitchFamily="34" charset="-122"/>
                <a:cs typeface="Arial" pitchFamily="34" charset="-120"/>
              </a:rPr>
              <a:t>Standard answers don't help her if her late-diagnosed patients are exactly the ones standard provision misses. Unsafe-address households. Low digital literacy. Reach into the wards her clinics don't see. She runs her open questions against the framework, expecting friction.</a:t>
            </a:r>
            <a:endParaRPr lang="en-US" sz="1300" dirty="0"/>
          </a:p>
        </p:txBody>
      </p:sp>
      <p:sp>
        <p:nvSpPr>
          <p:cNvPr id="9" name="Shape 6"/>
          <p:cNvSpPr/>
          <p:nvPr/>
        </p:nvSpPr>
        <p:spPr>
          <a:xfrm>
            <a:off x="457200" y="312851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28518"/>
            <a:ext cx="82296" cy="944499"/>
          </a:xfrm>
          <a:prstGeom prst="rect">
            <a:avLst/>
          </a:prstGeom>
          <a:solidFill>
            <a:srgbClr val="005EB8"/>
          </a:solidFill>
          <a:ln w="12700">
            <a:solidFill>
              <a:srgbClr val="005EB8"/>
            </a:solidFill>
            <a:prstDash val="solid"/>
          </a:ln>
        </p:spPr>
      </p:sp>
      <p:sp>
        <p:nvSpPr>
          <p:cNvPr id="11" name="Text 8"/>
          <p:cNvSpPr/>
          <p:nvPr/>
        </p:nvSpPr>
        <p:spPr>
          <a:xfrm>
            <a:off x="685800" y="318338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“Standard answers don't help me if my late-diagnosed patients are exactly the ones standard provision misses. I need to know how this works for the people I'm trying to reach.”</a:t>
            </a:r>
            <a:endParaRPr lang="en-US" sz="950" dirty="0"/>
          </a:p>
        </p:txBody>
      </p:sp>
      <p:sp>
        <p:nvSpPr>
          <p:cNvPr id="12" name="Text 9"/>
          <p:cNvSpPr/>
          <p:nvPr/>
        </p:nvSpPr>
        <p:spPr>
          <a:xfrm>
            <a:off x="685800" y="3762121"/>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3.jpg">    </p:cNvPr>
          <p:cNvPicPr>
            <a:picLocks noChangeAspect="1"/>
          </p:cNvPicPr>
          <p:nvPr/>
        </p:nvPicPr>
        <p:blipFill>
          <a:blip r:embed="rId2"/>
          <a:stretch>
            <a:fillRect/>
          </a:stretch>
        </p:blipFill>
        <p:spPr>
          <a:xfrm>
            <a:off x="457200" y="4237609"/>
            <a:ext cx="3679121" cy="205346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394206"/>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 open questions list against the framework's published outputs. The unsafe-address pathway: how kit goes to a patient whose home address is not a safe delivery point. The low-digital-literacy path: an alternative entry route for patients who can't engage with an app-led journey. The ward-level outreach overlay: how UKHSA data and NHSE social channels reach the cohorts her clinic doesn't see. </a:t>
            </a:r>
            <a:pPr indent="0" marL="0">
              <a:buNone/>
            </a:pPr>
            <a:r>
              <a:rPr lang="en-US" sz="1100" b="1" dirty="0">
                <a:solidFill>
                  <a:srgbClr val="231F20"/>
                </a:solidFill>
                <a:latin typeface="Arial" pitchFamily="34" charset="0"/>
                <a:ea typeface="Arial" pitchFamily="34" charset="-122"/>
                <a:cs typeface="Arial" pitchFamily="34" charset="-120"/>
              </a:rPr>
              <a:t>The framework either answers these or it doesn't. The platform either has the capability or it doesn't. She finds out before signing.</a:t>
            </a:r>
            <a:endParaRPr lang="en-US" sz="1100" dirty="0"/>
          </a:p>
        </p:txBody>
      </p:sp>
      <p:sp>
        <p:nvSpPr>
          <p:cNvPr id="18" name="Shape 14"/>
          <p:cNvSpPr/>
          <p:nvPr/>
        </p:nvSpPr>
        <p:spPr>
          <a:xfrm>
            <a:off x="5669280" y="2893822"/>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893822"/>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3168142"/>
            <a:ext cx="6065215" cy="1223772"/>
          </a:xfrm>
          <a:prstGeom prst="rect">
            <a:avLst/>
          </a:prstGeom>
          <a:solidFill>
            <a:srgbClr val="F0F4F5"/>
          </a:solidFill>
          <a:ln w="12700">
            <a:solidFill>
              <a:srgbClr val="F0F4F5"/>
            </a:solidFill>
            <a:prstDash val="solid"/>
          </a:ln>
        </p:spPr>
      </p:sp>
      <p:sp>
        <p:nvSpPr>
          <p:cNvPr id="21" name="Text 17"/>
          <p:cNvSpPr/>
          <p:nvPr/>
        </p:nvSpPr>
        <p:spPr>
          <a:xfrm>
            <a:off x="5779008" y="3204718"/>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Six rounds of meetings with each supplier to discover what they actually do for her cohort. Bespoke service design negotiated supplier by supplier. Pilot phase running into year two. Or, in the worst case, skip the question entirely and assume what is on offer is fine. The pattern from her last new pathway: assumed it would work for everyone, found out at month nine that the cohort she was targeting hadn't engaged.</a:t>
            </a:r>
            <a:endParaRPr lang="en-US" sz="1100" dirty="0"/>
          </a:p>
        </p:txBody>
      </p:sp>
      <p:sp>
        <p:nvSpPr>
          <p:cNvPr id="22" name="Shape 18"/>
          <p:cNvSpPr/>
          <p:nvPr/>
        </p:nvSpPr>
        <p:spPr>
          <a:xfrm>
            <a:off x="5669280" y="451993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51993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794250"/>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830826"/>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 public-health intelligence lead on the cohort. Her sexual health service's outreach lead. The platform's engagement contact on unsafe-address policy and the alternative entry route. Her safeguarding officer.</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4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One call-off · signing, not procuring</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892040" cy="1021080"/>
          </a:xfrm>
          <a:prstGeom prst="rect">
            <a:avLst/>
          </a:prstGeom>
          <a:noFill/>
          <a:ln/>
        </p:spPr>
        <p:txBody>
          <a:bodyPr wrap="square" lIns="0" tIns="0" rIns="0" bIns="0" rtlCol="0" anchor="t">
            <a:normAutofit/>
          </a:bodyPr>
          <a:lstStyle/>
          <a:p>
            <a:pPr indent="0" marL="0">
              <a:buNone/>
            </a:pPr>
            <a:r>
              <a:rPr lang="en-US" sz="1200" b="1" dirty="0">
                <a:solidFill>
                  <a:srgbClr val="003087"/>
                </a:solidFill>
                <a:latin typeface="Arial" pitchFamily="34" charset="0"/>
                <a:ea typeface="Arial" pitchFamily="34" charset="-122"/>
                <a:cs typeface="Arial" pitchFamily="34" charset="-120"/>
              </a:rPr>
              <a:t>The call-off goes in. Six weeks from brief to live, not eighteen months. The LA's sexual health service contract carries the home-testing pathway as an extension. NHS Login carries the cohort. Payment via published call-off terms. The procurement scar she carried in is not the procurement she ran.</a:t>
            </a:r>
            <a:endParaRPr lang="en-US" sz="1200" dirty="0"/>
          </a:p>
        </p:txBody>
      </p:sp>
      <p:sp>
        <p:nvSpPr>
          <p:cNvPr id="9" name="Shape 6"/>
          <p:cNvSpPr/>
          <p:nvPr/>
        </p:nvSpPr>
        <p:spPr>
          <a:xfrm>
            <a:off x="457200" y="3051048"/>
            <a:ext cx="4892040" cy="797306"/>
          </a:xfrm>
          <a:prstGeom prst="rect">
            <a:avLst/>
          </a:prstGeom>
          <a:solidFill>
            <a:srgbClr val="F0F4F5"/>
          </a:solidFill>
          <a:ln w="12700">
            <a:solidFill>
              <a:srgbClr val="F0F4F5"/>
            </a:solidFill>
            <a:prstDash val="solid"/>
          </a:ln>
        </p:spPr>
      </p:sp>
      <p:sp>
        <p:nvSpPr>
          <p:cNvPr id="10" name="Shape 7"/>
          <p:cNvSpPr/>
          <p:nvPr/>
        </p:nvSpPr>
        <p:spPr>
          <a:xfrm>
            <a:off x="457200" y="3051048"/>
            <a:ext cx="82296" cy="797306"/>
          </a:xfrm>
          <a:prstGeom prst="rect">
            <a:avLst/>
          </a:prstGeom>
          <a:solidFill>
            <a:srgbClr val="005EB8"/>
          </a:solidFill>
          <a:ln w="12700">
            <a:solidFill>
              <a:srgbClr val="005EB8"/>
            </a:solidFill>
            <a:prstDash val="solid"/>
          </a:ln>
        </p:spPr>
      </p:sp>
      <p:sp>
        <p:nvSpPr>
          <p:cNvPr id="11" name="Text 8"/>
          <p:cNvSpPr/>
          <p:nvPr/>
        </p:nvSpPr>
        <p:spPr>
          <a:xfrm>
            <a:off x="685800" y="3105912"/>
            <a:ext cx="4526280" cy="431546"/>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“I've signed call-offs that took twenty minutes. The eighteen months I didn't spend negotiating is the eighteen months my patients didn't wait.”</a:t>
            </a:r>
            <a:endParaRPr lang="en-US" sz="950" dirty="0"/>
          </a:p>
        </p:txBody>
      </p:sp>
      <p:sp>
        <p:nvSpPr>
          <p:cNvPr id="12" name="Text 9"/>
          <p:cNvSpPr/>
          <p:nvPr/>
        </p:nvSpPr>
        <p:spPr>
          <a:xfrm>
            <a:off x="685800" y="3537458"/>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4.jpg">    </p:cNvPr>
          <p:cNvPicPr>
            <a:picLocks noChangeAspect="1"/>
          </p:cNvPicPr>
          <p:nvPr/>
        </p:nvPicPr>
        <p:blipFill>
          <a:blip r:embed="rId2"/>
          <a:stretch>
            <a:fillRect/>
          </a:stretch>
        </p:blipFill>
        <p:spPr>
          <a:xfrm>
            <a:off x="457200" y="4012946"/>
            <a:ext cx="4081642" cy="2278126"/>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call-off itself. The supplier admitted to the platform under the framework. The local sexual health service contract amended to carry the new pathway as an extension. DSA executed against the framework's template. Clinical safety case approved by the LA's CSO using the framework's starter case as the spine. First batch of kits ordered. Outbound communications drafted for the wards the public-health team flagged. </a:t>
            </a:r>
            <a:pPr indent="0" marL="0">
              <a:buNone/>
            </a:pPr>
            <a:r>
              <a:rPr lang="en-US" sz="1100" b="1" dirty="0">
                <a:solidFill>
                  <a:srgbClr val="231F20"/>
                </a:solidFill>
                <a:latin typeface="Arial" pitchFamily="34" charset="0"/>
                <a:ea typeface="Arial" pitchFamily="34" charset="-122"/>
                <a:cs typeface="Arial" pitchFamily="34" charset="-120"/>
              </a:rPr>
              <a:t>Every step has a published template. Nothing is being designed in the moment.</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multi-year bilateral contract with each supplier. Bespoke pricing schedule. Bespoke clinical safety case from a blank page. Bespoke IG. Bespoke MI. Each adding months to the deployment timeline. Each reducing the budget left for the actual outreach.</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 LA procurement lead. Her LA CSO. Her IG lead. The sexual health service provider lead. The platform's engagement contact handling the call-off process. The supplier's account manager.</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5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Live operation · kits out, results back</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892040" cy="1176020"/>
          </a:xfrm>
          <a:prstGeom prst="rect">
            <a:avLst/>
          </a:prstGeom>
          <a:noFill/>
          <a:ln/>
        </p:spPr>
        <p:txBody>
          <a:bodyPr wrap="square" lIns="0" tIns="0" rIns="0" bIns="0" rtlCol="0" anchor="t">
            <a:normAutofit/>
          </a:bodyPr>
          <a:lstStyle/>
          <a:p>
            <a:pPr indent="0" marL="0">
              <a:buNone/>
            </a:pPr>
            <a:r>
              <a:rPr lang="en-US" sz="1400" b="1" dirty="0">
                <a:solidFill>
                  <a:srgbClr val="003087"/>
                </a:solidFill>
                <a:latin typeface="Arial" pitchFamily="34" charset="0"/>
                <a:ea typeface="Arial" pitchFamily="34" charset="-122"/>
                <a:cs typeface="Arial" pitchFamily="34" charset="-120"/>
              </a:rPr>
              <a:t>Quarter one live. Kits going out to the wards her public-health team targeted. Self-test results triaged through her existing sexual health service. The MI feed shows reach into the cohorts standard provision missed. The pathway just works for the patient.</a:t>
            </a:r>
            <a:endParaRPr lang="en-US" sz="1400" dirty="0"/>
          </a:p>
        </p:txBody>
      </p:sp>
      <p:sp>
        <p:nvSpPr>
          <p:cNvPr id="9" name="Shape 6"/>
          <p:cNvSpPr/>
          <p:nvPr/>
        </p:nvSpPr>
        <p:spPr>
          <a:xfrm>
            <a:off x="457200" y="3205988"/>
            <a:ext cx="4892040" cy="812800"/>
          </a:xfrm>
          <a:prstGeom prst="rect">
            <a:avLst/>
          </a:prstGeom>
          <a:solidFill>
            <a:srgbClr val="F0F4F5"/>
          </a:solidFill>
          <a:ln w="12700">
            <a:solidFill>
              <a:srgbClr val="F0F4F5"/>
            </a:solidFill>
            <a:prstDash val="solid"/>
          </a:ln>
        </p:spPr>
      </p:sp>
      <p:sp>
        <p:nvSpPr>
          <p:cNvPr id="10" name="Shape 7"/>
          <p:cNvSpPr/>
          <p:nvPr/>
        </p:nvSpPr>
        <p:spPr>
          <a:xfrm>
            <a:off x="457200" y="3205988"/>
            <a:ext cx="82296" cy="812800"/>
          </a:xfrm>
          <a:prstGeom prst="rect">
            <a:avLst/>
          </a:prstGeom>
          <a:solidFill>
            <a:srgbClr val="005EB8"/>
          </a:solidFill>
          <a:ln w="12700">
            <a:solidFill>
              <a:srgbClr val="005EB8"/>
            </a:solidFill>
            <a:prstDash val="solid"/>
          </a:ln>
        </p:spPr>
      </p:sp>
      <p:sp>
        <p:nvSpPr>
          <p:cNvPr id="11" name="Text 8"/>
          <p:cNvSpPr/>
          <p:nvPr/>
        </p:nvSpPr>
        <p:spPr>
          <a:xfrm>
            <a:off x="685800" y="3260852"/>
            <a:ext cx="4526280" cy="447040"/>
          </a:xfrm>
          <a:prstGeom prst="rect">
            <a:avLst/>
          </a:prstGeom>
          <a:noFill/>
          <a:ln/>
        </p:spPr>
        <p:txBody>
          <a:bodyPr wrap="square" lIns="0" tIns="0" rIns="0" bIns="0" rtlCol="0" anchor="t">
            <a:normAutofit/>
          </a:bodyPr>
          <a:lstStyle/>
          <a:p>
            <a:pPr indent="0" marL="0">
              <a:buNone/>
            </a:pPr>
            <a:r>
              <a:rPr lang="en-US" sz="1000" i="1" dirty="0">
                <a:solidFill>
                  <a:srgbClr val="231F20"/>
                </a:solidFill>
                <a:latin typeface="Arial" pitchFamily="34" charset="0"/>
                <a:ea typeface="Arial" pitchFamily="34" charset="-122"/>
                <a:cs typeface="Arial" pitchFamily="34" charset="-120"/>
              </a:rPr>
              <a:t>“Patients don't see procurement. They see a kit in the post and a follow-up from a service they trust. The pathway just works for them.”</a:t>
            </a:r>
            <a:endParaRPr lang="en-US" sz="1000" dirty="0"/>
          </a:p>
        </p:txBody>
      </p:sp>
      <p:sp>
        <p:nvSpPr>
          <p:cNvPr id="12" name="Text 9"/>
          <p:cNvSpPr/>
          <p:nvPr/>
        </p:nvSpPr>
        <p:spPr>
          <a:xfrm>
            <a:off x="685800" y="3707892"/>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5.jpg">    </p:cNvPr>
          <p:cNvPicPr>
            <a:picLocks noChangeAspect="1"/>
          </p:cNvPicPr>
          <p:nvPr/>
        </p:nvPicPr>
        <p:blipFill>
          <a:blip r:embed="rId2"/>
          <a:stretch>
            <a:fillRect/>
          </a:stretch>
        </p:blipFill>
        <p:spPr>
          <a:xfrm>
            <a:off x="457200" y="4183380"/>
            <a:ext cx="3776281" cy="2107692"/>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MI dashboard. Kits ordered. Kits delivered. Results returned (positive, negative, invalid). Triage decisions. Follow-up clinic bookings. Reach into the target wards versus the LA baseline. Equity reach against the LA's inequality targets. Reactive support paths for unsafe-result delivery. </a:t>
            </a:r>
            <a:pPr indent="0" marL="0">
              <a:buNone/>
            </a:pPr>
            <a:r>
              <a:rPr lang="en-US" sz="1100" b="1" dirty="0">
                <a:solidFill>
                  <a:srgbClr val="231F20"/>
                </a:solidFill>
                <a:latin typeface="Arial" pitchFamily="34" charset="0"/>
                <a:ea typeface="Arial" pitchFamily="34" charset="-122"/>
                <a:cs typeface="Arial" pitchFamily="34" charset="-120"/>
              </a:rPr>
              <a:t>The numbers are visible in real time. She doesn't need to wait for the annual return.</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Hand-rolled MI. Manual chasing of result returns. Manual follow-up. No view of equity reach until the annual report. The risk: finding out a year late that the cohort the LA targeted hadn't actually engaged, by which time the next year's budget had been set on the assumption it had.</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sexual health service provider running the clinical pathway. The supplier running the kit logistics. The platform running the data layer. The LA outreach team running ward-level engagement. Sarah herself looking at the MI feed weekly.</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STAGE 6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board paper · what the members see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06</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First-year outcomes. HIV detection rate up. Late-diagnosis rate down. Equity reach into the wards her clinics didn't see, verified. The board paper writes itself. The next year's ask is for the next configuration, not the next procurement.</a:t>
            </a:r>
            <a:endParaRPr lang="en-US" sz="1450" dirty="0"/>
          </a:p>
        </p:txBody>
      </p:sp>
      <p:sp>
        <p:nvSpPr>
          <p:cNvPr id="9" name="Shape 6"/>
          <p:cNvSpPr/>
          <p:nvPr/>
        </p:nvSpPr>
        <p:spPr>
          <a:xfrm>
            <a:off x="457200" y="324472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44723"/>
            <a:ext cx="82296" cy="944499"/>
          </a:xfrm>
          <a:prstGeom prst="rect">
            <a:avLst/>
          </a:prstGeom>
          <a:solidFill>
            <a:srgbClr val="005EB8"/>
          </a:solidFill>
          <a:ln w="12700">
            <a:solidFill>
              <a:srgbClr val="005EB8"/>
            </a:solidFill>
            <a:prstDash val="solid"/>
          </a:ln>
        </p:spPr>
      </p:sp>
      <p:sp>
        <p:nvSpPr>
          <p:cNvPr id="11" name="Text 8"/>
          <p:cNvSpPr/>
          <p:nvPr/>
        </p:nvSpPr>
        <p:spPr>
          <a:xfrm>
            <a:off x="685800" y="329958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Health and Wellbeing Board wanted to know whether it worked. The numbers do most of the talking. The pathway behind them is what made the numbers possible.”</a:t>
            </a:r>
            <a:endParaRPr lang="en-US" sz="950" dirty="0"/>
          </a:p>
        </p:txBody>
      </p:sp>
      <p:sp>
        <p:nvSpPr>
          <p:cNvPr id="12" name="Text 9"/>
          <p:cNvSpPr/>
          <p:nvPr/>
        </p:nvSpPr>
        <p:spPr>
          <a:xfrm>
            <a:off x="685800" y="3878326"/>
            <a:ext cx="452628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Sarah</a:t>
            </a:r>
            <a:endParaRPr lang="en-US" sz="950" dirty="0"/>
          </a:p>
        </p:txBody>
      </p:sp>
      <p:pic>
        <p:nvPicPr>
          <p:cNvPr id="13" name="Image 1" descr="/sessions/quirky-zen-galileo/mnt/outputs/hmdecks/img/sarah-stage6.jpg">    </p:cNvPr>
          <p:cNvPicPr>
            <a:picLocks noChangeAspect="1"/>
          </p:cNvPicPr>
          <p:nvPr/>
        </p:nvPicPr>
        <p:blipFill>
          <a:blip r:embed="rId2"/>
          <a:stretch>
            <a:fillRect/>
          </a:stretch>
        </p:blipFill>
        <p:spPr>
          <a:xfrm>
            <a:off x="457200" y="4353814"/>
            <a:ext cx="3470921" cy="193725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HIV detection rate against the LA baseline. Late-diagnosis rate, by ward. Equity reach into the cohorts the LA targeted. Cost per detection. Clinic capacity released back to the service for follow-up and treatment. Patient feedback. Reactive-pathway performance for unsafe-result delivery. The recommendation for year two: extend to the next configuration the platform admits. </a:t>
            </a:r>
            <a:pPr indent="0" marL="0">
              <a:buNone/>
            </a:pPr>
            <a:r>
              <a:rPr lang="en-US" sz="1100" b="1" dirty="0">
                <a:solidFill>
                  <a:srgbClr val="231F20"/>
                </a:solidFill>
                <a:latin typeface="Arial" pitchFamily="34" charset="0"/>
                <a:ea typeface="Arial" pitchFamily="34" charset="-122"/>
                <a:cs typeface="Arial" pitchFamily="34" charset="-120"/>
              </a:rPr>
              <a:t>Same framework. Same call-off shape. Same MI feed.</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board paper hedged with ‘data still maturing’ and ‘next year we will have a fuller picture’. Three years before a programme of this size could be evaluated against equity targets. By which time the LA had moved on, the funding had been re-prioritised, or the member who sponsored it had left office.</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Health and Wellbeing Board. The Director of Public Health. Elected members on the relevant scrutiny committee. The LA finance team setting the next year's commissioning envelope.</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SARAH'S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Sarah's win</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Detection earlier in the wards her clinics did not reach. Late diagnoses down. Equity verified.</a:t>
            </a:r>
            <a:endParaRPr lang="en-US" sz="2200" dirty="0"/>
          </a:p>
        </p:txBody>
      </p:sp>
      <p:sp>
        <p:nvSpPr>
          <p:cNvPr id="8" name="Text 5"/>
          <p:cNvSpPr/>
          <p:nvPr/>
        </p:nvSpPr>
        <p:spPr>
          <a:xfrm>
            <a:off x="457200" y="2011680"/>
            <a:ext cx="11277295" cy="649224"/>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The patients didn't see a procurement. They saw a kit in the post and a follow-up call from the sexual health service. </a:t>
            </a:r>
            <a:pPr indent="0" marL="0">
              <a:buNone/>
            </a:pPr>
            <a:r>
              <a:rPr lang="en-US" sz="1200" b="1" dirty="0">
                <a:solidFill>
                  <a:srgbClr val="231F20"/>
                </a:solidFill>
                <a:latin typeface="Arial" pitchFamily="34" charset="0"/>
                <a:ea typeface="Arial" pitchFamily="34" charset="-122"/>
                <a:cs typeface="Arial" pitchFamily="34" charset="-120"/>
              </a:rPr>
              <a:t>The eighteen months Sarah didn't spend on the back office is the eighteen months her patients didn't spend undiagnosed.</a:t>
            </a:r>
            <a:pPr indent="0" marL="0">
              <a:buNone/>
            </a:pPr>
            <a:r>
              <a:rPr lang="en-US" sz="1200" dirty="0">
                <a:solidFill>
                  <a:srgbClr val="231F20"/>
                </a:solidFill>
                <a:latin typeface="Arial" pitchFamily="34" charset="0"/>
                <a:ea typeface="Arial" pitchFamily="34" charset="-122"/>
                <a:cs typeface="Arial" pitchFamily="34" charset="-120"/>
              </a:rPr>
              <a:t> The next configuration is an extension of the same signature, not a new programme from a clean sheet.</a:t>
            </a:r>
            <a:endParaRPr lang="en-US" sz="1200" dirty="0"/>
          </a:p>
        </p:txBody>
      </p:sp>
      <p:sp>
        <p:nvSpPr>
          <p:cNvPr id="9" name="Shape 6"/>
          <p:cNvSpPr/>
          <p:nvPr/>
        </p:nvSpPr>
        <p:spPr>
          <a:xfrm>
            <a:off x="457200" y="2935224"/>
            <a:ext cx="11277295" cy="2340102"/>
          </a:xfrm>
          <a:prstGeom prst="roundRect">
            <a:avLst>
              <a:gd name="adj" fmla="val 3908"/>
            </a:avLst>
          </a:prstGeom>
          <a:solidFill>
            <a:srgbClr val="FFFFFF"/>
          </a:solidFill>
          <a:ln w="9525">
            <a:solidFill>
              <a:srgbClr val="DDE3E8"/>
            </a:solidFill>
            <a:prstDash val="solid"/>
          </a:ln>
        </p:spPr>
      </p:sp>
      <p:sp>
        <p:nvSpPr>
          <p:cNvPr id="10" name="Shape 7"/>
          <p:cNvSpPr/>
          <p:nvPr/>
        </p:nvSpPr>
        <p:spPr>
          <a:xfrm>
            <a:off x="457200" y="2935224"/>
            <a:ext cx="11277295" cy="73152"/>
          </a:xfrm>
          <a:prstGeom prst="rect">
            <a:avLst/>
          </a:prstGeom>
          <a:solidFill>
            <a:srgbClr val="006747"/>
          </a:solidFill>
          <a:ln w="12700">
            <a:solidFill>
              <a:srgbClr val="006747"/>
            </a:solidFill>
            <a:prstDash val="solid"/>
          </a:ln>
        </p:spPr>
      </p:sp>
      <p:sp>
        <p:nvSpPr>
          <p:cNvPr id="11" name="Text 8"/>
          <p:cNvSpPr/>
          <p:nvPr/>
        </p:nvSpPr>
        <p:spPr>
          <a:xfrm>
            <a:off x="731520" y="3118104"/>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438144"/>
            <a:ext cx="10728655" cy="1379982"/>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Sarah buys from the framework by call-off: a cost per activity for each completed test, against a national ceiling she can beat locally as volume grows. She pays the supplier direct from the sexual health budget she already holds; NHSE holds no budget between them and no new national pot is created. The supplier's price carries a levy of one to two percent of throughput that funds the framework, so it never appears as a line on her invoice.</a:t>
            </a:r>
            <a:pPr indent="0" marL="0">
              <a:spcAft>
                <a:spcPts val="600"/>
              </a:spcAft>
              <a:buNone/>
            </a:pPr>
            <a:endParaRPr lang="en-US" sz="1150" dirty="0"/>
          </a:p>
          <a:p>
            <a:pPr indent="0" marL="0">
              <a:spcAft>
                <a:spcPts val="600"/>
              </a:spcAft>
              <a:buNone/>
            </a:pPr>
            <a:r>
              <a:rPr lang="en-US" sz="1150" dirty="0">
                <a:solidFill>
                  <a:srgbClr val="4C6272"/>
                </a:solidFill>
                <a:latin typeface="Arial" pitchFamily="34" charset="0"/>
                <a:ea typeface="Arial" pitchFamily="34" charset="-122"/>
                <a:cs typeface="Arial" pitchFamily="34" charset="-120"/>
              </a:rPr>
              <a:t>The assurance was done once, nationally, before she ever picked up the phone, which is why buying took a signature and not a season of paperwork.</a:t>
            </a:r>
            <a:endParaRPr lang="en-US" sz="1150" dirty="0"/>
          </a:p>
        </p:txBody>
      </p:sp>
      <p:sp>
        <p:nvSpPr>
          <p:cNvPr id="13" name="Text 10"/>
          <p:cNvSpPr/>
          <p:nvPr/>
        </p:nvSpPr>
        <p:spPr>
          <a:xfrm>
            <a:off x="731520" y="4863846"/>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Sarah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Sarah's story: HomeTest Hearts and Minds</dc:title>
  <dc:subject>PptxGenJS Presentation</dc:subject>
  <dc:creator>HomeTest Programme</dc:creator>
  <cp:lastModifiedBy>HomeTest Programme</cp:lastModifiedBy>
  <cp:revision>1</cp:revision>
  <dcterms:created xsi:type="dcterms:W3CDTF">2026-09-05T07:23:53Z</dcterms:created>
  <dcterms:modified xsi:type="dcterms:W3CDTF">2026-09-05T07:23:53Z</dcterms:modified>
</cp:coreProperties>
</file>