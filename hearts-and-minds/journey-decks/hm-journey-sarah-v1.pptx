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Sarah's story, told through the operating model. Open on the person, not the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The brief · a population. UKHSA late-diagnosis data showing the cohort concentrated in specific wards. A Health and Wellbeing Board paper asking what digital does for the gap. The LA sexual health budget. An existing sexual health service contract with the local provider. The clinical case is settled: home self-testing for HIV removes the clinic-visit barrier that keeps the late-diagnosed cohort away. What's in front of her is procurement, integration with the existing service, and reach into the wards that don't engage.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One front door · the framework opens. The framework page. HIV self-test suppliers admitted to the HomeTest platform. Standard call-off terms. DSA, DPIA, privacy notice and clinical safety case starter templates pre-built. NHS Login carries the cohort. Targeting and reach capabilities exposed via UKHSA data overlays and NHSE social channels. The route is published; she just has to choose to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Fit for HER cohort · the questions standard answers don't solve. Her open questions list against the framework's published outputs. The unsafe-address pathway: how kit goes to a patient whose home address is not a safe delivery point. The low-digital-literacy path: an alternative entry route for patients who can't engage with an app-led journey. The ward-level outreach overlay: how UKHSA data and NHSE social channels reach the cohorts her clinic doesn't see. The framework either answers these or it doesn't. The platform either has the capability or it doesn't. She finds out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One call-off · signing. The call-off itself. The supplier admitted to the platform under the framework. The local sexual health service contract amended to carry the new pathway as an extension. DSA executed against the framework's template. Clinical safety case approved by the LA's CSO using the framework's starter case as the spine. First batch of kits ordered. Outbound communications drafted for the wards the public-health team flagged. Every step has a published template. Nothing is being designed in the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5: Live operation · kits out. The MI dashboard. Kits ordered. Kits delivered. Results returned (positive, negative, invalid). Triage decisions. Follow-up clinic bookings. Reach into the target wards versus the LA baseline. Equity reach against the LA's inequality targets. Reactive support paths for unsafe-result delivery. The numbers are visible in real time. She doesn't need to wait for the annual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6: The board paper · what the members see. HIV detection rate against the LA baseline. Late-diagnosis rate, by ward. Equity reach into the cohorts the LA targeted. Cost per detection. Clinic capacity released back to the service for follow-up and treatment. Patient feedback. Reactive-pathway performance for unsafe-result delivery. The recommendation for year two: extend to the next configuration the platform admits. Same framework. Same call-off shape. Same MI feed.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sarah-hero-0.787.jpg">    </p:cNvPr>
          <p:cNvPicPr>
            <a:picLocks noChangeAspect="1"/>
          </p:cNvPicPr>
          <p:nvPr/>
        </p:nvPicPr>
        <p:blipFill>
          <a:blip r:embed="rId1"/>
          <a:stretch>
            <a:fillRect/>
          </a:stretch>
        </p:blipFill>
        <p:spPr>
          <a:xfrm>
            <a:off x="6796735" y="0"/>
            <a:ext cx="5394960" cy="6858000"/>
          </a:xfrm>
          <a:prstGeom prst="rect">
            <a:avLst/>
          </a:prstGeom>
        </p:spPr>
      </p:pic>
      <p:sp>
        <p:nvSpPr>
          <p:cNvPr id="3" name="Shape 0"/>
          <p:cNvSpPr/>
          <p:nvPr/>
        </p:nvSpPr>
        <p:spPr>
          <a:xfrm>
            <a:off x="6632143" y="0"/>
            <a:ext cx="164592" cy="6858000"/>
          </a:xfrm>
          <a:prstGeom prst="rect">
            <a:avLst/>
          </a:prstGeom>
          <a:solidFill>
            <a:srgbClr val="FFB91D"/>
          </a:solidFill>
          <a:ln w="12700">
            <a:solidFill>
              <a:srgbClr val="FFB91D"/>
            </a:solidFill>
            <a:prstDash val="solid"/>
          </a:ln>
        </p:spPr>
      </p:sp>
      <p:sp>
        <p:nvSpPr>
          <p:cNvPr id="4" name="Shape 1"/>
          <p:cNvSpPr/>
          <p:nvPr/>
        </p:nvSpPr>
        <p:spPr>
          <a:xfrm>
            <a:off x="548640" y="457200"/>
            <a:ext cx="860532" cy="658368"/>
          </a:xfrm>
          <a:prstGeom prst="roundRect">
            <a:avLst>
              <a:gd name="adj" fmla="val 11111"/>
            </a:avLst>
          </a:prstGeom>
          <a:solidFill>
            <a:srgbClr val="FFFFFF"/>
          </a:solidFill>
          <a:ln w="12700">
            <a:solidFill>
              <a:srgbClr val="FFFFFF"/>
            </a:solidFill>
            <a:prstDash val="solid"/>
          </a:ln>
        </p:spPr>
      </p:sp>
      <p:pic>
        <p:nvPicPr>
          <p:cNvPr id="5" name="Image 1" descr="/sessions/quirky-zen-galileo/mnt/NHS/07 Sites &amp; Repos/dtx-ecosystem/hearts-and-minds/_generators/assets/nhs-logo.png">    </p:cNvPr>
          <p:cNvPicPr>
            <a:picLocks noChangeAspect="1"/>
          </p:cNvPicPr>
          <p:nvPr/>
        </p:nvPicPr>
        <p:blipFill>
          <a:blip r:embed="rId2"/>
          <a:stretch>
            <a:fillRect/>
          </a:stretch>
        </p:blipFill>
        <p:spPr>
          <a:xfrm>
            <a:off x="685800" y="557784"/>
            <a:ext cx="586212" cy="457200"/>
          </a:xfrm>
          <a:prstGeom prst="rect">
            <a:avLst/>
          </a:prstGeom>
        </p:spPr>
      </p:pic>
      <p:sp>
        <p:nvSpPr>
          <p:cNvPr id="6" name="Text 2"/>
          <p:cNvSpPr/>
          <p:nvPr/>
        </p:nvSpPr>
        <p:spPr>
          <a:xfrm>
            <a:off x="548640" y="1371600"/>
            <a:ext cx="585216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 · A COMMISSIONER'S STORY THROUGH THE OPERATING MODEL</a:t>
            </a:r>
            <a:endParaRPr lang="en-US" sz="1000" dirty="0"/>
          </a:p>
        </p:txBody>
      </p:sp>
      <p:sp>
        <p:nvSpPr>
          <p:cNvPr id="7" name="Text 3"/>
          <p:cNvSpPr/>
          <p:nvPr/>
        </p:nvSpPr>
        <p:spPr>
          <a:xfrm>
            <a:off x="548640" y="1691640"/>
            <a:ext cx="5760720" cy="822960"/>
          </a:xfrm>
          <a:prstGeom prst="rect">
            <a:avLst/>
          </a:prstGeom>
          <a:noFill/>
          <a:ln/>
        </p:spPr>
        <p:txBody>
          <a:bodyPr wrap="square" lIns="0" tIns="0" rIns="0" bIns="0"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Sarah.</a:t>
            </a:r>
            <a:endParaRPr lang="en-US" sz="4800" dirty="0"/>
          </a:p>
        </p:txBody>
      </p:sp>
      <p:sp>
        <p:nvSpPr>
          <p:cNvPr id="8" name="Text 4"/>
          <p:cNvSpPr/>
          <p:nvPr/>
        </p:nvSpPr>
        <p:spPr>
          <a:xfrm>
            <a:off x="548640" y="2560320"/>
            <a:ext cx="5760720" cy="1085850"/>
          </a:xfrm>
          <a:prstGeom prst="rect">
            <a:avLst/>
          </a:prstGeom>
          <a:noFill/>
          <a:ln/>
        </p:spPr>
        <p:txBody>
          <a:bodyPr wrap="square" lIns="0" tIns="0" rIns="0" bIns="0" rtlCol="0" anchor="t"/>
          <a:lstStyle/>
          <a:p>
            <a:pPr indent="0" marL="0">
              <a:buNone/>
            </a:pPr>
            <a:r>
              <a:rPr lang="en-US" sz="3150" b="1" dirty="0">
                <a:solidFill>
                  <a:srgbClr val="FFD66B"/>
                </a:solidFill>
                <a:latin typeface="Segoe UI" pitchFamily="34" charset="0"/>
                <a:ea typeface="Segoe UI" pitchFamily="34" charset="-122"/>
                <a:cs typeface="Segoe UI" pitchFamily="34" charset="-120"/>
              </a:rPr>
              <a:t>Sarah signs once. Not once a quarter.</a:t>
            </a:r>
            <a:endParaRPr lang="en-US" sz="3150" dirty="0"/>
          </a:p>
        </p:txBody>
      </p:sp>
      <p:sp>
        <p:nvSpPr>
          <p:cNvPr id="9" name="Text 5"/>
          <p:cNvSpPr/>
          <p:nvPr/>
        </p:nvSpPr>
        <p:spPr>
          <a:xfrm>
            <a:off x="548640" y="3829050"/>
            <a:ext cx="5669280" cy="1268349"/>
          </a:xfrm>
          <a:prstGeom prst="rect">
            <a:avLst/>
          </a:prstGeom>
          <a:noFill/>
          <a:ln/>
        </p:spPr>
        <p:txBody>
          <a:bodyPr wrap="square" lIns="0" tIns="0" rIns="0" bIns="0" rtlCol="0" anchor="t">
            <a:normAutofit/>
          </a:bodyPr>
          <a:lstStyle/>
          <a:p>
            <a:pPr indent="0" marL="0">
              <a:buNone/>
            </a:pPr>
            <a:r>
              <a:rPr lang="en-US" sz="1050" dirty="0">
                <a:solidFill>
                  <a:srgbClr val="CFE0F5"/>
                </a:solidFill>
                <a:latin typeface="Segoe UI" pitchFamily="34" charset="0"/>
                <a:ea typeface="Segoe UI" pitchFamily="34" charset="-122"/>
                <a:cs typeface="Segoe UI" pitchFamily="34" charset="-120"/>
              </a:rPr>
              <a:t>Sarah commissions sexual health for her Local Authority. UKHSA data shows an HIV detection gap concentrated in the wards her service struggles hardest to reach. She has the budget. She does not have the headcount to design a bespoke procurement around home self-testing for every supplier on the market. </a:t>
            </a:r>
            <a:pPr indent="0" marL="0">
              <a:buNone/>
            </a:pPr>
            <a:r>
              <a:rPr lang="en-US" sz="1050" b="1" dirty="0">
                <a:solidFill>
                  <a:srgbClr val="CFE0F5"/>
                </a:solidFill>
                <a:latin typeface="Segoe UI" pitchFamily="34" charset="0"/>
                <a:ea typeface="Segoe UI" pitchFamily="34" charset="-122"/>
                <a:cs typeface="Segoe UI" pitchFamily="34" charset="-120"/>
              </a:rPr>
              <a:t>This is the story of one commissioner, one platform, one signature, and an operating model that does the procurement work for her.</a:t>
            </a:r>
            <a:endParaRPr lang="en-US" sz="1050" dirty="0"/>
          </a:p>
        </p:txBody>
      </p:sp>
      <p:pic>
        <p:nvPicPr>
          <p:cNvPr id="10" name="Image 2" descr="/sessions/quirky-zen-galileo/mnt/outputs/jd/img/sarah-portrait.jpg">    </p:cNvPr>
          <p:cNvPicPr>
            <a:picLocks noChangeAspect="1"/>
          </p:cNvPicPr>
          <p:nvPr/>
        </p:nvPicPr>
        <p:blipFill>
          <a:blip r:embed="rId3"/>
          <a:stretch>
            <a:fillRect/>
          </a:stretch>
        </p:blipFill>
        <p:spPr>
          <a:xfrm>
            <a:off x="548640" y="5280279"/>
            <a:ext cx="914400" cy="914400"/>
          </a:xfrm>
          <a:prstGeom prst="ellipse">
            <a:avLst/>
          </a:prstGeom>
        </p:spPr>
      </p:pic>
      <p:sp>
        <p:nvSpPr>
          <p:cNvPr id="11" name="Text 6"/>
          <p:cNvSpPr/>
          <p:nvPr/>
        </p:nvSpPr>
        <p:spPr>
          <a:xfrm>
            <a:off x="1645920" y="5353431"/>
            <a:ext cx="4114800" cy="36576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Sarah</a:t>
            </a:r>
            <a:endParaRPr lang="en-US" sz="1600" dirty="0"/>
          </a:p>
        </p:txBody>
      </p:sp>
      <p:sp>
        <p:nvSpPr>
          <p:cNvPr id="12" name="Text 7"/>
          <p:cNvSpPr/>
          <p:nvPr/>
        </p:nvSpPr>
        <p:spPr>
          <a:xfrm>
            <a:off x="1645920" y="5719191"/>
            <a:ext cx="4480560" cy="411480"/>
          </a:xfrm>
          <a:prstGeom prst="rect">
            <a:avLst/>
          </a:prstGeom>
          <a:noFill/>
          <a:ln/>
        </p:spPr>
        <p:txBody>
          <a:bodyPr wrap="square" lIns="0" tIns="0" rIns="0" bIns="0" rtlCol="0" anchor="ctr">
            <a:normAutofit/>
          </a:bodyPr>
          <a:lstStyle/>
          <a:p>
            <a:pPr indent="0" marL="0">
              <a:buNone/>
            </a:pPr>
            <a:r>
              <a:rPr lang="en-US" sz="1100" dirty="0">
                <a:solidFill>
                  <a:srgbClr val="CFE0F5"/>
                </a:solidFill>
                <a:latin typeface="Segoe UI" pitchFamily="34" charset="0"/>
                <a:ea typeface="Segoe UI" pitchFamily="34" charset="-122"/>
                <a:cs typeface="Segoe UI" pitchFamily="34" charset="-120"/>
              </a:rPr>
              <a:t>LA sexual health commissioner · HomeTest HIV</a:t>
            </a:r>
            <a:endParaRPr lang="en-US" sz="1100" dirty="0"/>
          </a:p>
        </p:txBody>
      </p:sp>
      <p:sp>
        <p:nvSpPr>
          <p:cNvPr id="13" name="Text 8"/>
          <p:cNvSpPr/>
          <p:nvPr/>
        </p:nvSpPr>
        <p:spPr>
          <a:xfrm>
            <a:off x="548640" y="6473952"/>
            <a:ext cx="2858872"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Sarah's journey · HomeTest operating model · September 2026</a:t>
            </a:r>
            <a:endParaRPr lang="en-US" sz="800" dirty="0"/>
          </a:p>
        </p:txBody>
      </p:sp>
      <p:sp>
        <p:nvSpPr>
          <p:cNvPr id="14" name="Text 9"/>
          <p:cNvSpPr/>
          <p:nvPr/>
        </p:nvSpPr>
        <p:spPr>
          <a:xfrm>
            <a:off x="3407512" y="6473952"/>
            <a:ext cx="2401672" cy="274320"/>
          </a:xfrm>
          <a:prstGeom prst="rect">
            <a:avLst/>
          </a:prstGeom>
          <a:noFill/>
          <a:ln/>
        </p:spPr>
        <p:txBody>
          <a:bodyPr wrap="square" lIns="0" tIns="0" rIns="0" bIns="0" rtlCol="0" anchor="ctr">
            <a:normAutofit/>
          </a:bodyPr>
          <a:lstStyle/>
          <a:p>
            <a:pPr algn="r" indent="0" marL="0">
              <a:buNone/>
            </a:pPr>
            <a:r>
              <a:rPr lang="en-US" sz="7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SARAH'S JOURNEY AT A GLANCE</a:t>
            </a:r>
            <a:endParaRPr lang="en-US" sz="1000" dirty="0"/>
          </a:p>
        </p:txBody>
      </p:sp>
      <p:sp>
        <p:nvSpPr>
          <p:cNvPr id="3" name="Text 1"/>
          <p:cNvSpPr/>
          <p:nvPr/>
        </p:nvSpPr>
        <p:spPr>
          <a:xfrm>
            <a:off x="548640" y="731520"/>
            <a:ext cx="11064240" cy="887730"/>
          </a:xfrm>
          <a:prstGeom prst="rect">
            <a:avLst/>
          </a:prstGeom>
          <a:noFill/>
          <a:ln/>
        </p:spPr>
        <p:txBody>
          <a:bodyPr wrap="square" lIns="0" tIns="0" rIns="0" bIns="0" rtlCol="0" anchor="t">
            <a:normAutofit/>
          </a:bodyPr>
          <a:lstStyle/>
          <a:p>
            <a:pPr indent="0" marL="0">
              <a:buNone/>
            </a:pPr>
            <a:r>
              <a:rPr lang="en-US" sz="2550" b="1" dirty="0">
                <a:solidFill>
                  <a:srgbClr val="003087"/>
                </a:solidFill>
                <a:latin typeface="Segoe UI" pitchFamily="34" charset="0"/>
                <a:ea typeface="Segoe UI" pitchFamily="34" charset="-122"/>
                <a:cs typeface="Segoe UI" pitchFamily="34" charset="-120"/>
              </a:rPr>
              <a:t>Easy buying. So the buying gets out of the way and the population outcome stays in focus.</a:t>
            </a:r>
            <a:endParaRPr lang="en-US" sz="2550" dirty="0"/>
          </a:p>
        </p:txBody>
      </p:sp>
      <p:sp>
        <p:nvSpPr>
          <p:cNvPr id="4" name="Shape 2"/>
          <p:cNvSpPr/>
          <p:nvPr/>
        </p:nvSpPr>
        <p:spPr>
          <a:xfrm>
            <a:off x="1150620" y="1939290"/>
            <a:ext cx="640080" cy="640080"/>
          </a:xfrm>
          <a:prstGeom prst="ellipse">
            <a:avLst/>
          </a:prstGeom>
          <a:solidFill>
            <a:srgbClr val="005EB8"/>
          </a:solidFill>
          <a:ln w="12700">
            <a:solidFill>
              <a:srgbClr val="005EB8"/>
            </a:solidFill>
            <a:prstDash val="solid"/>
          </a:ln>
        </p:spPr>
      </p:sp>
      <p:sp>
        <p:nvSpPr>
          <p:cNvPr id="5" name="Text 3"/>
          <p:cNvSpPr/>
          <p:nvPr/>
        </p:nvSpPr>
        <p:spPr>
          <a:xfrm>
            <a:off x="1150620" y="193929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6" name="Text 4"/>
          <p:cNvSpPr/>
          <p:nvPr/>
        </p:nvSpPr>
        <p:spPr>
          <a:xfrm>
            <a:off x="2072640" y="203073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7" name="Text 5"/>
          <p:cNvSpPr/>
          <p:nvPr/>
        </p:nvSpPr>
        <p:spPr>
          <a:xfrm>
            <a:off x="548640" y="2689098"/>
            <a:ext cx="1844040"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The brief · a population</a:t>
            </a:r>
            <a:endParaRPr lang="en-US" sz="1150" dirty="0"/>
          </a:p>
        </p:txBody>
      </p:sp>
      <p:sp>
        <p:nvSpPr>
          <p:cNvPr id="8" name="Text 6"/>
          <p:cNvSpPr/>
          <p:nvPr/>
        </p:nvSpPr>
        <p:spPr>
          <a:xfrm>
            <a:off x="640080" y="3114548"/>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a gap, twelve months to move</a:t>
            </a:r>
            <a:endParaRPr lang="en-US" sz="1000" dirty="0"/>
          </a:p>
        </p:txBody>
      </p:sp>
      <p:sp>
        <p:nvSpPr>
          <p:cNvPr id="9" name="Shape 7"/>
          <p:cNvSpPr/>
          <p:nvPr/>
        </p:nvSpPr>
        <p:spPr>
          <a:xfrm>
            <a:off x="2994660" y="1939290"/>
            <a:ext cx="640080" cy="640080"/>
          </a:xfrm>
          <a:prstGeom prst="ellipse">
            <a:avLst/>
          </a:prstGeom>
          <a:solidFill>
            <a:srgbClr val="005EB8"/>
          </a:solidFill>
          <a:ln w="12700">
            <a:solidFill>
              <a:srgbClr val="005EB8"/>
            </a:solidFill>
            <a:prstDash val="solid"/>
          </a:ln>
        </p:spPr>
      </p:sp>
      <p:sp>
        <p:nvSpPr>
          <p:cNvPr id="10" name="Text 8"/>
          <p:cNvSpPr/>
          <p:nvPr/>
        </p:nvSpPr>
        <p:spPr>
          <a:xfrm>
            <a:off x="2994660" y="193929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1" name="Text 9"/>
          <p:cNvSpPr/>
          <p:nvPr/>
        </p:nvSpPr>
        <p:spPr>
          <a:xfrm>
            <a:off x="3916680" y="203073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2" name="Text 10"/>
          <p:cNvSpPr/>
          <p:nvPr/>
        </p:nvSpPr>
        <p:spPr>
          <a:xfrm>
            <a:off x="2392680" y="268909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One front door · the framework opens</a:t>
            </a:r>
            <a:endParaRPr lang="en-US" sz="1050" dirty="0"/>
          </a:p>
        </p:txBody>
      </p:sp>
      <p:sp>
        <p:nvSpPr>
          <p:cNvPr id="13" name="Text 11"/>
          <p:cNvSpPr/>
          <p:nvPr/>
        </p:nvSpPr>
        <p:spPr>
          <a:xfrm>
            <a:off x="2484120" y="325488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framework opens</a:t>
            </a:r>
            <a:endParaRPr lang="en-US" sz="1000" dirty="0"/>
          </a:p>
        </p:txBody>
      </p:sp>
      <p:sp>
        <p:nvSpPr>
          <p:cNvPr id="14" name="Shape 12"/>
          <p:cNvSpPr/>
          <p:nvPr/>
        </p:nvSpPr>
        <p:spPr>
          <a:xfrm>
            <a:off x="4838700" y="1939290"/>
            <a:ext cx="640080" cy="640080"/>
          </a:xfrm>
          <a:prstGeom prst="ellipse">
            <a:avLst/>
          </a:prstGeom>
          <a:solidFill>
            <a:srgbClr val="005EB8"/>
          </a:solidFill>
          <a:ln w="12700">
            <a:solidFill>
              <a:srgbClr val="005EB8"/>
            </a:solidFill>
            <a:prstDash val="solid"/>
          </a:ln>
        </p:spPr>
      </p:sp>
      <p:sp>
        <p:nvSpPr>
          <p:cNvPr id="15" name="Text 13"/>
          <p:cNvSpPr/>
          <p:nvPr/>
        </p:nvSpPr>
        <p:spPr>
          <a:xfrm>
            <a:off x="4838700" y="193929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6" name="Text 14"/>
          <p:cNvSpPr/>
          <p:nvPr/>
        </p:nvSpPr>
        <p:spPr>
          <a:xfrm>
            <a:off x="5760720" y="203073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7" name="Text 15"/>
          <p:cNvSpPr/>
          <p:nvPr/>
        </p:nvSpPr>
        <p:spPr>
          <a:xfrm>
            <a:off x="4236720" y="2689098"/>
            <a:ext cx="1844040" cy="711708"/>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Fit for HER cohort · the questions standard answers don't solve</a:t>
            </a:r>
            <a:endParaRPr lang="en-US" sz="1050" dirty="0"/>
          </a:p>
        </p:txBody>
      </p:sp>
      <p:sp>
        <p:nvSpPr>
          <p:cNvPr id="18" name="Text 16"/>
          <p:cNvSpPr/>
          <p:nvPr/>
        </p:nvSpPr>
        <p:spPr>
          <a:xfrm>
            <a:off x="4328160" y="3428238"/>
            <a:ext cx="1661160" cy="525399"/>
          </a:xfrm>
          <a:prstGeom prst="rect">
            <a:avLst/>
          </a:prstGeom>
          <a:noFill/>
          <a:ln/>
        </p:spPr>
        <p:txBody>
          <a:bodyPr wrap="square" lIns="0" tIns="0" rIns="0" bIns="0" rtlCol="0" anchor="t">
            <a:normAutofit/>
          </a:bodyPr>
          <a:lstStyle/>
          <a:p>
            <a:pPr algn="ctr" indent="0" marL="0">
              <a:buNone/>
            </a:pPr>
            <a:r>
              <a:rPr lang="en-US" sz="950" dirty="0">
                <a:solidFill>
                  <a:srgbClr val="4C6272"/>
                </a:solidFill>
                <a:latin typeface="Segoe UI" pitchFamily="34" charset="0"/>
                <a:ea typeface="Segoe UI" pitchFamily="34" charset="-122"/>
                <a:cs typeface="Segoe UI" pitchFamily="34" charset="-120"/>
              </a:rPr>
              <a:t>The questions standard answers don't solve</a:t>
            </a:r>
            <a:endParaRPr lang="en-US" sz="950" dirty="0"/>
          </a:p>
        </p:txBody>
      </p:sp>
      <p:sp>
        <p:nvSpPr>
          <p:cNvPr id="19" name="Shape 17"/>
          <p:cNvSpPr/>
          <p:nvPr/>
        </p:nvSpPr>
        <p:spPr>
          <a:xfrm>
            <a:off x="6682740" y="1939290"/>
            <a:ext cx="640080" cy="640080"/>
          </a:xfrm>
          <a:prstGeom prst="ellipse">
            <a:avLst/>
          </a:prstGeom>
          <a:solidFill>
            <a:srgbClr val="005EB8"/>
          </a:solidFill>
          <a:ln w="12700">
            <a:solidFill>
              <a:srgbClr val="005EB8"/>
            </a:solidFill>
            <a:prstDash val="solid"/>
          </a:ln>
        </p:spPr>
      </p:sp>
      <p:sp>
        <p:nvSpPr>
          <p:cNvPr id="20" name="Text 18"/>
          <p:cNvSpPr/>
          <p:nvPr/>
        </p:nvSpPr>
        <p:spPr>
          <a:xfrm>
            <a:off x="6682740" y="193929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1" name="Text 19"/>
          <p:cNvSpPr/>
          <p:nvPr/>
        </p:nvSpPr>
        <p:spPr>
          <a:xfrm>
            <a:off x="7604760" y="203073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2" name="Text 20"/>
          <p:cNvSpPr/>
          <p:nvPr/>
        </p:nvSpPr>
        <p:spPr>
          <a:xfrm>
            <a:off x="6080760" y="2689098"/>
            <a:ext cx="1844040"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One call-off · signing</a:t>
            </a:r>
            <a:endParaRPr lang="en-US" sz="1150" dirty="0"/>
          </a:p>
        </p:txBody>
      </p:sp>
      <p:sp>
        <p:nvSpPr>
          <p:cNvPr id="23" name="Text 21"/>
          <p:cNvSpPr/>
          <p:nvPr/>
        </p:nvSpPr>
        <p:spPr>
          <a:xfrm>
            <a:off x="6172200" y="3114548"/>
            <a:ext cx="1661160"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not procuring</a:t>
            </a:r>
            <a:endParaRPr lang="en-US" sz="1000" dirty="0"/>
          </a:p>
        </p:txBody>
      </p:sp>
      <p:sp>
        <p:nvSpPr>
          <p:cNvPr id="24" name="Shape 22"/>
          <p:cNvSpPr/>
          <p:nvPr/>
        </p:nvSpPr>
        <p:spPr>
          <a:xfrm>
            <a:off x="8526780" y="1939290"/>
            <a:ext cx="640080" cy="640080"/>
          </a:xfrm>
          <a:prstGeom prst="ellipse">
            <a:avLst/>
          </a:prstGeom>
          <a:solidFill>
            <a:srgbClr val="005EB8"/>
          </a:solidFill>
          <a:ln w="12700">
            <a:solidFill>
              <a:srgbClr val="005EB8"/>
            </a:solidFill>
            <a:prstDash val="solid"/>
          </a:ln>
        </p:spPr>
      </p:sp>
      <p:sp>
        <p:nvSpPr>
          <p:cNvPr id="25" name="Text 23"/>
          <p:cNvSpPr/>
          <p:nvPr/>
        </p:nvSpPr>
        <p:spPr>
          <a:xfrm>
            <a:off x="8526780" y="193929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26" name="Text 24"/>
          <p:cNvSpPr/>
          <p:nvPr/>
        </p:nvSpPr>
        <p:spPr>
          <a:xfrm>
            <a:off x="9448800" y="203073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7" name="Text 25"/>
          <p:cNvSpPr/>
          <p:nvPr/>
        </p:nvSpPr>
        <p:spPr>
          <a:xfrm>
            <a:off x="7924800" y="2689098"/>
            <a:ext cx="1844040"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Live operation · kits out</a:t>
            </a:r>
            <a:endParaRPr lang="en-US" sz="1150" dirty="0"/>
          </a:p>
        </p:txBody>
      </p:sp>
      <p:sp>
        <p:nvSpPr>
          <p:cNvPr id="28" name="Text 26"/>
          <p:cNvSpPr/>
          <p:nvPr/>
        </p:nvSpPr>
        <p:spPr>
          <a:xfrm>
            <a:off x="8016240" y="3114548"/>
            <a:ext cx="1661160"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results back</a:t>
            </a:r>
            <a:endParaRPr lang="en-US" sz="1000" dirty="0"/>
          </a:p>
        </p:txBody>
      </p:sp>
      <p:sp>
        <p:nvSpPr>
          <p:cNvPr id="29" name="Shape 27"/>
          <p:cNvSpPr/>
          <p:nvPr/>
        </p:nvSpPr>
        <p:spPr>
          <a:xfrm>
            <a:off x="10370820" y="1939290"/>
            <a:ext cx="640080" cy="640080"/>
          </a:xfrm>
          <a:prstGeom prst="ellipse">
            <a:avLst/>
          </a:prstGeom>
          <a:solidFill>
            <a:srgbClr val="005EB8"/>
          </a:solidFill>
          <a:ln w="12700">
            <a:solidFill>
              <a:srgbClr val="005EB8"/>
            </a:solidFill>
            <a:prstDash val="solid"/>
          </a:ln>
        </p:spPr>
      </p:sp>
      <p:sp>
        <p:nvSpPr>
          <p:cNvPr id="30" name="Text 28"/>
          <p:cNvSpPr/>
          <p:nvPr/>
        </p:nvSpPr>
        <p:spPr>
          <a:xfrm>
            <a:off x="10370820" y="193929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6</a:t>
            </a:r>
            <a:endParaRPr lang="en-US" sz="2000" dirty="0"/>
          </a:p>
        </p:txBody>
      </p:sp>
      <p:sp>
        <p:nvSpPr>
          <p:cNvPr id="31" name="Text 29"/>
          <p:cNvSpPr/>
          <p:nvPr/>
        </p:nvSpPr>
        <p:spPr>
          <a:xfrm>
            <a:off x="9768840" y="268909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The board paper · what the members see</a:t>
            </a:r>
            <a:endParaRPr lang="en-US" sz="1050" dirty="0"/>
          </a:p>
        </p:txBody>
      </p:sp>
      <p:sp>
        <p:nvSpPr>
          <p:cNvPr id="32" name="Text 30"/>
          <p:cNvSpPr/>
          <p:nvPr/>
        </p:nvSpPr>
        <p:spPr>
          <a:xfrm>
            <a:off x="9860280" y="325488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What the members see</a:t>
            </a:r>
            <a:endParaRPr lang="en-US" sz="1000" dirty="0"/>
          </a:p>
        </p:txBody>
      </p:sp>
      <p:pic>
        <p:nvPicPr>
          <p:cNvPr id="33" name="Image 0" descr="/sessions/quirky-zen-galileo/mnt/outputs/jd/img/sarah-portrait.jpg">    </p:cNvPr>
          <p:cNvPicPr>
            <a:picLocks noChangeAspect="1"/>
          </p:cNvPicPr>
          <p:nvPr/>
        </p:nvPicPr>
        <p:blipFill>
          <a:blip r:embed="rId1"/>
          <a:stretch>
            <a:fillRect/>
          </a:stretch>
        </p:blipFill>
        <p:spPr>
          <a:xfrm>
            <a:off x="548640" y="4042410"/>
            <a:ext cx="1371600" cy="1371600"/>
          </a:xfrm>
          <a:prstGeom prst="ellipse">
            <a:avLst/>
          </a:prstGeom>
        </p:spPr>
      </p:pic>
      <p:sp>
        <p:nvSpPr>
          <p:cNvPr id="34" name="Text 31"/>
          <p:cNvSpPr/>
          <p:nvPr/>
        </p:nvSpPr>
        <p:spPr>
          <a:xfrm>
            <a:off x="274320" y="5459730"/>
            <a:ext cx="1920240" cy="320040"/>
          </a:xfrm>
          <a:prstGeom prst="rect">
            <a:avLst/>
          </a:prstGeom>
          <a:noFill/>
          <a:ln/>
        </p:spPr>
        <p:txBody>
          <a:bodyPr wrap="square" lIns="0" tIns="0" rIns="0" bIns="0" rtlCol="0" anchor="ctr"/>
          <a:lstStyle/>
          <a:p>
            <a:pPr algn="ctr" indent="0" marL="0">
              <a:buNone/>
            </a:pPr>
            <a:r>
              <a:rPr lang="en-US" sz="1400" b="1" dirty="0">
                <a:solidFill>
                  <a:srgbClr val="003087"/>
                </a:solidFill>
                <a:latin typeface="Segoe UI" pitchFamily="34" charset="0"/>
                <a:ea typeface="Segoe UI" pitchFamily="34" charset="-122"/>
                <a:cs typeface="Segoe UI" pitchFamily="34" charset="-120"/>
              </a:rPr>
              <a:t>Sarah</a:t>
            </a:r>
            <a:endParaRPr lang="en-US" sz="1400" dirty="0"/>
          </a:p>
        </p:txBody>
      </p:sp>
      <p:sp>
        <p:nvSpPr>
          <p:cNvPr id="35" name="Text 32"/>
          <p:cNvSpPr/>
          <p:nvPr/>
        </p:nvSpPr>
        <p:spPr>
          <a:xfrm>
            <a:off x="228600" y="5779770"/>
            <a:ext cx="2011680" cy="419862"/>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LA sexual health commissioner · HomeTest HIV</a:t>
            </a:r>
            <a:endParaRPr lang="en-US" sz="1000" dirty="0"/>
          </a:p>
        </p:txBody>
      </p:sp>
      <p:sp>
        <p:nvSpPr>
          <p:cNvPr id="36" name="Shape 33"/>
          <p:cNvSpPr/>
          <p:nvPr/>
        </p:nvSpPr>
        <p:spPr>
          <a:xfrm>
            <a:off x="2514600" y="3950970"/>
            <a:ext cx="4427068" cy="2294382"/>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37" name="Text 34"/>
          <p:cNvSpPr/>
          <p:nvPr/>
        </p:nvSpPr>
        <p:spPr>
          <a:xfrm>
            <a:off x="2788920" y="4133850"/>
            <a:ext cx="3878428" cy="274320"/>
          </a:xfrm>
          <a:prstGeom prst="rect">
            <a:avLst/>
          </a:prstGeom>
          <a:noFill/>
          <a:ln/>
        </p:spPr>
        <p:txBody>
          <a:bodyPr wrap="square" lIns="0" tIns="0" rIns="0" bIns="0" rtlCol="0" anchor="ctr"/>
          <a:lstStyle/>
          <a:p>
            <a:pPr indent="0" marL="0">
              <a:buNone/>
            </a:pPr>
            <a:r>
              <a:rPr lang="en-US" sz="1000" b="1" spc="260" kern="0" dirty="0">
                <a:solidFill>
                  <a:srgbClr val="8A6D1F"/>
                </a:solidFill>
                <a:latin typeface="Segoe UI" pitchFamily="34" charset="0"/>
                <a:ea typeface="Segoe UI" pitchFamily="34" charset="-122"/>
                <a:cs typeface="Segoe UI" pitchFamily="34" charset="-120"/>
              </a:rPr>
              <a:t>THE NORTH STAR</a:t>
            </a:r>
            <a:endParaRPr lang="en-US" sz="1000" dirty="0"/>
          </a:p>
        </p:txBody>
      </p:sp>
      <p:sp>
        <p:nvSpPr>
          <p:cNvPr id="38" name="Text 35"/>
          <p:cNvSpPr/>
          <p:nvPr/>
        </p:nvSpPr>
        <p:spPr>
          <a:xfrm>
            <a:off x="2788920" y="4453890"/>
            <a:ext cx="3878428" cy="64008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Easy buying. So the buying gets out of the way and the population outcome stays in focus.</a:t>
            </a:r>
            <a:endParaRPr lang="en-US" sz="1200" dirty="0"/>
          </a:p>
        </p:txBody>
      </p:sp>
      <p:sp>
        <p:nvSpPr>
          <p:cNvPr id="39" name="Text 36"/>
          <p:cNvSpPr/>
          <p:nvPr/>
        </p:nvSpPr>
        <p:spPr>
          <a:xfrm>
            <a:off x="2788920" y="5185410"/>
            <a:ext cx="3878428" cy="831342"/>
          </a:xfrm>
          <a:prstGeom prst="rect">
            <a:avLst/>
          </a:prstGeom>
          <a:noFill/>
          <a:ln/>
        </p:spPr>
        <p:txBody>
          <a:bodyPr wrap="square" lIns="0" tIns="0" rIns="0" bIns="0" rtlCol="0" anchor="t">
            <a:normAutofit/>
          </a:bodyPr>
          <a:lstStyle/>
          <a:p>
            <a:pPr indent="0" marL="0">
              <a:buNone/>
            </a:pPr>
            <a:r>
              <a:rPr lang="en-US" sz="800" dirty="0">
                <a:solidFill>
                  <a:srgbClr val="212B32"/>
                </a:solidFill>
                <a:latin typeface="Segoe UI" pitchFamily="34" charset="0"/>
                <a:ea typeface="Segoe UI" pitchFamily="34" charset="-122"/>
                <a:cs typeface="Segoe UI" pitchFamily="34" charset="-120"/>
              </a:rPr>
              <a:t>Commissioners do not buy home testing for the joy of running procurements. They buy it to close a detection gap, reduce late diagnoses, or get more out of a stretched service. The operating model exists so the buying stops being the work. </a:t>
            </a:r>
            <a:pPr indent="0" marL="0">
              <a:buNone/>
            </a:pPr>
            <a:r>
              <a:rPr lang="en-US" sz="800" b="1" dirty="0">
                <a:solidFill>
                  <a:srgbClr val="212B32"/>
                </a:solidFill>
                <a:latin typeface="Segoe UI" pitchFamily="34" charset="0"/>
                <a:ea typeface="Segoe UI" pitchFamily="34" charset="-122"/>
                <a:cs typeface="Segoe UI" pitchFamily="34" charset="-120"/>
              </a:rPr>
              <a:t>Easy buying is the North Star</a:t>
            </a:r>
            <a:pPr indent="0" marL="0">
              <a:buNone/>
            </a:pPr>
            <a:r>
              <a:rPr lang="en-US" sz="800" dirty="0">
                <a:solidFill>
                  <a:srgbClr val="212B32"/>
                </a:solidFill>
                <a:latin typeface="Segoe UI" pitchFamily="34" charset="0"/>
                <a:ea typeface="Segoe UI" pitchFamily="34" charset="-122"/>
                <a:cs typeface="Segoe UI" pitchFamily="34" charset="-120"/>
              </a:rPr>
              <a:t>, not because procurement should be lazy, but because effort spent on procurement is effort not spent on population health.</a:t>
            </a:r>
            <a:endParaRPr lang="en-US" sz="800" dirty="0"/>
          </a:p>
        </p:txBody>
      </p:sp>
      <p:sp>
        <p:nvSpPr>
          <p:cNvPr id="40" name="Shape 37"/>
          <p:cNvSpPr/>
          <p:nvPr/>
        </p:nvSpPr>
        <p:spPr>
          <a:xfrm>
            <a:off x="7215988" y="3950970"/>
            <a:ext cx="4427068" cy="229438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41" name="Shape 38"/>
          <p:cNvSpPr/>
          <p:nvPr/>
        </p:nvSpPr>
        <p:spPr>
          <a:xfrm>
            <a:off x="7215988" y="3950970"/>
            <a:ext cx="73152" cy="2294382"/>
          </a:xfrm>
          <a:prstGeom prst="rect">
            <a:avLst/>
          </a:prstGeom>
          <a:solidFill>
            <a:srgbClr val="005EB8"/>
          </a:solidFill>
          <a:ln w="12700">
            <a:solidFill>
              <a:srgbClr val="005EB8"/>
            </a:solidFill>
            <a:prstDash val="solid"/>
          </a:ln>
        </p:spPr>
      </p:sp>
      <p:sp>
        <p:nvSpPr>
          <p:cNvPr id="42" name="Text 39"/>
          <p:cNvSpPr/>
          <p:nvPr/>
        </p:nvSpPr>
        <p:spPr>
          <a:xfrm>
            <a:off x="7490308" y="4133850"/>
            <a:ext cx="3878428"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WHY ONE PLATFORM MATTERS TO HER</a:t>
            </a:r>
            <a:endParaRPr lang="en-US" sz="1000" dirty="0"/>
          </a:p>
        </p:txBody>
      </p:sp>
      <p:sp>
        <p:nvSpPr>
          <p:cNvPr id="43" name="Text 40"/>
          <p:cNvSpPr/>
          <p:nvPr/>
        </p:nvSpPr>
        <p:spPr>
          <a:xfrm>
            <a:off x="7490308" y="4453890"/>
            <a:ext cx="3878428" cy="83820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One framework. One signature. One platform she can come back to as her cohorts and questions change.</a:t>
            </a:r>
            <a:endParaRPr lang="en-US" sz="1200" dirty="0"/>
          </a:p>
        </p:txBody>
      </p:sp>
      <p:sp>
        <p:nvSpPr>
          <p:cNvPr id="44" name="Text 41"/>
          <p:cNvSpPr/>
          <p:nvPr/>
        </p:nvSpPr>
        <p:spPr>
          <a:xfrm>
            <a:off x="7490308" y="5383530"/>
            <a:ext cx="3878428" cy="633222"/>
          </a:xfrm>
          <a:prstGeom prst="rect">
            <a:avLst/>
          </a:prstGeom>
          <a:noFill/>
          <a:ln/>
        </p:spPr>
        <p:txBody>
          <a:bodyPr wrap="square" lIns="0" tIns="0" rIns="0" bIns="0" rtlCol="0" anchor="t">
            <a:normAutofit/>
          </a:bodyPr>
          <a:lstStyle/>
          <a:p>
            <a:pPr indent="0" marL="0">
              <a:buNone/>
            </a:pPr>
            <a:r>
              <a:rPr lang="en-US" sz="800" dirty="0">
                <a:solidFill>
                  <a:srgbClr val="212B32"/>
                </a:solidFill>
                <a:latin typeface="Segoe UI" pitchFamily="34" charset="0"/>
                <a:ea typeface="Segoe UI" pitchFamily="34" charset="-122"/>
                <a:cs typeface="Segoe UI" pitchFamily="34" charset="-120"/>
              </a:rPr>
              <a:t>A bespoke HIV-only procurement would buy a single deployment. The next cohort (chlamydia, syphilis, the next configuration the platform admits) would mean another procurement, another assurance set, another contract, another integration. The framework means Sarah signs once, the same NHS Login carries her cohorts, the same MI feed answers the same questions, and the next configuration is an extension, not a new programme. </a:t>
            </a:r>
            <a:pPr indent="0" marL="0">
              <a:buNone/>
            </a:pPr>
            <a:r>
              <a:rPr lang="en-US" sz="800" b="1" dirty="0">
                <a:solidFill>
                  <a:srgbClr val="212B32"/>
                </a:solidFill>
                <a:latin typeface="Segoe UI" pitchFamily="34" charset="0"/>
                <a:ea typeface="Segoe UI" pitchFamily="34" charset="-122"/>
                <a:cs typeface="Segoe UI" pitchFamily="34" charset="-120"/>
              </a:rPr>
              <a:t>The integration was done before she walked in.</a:t>
            </a:r>
            <a:endParaRPr lang="en-US" sz="800" dirty="0"/>
          </a:p>
        </p:txBody>
      </p:sp>
      <p:sp>
        <p:nvSpPr>
          <p:cNvPr id="45" name="Text 42"/>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Sarah's journey · HomeTest operating model · September 2026</a:t>
            </a:r>
            <a:endParaRPr lang="en-US" sz="800" dirty="0"/>
          </a:p>
        </p:txBody>
      </p:sp>
      <p:sp>
        <p:nvSpPr>
          <p:cNvPr id="46" name="Text 43"/>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7" name="Text 44"/>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sarah-stage1-0.613.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206240" y="0"/>
            <a:ext cx="164592" cy="6858000"/>
          </a:xfrm>
          <a:prstGeom prst="rect">
            <a:avLst/>
          </a:prstGeom>
          <a:solidFill>
            <a:srgbClr val="FFB91D"/>
          </a:solidFill>
          <a:ln w="12700">
            <a:solidFill>
              <a:srgbClr val="FFB91D"/>
            </a:solidFill>
            <a:prstDash val="solid"/>
          </a:ln>
        </p:spPr>
      </p:sp>
      <p:sp>
        <p:nvSpPr>
          <p:cNvPr id="4" name="Text 1"/>
          <p:cNvSpPr/>
          <p:nvPr/>
        </p:nvSpPr>
        <p:spPr>
          <a:xfrm>
            <a:off x="4800600" y="411480"/>
            <a:ext cx="684245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SARAH'S JOURNEY · STAGE 1 OF 6</a:t>
            </a:r>
            <a:endParaRPr lang="en-US" sz="1000" dirty="0"/>
          </a:p>
        </p:txBody>
      </p:sp>
      <p:sp>
        <p:nvSpPr>
          <p:cNvPr id="5" name="Text 2"/>
          <p:cNvSpPr/>
          <p:nvPr/>
        </p:nvSpPr>
        <p:spPr>
          <a:xfrm>
            <a:off x="480060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01</a:t>
            </a:r>
            <a:endParaRPr lang="en-US" sz="5400" dirty="0"/>
          </a:p>
        </p:txBody>
      </p:sp>
      <p:sp>
        <p:nvSpPr>
          <p:cNvPr id="6" name="Text 3"/>
          <p:cNvSpPr/>
          <p:nvPr/>
        </p:nvSpPr>
        <p:spPr>
          <a:xfrm>
            <a:off x="5897880" y="731520"/>
            <a:ext cx="5745175" cy="458470"/>
          </a:xfrm>
          <a:prstGeom prst="rect">
            <a:avLst/>
          </a:prstGeom>
          <a:noFill/>
          <a:ln/>
        </p:spPr>
        <p:txBody>
          <a:bodyPr wrap="square" lIns="0" tIns="0" rIns="0" bIns="0" rtlCol="0" anchor="t">
            <a:normAutofit/>
          </a:bodyPr>
          <a:lstStyle/>
          <a:p>
            <a:pPr indent="0" marL="0">
              <a:buNone/>
            </a:pPr>
            <a:r>
              <a:rPr lang="en-US" sz="2500" b="1" dirty="0">
                <a:solidFill>
                  <a:srgbClr val="003087"/>
                </a:solidFill>
                <a:latin typeface="Segoe UI" pitchFamily="34" charset="0"/>
                <a:ea typeface="Segoe UI" pitchFamily="34" charset="-122"/>
                <a:cs typeface="Segoe UI" pitchFamily="34" charset="-120"/>
              </a:rPr>
              <a:t>The brief · a population</a:t>
            </a:r>
            <a:endParaRPr lang="en-US" sz="2500" dirty="0"/>
          </a:p>
        </p:txBody>
      </p:sp>
      <p:sp>
        <p:nvSpPr>
          <p:cNvPr id="7" name="Text 4"/>
          <p:cNvSpPr/>
          <p:nvPr/>
        </p:nvSpPr>
        <p:spPr>
          <a:xfrm>
            <a:off x="5897880" y="1208278"/>
            <a:ext cx="574517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a gap, twelve months to move</a:t>
            </a:r>
            <a:endParaRPr lang="en-US" sz="1150" dirty="0"/>
          </a:p>
        </p:txBody>
      </p:sp>
      <p:sp>
        <p:nvSpPr>
          <p:cNvPr id="8" name="Text 5"/>
          <p:cNvSpPr/>
          <p:nvPr/>
        </p:nvSpPr>
        <p:spPr>
          <a:xfrm>
            <a:off x="4800600" y="1828800"/>
            <a:ext cx="6842455" cy="625450"/>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Sarah has an HIV detection gap she can see on the UKHSA dashboard. The late diagnoses are concentrated in MSM under-25s and the wards her clinics struggle hardest to reach. The Health and Wellbeing Board wants outcomes. She has twelve months and the LA sexual health budget. She does not have the headcount to bespoke a procurement around every supplier on the market.</a:t>
            </a:r>
            <a:endParaRPr lang="en-US" sz="864" dirty="0"/>
          </a:p>
        </p:txBody>
      </p:sp>
      <p:sp>
        <p:nvSpPr>
          <p:cNvPr id="9" name="Shape 6"/>
          <p:cNvSpPr/>
          <p:nvPr/>
        </p:nvSpPr>
        <p:spPr>
          <a:xfrm>
            <a:off x="4800600" y="2591410"/>
            <a:ext cx="6842455" cy="75285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029200" y="2701138"/>
            <a:ext cx="6385255" cy="53340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“I can see the gap on the dashboard. I've got money on the table and the Board wants to see movement inside a year. What I don't have is the headcount to bespoke a procurement for every supplier.”</a:t>
            </a:r>
            <a:pPr indent="0" marL="0">
              <a:buNone/>
            </a:pPr>
            <a:r>
              <a:rPr lang="en-US" sz="800" b="1" i="1" dirty="0">
                <a:solidFill>
                  <a:srgbClr val="212B32"/>
                </a:solidFill>
                <a:latin typeface="Segoe UI" pitchFamily="34" charset="0"/>
                <a:ea typeface="Segoe UI" pitchFamily="34" charset="-122"/>
                <a:cs typeface="Segoe UI" pitchFamily="34" charset="-120"/>
              </a:rPr>
              <a:t>  Sarah</a:t>
            </a:r>
            <a:endParaRPr lang="en-US" sz="800" dirty="0"/>
          </a:p>
        </p:txBody>
      </p:sp>
      <p:sp>
        <p:nvSpPr>
          <p:cNvPr id="11" name="Shape 8"/>
          <p:cNvSpPr/>
          <p:nvPr/>
        </p:nvSpPr>
        <p:spPr>
          <a:xfrm>
            <a:off x="4800600" y="3481426"/>
            <a:ext cx="3306928" cy="292608"/>
          </a:xfrm>
          <a:prstGeom prst="rect">
            <a:avLst/>
          </a:prstGeom>
          <a:solidFill>
            <a:srgbClr val="003087"/>
          </a:solidFill>
          <a:ln w="12700">
            <a:solidFill>
              <a:srgbClr val="003087"/>
            </a:solidFill>
            <a:prstDash val="solid"/>
          </a:ln>
        </p:spPr>
      </p:sp>
      <p:sp>
        <p:nvSpPr>
          <p:cNvPr id="12" name="Text 9"/>
          <p:cNvSpPr/>
          <p:nvPr/>
        </p:nvSpPr>
        <p:spPr>
          <a:xfrm>
            <a:off x="4910328" y="3481426"/>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4800600" y="3774034"/>
            <a:ext cx="3306928" cy="174589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4928616" y="3865474"/>
            <a:ext cx="3050896" cy="1449629"/>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UKHSA late-diagnosis data showing the cohort concentrated in specific wards. A Health and Wellbeing Board paper asking what digital does for the gap. The LA sexual health budget. An existing sexual health service contract with the local provider. The clinical case is settled: home self-testing for HIV removes the clinic-visit barrier that keeps the late-diagnosed cohort away. </a:t>
            </a:r>
            <a:pPr indent="0" marL="0">
              <a:buNone/>
            </a:pPr>
            <a:r>
              <a:rPr lang="en-US" sz="768" b="1" dirty="0">
                <a:solidFill>
                  <a:srgbClr val="212B32"/>
                </a:solidFill>
                <a:latin typeface="Segoe UI" pitchFamily="34" charset="0"/>
                <a:ea typeface="Segoe UI" pitchFamily="34" charset="-122"/>
                <a:cs typeface="Segoe UI" pitchFamily="34" charset="-120"/>
              </a:rPr>
              <a:t>What's in front of her is procurement, integration with the existing service, and reach into the wards that don't engage.</a:t>
            </a:r>
            <a:endParaRPr lang="en-US" sz="768" dirty="0"/>
          </a:p>
        </p:txBody>
      </p:sp>
      <p:sp>
        <p:nvSpPr>
          <p:cNvPr id="15" name="Shape 12"/>
          <p:cNvSpPr/>
          <p:nvPr/>
        </p:nvSpPr>
        <p:spPr>
          <a:xfrm>
            <a:off x="8336128" y="3481426"/>
            <a:ext cx="3306928" cy="292608"/>
          </a:xfrm>
          <a:prstGeom prst="rect">
            <a:avLst/>
          </a:prstGeom>
          <a:solidFill>
            <a:srgbClr val="5B6770"/>
          </a:solidFill>
          <a:ln w="12700">
            <a:solidFill>
              <a:srgbClr val="5B6770"/>
            </a:solidFill>
            <a:prstDash val="solid"/>
          </a:ln>
        </p:spPr>
      </p:sp>
      <p:sp>
        <p:nvSpPr>
          <p:cNvPr id="16" name="Text 13"/>
          <p:cNvSpPr/>
          <p:nvPr/>
        </p:nvSpPr>
        <p:spPr>
          <a:xfrm>
            <a:off x="8445856" y="3481426"/>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336128" y="3774034"/>
            <a:ext cx="3306928" cy="174589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464144" y="3865474"/>
            <a:ext cx="3050896" cy="132283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 bespoke procurement against the LA's contract regulations. Six to nine months. Clinical safety assurance per supplier. IG assessment per supplier. Service-contract amendment to carry the new pathway. Twelve to fifteen months from Board paper to first kit, on a good run. The last new pathway she stood up before the framework existed took twenty-two months. That is a year her late-diagnosed patients did not have.</a:t>
            </a:r>
            <a:endParaRPr lang="en-US" sz="768" dirty="0"/>
          </a:p>
        </p:txBody>
      </p:sp>
      <p:sp>
        <p:nvSpPr>
          <p:cNvPr id="19" name="Shape 16"/>
          <p:cNvSpPr/>
          <p:nvPr/>
        </p:nvSpPr>
        <p:spPr>
          <a:xfrm>
            <a:off x="4800600" y="5657088"/>
            <a:ext cx="6842455" cy="542544"/>
          </a:xfrm>
          <a:prstGeom prst="rect">
            <a:avLst/>
          </a:prstGeom>
          <a:solidFill>
            <a:srgbClr val="E8F3EE"/>
          </a:solidFill>
          <a:ln w="12700">
            <a:solidFill>
              <a:srgbClr val="E8F3EE"/>
            </a:solidFill>
            <a:prstDash val="solid"/>
          </a:ln>
        </p:spPr>
      </p:sp>
      <p:sp>
        <p:nvSpPr>
          <p:cNvPr id="20" name="Text 17"/>
          <p:cNvSpPr/>
          <p:nvPr/>
        </p:nvSpPr>
        <p:spPr>
          <a:xfrm>
            <a:off x="4937760" y="5657088"/>
            <a:ext cx="656813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SARAH'S CARE TEAM SEES  </a:t>
            </a:r>
            <a:pPr indent="0" marL="0">
              <a:buNone/>
            </a:pPr>
            <a:r>
              <a:rPr lang="en-US" sz="800" dirty="0">
                <a:solidFill>
                  <a:srgbClr val="212B32"/>
                </a:solidFill>
                <a:latin typeface="Segoe UI" pitchFamily="34" charset="0"/>
                <a:ea typeface="Segoe UI" pitchFamily="34" charset="-122"/>
                <a:cs typeface="Segoe UI" pitchFamily="34" charset="-120"/>
              </a:rPr>
              <a:t>Her sexual health service provider lead. Her LA Clinical Safety Officer. Her IG lead. The public-health intelligence team who built the cohort analysis. Procurement, not yet engaged because the route is not yet chosen.</a:t>
            </a:r>
            <a:endParaRPr lang="en-US" sz="850" dirty="0"/>
          </a:p>
        </p:txBody>
      </p:sp>
      <p:sp>
        <p:nvSpPr>
          <p:cNvPr id="21" name="Text 18"/>
          <p:cNvSpPr/>
          <p:nvPr/>
        </p:nvSpPr>
        <p:spPr>
          <a:xfrm>
            <a:off x="4800600" y="6473952"/>
            <a:ext cx="342122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Sarah's journey · HomeTest operating model · September 2026</a:t>
            </a:r>
            <a:endParaRPr lang="en-US" sz="800" dirty="0"/>
          </a:p>
        </p:txBody>
      </p:sp>
      <p:sp>
        <p:nvSpPr>
          <p:cNvPr id="22" name="Text 19"/>
          <p:cNvSpPr/>
          <p:nvPr/>
        </p:nvSpPr>
        <p:spPr>
          <a:xfrm>
            <a:off x="8221828" y="6473952"/>
            <a:ext cx="296402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sarah-stage2-0.707.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718078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22066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SARAH'S JOURNEY · STAGE 2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02</a:t>
            </a:r>
            <a:endParaRPr lang="en-US" sz="5400" dirty="0"/>
          </a:p>
        </p:txBody>
      </p:sp>
      <p:sp>
        <p:nvSpPr>
          <p:cNvPr id="6" name="Text 3"/>
          <p:cNvSpPr/>
          <p:nvPr/>
        </p:nvSpPr>
        <p:spPr>
          <a:xfrm>
            <a:off x="1645920" y="731520"/>
            <a:ext cx="5123383"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One front door · the framework opens</a:t>
            </a:r>
            <a:endParaRPr lang="en-US" sz="2350" dirty="0"/>
          </a:p>
        </p:txBody>
      </p:sp>
      <p:sp>
        <p:nvSpPr>
          <p:cNvPr id="7" name="Text 4"/>
          <p:cNvSpPr/>
          <p:nvPr/>
        </p:nvSpPr>
        <p:spPr>
          <a:xfrm>
            <a:off x="1645920" y="1571498"/>
            <a:ext cx="512338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framework opens</a:t>
            </a:r>
            <a:endParaRPr lang="en-US" sz="1150" dirty="0"/>
          </a:p>
        </p:txBody>
      </p:sp>
      <p:sp>
        <p:nvSpPr>
          <p:cNvPr id="8" name="Text 5"/>
          <p:cNvSpPr/>
          <p:nvPr/>
        </p:nvSpPr>
        <p:spPr>
          <a:xfrm>
            <a:off x="548640" y="2001266"/>
            <a:ext cx="6220663" cy="536296"/>
          </a:xfrm>
          <a:prstGeom prst="rect">
            <a:avLst/>
          </a:prstGeom>
          <a:noFill/>
          <a:ln/>
        </p:spPr>
        <p:txBody>
          <a:bodyPr wrap="square" lIns="0" tIns="0" rIns="0" bIns="0" rtlCol="0" anchor="t">
            <a:normAutofit/>
          </a:bodyPr>
          <a:lstStyle/>
          <a:p>
            <a:pPr indent="0" marL="0">
              <a:buNone/>
            </a:pPr>
            <a:r>
              <a:rPr lang="en-US" sz="972" dirty="0">
                <a:solidFill>
                  <a:srgbClr val="212B32"/>
                </a:solidFill>
                <a:latin typeface="Segoe UI" pitchFamily="34" charset="0"/>
                <a:ea typeface="Segoe UI" pitchFamily="34" charset="-122"/>
                <a:cs typeface="Segoe UI" pitchFamily="34" charset="-120"/>
              </a:rPr>
              <a:t>She opens the framework. The HomeTest platform is admitted. The HIV configuration is live. Suppliers are listed against published call-off terms. Templates ready. National pricing visible. No procurement to design from scratch.</a:t>
            </a:r>
            <a:endParaRPr lang="en-US" sz="972" dirty="0"/>
          </a:p>
        </p:txBody>
      </p:sp>
      <p:sp>
        <p:nvSpPr>
          <p:cNvPr id="9" name="Shape 6"/>
          <p:cNvSpPr/>
          <p:nvPr/>
        </p:nvSpPr>
        <p:spPr>
          <a:xfrm>
            <a:off x="548640" y="2674722"/>
            <a:ext cx="6220663" cy="65379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784450"/>
            <a:ext cx="5763463" cy="434340"/>
          </a:xfrm>
          <a:prstGeom prst="rect">
            <a:avLst/>
          </a:prstGeom>
          <a:noFill/>
          <a:ln/>
        </p:spPr>
        <p:txBody>
          <a:bodyPr wrap="square" lIns="0" tIns="0" rIns="0" bIns="0" rtlCol="0" anchor="ctr">
            <a:normAutofit/>
          </a:bodyPr>
          <a:lstStyle/>
          <a:p>
            <a:pPr indent="0" marL="0">
              <a:buNone/>
            </a:pPr>
            <a:r>
              <a:rPr lang="en-US" sz="900" i="1" dirty="0">
                <a:solidFill>
                  <a:srgbClr val="212B32"/>
                </a:solidFill>
                <a:latin typeface="Segoe UI" pitchFamily="34" charset="0"/>
                <a:ea typeface="Segoe UI" pitchFamily="34" charset="-122"/>
                <a:cs typeface="Segoe UI" pitchFamily="34" charset="-120"/>
              </a:rPr>
              <a:t>“I expected to be writing a spec. I'm looking at suppliers I can already call off. The framework did the heavy lifting before I logged in.”</a:t>
            </a:r>
            <a:pPr indent="0" marL="0">
              <a:buNone/>
            </a:pPr>
            <a:r>
              <a:rPr lang="en-US" sz="900" b="1" i="1" dirty="0">
                <a:solidFill>
                  <a:srgbClr val="212B32"/>
                </a:solidFill>
                <a:latin typeface="Segoe UI" pitchFamily="34" charset="0"/>
                <a:ea typeface="Segoe UI" pitchFamily="34" charset="-122"/>
                <a:cs typeface="Segoe UI" pitchFamily="34" charset="-120"/>
              </a:rPr>
              <a:t>  Sarah</a:t>
            </a:r>
            <a:endParaRPr lang="en-US" sz="900" dirty="0"/>
          </a:p>
        </p:txBody>
      </p:sp>
      <p:sp>
        <p:nvSpPr>
          <p:cNvPr id="11" name="Shape 8"/>
          <p:cNvSpPr/>
          <p:nvPr/>
        </p:nvSpPr>
        <p:spPr>
          <a:xfrm>
            <a:off x="548640" y="3465678"/>
            <a:ext cx="2996032" cy="292608"/>
          </a:xfrm>
          <a:prstGeom prst="rect">
            <a:avLst/>
          </a:prstGeom>
          <a:solidFill>
            <a:srgbClr val="003087"/>
          </a:solidFill>
          <a:ln w="12700">
            <a:solidFill>
              <a:srgbClr val="003087"/>
            </a:solidFill>
            <a:prstDash val="solid"/>
          </a:ln>
        </p:spPr>
      </p:sp>
      <p:sp>
        <p:nvSpPr>
          <p:cNvPr id="12" name="Text 9"/>
          <p:cNvSpPr/>
          <p:nvPr/>
        </p:nvSpPr>
        <p:spPr>
          <a:xfrm>
            <a:off x="658368" y="3465678"/>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758286"/>
            <a:ext cx="2996032" cy="176164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849726"/>
            <a:ext cx="2740000" cy="1481328"/>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The framework page. HIV self-test suppliers admitted to the HomeTest platform. Standard call-off terms. DSA, DPIA, privacy notice and clinical safety case starter templates pre-built. NHS Login carries the cohort. Targeting and reach capabilities exposed via UKHSA data overlays and NHSE social channels. </a:t>
            </a:r>
            <a:pPr indent="0" marL="0">
              <a:buNone/>
            </a:pPr>
            <a:r>
              <a:rPr lang="en-US" sz="864" b="1" dirty="0">
                <a:solidFill>
                  <a:srgbClr val="212B32"/>
                </a:solidFill>
                <a:latin typeface="Segoe UI" pitchFamily="34" charset="0"/>
                <a:ea typeface="Segoe UI" pitchFamily="34" charset="-122"/>
                <a:cs typeface="Segoe UI" pitchFamily="34" charset="-120"/>
              </a:rPr>
              <a:t>The route is published; she just has to choose to take it.</a:t>
            </a:r>
            <a:endParaRPr lang="en-US" sz="864" dirty="0"/>
          </a:p>
        </p:txBody>
      </p:sp>
      <p:sp>
        <p:nvSpPr>
          <p:cNvPr id="15" name="Shape 12"/>
          <p:cNvSpPr/>
          <p:nvPr/>
        </p:nvSpPr>
        <p:spPr>
          <a:xfrm>
            <a:off x="3773272" y="3465678"/>
            <a:ext cx="2996032" cy="292608"/>
          </a:xfrm>
          <a:prstGeom prst="rect">
            <a:avLst/>
          </a:prstGeom>
          <a:solidFill>
            <a:srgbClr val="5B6770"/>
          </a:solidFill>
          <a:ln w="12700">
            <a:solidFill>
              <a:srgbClr val="5B6770"/>
            </a:solidFill>
            <a:prstDash val="solid"/>
          </a:ln>
        </p:spPr>
      </p:sp>
      <p:sp>
        <p:nvSpPr>
          <p:cNvPr id="16" name="Text 13"/>
          <p:cNvSpPr/>
          <p:nvPr/>
        </p:nvSpPr>
        <p:spPr>
          <a:xfrm>
            <a:off x="3883000" y="3465678"/>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3773272" y="3758286"/>
            <a:ext cx="2996032" cy="176164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3901288" y="3849726"/>
            <a:ext cx="2740000" cy="1196035"/>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A clean-sheet procurement compliant with the LA's contract regulations. Spec writing. Supplier engagement. Two or three rounds of clarifications. A standstill period. Bespoke clinical safety case from a blank page. Bespoke IG. Bespoke MI. Three months gone before the first contract draft.</a:t>
            </a:r>
            <a:endParaRPr lang="en-US" sz="864" dirty="0"/>
          </a:p>
        </p:txBody>
      </p:sp>
      <p:sp>
        <p:nvSpPr>
          <p:cNvPr id="19" name="Shape 16"/>
          <p:cNvSpPr/>
          <p:nvPr/>
        </p:nvSpPr>
        <p:spPr>
          <a:xfrm>
            <a:off x="548640" y="5657088"/>
            <a:ext cx="6220663" cy="542544"/>
          </a:xfrm>
          <a:prstGeom prst="rect">
            <a:avLst/>
          </a:prstGeom>
          <a:solidFill>
            <a:srgbClr val="E8F3EE"/>
          </a:solidFill>
          <a:ln w="12700">
            <a:solidFill>
              <a:srgbClr val="E8F3EE"/>
            </a:solidFill>
            <a:prstDash val="solid"/>
          </a:ln>
        </p:spPr>
      </p:sp>
      <p:sp>
        <p:nvSpPr>
          <p:cNvPr id="20" name="Text 17"/>
          <p:cNvSpPr/>
          <p:nvPr/>
        </p:nvSpPr>
        <p:spPr>
          <a:xfrm>
            <a:off x="685800" y="5657088"/>
            <a:ext cx="594634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SARAH'S CARE TEAM SEES  </a:t>
            </a:r>
            <a:pPr indent="0" marL="0">
              <a:buNone/>
            </a:pPr>
            <a:r>
              <a:rPr lang="en-US" sz="800" dirty="0">
                <a:solidFill>
                  <a:srgbClr val="212B32"/>
                </a:solidFill>
                <a:latin typeface="Segoe UI" pitchFamily="34" charset="0"/>
                <a:ea typeface="Segoe UI" pitchFamily="34" charset="-122"/>
                <a:cs typeface="Segoe UI" pitchFamily="34" charset="-120"/>
              </a:rPr>
              <a:t>The platform's commissioner-engagement contact for the configuration. Her LA procurement lead, sense-checking the call-off route. Her sexual health service provider lead, sense-checking how the pathway plugs into the existing service.</a:t>
            </a:r>
            <a:endParaRPr lang="en-US" sz="850" dirty="0"/>
          </a:p>
        </p:txBody>
      </p:sp>
      <p:sp>
        <p:nvSpPr>
          <p:cNvPr id="21" name="Text 18"/>
          <p:cNvSpPr/>
          <p:nvPr/>
        </p:nvSpPr>
        <p:spPr>
          <a:xfrm>
            <a:off x="548640" y="6473952"/>
            <a:ext cx="311033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Sarah's journey · HomeTest operating model · September 2026</a:t>
            </a:r>
            <a:endParaRPr lang="en-US" sz="800" dirty="0"/>
          </a:p>
        </p:txBody>
      </p:sp>
      <p:sp>
        <p:nvSpPr>
          <p:cNvPr id="22" name="Text 19"/>
          <p:cNvSpPr/>
          <p:nvPr/>
        </p:nvSpPr>
        <p:spPr>
          <a:xfrm>
            <a:off x="3658972" y="6473952"/>
            <a:ext cx="265313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35782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sarah-stage3-0.613.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206240" y="0"/>
            <a:ext cx="164592" cy="6858000"/>
          </a:xfrm>
          <a:prstGeom prst="rect">
            <a:avLst/>
          </a:prstGeom>
          <a:solidFill>
            <a:srgbClr val="FFB91D"/>
          </a:solidFill>
          <a:ln w="12700">
            <a:solidFill>
              <a:srgbClr val="FFB91D"/>
            </a:solidFill>
            <a:prstDash val="solid"/>
          </a:ln>
        </p:spPr>
      </p:sp>
      <p:sp>
        <p:nvSpPr>
          <p:cNvPr id="4" name="Text 1"/>
          <p:cNvSpPr/>
          <p:nvPr/>
        </p:nvSpPr>
        <p:spPr>
          <a:xfrm>
            <a:off x="4800600" y="411480"/>
            <a:ext cx="684245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SARAH'S JOURNEY · STAGE 3 OF 6</a:t>
            </a:r>
            <a:endParaRPr lang="en-US" sz="1000" dirty="0"/>
          </a:p>
        </p:txBody>
      </p:sp>
      <p:sp>
        <p:nvSpPr>
          <p:cNvPr id="5" name="Text 2"/>
          <p:cNvSpPr/>
          <p:nvPr/>
        </p:nvSpPr>
        <p:spPr>
          <a:xfrm>
            <a:off x="480060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03</a:t>
            </a:r>
            <a:endParaRPr lang="en-US" sz="5400" dirty="0"/>
          </a:p>
        </p:txBody>
      </p:sp>
      <p:sp>
        <p:nvSpPr>
          <p:cNvPr id="6" name="Text 3"/>
          <p:cNvSpPr/>
          <p:nvPr/>
        </p:nvSpPr>
        <p:spPr>
          <a:xfrm>
            <a:off x="5897880" y="731520"/>
            <a:ext cx="5745175" cy="656590"/>
          </a:xfrm>
          <a:prstGeom prst="rect">
            <a:avLst/>
          </a:prstGeom>
          <a:noFill/>
          <a:ln/>
        </p:spPr>
        <p:txBody>
          <a:bodyPr wrap="square" lIns="0" tIns="0" rIns="0" bIns="0" rtlCol="0" anchor="t">
            <a:normAutofit/>
          </a:bodyPr>
          <a:lstStyle/>
          <a:p>
            <a:pPr indent="0" marL="0">
              <a:buNone/>
            </a:pPr>
            <a:r>
              <a:rPr lang="en-US" sz="1850" b="1" dirty="0">
                <a:solidFill>
                  <a:srgbClr val="003087"/>
                </a:solidFill>
                <a:latin typeface="Segoe UI" pitchFamily="34" charset="0"/>
                <a:ea typeface="Segoe UI" pitchFamily="34" charset="-122"/>
                <a:cs typeface="Segoe UI" pitchFamily="34" charset="-120"/>
              </a:rPr>
              <a:t>Fit for HER cohort · the questions standard answers don't solve</a:t>
            </a:r>
            <a:endParaRPr lang="en-US" sz="1850" dirty="0"/>
          </a:p>
        </p:txBody>
      </p:sp>
      <p:sp>
        <p:nvSpPr>
          <p:cNvPr id="7" name="Text 4"/>
          <p:cNvSpPr/>
          <p:nvPr/>
        </p:nvSpPr>
        <p:spPr>
          <a:xfrm>
            <a:off x="5897880" y="1406398"/>
            <a:ext cx="574517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questions standard answers don't solve</a:t>
            </a:r>
            <a:endParaRPr lang="en-US" sz="1150" dirty="0"/>
          </a:p>
        </p:txBody>
      </p:sp>
      <p:sp>
        <p:nvSpPr>
          <p:cNvPr id="8" name="Text 5"/>
          <p:cNvSpPr/>
          <p:nvPr/>
        </p:nvSpPr>
        <p:spPr>
          <a:xfrm>
            <a:off x="4800600" y="1836166"/>
            <a:ext cx="6842455" cy="482803"/>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Standard answers don't help her if her late-diagnosed patients are exactly the ones standard provision misses. Unsafe-address households. Low digital literacy. Reach into the wards her clinics don't see. She runs her open questions against the framework, expecting friction.</a:t>
            </a:r>
            <a:endParaRPr lang="en-US" sz="864" dirty="0"/>
          </a:p>
        </p:txBody>
      </p:sp>
      <p:sp>
        <p:nvSpPr>
          <p:cNvPr id="9" name="Shape 6"/>
          <p:cNvSpPr/>
          <p:nvPr/>
        </p:nvSpPr>
        <p:spPr>
          <a:xfrm>
            <a:off x="4800600" y="2456129"/>
            <a:ext cx="6842455" cy="62077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029200" y="2565857"/>
            <a:ext cx="6385255" cy="40132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“Standard answers don't help me if my late-diagnosed patients are exactly the ones standard provision misses. I need to know how this works for the people I'm trying to reach.”</a:t>
            </a:r>
            <a:pPr indent="0" marL="0">
              <a:buNone/>
            </a:pPr>
            <a:r>
              <a:rPr lang="en-US" sz="800" b="1" i="1" dirty="0">
                <a:solidFill>
                  <a:srgbClr val="212B32"/>
                </a:solidFill>
                <a:latin typeface="Segoe UI" pitchFamily="34" charset="0"/>
                <a:ea typeface="Segoe UI" pitchFamily="34" charset="-122"/>
                <a:cs typeface="Segoe UI" pitchFamily="34" charset="-120"/>
              </a:rPr>
              <a:t>  Sarah</a:t>
            </a:r>
            <a:endParaRPr lang="en-US" sz="800" dirty="0"/>
          </a:p>
        </p:txBody>
      </p:sp>
      <p:sp>
        <p:nvSpPr>
          <p:cNvPr id="11" name="Shape 8"/>
          <p:cNvSpPr/>
          <p:nvPr/>
        </p:nvSpPr>
        <p:spPr>
          <a:xfrm>
            <a:off x="4800600" y="3214065"/>
            <a:ext cx="3306928" cy="292608"/>
          </a:xfrm>
          <a:prstGeom prst="rect">
            <a:avLst/>
          </a:prstGeom>
          <a:solidFill>
            <a:srgbClr val="003087"/>
          </a:solidFill>
          <a:ln w="12700">
            <a:solidFill>
              <a:srgbClr val="003087"/>
            </a:solidFill>
            <a:prstDash val="solid"/>
          </a:ln>
        </p:spPr>
      </p:sp>
      <p:sp>
        <p:nvSpPr>
          <p:cNvPr id="12" name="Text 9"/>
          <p:cNvSpPr/>
          <p:nvPr/>
        </p:nvSpPr>
        <p:spPr>
          <a:xfrm>
            <a:off x="4910328" y="3214065"/>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4800600" y="3506673"/>
            <a:ext cx="3306928" cy="201325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4928616" y="3598113"/>
            <a:ext cx="3050896" cy="1576426"/>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Her open questions list against the framework's published outputs. The unsafe-address pathway: how kit goes to a patient whose home address is not a safe delivery point. The low-digital-literacy path: an alternative entry route for patients who can't engage with an app-led journey. The ward-level outreach overlay: how UKHSA data and NHSE social channels reach the cohorts her clinic doesn't see. </a:t>
            </a:r>
            <a:pPr indent="0" marL="0">
              <a:buNone/>
            </a:pPr>
            <a:r>
              <a:rPr lang="en-US" sz="768" b="1" dirty="0">
                <a:solidFill>
                  <a:srgbClr val="212B32"/>
                </a:solidFill>
                <a:latin typeface="Segoe UI" pitchFamily="34" charset="0"/>
                <a:ea typeface="Segoe UI" pitchFamily="34" charset="-122"/>
                <a:cs typeface="Segoe UI" pitchFamily="34" charset="-120"/>
              </a:rPr>
              <a:t>The framework either answers these or it doesn't. The platform either has the capability or it doesn't. She finds out before signing.</a:t>
            </a:r>
            <a:endParaRPr lang="en-US" sz="768" dirty="0"/>
          </a:p>
        </p:txBody>
      </p:sp>
      <p:sp>
        <p:nvSpPr>
          <p:cNvPr id="15" name="Shape 12"/>
          <p:cNvSpPr/>
          <p:nvPr/>
        </p:nvSpPr>
        <p:spPr>
          <a:xfrm>
            <a:off x="8336128" y="3214065"/>
            <a:ext cx="3306928" cy="292608"/>
          </a:xfrm>
          <a:prstGeom prst="rect">
            <a:avLst/>
          </a:prstGeom>
          <a:solidFill>
            <a:srgbClr val="5B6770"/>
          </a:solidFill>
          <a:ln w="12700">
            <a:solidFill>
              <a:srgbClr val="5B6770"/>
            </a:solidFill>
            <a:prstDash val="solid"/>
          </a:ln>
        </p:spPr>
      </p:sp>
      <p:sp>
        <p:nvSpPr>
          <p:cNvPr id="16" name="Text 13"/>
          <p:cNvSpPr/>
          <p:nvPr/>
        </p:nvSpPr>
        <p:spPr>
          <a:xfrm>
            <a:off x="8445856" y="3214065"/>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336128" y="3506673"/>
            <a:ext cx="3306928" cy="201325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464144" y="3598113"/>
            <a:ext cx="3050896" cy="132283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Six rounds of meetings with each supplier to discover what they actually do for her cohort. Bespoke service design negotiated supplier by supplier. Pilot phase running into year two. Or, in the worst case, skip the question entirely and assume what is on offer is fine. The pattern from her last new pathway: assumed it would work for everyone, found out at month nine that the cohort she was targeting hadn't engaged.</a:t>
            </a:r>
            <a:endParaRPr lang="en-US" sz="768" dirty="0"/>
          </a:p>
        </p:txBody>
      </p:sp>
      <p:sp>
        <p:nvSpPr>
          <p:cNvPr id="19" name="Shape 16"/>
          <p:cNvSpPr/>
          <p:nvPr/>
        </p:nvSpPr>
        <p:spPr>
          <a:xfrm>
            <a:off x="4800600" y="5657088"/>
            <a:ext cx="6842455" cy="542544"/>
          </a:xfrm>
          <a:prstGeom prst="rect">
            <a:avLst/>
          </a:prstGeom>
          <a:solidFill>
            <a:srgbClr val="E8F3EE"/>
          </a:solidFill>
          <a:ln w="12700">
            <a:solidFill>
              <a:srgbClr val="E8F3EE"/>
            </a:solidFill>
            <a:prstDash val="solid"/>
          </a:ln>
        </p:spPr>
      </p:sp>
      <p:sp>
        <p:nvSpPr>
          <p:cNvPr id="20" name="Text 17"/>
          <p:cNvSpPr/>
          <p:nvPr/>
        </p:nvSpPr>
        <p:spPr>
          <a:xfrm>
            <a:off x="4937760" y="5657088"/>
            <a:ext cx="656813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SARAH'S CARE TEAM SEES  </a:t>
            </a:r>
            <a:pPr indent="0" marL="0">
              <a:buNone/>
            </a:pPr>
            <a:r>
              <a:rPr lang="en-US" sz="800" dirty="0">
                <a:solidFill>
                  <a:srgbClr val="212B32"/>
                </a:solidFill>
                <a:latin typeface="Segoe UI" pitchFamily="34" charset="0"/>
                <a:ea typeface="Segoe UI" pitchFamily="34" charset="-122"/>
                <a:cs typeface="Segoe UI" pitchFamily="34" charset="-120"/>
              </a:rPr>
              <a:t>Her public-health intelligence lead on the cohort. Her sexual health service's outreach lead. The platform's engagement contact on unsafe-address policy and the alternative entry route. Her safeguarding officer.</a:t>
            </a:r>
            <a:endParaRPr lang="en-US" sz="850" dirty="0"/>
          </a:p>
        </p:txBody>
      </p:sp>
      <p:sp>
        <p:nvSpPr>
          <p:cNvPr id="21" name="Text 18"/>
          <p:cNvSpPr/>
          <p:nvPr/>
        </p:nvSpPr>
        <p:spPr>
          <a:xfrm>
            <a:off x="4800600" y="6473952"/>
            <a:ext cx="342122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Sarah's journey · HomeTest operating model · September 2026</a:t>
            </a:r>
            <a:endParaRPr lang="en-US" sz="800" dirty="0"/>
          </a:p>
        </p:txBody>
      </p:sp>
      <p:sp>
        <p:nvSpPr>
          <p:cNvPr id="22" name="Text 19"/>
          <p:cNvSpPr/>
          <p:nvPr/>
        </p:nvSpPr>
        <p:spPr>
          <a:xfrm>
            <a:off x="8221828" y="6473952"/>
            <a:ext cx="296402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sarah-stage4-0.613.jpg">    </p:cNvPr>
          <p:cNvPicPr>
            <a:picLocks noChangeAspect="1"/>
          </p:cNvPicPr>
          <p:nvPr/>
        </p:nvPicPr>
        <p:blipFill>
          <a:blip r:embed="rId1"/>
          <a:stretch>
            <a:fillRect/>
          </a:stretch>
        </p:blipFill>
        <p:spPr>
          <a:xfrm>
            <a:off x="7985455" y="0"/>
            <a:ext cx="4206240" cy="6858000"/>
          </a:xfrm>
          <a:prstGeom prst="rect">
            <a:avLst/>
          </a:prstGeom>
        </p:spPr>
      </p:pic>
      <p:sp>
        <p:nvSpPr>
          <p:cNvPr id="3" name="Shape 0"/>
          <p:cNvSpPr/>
          <p:nvPr/>
        </p:nvSpPr>
        <p:spPr>
          <a:xfrm>
            <a:off x="782086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86074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SARAH'S JOURNEY · STAGE 4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04</a:t>
            </a:r>
            <a:endParaRPr lang="en-US" sz="5400" dirty="0"/>
          </a:p>
        </p:txBody>
      </p:sp>
      <p:sp>
        <p:nvSpPr>
          <p:cNvPr id="6" name="Text 3"/>
          <p:cNvSpPr/>
          <p:nvPr/>
        </p:nvSpPr>
        <p:spPr>
          <a:xfrm>
            <a:off x="1645920" y="731520"/>
            <a:ext cx="5763463" cy="491490"/>
          </a:xfrm>
          <a:prstGeom prst="rect">
            <a:avLst/>
          </a:prstGeom>
          <a:noFill/>
          <a:ln/>
        </p:spPr>
        <p:txBody>
          <a:bodyPr wrap="square" lIns="0" tIns="0" rIns="0" bIns="0" rtlCol="0" anchor="t">
            <a:normAutofit/>
          </a:bodyPr>
          <a:lstStyle/>
          <a:p>
            <a:pPr indent="0" marL="0">
              <a:buNone/>
            </a:pPr>
            <a:r>
              <a:rPr lang="en-US" sz="2700" b="1" dirty="0">
                <a:solidFill>
                  <a:srgbClr val="003087"/>
                </a:solidFill>
                <a:latin typeface="Segoe UI" pitchFamily="34" charset="0"/>
                <a:ea typeface="Segoe UI" pitchFamily="34" charset="-122"/>
                <a:cs typeface="Segoe UI" pitchFamily="34" charset="-120"/>
              </a:rPr>
              <a:t>One call-off · signing</a:t>
            </a:r>
            <a:endParaRPr lang="en-US" sz="2700" dirty="0"/>
          </a:p>
        </p:txBody>
      </p:sp>
      <p:sp>
        <p:nvSpPr>
          <p:cNvPr id="7" name="Text 4"/>
          <p:cNvSpPr/>
          <p:nvPr/>
        </p:nvSpPr>
        <p:spPr>
          <a:xfrm>
            <a:off x="1645920" y="1241298"/>
            <a:ext cx="576346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not procuring</a:t>
            </a:r>
            <a:endParaRPr lang="en-US" sz="1150" dirty="0"/>
          </a:p>
        </p:txBody>
      </p:sp>
      <p:sp>
        <p:nvSpPr>
          <p:cNvPr id="8" name="Text 5"/>
          <p:cNvSpPr/>
          <p:nvPr/>
        </p:nvSpPr>
        <p:spPr>
          <a:xfrm>
            <a:off x="548640" y="1828800"/>
            <a:ext cx="6860743" cy="625450"/>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The call-off goes in. Six weeks from brief to live, not eighteen months. The LA's sexual health service contract carries the home-testing pathway as an extension. NHS Login carries the cohort. Payment via published call-off terms. The procurement scar she carried in is not the procurement she ran.</a:t>
            </a:r>
            <a:endParaRPr lang="en-US" sz="864" dirty="0"/>
          </a:p>
        </p:txBody>
      </p:sp>
      <p:sp>
        <p:nvSpPr>
          <p:cNvPr id="9" name="Shape 6"/>
          <p:cNvSpPr/>
          <p:nvPr/>
        </p:nvSpPr>
        <p:spPr>
          <a:xfrm>
            <a:off x="548640" y="2591410"/>
            <a:ext cx="6860743" cy="62077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701138"/>
            <a:ext cx="6403543" cy="40132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“I've signed call-offs that took twenty minutes. The eighteen months I didn't spend negotiating is the eighteen months my patients didn't wait.”</a:t>
            </a:r>
            <a:pPr indent="0" marL="0">
              <a:buNone/>
            </a:pPr>
            <a:r>
              <a:rPr lang="en-US" sz="800" b="1" i="1" dirty="0">
                <a:solidFill>
                  <a:srgbClr val="212B32"/>
                </a:solidFill>
                <a:latin typeface="Segoe UI" pitchFamily="34" charset="0"/>
                <a:ea typeface="Segoe UI" pitchFamily="34" charset="-122"/>
                <a:cs typeface="Segoe UI" pitchFamily="34" charset="-120"/>
              </a:rPr>
              <a:t>  Sarah</a:t>
            </a:r>
            <a:endParaRPr lang="en-US" sz="800" dirty="0"/>
          </a:p>
        </p:txBody>
      </p:sp>
      <p:sp>
        <p:nvSpPr>
          <p:cNvPr id="11" name="Shape 8"/>
          <p:cNvSpPr/>
          <p:nvPr/>
        </p:nvSpPr>
        <p:spPr>
          <a:xfrm>
            <a:off x="548640" y="3349346"/>
            <a:ext cx="3316072" cy="292608"/>
          </a:xfrm>
          <a:prstGeom prst="rect">
            <a:avLst/>
          </a:prstGeom>
          <a:solidFill>
            <a:srgbClr val="003087"/>
          </a:solidFill>
          <a:ln w="12700">
            <a:solidFill>
              <a:srgbClr val="003087"/>
            </a:solidFill>
            <a:prstDash val="solid"/>
          </a:ln>
        </p:spPr>
      </p:sp>
      <p:sp>
        <p:nvSpPr>
          <p:cNvPr id="12" name="Text 9"/>
          <p:cNvSpPr/>
          <p:nvPr/>
        </p:nvSpPr>
        <p:spPr>
          <a:xfrm>
            <a:off x="658368" y="3349346"/>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641954"/>
            <a:ext cx="3316072" cy="187797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733394"/>
            <a:ext cx="3060040" cy="1449629"/>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The call-off itself. The supplier admitted to the platform under the framework. The local sexual health service contract amended to carry the new pathway as an extension. DSA executed against the framework's template. Clinical safety case approved by the LA's CSO using the framework's starter case as the spine. First batch of kits ordered. Outbound communications drafted for the wards the public-health team flagged. </a:t>
            </a:r>
            <a:pPr indent="0" marL="0">
              <a:buNone/>
            </a:pPr>
            <a:r>
              <a:rPr lang="en-US" sz="768" b="1" dirty="0">
                <a:solidFill>
                  <a:srgbClr val="212B32"/>
                </a:solidFill>
                <a:latin typeface="Segoe UI" pitchFamily="34" charset="0"/>
                <a:ea typeface="Segoe UI" pitchFamily="34" charset="-122"/>
                <a:cs typeface="Segoe UI" pitchFamily="34" charset="-120"/>
              </a:rPr>
              <a:t>Every step has a published template. Nothing is being designed in the moment.</a:t>
            </a:r>
            <a:endParaRPr lang="en-US" sz="768" dirty="0"/>
          </a:p>
        </p:txBody>
      </p:sp>
      <p:sp>
        <p:nvSpPr>
          <p:cNvPr id="15" name="Shape 12"/>
          <p:cNvSpPr/>
          <p:nvPr/>
        </p:nvSpPr>
        <p:spPr>
          <a:xfrm>
            <a:off x="4093312" y="3349346"/>
            <a:ext cx="3316072" cy="292608"/>
          </a:xfrm>
          <a:prstGeom prst="rect">
            <a:avLst/>
          </a:prstGeom>
          <a:solidFill>
            <a:srgbClr val="5B6770"/>
          </a:solidFill>
          <a:ln w="12700">
            <a:solidFill>
              <a:srgbClr val="5B6770"/>
            </a:solidFill>
            <a:prstDash val="solid"/>
          </a:ln>
        </p:spPr>
      </p:sp>
      <p:sp>
        <p:nvSpPr>
          <p:cNvPr id="16" name="Text 13"/>
          <p:cNvSpPr/>
          <p:nvPr/>
        </p:nvSpPr>
        <p:spPr>
          <a:xfrm>
            <a:off x="4203040" y="3349346"/>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4093312" y="3641954"/>
            <a:ext cx="3316072" cy="187797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4221328" y="3733394"/>
            <a:ext cx="3060040" cy="815645"/>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 multi-year bilateral contract with each supplier. Bespoke pricing schedule. Bespoke clinical safety case from a blank page. Bespoke IG. Bespoke MI. Each adding months to the deployment timeline. Each reducing the budget left for the actual outreach.</a:t>
            </a:r>
            <a:endParaRPr lang="en-US" sz="768" dirty="0"/>
          </a:p>
        </p:txBody>
      </p:sp>
      <p:sp>
        <p:nvSpPr>
          <p:cNvPr id="19" name="Shape 16"/>
          <p:cNvSpPr/>
          <p:nvPr/>
        </p:nvSpPr>
        <p:spPr>
          <a:xfrm>
            <a:off x="548640" y="5657088"/>
            <a:ext cx="6860743" cy="542544"/>
          </a:xfrm>
          <a:prstGeom prst="rect">
            <a:avLst/>
          </a:prstGeom>
          <a:solidFill>
            <a:srgbClr val="E8F3EE"/>
          </a:solidFill>
          <a:ln w="12700">
            <a:solidFill>
              <a:srgbClr val="E8F3EE"/>
            </a:solidFill>
            <a:prstDash val="solid"/>
          </a:ln>
        </p:spPr>
      </p:sp>
      <p:sp>
        <p:nvSpPr>
          <p:cNvPr id="20" name="Text 17"/>
          <p:cNvSpPr/>
          <p:nvPr/>
        </p:nvSpPr>
        <p:spPr>
          <a:xfrm>
            <a:off x="685800" y="5657088"/>
            <a:ext cx="658642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SARAH'S CARE TEAM SEES  </a:t>
            </a:r>
            <a:pPr indent="0" marL="0">
              <a:buNone/>
            </a:pPr>
            <a:r>
              <a:rPr lang="en-US" sz="800" dirty="0">
                <a:solidFill>
                  <a:srgbClr val="212B32"/>
                </a:solidFill>
                <a:latin typeface="Segoe UI" pitchFamily="34" charset="0"/>
                <a:ea typeface="Segoe UI" pitchFamily="34" charset="-122"/>
                <a:cs typeface="Segoe UI" pitchFamily="34" charset="-120"/>
              </a:rPr>
              <a:t>Her LA procurement lead. Her LA CSO. Her IG lead. The sexual health service provider lead. The platform's engagement contact handling the call-off process. The supplier's account manager.</a:t>
            </a:r>
            <a:endParaRPr lang="en-US" sz="850" dirty="0"/>
          </a:p>
        </p:txBody>
      </p:sp>
      <p:sp>
        <p:nvSpPr>
          <p:cNvPr id="21" name="Text 18"/>
          <p:cNvSpPr/>
          <p:nvPr/>
        </p:nvSpPr>
        <p:spPr>
          <a:xfrm>
            <a:off x="548640" y="6473952"/>
            <a:ext cx="343037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Sarah's journey · HomeTest operating model · September 2026</a:t>
            </a:r>
            <a:endParaRPr lang="en-US" sz="800" dirty="0"/>
          </a:p>
        </p:txBody>
      </p:sp>
      <p:sp>
        <p:nvSpPr>
          <p:cNvPr id="22" name="Text 19"/>
          <p:cNvSpPr/>
          <p:nvPr/>
        </p:nvSpPr>
        <p:spPr>
          <a:xfrm>
            <a:off x="3979012" y="6473952"/>
            <a:ext cx="297317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99790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sarah-stage5-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SARAH'S JOURNEY · STAGE 5 OF 6</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05</a:t>
            </a:r>
            <a:endParaRPr lang="en-US" sz="5400" dirty="0"/>
          </a:p>
        </p:txBody>
      </p:sp>
      <p:sp>
        <p:nvSpPr>
          <p:cNvPr id="6" name="Text 3"/>
          <p:cNvSpPr/>
          <p:nvPr/>
        </p:nvSpPr>
        <p:spPr>
          <a:xfrm>
            <a:off x="6537960" y="731520"/>
            <a:ext cx="5105095"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Live operation · kits out</a:t>
            </a:r>
            <a:endParaRPr lang="en-US" sz="2350" dirty="0"/>
          </a:p>
        </p:txBody>
      </p:sp>
      <p:sp>
        <p:nvSpPr>
          <p:cNvPr id="7" name="Text 4"/>
          <p:cNvSpPr/>
          <p:nvPr/>
        </p:nvSpPr>
        <p:spPr>
          <a:xfrm>
            <a:off x="6537960" y="157149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results back</a:t>
            </a:r>
            <a:endParaRPr lang="en-US" sz="1150" dirty="0"/>
          </a:p>
        </p:txBody>
      </p:sp>
      <p:sp>
        <p:nvSpPr>
          <p:cNvPr id="8" name="Text 5"/>
          <p:cNvSpPr/>
          <p:nvPr/>
        </p:nvSpPr>
        <p:spPr>
          <a:xfrm>
            <a:off x="5440680" y="2001266"/>
            <a:ext cx="6202375" cy="625450"/>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Quarter one live. Kits going out to the wards her public-health team targeted. Self-test results triaged through her existing sexual health service. The MI feed shows reach into the cohorts standard provision missed. The pathway just works for the patient.</a:t>
            </a:r>
            <a:endParaRPr lang="en-US" sz="864" dirty="0"/>
          </a:p>
        </p:txBody>
      </p:sp>
      <p:sp>
        <p:nvSpPr>
          <p:cNvPr id="9" name="Shape 6"/>
          <p:cNvSpPr/>
          <p:nvPr/>
        </p:nvSpPr>
        <p:spPr>
          <a:xfrm>
            <a:off x="5440680" y="2763876"/>
            <a:ext cx="6202375" cy="62077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873604"/>
            <a:ext cx="5745175" cy="40132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“Patients don't see procurement. They see a kit in the post and a follow-up from a service they trust. The pathway just works for them.”</a:t>
            </a:r>
            <a:pPr indent="0" marL="0">
              <a:buNone/>
            </a:pPr>
            <a:r>
              <a:rPr lang="en-US" sz="800" b="1" i="1" dirty="0">
                <a:solidFill>
                  <a:srgbClr val="212B32"/>
                </a:solidFill>
                <a:latin typeface="Segoe UI" pitchFamily="34" charset="0"/>
                <a:ea typeface="Segoe UI" pitchFamily="34" charset="-122"/>
                <a:cs typeface="Segoe UI" pitchFamily="34" charset="-120"/>
              </a:rPr>
              <a:t>  Sarah</a:t>
            </a:r>
            <a:endParaRPr lang="en-US" sz="800" dirty="0"/>
          </a:p>
        </p:txBody>
      </p:sp>
      <p:sp>
        <p:nvSpPr>
          <p:cNvPr id="11" name="Shape 8"/>
          <p:cNvSpPr/>
          <p:nvPr/>
        </p:nvSpPr>
        <p:spPr>
          <a:xfrm>
            <a:off x="5440680" y="3521812"/>
            <a:ext cx="2986888" cy="292608"/>
          </a:xfrm>
          <a:prstGeom prst="rect">
            <a:avLst/>
          </a:prstGeom>
          <a:solidFill>
            <a:srgbClr val="003087"/>
          </a:solidFill>
          <a:ln w="12700">
            <a:solidFill>
              <a:srgbClr val="003087"/>
            </a:solidFill>
            <a:prstDash val="solid"/>
          </a:ln>
        </p:spPr>
      </p:sp>
      <p:sp>
        <p:nvSpPr>
          <p:cNvPr id="12" name="Text 9"/>
          <p:cNvSpPr/>
          <p:nvPr/>
        </p:nvSpPr>
        <p:spPr>
          <a:xfrm>
            <a:off x="5550408" y="3521812"/>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3814420"/>
            <a:ext cx="2986888" cy="157342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3905860"/>
            <a:ext cx="2730856" cy="132283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The MI dashboard. Kits ordered. Kits delivered. Results returned (positive, negative, invalid). Triage decisions. Follow-up clinic bookings. Reach into the target wards versus the LA baseline. Equity reach against the LA's inequality targets. Reactive support paths for unsafe-result delivery. </a:t>
            </a:r>
            <a:pPr indent="0" marL="0">
              <a:buNone/>
            </a:pPr>
            <a:r>
              <a:rPr lang="en-US" sz="768" b="1" dirty="0">
                <a:solidFill>
                  <a:srgbClr val="212B32"/>
                </a:solidFill>
                <a:latin typeface="Segoe UI" pitchFamily="34" charset="0"/>
                <a:ea typeface="Segoe UI" pitchFamily="34" charset="-122"/>
                <a:cs typeface="Segoe UI" pitchFamily="34" charset="-120"/>
              </a:rPr>
              <a:t>The numbers are visible in real time. She doesn't need to wait for the annual return.</a:t>
            </a:r>
            <a:endParaRPr lang="en-US" sz="768" dirty="0"/>
          </a:p>
        </p:txBody>
      </p:sp>
      <p:sp>
        <p:nvSpPr>
          <p:cNvPr id="15" name="Shape 12"/>
          <p:cNvSpPr/>
          <p:nvPr/>
        </p:nvSpPr>
        <p:spPr>
          <a:xfrm>
            <a:off x="8656168" y="3521812"/>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521812"/>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3814420"/>
            <a:ext cx="2986888" cy="157342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3905860"/>
            <a:ext cx="2730856" cy="94244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Hand-rolled MI. Manual chasing of result returns. Manual follow-up. No view of equity reach until the annual report. The risk: finding out a year late that the cohort the LA targeted hadn't actually engaged, by which time the next year's budget had been set on the assumption it had.</a:t>
            </a:r>
            <a:endParaRPr lang="en-US" sz="768" dirty="0"/>
          </a:p>
        </p:txBody>
      </p:sp>
      <p:sp>
        <p:nvSpPr>
          <p:cNvPr id="19" name="Shape 16"/>
          <p:cNvSpPr/>
          <p:nvPr/>
        </p:nvSpPr>
        <p:spPr>
          <a:xfrm>
            <a:off x="5440680" y="5525008"/>
            <a:ext cx="6202375" cy="674624"/>
          </a:xfrm>
          <a:prstGeom prst="rect">
            <a:avLst/>
          </a:prstGeom>
          <a:solidFill>
            <a:srgbClr val="E8F3EE"/>
          </a:solidFill>
          <a:ln w="12700">
            <a:solidFill>
              <a:srgbClr val="E8F3EE"/>
            </a:solidFill>
            <a:prstDash val="solid"/>
          </a:ln>
        </p:spPr>
      </p:sp>
      <p:sp>
        <p:nvSpPr>
          <p:cNvPr id="20" name="Text 17"/>
          <p:cNvSpPr/>
          <p:nvPr/>
        </p:nvSpPr>
        <p:spPr>
          <a:xfrm>
            <a:off x="5577840" y="5525008"/>
            <a:ext cx="5928055" cy="67462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SARAH'S CARE TEAM SEES  </a:t>
            </a:r>
            <a:pPr indent="0" marL="0">
              <a:buNone/>
            </a:pPr>
            <a:r>
              <a:rPr lang="en-US" sz="800" dirty="0">
                <a:solidFill>
                  <a:srgbClr val="212B32"/>
                </a:solidFill>
                <a:latin typeface="Segoe UI" pitchFamily="34" charset="0"/>
                <a:ea typeface="Segoe UI" pitchFamily="34" charset="-122"/>
                <a:cs typeface="Segoe UI" pitchFamily="34" charset="-120"/>
              </a:rPr>
              <a:t>The sexual health service provider running the clinical pathway. The supplier running the kit logistics. The platform running the data layer. The LA outreach team running ward-level engagement. Sarah herself looking at the MI feed weekly.</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Sarah's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sarah-stage6-0.707.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718078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22066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SARAH'S JOURNEY · STAGE 6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06</a:t>
            </a:r>
            <a:endParaRPr lang="en-US" sz="5400" dirty="0"/>
          </a:p>
        </p:txBody>
      </p:sp>
      <p:sp>
        <p:nvSpPr>
          <p:cNvPr id="6" name="Text 3"/>
          <p:cNvSpPr/>
          <p:nvPr/>
        </p:nvSpPr>
        <p:spPr>
          <a:xfrm>
            <a:off x="1645920" y="731520"/>
            <a:ext cx="5123383"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The board paper · what the members see</a:t>
            </a:r>
            <a:endParaRPr lang="en-US" sz="2350" dirty="0"/>
          </a:p>
        </p:txBody>
      </p:sp>
      <p:sp>
        <p:nvSpPr>
          <p:cNvPr id="7" name="Text 4"/>
          <p:cNvSpPr/>
          <p:nvPr/>
        </p:nvSpPr>
        <p:spPr>
          <a:xfrm>
            <a:off x="1645920" y="1571498"/>
            <a:ext cx="512338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What the members see</a:t>
            </a:r>
            <a:endParaRPr lang="en-US" sz="1150" dirty="0"/>
          </a:p>
        </p:txBody>
      </p:sp>
      <p:sp>
        <p:nvSpPr>
          <p:cNvPr id="8" name="Text 5"/>
          <p:cNvSpPr/>
          <p:nvPr/>
        </p:nvSpPr>
        <p:spPr>
          <a:xfrm>
            <a:off x="548640" y="2001266"/>
            <a:ext cx="6220663" cy="482803"/>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First-year outcomes. HIV detection rate up. Late-diagnosis rate down. Equity reach into the wards her clinics didn't see, verified. The board paper writes itself. The next year's ask is for the next configuration, not the next procurement.</a:t>
            </a:r>
            <a:endParaRPr lang="en-US" sz="864" dirty="0"/>
          </a:p>
        </p:txBody>
      </p:sp>
      <p:sp>
        <p:nvSpPr>
          <p:cNvPr id="9" name="Shape 6"/>
          <p:cNvSpPr/>
          <p:nvPr/>
        </p:nvSpPr>
        <p:spPr>
          <a:xfrm>
            <a:off x="548640" y="2621229"/>
            <a:ext cx="6220663" cy="62077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730957"/>
            <a:ext cx="5763463" cy="40132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“The Health and Wellbeing Board wanted to know whether it worked. The numbers do most of the talking. The pathway behind them is what made the numbers possible.”</a:t>
            </a:r>
            <a:pPr indent="0" marL="0">
              <a:buNone/>
            </a:pPr>
            <a:r>
              <a:rPr lang="en-US" sz="800" b="1" i="1" dirty="0">
                <a:solidFill>
                  <a:srgbClr val="212B32"/>
                </a:solidFill>
                <a:latin typeface="Segoe UI" pitchFamily="34" charset="0"/>
                <a:ea typeface="Segoe UI" pitchFamily="34" charset="-122"/>
                <a:cs typeface="Segoe UI" pitchFamily="34" charset="-120"/>
              </a:rPr>
              <a:t>  Sarah</a:t>
            </a:r>
            <a:endParaRPr lang="en-US" sz="800" dirty="0"/>
          </a:p>
        </p:txBody>
      </p:sp>
      <p:sp>
        <p:nvSpPr>
          <p:cNvPr id="11" name="Shape 8"/>
          <p:cNvSpPr/>
          <p:nvPr/>
        </p:nvSpPr>
        <p:spPr>
          <a:xfrm>
            <a:off x="548640" y="3379165"/>
            <a:ext cx="2996032" cy="292608"/>
          </a:xfrm>
          <a:prstGeom prst="rect">
            <a:avLst/>
          </a:prstGeom>
          <a:solidFill>
            <a:srgbClr val="003087"/>
          </a:solidFill>
          <a:ln w="12700">
            <a:solidFill>
              <a:srgbClr val="003087"/>
            </a:solidFill>
            <a:prstDash val="solid"/>
          </a:ln>
        </p:spPr>
      </p:sp>
      <p:sp>
        <p:nvSpPr>
          <p:cNvPr id="12" name="Text 9"/>
          <p:cNvSpPr/>
          <p:nvPr/>
        </p:nvSpPr>
        <p:spPr>
          <a:xfrm>
            <a:off x="658368" y="3379165"/>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671773"/>
            <a:ext cx="2996032" cy="184815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763213"/>
            <a:ext cx="2740000" cy="1449629"/>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HIV detection rate against the LA baseline. Late-diagnosis rate, by ward. Equity reach into the cohorts the LA targeted. Cost per detection. Clinic capacity released back to the service for follow-up and treatment. Patient feedback. Reactive-pathway performance for unsafe-result delivery. The recommendation for year two: extend to the next configuration the platform admits. </a:t>
            </a:r>
            <a:pPr indent="0" marL="0">
              <a:buNone/>
            </a:pPr>
            <a:r>
              <a:rPr lang="en-US" sz="768" b="1" dirty="0">
                <a:solidFill>
                  <a:srgbClr val="212B32"/>
                </a:solidFill>
                <a:latin typeface="Segoe UI" pitchFamily="34" charset="0"/>
                <a:ea typeface="Segoe UI" pitchFamily="34" charset="-122"/>
                <a:cs typeface="Segoe UI" pitchFamily="34" charset="-120"/>
              </a:rPr>
              <a:t>Same framework. Same call-off shape. Same MI feed.</a:t>
            </a:r>
            <a:endParaRPr lang="en-US" sz="768" dirty="0"/>
          </a:p>
        </p:txBody>
      </p:sp>
      <p:sp>
        <p:nvSpPr>
          <p:cNvPr id="15" name="Shape 12"/>
          <p:cNvSpPr/>
          <p:nvPr/>
        </p:nvSpPr>
        <p:spPr>
          <a:xfrm>
            <a:off x="3773272" y="3379165"/>
            <a:ext cx="2996032" cy="292608"/>
          </a:xfrm>
          <a:prstGeom prst="rect">
            <a:avLst/>
          </a:prstGeom>
          <a:solidFill>
            <a:srgbClr val="5B6770"/>
          </a:solidFill>
          <a:ln w="12700">
            <a:solidFill>
              <a:srgbClr val="5B6770"/>
            </a:solidFill>
            <a:prstDash val="solid"/>
          </a:ln>
        </p:spPr>
      </p:sp>
      <p:sp>
        <p:nvSpPr>
          <p:cNvPr id="16" name="Text 13"/>
          <p:cNvSpPr/>
          <p:nvPr/>
        </p:nvSpPr>
        <p:spPr>
          <a:xfrm>
            <a:off x="3883000" y="3379165"/>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3773272" y="3671773"/>
            <a:ext cx="2996032" cy="184815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3901288" y="3763213"/>
            <a:ext cx="2740000" cy="1069238"/>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 board paper hedged with ‘data still maturing’ and ‘next year we will have a fuller picture’. Three years before a programme of this size could be evaluated against equity targets. By which time the LA had moved on, the funding had been re-prioritised, or the member who sponsored it had left office.</a:t>
            </a:r>
            <a:endParaRPr lang="en-US" sz="768" dirty="0"/>
          </a:p>
        </p:txBody>
      </p:sp>
      <p:sp>
        <p:nvSpPr>
          <p:cNvPr id="19" name="Shape 16"/>
          <p:cNvSpPr/>
          <p:nvPr/>
        </p:nvSpPr>
        <p:spPr>
          <a:xfrm>
            <a:off x="548640" y="5657088"/>
            <a:ext cx="6220663" cy="542544"/>
          </a:xfrm>
          <a:prstGeom prst="rect">
            <a:avLst/>
          </a:prstGeom>
          <a:solidFill>
            <a:srgbClr val="E8F3EE"/>
          </a:solidFill>
          <a:ln w="12700">
            <a:solidFill>
              <a:srgbClr val="E8F3EE"/>
            </a:solidFill>
            <a:prstDash val="solid"/>
          </a:ln>
        </p:spPr>
      </p:sp>
      <p:sp>
        <p:nvSpPr>
          <p:cNvPr id="20" name="Text 17"/>
          <p:cNvSpPr/>
          <p:nvPr/>
        </p:nvSpPr>
        <p:spPr>
          <a:xfrm>
            <a:off x="685800" y="5657088"/>
            <a:ext cx="594634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SARAH'S CARE TEAM SEES  </a:t>
            </a:r>
            <a:pPr indent="0" marL="0">
              <a:buNone/>
            </a:pPr>
            <a:r>
              <a:rPr lang="en-US" sz="800" dirty="0">
                <a:solidFill>
                  <a:srgbClr val="212B32"/>
                </a:solidFill>
                <a:latin typeface="Segoe UI" pitchFamily="34" charset="0"/>
                <a:ea typeface="Segoe UI" pitchFamily="34" charset="-122"/>
                <a:cs typeface="Segoe UI" pitchFamily="34" charset="-120"/>
              </a:rPr>
              <a:t>The Health and Wellbeing Board. The Director of Public Health. Elected members on the relevant scrutiny committee. The LA finance team setting the next year's commissioning envelope.</a:t>
            </a:r>
            <a:endParaRPr lang="en-US" sz="850" dirty="0"/>
          </a:p>
        </p:txBody>
      </p:sp>
      <p:sp>
        <p:nvSpPr>
          <p:cNvPr id="21" name="Text 18"/>
          <p:cNvSpPr/>
          <p:nvPr/>
        </p:nvSpPr>
        <p:spPr>
          <a:xfrm>
            <a:off x="548640" y="6473952"/>
            <a:ext cx="311033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Sarah's journey · HomeTest operating model · September 2026</a:t>
            </a:r>
            <a:endParaRPr lang="en-US" sz="800" dirty="0"/>
          </a:p>
        </p:txBody>
      </p:sp>
      <p:sp>
        <p:nvSpPr>
          <p:cNvPr id="22" name="Text 19"/>
          <p:cNvSpPr/>
          <p:nvPr/>
        </p:nvSpPr>
        <p:spPr>
          <a:xfrm>
            <a:off x="3658972" y="6473952"/>
            <a:ext cx="265313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35782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SARAH'S WIN</a:t>
            </a:r>
            <a:endParaRPr lang="en-US" sz="1000" dirty="0"/>
          </a:p>
        </p:txBody>
      </p:sp>
      <p:sp>
        <p:nvSpPr>
          <p:cNvPr id="3" name="Text 1"/>
          <p:cNvSpPr/>
          <p:nvPr/>
        </p:nvSpPr>
        <p:spPr>
          <a:xfrm>
            <a:off x="548640" y="731520"/>
            <a:ext cx="6933895" cy="1993900"/>
          </a:xfrm>
          <a:prstGeom prst="rect">
            <a:avLst/>
          </a:prstGeom>
          <a:noFill/>
          <a:ln/>
        </p:spPr>
        <p:txBody>
          <a:bodyPr wrap="square" lIns="0" tIns="0" rIns="0" bIns="0" rtlCol="0" anchor="t">
            <a:normAutofit/>
          </a:bodyPr>
          <a:lstStyle/>
          <a:p>
            <a:pPr indent="0" marL="0">
              <a:buNone/>
            </a:pPr>
            <a:r>
              <a:rPr lang="en-US" sz="2950" b="1" dirty="0">
                <a:solidFill>
                  <a:srgbClr val="003087"/>
                </a:solidFill>
                <a:latin typeface="Segoe UI" pitchFamily="34" charset="0"/>
                <a:ea typeface="Segoe UI" pitchFamily="34" charset="-122"/>
                <a:cs typeface="Segoe UI" pitchFamily="34" charset="-120"/>
              </a:rPr>
              <a:t>Detection earlier in the wards her clinics did not reach. Late diagnoses down. Equity verified.</a:t>
            </a:r>
            <a:endParaRPr lang="en-US" sz="2950" dirty="0"/>
          </a:p>
        </p:txBody>
      </p:sp>
      <p:sp>
        <p:nvSpPr>
          <p:cNvPr id="4" name="Text 2"/>
          <p:cNvSpPr/>
          <p:nvPr/>
        </p:nvSpPr>
        <p:spPr>
          <a:xfrm>
            <a:off x="548640" y="2954020"/>
            <a:ext cx="6933895" cy="1441704"/>
          </a:xfrm>
          <a:prstGeom prst="rect">
            <a:avLst/>
          </a:prstGeom>
          <a:noFill/>
          <a:ln/>
        </p:spPr>
        <p:txBody>
          <a:bodyPr wrap="square" lIns="0" tIns="0" rIns="0" bIns="0" rtlCol="0" anchor="t">
            <a:normAutofit/>
          </a:bodyPr>
          <a:lstStyle/>
          <a:p>
            <a:pPr indent="0" marL="0">
              <a:buNone/>
            </a:pPr>
            <a:r>
              <a:rPr lang="en-US" sz="1400" dirty="0">
                <a:solidFill>
                  <a:srgbClr val="212B32"/>
                </a:solidFill>
                <a:latin typeface="Segoe UI" pitchFamily="34" charset="0"/>
                <a:ea typeface="Segoe UI" pitchFamily="34" charset="-122"/>
                <a:cs typeface="Segoe UI" pitchFamily="34" charset="-120"/>
              </a:rPr>
              <a:t>The patients didn't see a procurement. They saw a kit in the post and a follow-up call from the sexual health service. </a:t>
            </a:r>
            <a:pPr indent="0" marL="0">
              <a:buNone/>
            </a:pPr>
            <a:r>
              <a:rPr lang="en-US" sz="1400" b="1" dirty="0">
                <a:solidFill>
                  <a:srgbClr val="212B32"/>
                </a:solidFill>
                <a:latin typeface="Segoe UI" pitchFamily="34" charset="0"/>
                <a:ea typeface="Segoe UI" pitchFamily="34" charset="-122"/>
                <a:cs typeface="Segoe UI" pitchFamily="34" charset="-120"/>
              </a:rPr>
              <a:t>The eighteen months Sarah didn't spend on the back office is the eighteen months her patients didn't spend undiagnosed.</a:t>
            </a:r>
            <a:pPr indent="0" marL="0">
              <a:buNone/>
            </a:pPr>
            <a:r>
              <a:rPr lang="en-US" sz="1400" dirty="0">
                <a:solidFill>
                  <a:srgbClr val="212B32"/>
                </a:solidFill>
                <a:latin typeface="Segoe UI" pitchFamily="34" charset="0"/>
                <a:ea typeface="Segoe UI" pitchFamily="34" charset="-122"/>
                <a:cs typeface="Segoe UI" pitchFamily="34" charset="-120"/>
              </a:rPr>
              <a:t> The next configuration is an extension of the same signature, not a new programme from a clean sheet.</a:t>
            </a:r>
            <a:endParaRPr lang="en-US" sz="1400" dirty="0"/>
          </a:p>
        </p:txBody>
      </p:sp>
      <p:pic>
        <p:nvPicPr>
          <p:cNvPr id="5" name="Image 0" descr="/sessions/quirky-zen-galileo/mnt/NHS/07 Sites &amp; Repos/dtx-ecosystem/hearts-and-minds/_generators/assets/crops/sarah-stage6-1.780.jpg">    </p:cNvPr>
          <p:cNvPicPr>
            <a:picLocks noChangeAspect="1"/>
          </p:cNvPicPr>
          <p:nvPr/>
        </p:nvPicPr>
        <p:blipFill>
          <a:blip r:embed="rId1"/>
          <a:stretch>
            <a:fillRect/>
          </a:stretch>
        </p:blipFill>
        <p:spPr>
          <a:xfrm>
            <a:off x="548640" y="4670044"/>
            <a:ext cx="2804048" cy="1575308"/>
          </a:xfrm>
          <a:prstGeom prst="rect">
            <a:avLst/>
          </a:prstGeom>
        </p:spPr>
      </p:pic>
      <p:sp>
        <p:nvSpPr>
          <p:cNvPr id="6" name="Shape 3"/>
          <p:cNvSpPr/>
          <p:nvPr/>
        </p:nvSpPr>
        <p:spPr>
          <a:xfrm>
            <a:off x="3627008" y="4670044"/>
            <a:ext cx="3855527" cy="134721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7" name="Text 4"/>
          <p:cNvSpPr/>
          <p:nvPr/>
        </p:nvSpPr>
        <p:spPr>
          <a:xfrm>
            <a:off x="3855608" y="4779772"/>
            <a:ext cx="3398327" cy="1127760"/>
          </a:xfrm>
          <a:prstGeom prst="rect">
            <a:avLst/>
          </a:prstGeom>
          <a:noFill/>
          <a:ln/>
        </p:spPr>
        <p:txBody>
          <a:bodyPr wrap="square" lIns="0" tIns="0" rIns="0" bIns="0" rtlCol="0" anchor="ctr">
            <a:normAutofit/>
          </a:bodyPr>
          <a:lstStyle/>
          <a:p>
            <a:pPr indent="0" marL="0">
              <a:buNone/>
            </a:pPr>
            <a:r>
              <a:rPr lang="en-US" sz="1500" b="1" dirty="0">
                <a:solidFill>
                  <a:srgbClr val="212B32"/>
                </a:solidFill>
                <a:latin typeface="Segoe UI" pitchFamily="34" charset="0"/>
                <a:ea typeface="Segoe UI" pitchFamily="34" charset="-122"/>
                <a:cs typeface="Segoe UI" pitchFamily="34" charset="-120"/>
              </a:rPr>
              <a:t>Easy buying. So the buying gets out of the way and the population outcome stays in focus.</a:t>
            </a:r>
            <a:endParaRPr lang="en-US" sz="1500" dirty="0"/>
          </a:p>
        </p:txBody>
      </p:sp>
      <p:sp>
        <p:nvSpPr>
          <p:cNvPr id="8" name="Shape 5"/>
          <p:cNvSpPr/>
          <p:nvPr/>
        </p:nvSpPr>
        <p:spPr>
          <a:xfrm>
            <a:off x="7802575" y="731520"/>
            <a:ext cx="3840480" cy="5513832"/>
          </a:xfrm>
          <a:prstGeom prst="rect">
            <a:avLst/>
          </a:prstGeom>
          <a:solidFill>
            <a:srgbClr val="006747"/>
          </a:solidFill>
          <a:ln w="12700">
            <a:solidFill>
              <a:srgbClr val="006747"/>
            </a:solidFill>
            <a:prstDash val="solid"/>
          </a:ln>
        </p:spPr>
      </p:sp>
      <p:sp>
        <p:nvSpPr>
          <p:cNvPr id="9" name="Text 6"/>
          <p:cNvSpPr/>
          <p:nvPr/>
        </p:nvSpPr>
        <p:spPr>
          <a:xfrm>
            <a:off x="8076895" y="914400"/>
            <a:ext cx="3291840" cy="274320"/>
          </a:xfrm>
          <a:prstGeom prst="rect">
            <a:avLst/>
          </a:prstGeom>
          <a:noFill/>
          <a:ln/>
        </p:spPr>
        <p:txBody>
          <a:bodyPr wrap="square" lIns="0" tIns="0" rIns="0" bIns="0" rtlCol="0" anchor="ctr"/>
          <a:lstStyle/>
          <a:p>
            <a:pPr indent="0" marL="0">
              <a:buNone/>
            </a:pPr>
            <a:r>
              <a:rPr lang="en-US" sz="1000" b="1" spc="260" kern="0" dirty="0">
                <a:solidFill>
                  <a:srgbClr val="CDE8D8"/>
                </a:solidFill>
                <a:latin typeface="Segoe UI" pitchFamily="34" charset="0"/>
                <a:ea typeface="Segoe UI" pitchFamily="34" charset="-122"/>
                <a:cs typeface="Segoe UI" pitchFamily="34" charset="-120"/>
              </a:rPr>
              <a:t>THE MONEY IN THIS STORY</a:t>
            </a:r>
            <a:endParaRPr lang="en-US" sz="1000" dirty="0"/>
          </a:p>
        </p:txBody>
      </p:sp>
      <p:sp>
        <p:nvSpPr>
          <p:cNvPr id="10" name="Text 7"/>
          <p:cNvSpPr/>
          <p:nvPr/>
        </p:nvSpPr>
        <p:spPr>
          <a:xfrm>
            <a:off x="8076895" y="1280160"/>
            <a:ext cx="3291840" cy="1458214"/>
          </a:xfrm>
          <a:prstGeom prst="rect">
            <a:avLst/>
          </a:prstGeom>
          <a:noFill/>
          <a:ln/>
        </p:spPr>
        <p:txBody>
          <a:bodyPr wrap="square" lIns="0" tIns="0" rIns="0" bIns="0" rtlCol="0" anchor="t">
            <a:normAutofit/>
          </a:bodyPr>
          <a:lstStyle/>
          <a:p>
            <a:pPr indent="0" marL="0">
              <a:buNone/>
            </a:pPr>
            <a:r>
              <a:rPr lang="en-US" sz="850" dirty="0">
                <a:solidFill>
                  <a:srgbClr val="FFFFFF"/>
                </a:solidFill>
                <a:latin typeface="Segoe UI" pitchFamily="34" charset="0"/>
                <a:ea typeface="Segoe UI" pitchFamily="34" charset="-122"/>
                <a:cs typeface="Segoe UI" pitchFamily="34" charset="-120"/>
              </a:rPr>
              <a:t>Sarah buys from the framework by call-off: a cost per activity for each completed test, against a national ceiling she can beat locally as volume grows. She pays the supplier direct from the sexual health budget she already holds; NHSE holds no budget between them and no new national pot is created. The supplier's price carries a levy of one to two percent of throughput that funds the framework, so it never appears as a line on her invoice.</a:t>
            </a:r>
            <a:endParaRPr lang="en-US" sz="850" dirty="0"/>
          </a:p>
        </p:txBody>
      </p:sp>
      <p:sp>
        <p:nvSpPr>
          <p:cNvPr id="11" name="Text 8"/>
          <p:cNvSpPr/>
          <p:nvPr/>
        </p:nvSpPr>
        <p:spPr>
          <a:xfrm>
            <a:off x="8076895" y="2848102"/>
            <a:ext cx="3291840" cy="1392174"/>
          </a:xfrm>
          <a:prstGeom prst="rect">
            <a:avLst/>
          </a:prstGeom>
          <a:noFill/>
          <a:ln/>
        </p:spPr>
        <p:txBody>
          <a:bodyPr wrap="square" lIns="0" tIns="0" rIns="0" bIns="0" rtlCol="0" anchor="t">
            <a:normAutofit/>
          </a:bodyPr>
          <a:lstStyle/>
          <a:p>
            <a:pPr indent="0" marL="0">
              <a:buNone/>
            </a:pPr>
            <a:r>
              <a:rPr lang="en-US" sz="1350" dirty="0">
                <a:solidFill>
                  <a:srgbClr val="FFFFFF"/>
                </a:solidFill>
                <a:latin typeface="Segoe UI" pitchFamily="34" charset="0"/>
                <a:ea typeface="Segoe UI" pitchFamily="34" charset="-122"/>
                <a:cs typeface="Segoe UI" pitchFamily="34" charset="-120"/>
              </a:rPr>
              <a:t>The assurance was done once, nationally, before she ever picked up the phone, which is why buying took a signature and not a season of paperwork.</a:t>
            </a:r>
            <a:endParaRPr lang="en-US" sz="1350" dirty="0"/>
          </a:p>
        </p:txBody>
      </p:sp>
      <p:pic>
        <p:nvPicPr>
          <p:cNvPr id="12" name="Image 1" descr="/sessions/quirky-zen-galileo/mnt/outputs/jd/img/sarah-portrait.jpg">    </p:cNvPr>
          <p:cNvPicPr>
            <a:picLocks noChangeAspect="1"/>
          </p:cNvPicPr>
          <p:nvPr/>
        </p:nvPicPr>
        <p:blipFill>
          <a:blip r:embed="rId2"/>
          <a:stretch>
            <a:fillRect/>
          </a:stretch>
        </p:blipFill>
        <p:spPr>
          <a:xfrm>
            <a:off x="8076895" y="5148072"/>
            <a:ext cx="822960" cy="822960"/>
          </a:xfrm>
          <a:prstGeom prst="ellipse">
            <a:avLst/>
          </a:prstGeom>
        </p:spPr>
      </p:pic>
      <p:sp>
        <p:nvSpPr>
          <p:cNvPr id="13" name="Text 9"/>
          <p:cNvSpPr/>
          <p:nvPr/>
        </p:nvSpPr>
        <p:spPr>
          <a:xfrm>
            <a:off x="9037015" y="5239512"/>
            <a:ext cx="2377440" cy="3200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Sarah</a:t>
            </a:r>
            <a:endParaRPr lang="en-US" sz="1400" dirty="0"/>
          </a:p>
        </p:txBody>
      </p:sp>
      <p:sp>
        <p:nvSpPr>
          <p:cNvPr id="14" name="Text 10"/>
          <p:cNvSpPr/>
          <p:nvPr/>
        </p:nvSpPr>
        <p:spPr>
          <a:xfrm>
            <a:off x="9037015" y="5559552"/>
            <a:ext cx="2377440" cy="365760"/>
          </a:xfrm>
          <a:prstGeom prst="rect">
            <a:avLst/>
          </a:prstGeom>
          <a:noFill/>
          <a:ln/>
        </p:spPr>
        <p:txBody>
          <a:bodyPr wrap="square" lIns="0" tIns="0" rIns="0" bIns="0" rtlCol="0" anchor="ctr">
            <a:normAutofit/>
          </a:bodyPr>
          <a:lstStyle/>
          <a:p>
            <a:pPr indent="0" marL="0">
              <a:buNone/>
            </a:pPr>
            <a:r>
              <a:rPr lang="en-US" sz="950" dirty="0">
                <a:solidFill>
                  <a:srgbClr val="CDE8D8"/>
                </a:solidFill>
                <a:latin typeface="Segoe UI" pitchFamily="34" charset="0"/>
                <a:ea typeface="Segoe UI" pitchFamily="34" charset="-122"/>
                <a:cs typeface="Segoe UI" pitchFamily="34" charset="-120"/>
              </a:rPr>
              <a:t>LA sexual health commissioner · HomeTest HIV</a:t>
            </a:r>
            <a:endParaRPr lang="en-US" sz="950" dirty="0"/>
          </a:p>
        </p:txBody>
      </p:sp>
      <p:sp>
        <p:nvSpPr>
          <p:cNvPr id="15" name="Text 11"/>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Sarah's journey · HomeTest operating model · September 2026</a:t>
            </a:r>
            <a:endParaRPr lang="en-US" sz="800" dirty="0"/>
          </a:p>
        </p:txBody>
      </p:sp>
      <p:sp>
        <p:nvSpPr>
          <p:cNvPr id="16" name="Text 12"/>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7" name="Text 13"/>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10919683" y="557784"/>
            <a:ext cx="586212" cy="457200"/>
          </a:xfrm>
          <a:prstGeom prst="rect">
            <a:avLst/>
          </a:prstGeom>
        </p:spPr>
      </p:pic>
      <p:sp>
        <p:nvSpPr>
          <p:cNvPr id="4" name="Shape 1"/>
          <p:cNvSpPr/>
          <p:nvPr/>
        </p:nvSpPr>
        <p:spPr>
          <a:xfrm>
            <a:off x="5044288" y="1371600"/>
            <a:ext cx="2103120" cy="2103120"/>
          </a:xfrm>
          <a:prstGeom prst="ellipse">
            <a:avLst/>
          </a:prstGeom>
          <a:solidFill>
            <a:srgbClr val="FFFFFF"/>
          </a:solidFill>
          <a:ln w="12700">
            <a:solidFill>
              <a:srgbClr val="FFFFFF"/>
            </a:solidFill>
            <a:prstDash val="solid"/>
          </a:ln>
        </p:spPr>
      </p:sp>
      <p:pic>
        <p:nvPicPr>
          <p:cNvPr id="5" name="Image 1" descr="/sessions/quirky-zen-galileo/mnt/outputs/jd/img/sarah-portrait.jpg">    </p:cNvPr>
          <p:cNvPicPr>
            <a:picLocks noChangeAspect="1"/>
          </p:cNvPicPr>
          <p:nvPr/>
        </p:nvPicPr>
        <p:blipFill>
          <a:blip r:embed="rId2"/>
          <a:stretch>
            <a:fillRect/>
          </a:stretch>
        </p:blipFill>
        <p:spPr>
          <a:xfrm>
            <a:off x="5090008" y="1417320"/>
            <a:ext cx="2011680" cy="2011680"/>
          </a:xfrm>
          <a:prstGeom prst="ellipse">
            <a:avLst/>
          </a:prstGeom>
        </p:spPr>
      </p:pic>
      <p:sp>
        <p:nvSpPr>
          <p:cNvPr id="6" name="Text 2"/>
          <p:cNvSpPr/>
          <p:nvPr/>
        </p:nvSpPr>
        <p:spPr>
          <a:xfrm>
            <a:off x="548640" y="3611880"/>
            <a:ext cx="11094415" cy="457200"/>
          </a:xfrm>
          <a:prstGeom prst="rect">
            <a:avLst/>
          </a:prstGeom>
          <a:noFill/>
          <a:ln/>
        </p:spPr>
        <p:txBody>
          <a:bodyPr wrap="square" lIns="0" tIns="0" rIns="0" bIns="0" rtlCol="0" anchor="ctr"/>
          <a:lstStyle/>
          <a:p>
            <a:pPr algn="ctr" indent="0" marL="0">
              <a:buNone/>
            </a:pPr>
            <a:r>
              <a:rPr lang="en-US" sz="2400" b="1" dirty="0">
                <a:solidFill>
                  <a:srgbClr val="FFFFFF"/>
                </a:solidFill>
                <a:latin typeface="Segoe UI" pitchFamily="34" charset="0"/>
                <a:ea typeface="Segoe UI" pitchFamily="34" charset="-122"/>
                <a:cs typeface="Segoe UI" pitchFamily="34" charset="-120"/>
              </a:rPr>
              <a:t>Sarah</a:t>
            </a:r>
            <a:endParaRPr lang="en-US" sz="2400" dirty="0"/>
          </a:p>
        </p:txBody>
      </p:sp>
      <p:sp>
        <p:nvSpPr>
          <p:cNvPr id="7" name="Text 3"/>
          <p:cNvSpPr/>
          <p:nvPr/>
        </p:nvSpPr>
        <p:spPr>
          <a:xfrm>
            <a:off x="548640" y="4069080"/>
            <a:ext cx="11094415" cy="320040"/>
          </a:xfrm>
          <a:prstGeom prst="rect">
            <a:avLst/>
          </a:prstGeom>
          <a:noFill/>
          <a:ln/>
        </p:spPr>
        <p:txBody>
          <a:bodyPr wrap="square" lIns="0" tIns="0" rIns="0" bIns="0" rtlCol="0" anchor="ctr"/>
          <a:lstStyle/>
          <a:p>
            <a:pPr algn="ctr" indent="0" marL="0">
              <a:buNone/>
            </a:pPr>
            <a:r>
              <a:rPr lang="en-US" sz="1200" dirty="0">
                <a:solidFill>
                  <a:srgbClr val="CFE0F5"/>
                </a:solidFill>
                <a:latin typeface="Segoe UI" pitchFamily="34" charset="0"/>
                <a:ea typeface="Segoe UI" pitchFamily="34" charset="-122"/>
                <a:cs typeface="Segoe UI" pitchFamily="34" charset="-120"/>
              </a:rPr>
              <a:t>LA sexual health commissioner · HomeTest HIV</a:t>
            </a:r>
            <a:endParaRPr lang="en-US" sz="1200" dirty="0"/>
          </a:p>
        </p:txBody>
      </p:sp>
      <p:sp>
        <p:nvSpPr>
          <p:cNvPr id="8" name="Text 4"/>
          <p:cNvSpPr/>
          <p:nvPr/>
        </p:nvSpPr>
        <p:spPr>
          <a:xfrm>
            <a:off x="1097280" y="4617720"/>
            <a:ext cx="9997135" cy="914400"/>
          </a:xfrm>
          <a:prstGeom prst="rect">
            <a:avLst/>
          </a:prstGeom>
          <a:noFill/>
          <a:ln/>
        </p:spPr>
        <p:txBody>
          <a:bodyPr wrap="square" lIns="0" tIns="0" rIns="0" bIns="0" rtlCol="0" anchor="ctr">
            <a:normAutofit/>
          </a:bodyPr>
          <a:lstStyle/>
          <a:p>
            <a:pPr algn="ctr" indent="0" marL="0">
              <a:buNone/>
            </a:pPr>
            <a:r>
              <a:rPr lang="en-US" sz="2600" b="1" dirty="0">
                <a:solidFill>
                  <a:srgbClr val="FFD66B"/>
                </a:solidFill>
                <a:latin typeface="Segoe UI" pitchFamily="34" charset="0"/>
                <a:ea typeface="Segoe UI" pitchFamily="34" charset="-122"/>
                <a:cs typeface="Segoe UI" pitchFamily="34" charset="-120"/>
              </a:rPr>
              <a:t>Easy buying. So the buying gets out of the way and the population outcome stays in focus.</a:t>
            </a:r>
            <a:endParaRPr lang="en-US" sz="2600" dirty="0"/>
          </a:p>
        </p:txBody>
      </p:sp>
      <p:sp>
        <p:nvSpPr>
          <p:cNvPr id="9" name="Text 5"/>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Sarah's journey · HomeTest operating model · September 2026</a:t>
            </a:r>
            <a:endParaRPr lang="en-US" sz="800" dirty="0"/>
          </a:p>
        </p:txBody>
      </p:sp>
      <p:sp>
        <p:nvSpPr>
          <p:cNvPr id="10" name="Text 6"/>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1" name="Text 7"/>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9FB6D9"/>
                </a:solidFill>
                <a:latin typeface="Segoe UI" pitchFamily="34" charset="0"/>
                <a:ea typeface="Segoe UI" pitchFamily="34" charset="-122"/>
                <a:cs typeface="Segoe UI" pitchFamily="34" charset="-120"/>
              </a:rPr>
              <a:t>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Sarah's journey</dc:title>
  <dc:subject>PptxGenJS Presentation</dc:subject>
  <dc:creator>HomeTest Commercial</dc:creator>
  <cp:lastModifiedBy>HomeTest Commercial</cp:lastModifiedBy>
  <cp:revision>1</cp:revision>
  <dcterms:created xsi:type="dcterms:W3CDTF">2026-09-05T10:52:59Z</dcterms:created>
  <dcterms:modified xsi:type="dcterms:W3CDTF">2026-09-05T10:52:59Z</dcterms:modified>
</cp:coreProperties>
</file>