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Stratification. 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Identification. 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Diagnosis. 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Treatment. 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Long-term optimisation. 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abdul-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PATIENT'S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Abdul.</a:t>
            </a:r>
            <a:endParaRPr lang="en-US" sz="4800" dirty="0"/>
          </a:p>
        </p:txBody>
      </p:sp>
      <p:sp>
        <p:nvSpPr>
          <p:cNvPr id="9" name="Text 5"/>
          <p:cNvSpPr/>
          <p:nvPr/>
        </p:nvSpPr>
        <p:spPr>
          <a:xfrm>
            <a:off x="548640" y="2560320"/>
            <a:ext cx="5760720" cy="1168400"/>
          </a:xfrm>
          <a:prstGeom prst="rect">
            <a:avLst/>
          </a:prstGeom>
          <a:noFill/>
          <a:ln/>
        </p:spPr>
        <p:txBody>
          <a:bodyPr wrap="square" lIns="0" tIns="0" rIns="0" bIns="0" rtlCol="0" anchor="t"/>
          <a:lstStyle/>
          <a:p>
            <a:pPr indent="0" marL="0">
              <a:buNone/>
            </a:pPr>
            <a:r>
              <a:rPr lang="en-US" sz="3400" b="1" dirty="0">
                <a:solidFill>
                  <a:srgbClr val="FFD66B"/>
                </a:solidFill>
                <a:latin typeface="Segoe UI" pitchFamily="34" charset="0"/>
                <a:ea typeface="Segoe UI" pitchFamily="34" charset="-122"/>
                <a:cs typeface="Segoe UI" pitchFamily="34" charset="-120"/>
              </a:rPr>
              <a:t>Hidden risk, found by his app.</a:t>
            </a:r>
            <a:endParaRPr lang="en-US" sz="3400" dirty="0"/>
          </a:p>
        </p:txBody>
      </p:sp>
      <p:sp>
        <p:nvSpPr>
          <p:cNvPr id="10" name="Text 6"/>
          <p:cNvSpPr/>
          <p:nvPr/>
        </p:nvSpPr>
        <p:spPr>
          <a:xfrm>
            <a:off x="548640" y="3911600"/>
            <a:ext cx="5669280" cy="1004189"/>
          </a:xfrm>
          <a:prstGeom prst="rect">
            <a:avLst/>
          </a:prstGeom>
          <a:noFill/>
          <a:ln/>
        </p:spPr>
        <p:txBody>
          <a:bodyPr wrap="square" lIns="0" tIns="0" rIns="0" bIns="0" rtlCol="0" anchor="t">
            <a:normAutofit/>
          </a:bodyPr>
          <a:lstStyle/>
          <a:p>
            <a:pPr indent="0" marL="0">
              <a:buNone/>
            </a:pPr>
            <a:r>
              <a:rPr lang="en-US" sz="1150" dirty="0">
                <a:solidFill>
                  <a:srgbClr val="CFE0F5"/>
                </a:solidFill>
                <a:latin typeface="Segoe UI" pitchFamily="34" charset="0"/>
                <a:ea typeface="Segoe UI" pitchFamily="34" charset="-122"/>
                <a:cs typeface="Segoe UI" pitchFamily="34" charset="-120"/>
              </a:rPr>
              <a:t>Abdul is 38, works full-time, has young kids, and knows heart trouble runs in his family. The NHS App nudges him toward a home test that catches cardiovascular risk markers nobody else was going to find. </a:t>
            </a:r>
            <a:pPr indent="0" marL="0">
              <a:buNone/>
            </a:pPr>
            <a:r>
              <a:rPr lang="en-US" sz="1150" b="1" dirty="0">
                <a:solidFill>
                  <a:srgbClr val="CFE0F5"/>
                </a:solidFill>
                <a:latin typeface="Segoe UI" pitchFamily="34" charset="0"/>
                <a:ea typeface="Segoe UI" pitchFamily="34" charset="-122"/>
                <a:cs typeface="Segoe UI" pitchFamily="34" charset="-120"/>
              </a:rPr>
              <a:t>This is the story of how the cohort gets identified before the symptoms show up.</a:t>
            </a:r>
            <a:endParaRPr lang="en-US" sz="1150" dirty="0"/>
          </a:p>
        </p:txBody>
      </p:sp>
      <p:pic>
        <p:nvPicPr>
          <p:cNvPr id="11" name="Image 2" descr="/sessions/quirky-zen-galileo/mnt/outputs/jd/img/abdul-portrait.jpg">    </p:cNvPr>
          <p:cNvPicPr>
            <a:picLocks noChangeAspect="1"/>
          </p:cNvPicPr>
          <p:nvPr/>
        </p:nvPicPr>
        <p:blipFill>
          <a:blip r:embed="rId3"/>
          <a:stretch>
            <a:fillRect/>
          </a:stretch>
        </p:blipFill>
        <p:spPr>
          <a:xfrm>
            <a:off x="548640" y="5098669"/>
            <a:ext cx="914400" cy="914400"/>
          </a:xfrm>
          <a:prstGeom prst="ellipse">
            <a:avLst/>
          </a:prstGeom>
        </p:spPr>
      </p:pic>
      <p:sp>
        <p:nvSpPr>
          <p:cNvPr id="12" name="Text 7"/>
          <p:cNvSpPr/>
          <p:nvPr/>
        </p:nvSpPr>
        <p:spPr>
          <a:xfrm>
            <a:off x="1645920" y="5171821"/>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Abdul</a:t>
            </a:r>
            <a:endParaRPr lang="en-US" sz="1600" dirty="0"/>
          </a:p>
        </p:txBody>
      </p:sp>
      <p:sp>
        <p:nvSpPr>
          <p:cNvPr id="13" name="Text 8"/>
          <p:cNvSpPr/>
          <p:nvPr/>
        </p:nvSpPr>
        <p:spPr>
          <a:xfrm>
            <a:off x="1645920" y="5537581"/>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Self-initiated patient · CVKM cohort</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AT A GLANCE</a:t>
            </a:r>
            <a:endParaRPr lang="en-US" sz="1000" dirty="0"/>
          </a:p>
        </p:txBody>
      </p:sp>
      <p:sp>
        <p:nvSpPr>
          <p:cNvPr id="3"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The system finds him before the symptoms find him.</a:t>
            </a:r>
            <a:endParaRPr lang="en-US" sz="2600" dirty="0"/>
          </a:p>
        </p:txBody>
      </p:sp>
      <p:sp>
        <p:nvSpPr>
          <p:cNvPr id="4" name="Shape 2"/>
          <p:cNvSpPr/>
          <p:nvPr/>
        </p:nvSpPr>
        <p:spPr>
          <a:xfrm>
            <a:off x="1335024" y="1955800"/>
            <a:ext cx="640080" cy="640080"/>
          </a:xfrm>
          <a:prstGeom prst="ellipse">
            <a:avLst/>
          </a:prstGeom>
          <a:solidFill>
            <a:srgbClr val="003087"/>
          </a:solidFill>
          <a:ln w="12700">
            <a:solidFill>
              <a:srgbClr val="003087"/>
            </a:solidFill>
            <a:prstDash val="solid"/>
          </a:ln>
        </p:spPr>
      </p:sp>
      <p:sp>
        <p:nvSpPr>
          <p:cNvPr id="5" name="Text 3"/>
          <p:cNvSpPr/>
          <p:nvPr/>
        </p:nvSpPr>
        <p:spPr>
          <a:xfrm>
            <a:off x="1335024"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441448"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Stratification</a:t>
            </a:r>
            <a:endParaRPr lang="en-US" sz="1400" dirty="0"/>
          </a:p>
        </p:txBody>
      </p:sp>
      <p:sp>
        <p:nvSpPr>
          <p:cNvPr id="8" name="Text 6"/>
          <p:cNvSpPr/>
          <p:nvPr/>
        </p:nvSpPr>
        <p:spPr>
          <a:xfrm>
            <a:off x="640080"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cohort the system cannot see yet</a:t>
            </a:r>
            <a:endParaRPr lang="en-US" sz="1000" dirty="0"/>
          </a:p>
        </p:txBody>
      </p:sp>
      <p:sp>
        <p:nvSpPr>
          <p:cNvPr id="9" name="Shape 7"/>
          <p:cNvSpPr/>
          <p:nvPr/>
        </p:nvSpPr>
        <p:spPr>
          <a:xfrm>
            <a:off x="3547872" y="1955800"/>
            <a:ext cx="640080" cy="640080"/>
          </a:xfrm>
          <a:prstGeom prst="ellipse">
            <a:avLst/>
          </a:prstGeom>
          <a:solidFill>
            <a:srgbClr val="003087"/>
          </a:solidFill>
          <a:ln w="12700">
            <a:solidFill>
              <a:srgbClr val="003087"/>
            </a:solidFill>
            <a:prstDash val="solid"/>
          </a:ln>
        </p:spPr>
      </p:sp>
      <p:sp>
        <p:nvSpPr>
          <p:cNvPr id="10" name="Text 8"/>
          <p:cNvSpPr/>
          <p:nvPr/>
        </p:nvSpPr>
        <p:spPr>
          <a:xfrm>
            <a:off x="3547872"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4654296"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761488"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Identification</a:t>
            </a:r>
            <a:endParaRPr lang="en-US" sz="1400" dirty="0"/>
          </a:p>
        </p:txBody>
      </p:sp>
      <p:sp>
        <p:nvSpPr>
          <p:cNvPr id="13" name="Text 11"/>
          <p:cNvSpPr/>
          <p:nvPr/>
        </p:nvSpPr>
        <p:spPr>
          <a:xfrm>
            <a:off x="2852928" y="3098800"/>
            <a:ext cx="2029968"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NHS App finds him</a:t>
            </a:r>
            <a:endParaRPr lang="en-US" sz="1000" dirty="0"/>
          </a:p>
        </p:txBody>
      </p:sp>
      <p:sp>
        <p:nvSpPr>
          <p:cNvPr id="14" name="Shape 12"/>
          <p:cNvSpPr/>
          <p:nvPr/>
        </p:nvSpPr>
        <p:spPr>
          <a:xfrm>
            <a:off x="5760720" y="1955800"/>
            <a:ext cx="640080" cy="640080"/>
          </a:xfrm>
          <a:prstGeom prst="ellipse">
            <a:avLst/>
          </a:prstGeom>
          <a:solidFill>
            <a:srgbClr val="003087"/>
          </a:solidFill>
          <a:ln w="12700">
            <a:solidFill>
              <a:srgbClr val="003087"/>
            </a:solidFill>
            <a:prstDash val="solid"/>
          </a:ln>
        </p:spPr>
      </p:sp>
      <p:sp>
        <p:nvSpPr>
          <p:cNvPr id="15" name="Text 13"/>
          <p:cNvSpPr/>
          <p:nvPr/>
        </p:nvSpPr>
        <p:spPr>
          <a:xfrm>
            <a:off x="57607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6867144"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974336"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Diagnosis</a:t>
            </a:r>
            <a:endParaRPr lang="en-US" sz="1400" dirty="0"/>
          </a:p>
        </p:txBody>
      </p:sp>
      <p:sp>
        <p:nvSpPr>
          <p:cNvPr id="18" name="Text 16"/>
          <p:cNvSpPr/>
          <p:nvPr/>
        </p:nvSpPr>
        <p:spPr>
          <a:xfrm>
            <a:off x="5065776" y="3098800"/>
            <a:ext cx="2029968"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kit out, sample back</a:t>
            </a:r>
            <a:endParaRPr lang="en-US" sz="1000" dirty="0"/>
          </a:p>
        </p:txBody>
      </p:sp>
      <p:sp>
        <p:nvSpPr>
          <p:cNvPr id="19" name="Shape 17"/>
          <p:cNvSpPr/>
          <p:nvPr/>
        </p:nvSpPr>
        <p:spPr>
          <a:xfrm>
            <a:off x="7973568" y="1955800"/>
            <a:ext cx="640080" cy="640080"/>
          </a:xfrm>
          <a:prstGeom prst="ellipse">
            <a:avLst/>
          </a:prstGeom>
          <a:solidFill>
            <a:srgbClr val="003087"/>
          </a:solidFill>
          <a:ln w="12700">
            <a:solidFill>
              <a:srgbClr val="003087"/>
            </a:solidFill>
            <a:prstDash val="solid"/>
          </a:ln>
        </p:spPr>
      </p:sp>
      <p:sp>
        <p:nvSpPr>
          <p:cNvPr id="20" name="Text 18"/>
          <p:cNvSpPr/>
          <p:nvPr/>
        </p:nvSpPr>
        <p:spPr>
          <a:xfrm>
            <a:off x="7973568"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9079992"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7187184"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Treatment</a:t>
            </a:r>
            <a:endParaRPr lang="en-US" sz="1400" dirty="0"/>
          </a:p>
        </p:txBody>
      </p:sp>
      <p:sp>
        <p:nvSpPr>
          <p:cNvPr id="23" name="Text 21"/>
          <p:cNvSpPr/>
          <p:nvPr/>
        </p:nvSpPr>
        <p:spPr>
          <a:xfrm>
            <a:off x="7278624"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conversation the result triggers</a:t>
            </a:r>
            <a:endParaRPr lang="en-US" sz="1000" dirty="0"/>
          </a:p>
        </p:txBody>
      </p:sp>
      <p:sp>
        <p:nvSpPr>
          <p:cNvPr id="24" name="Shape 22"/>
          <p:cNvSpPr/>
          <p:nvPr/>
        </p:nvSpPr>
        <p:spPr>
          <a:xfrm>
            <a:off x="10186416" y="1955800"/>
            <a:ext cx="640080" cy="640080"/>
          </a:xfrm>
          <a:prstGeom prst="ellipse">
            <a:avLst/>
          </a:prstGeom>
          <a:solidFill>
            <a:srgbClr val="003087"/>
          </a:solidFill>
          <a:ln w="12700">
            <a:solidFill>
              <a:srgbClr val="003087"/>
            </a:solidFill>
            <a:prstDash val="solid"/>
          </a:ln>
        </p:spPr>
      </p:sp>
      <p:sp>
        <p:nvSpPr>
          <p:cNvPr id="25" name="Text 23"/>
          <p:cNvSpPr/>
          <p:nvPr/>
        </p:nvSpPr>
        <p:spPr>
          <a:xfrm>
            <a:off x="10186416"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00032" y="2705608"/>
            <a:ext cx="2212848"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Long-term optimisation</a:t>
            </a:r>
            <a:endParaRPr lang="en-US" sz="1150" dirty="0"/>
          </a:p>
        </p:txBody>
      </p:sp>
      <p:sp>
        <p:nvSpPr>
          <p:cNvPr id="27" name="Text 25"/>
          <p:cNvSpPr/>
          <p:nvPr/>
        </p:nvSpPr>
        <p:spPr>
          <a:xfrm>
            <a:off x="9491472" y="3131058"/>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cycle that fits his life</a:t>
            </a:r>
            <a:endParaRPr lang="en-US" sz="1000" dirty="0"/>
          </a:p>
        </p:txBody>
      </p:sp>
      <p:pic>
        <p:nvPicPr>
          <p:cNvPr id="28" name="Image 0" descr="/sessions/quirky-zen-galileo/mnt/outputs/jd/img/abdul-portrait.jpg">    </p:cNvPr>
          <p:cNvPicPr>
            <a:picLocks noChangeAspect="1"/>
          </p:cNvPicPr>
          <p:nvPr/>
        </p:nvPicPr>
        <p:blipFill>
          <a:blip r:embed="rId1"/>
          <a:stretch>
            <a:fillRect/>
          </a:stretch>
        </p:blipFill>
        <p:spPr>
          <a:xfrm>
            <a:off x="548640" y="4058920"/>
            <a:ext cx="1371600" cy="1371600"/>
          </a:xfrm>
          <a:prstGeom prst="ellipse">
            <a:avLst/>
          </a:prstGeom>
        </p:spPr>
      </p:pic>
      <p:sp>
        <p:nvSpPr>
          <p:cNvPr id="29" name="Text 26"/>
          <p:cNvSpPr/>
          <p:nvPr/>
        </p:nvSpPr>
        <p:spPr>
          <a:xfrm>
            <a:off x="274320" y="547624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Abdul</a:t>
            </a:r>
            <a:endParaRPr lang="en-US" sz="1400" dirty="0"/>
          </a:p>
        </p:txBody>
      </p:sp>
      <p:sp>
        <p:nvSpPr>
          <p:cNvPr id="30" name="Text 27"/>
          <p:cNvSpPr/>
          <p:nvPr/>
        </p:nvSpPr>
        <p:spPr>
          <a:xfrm>
            <a:off x="228600" y="5796280"/>
            <a:ext cx="2011680" cy="40335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Self-initiated patient · CVKM cohort</a:t>
            </a:r>
            <a:endParaRPr lang="en-US" sz="1000" dirty="0"/>
          </a:p>
        </p:txBody>
      </p:sp>
      <p:sp>
        <p:nvSpPr>
          <p:cNvPr id="31" name="Shape 28"/>
          <p:cNvSpPr/>
          <p:nvPr/>
        </p:nvSpPr>
        <p:spPr>
          <a:xfrm>
            <a:off x="2514600" y="3967480"/>
            <a:ext cx="4427068" cy="227787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2" name="Text 29"/>
          <p:cNvSpPr/>
          <p:nvPr/>
        </p:nvSpPr>
        <p:spPr>
          <a:xfrm>
            <a:off x="2788920" y="415036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PATIENT NORTH STAR</a:t>
            </a:r>
            <a:endParaRPr lang="en-US" sz="1000" dirty="0"/>
          </a:p>
        </p:txBody>
      </p:sp>
      <p:sp>
        <p:nvSpPr>
          <p:cNvPr id="33" name="Text 30"/>
          <p:cNvSpPr/>
          <p:nvPr/>
        </p:nvSpPr>
        <p:spPr>
          <a:xfrm>
            <a:off x="2788920" y="4470400"/>
            <a:ext cx="3878428" cy="44196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The system finds him before the symptoms find him.</a:t>
            </a:r>
            <a:endParaRPr lang="en-US" sz="1200" dirty="0"/>
          </a:p>
        </p:txBody>
      </p:sp>
      <p:sp>
        <p:nvSpPr>
          <p:cNvPr id="34" name="Text 31"/>
          <p:cNvSpPr/>
          <p:nvPr/>
        </p:nvSpPr>
        <p:spPr>
          <a:xfrm>
            <a:off x="2788920" y="5003800"/>
            <a:ext cx="3878428" cy="839089"/>
          </a:xfrm>
          <a:prstGeom prst="rect">
            <a:avLst/>
          </a:prstGeom>
          <a:noFill/>
          <a:ln/>
        </p:spPr>
        <p:txBody>
          <a:bodyPr wrap="square" lIns="0" tIns="0" rIns="0" bIns="0" rtlCol="0" anchor="t">
            <a:normAutofit/>
          </a:bodyPr>
          <a:lstStyle/>
          <a:p>
            <a:pPr indent="0" marL="0">
              <a:buNone/>
            </a:pPr>
            <a:r>
              <a:rPr lang="en-US" sz="950" dirty="0">
                <a:solidFill>
                  <a:srgbClr val="212B32"/>
                </a:solidFill>
                <a:latin typeface="Segoe UI" pitchFamily="34" charset="0"/>
                <a:ea typeface="Segoe UI" pitchFamily="34" charset="-122"/>
                <a:cs typeface="Segoe UI" pitchFamily="34" charset="-120"/>
              </a:rPr>
              <a:t>Abdul does not feel ill. He has never been to the GP about his heart. The cohort he belongs to, middle-aged men with family-history risk, is exactly the cohort the in-clinic system finds last. </a:t>
            </a:r>
            <a:pPr indent="0" marL="0">
              <a:buNone/>
            </a:pPr>
            <a:r>
              <a:rPr lang="en-US" sz="950" b="1" dirty="0">
                <a:solidFill>
                  <a:srgbClr val="212B32"/>
                </a:solidFill>
                <a:latin typeface="Segoe UI" pitchFamily="34" charset="0"/>
                <a:ea typeface="Segoe UI" pitchFamily="34" charset="-122"/>
                <a:cs typeface="Segoe UI" pitchFamily="34" charset="-120"/>
              </a:rPr>
              <a:t>The home pathway finds him first.</a:t>
            </a:r>
            <a:endParaRPr lang="en-US" sz="950" dirty="0"/>
          </a:p>
        </p:txBody>
      </p:sp>
      <p:sp>
        <p:nvSpPr>
          <p:cNvPr id="35" name="Shape 32"/>
          <p:cNvSpPr/>
          <p:nvPr/>
        </p:nvSpPr>
        <p:spPr>
          <a:xfrm>
            <a:off x="7215988" y="3967480"/>
            <a:ext cx="4427068" cy="22778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36" name="Shape 33"/>
          <p:cNvSpPr/>
          <p:nvPr/>
        </p:nvSpPr>
        <p:spPr>
          <a:xfrm>
            <a:off x="7215988" y="3967480"/>
            <a:ext cx="73152" cy="2277872"/>
          </a:xfrm>
          <a:prstGeom prst="rect">
            <a:avLst/>
          </a:prstGeom>
          <a:solidFill>
            <a:srgbClr val="005EB8"/>
          </a:solidFill>
          <a:ln w="12700">
            <a:solidFill>
              <a:srgbClr val="005EB8"/>
            </a:solidFill>
            <a:prstDash val="solid"/>
          </a:ln>
        </p:spPr>
      </p:sp>
      <p:sp>
        <p:nvSpPr>
          <p:cNvPr id="37" name="Text 34"/>
          <p:cNvSpPr/>
          <p:nvPr/>
        </p:nvSpPr>
        <p:spPr>
          <a:xfrm>
            <a:off x="7490308" y="415036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HIM</a:t>
            </a:r>
            <a:endParaRPr lang="en-US" sz="1000" dirty="0"/>
          </a:p>
        </p:txBody>
      </p:sp>
      <p:sp>
        <p:nvSpPr>
          <p:cNvPr id="38" name="Text 35"/>
          <p:cNvSpPr/>
          <p:nvPr/>
        </p:nvSpPr>
        <p:spPr>
          <a:xfrm>
            <a:off x="7490308" y="447040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The NHS App is the front door. The kit is the test. The result is in his record.</a:t>
            </a:r>
            <a:endParaRPr lang="en-US" sz="1200" dirty="0"/>
          </a:p>
        </p:txBody>
      </p:sp>
      <p:sp>
        <p:nvSpPr>
          <p:cNvPr id="39" name="Text 36"/>
          <p:cNvSpPr/>
          <p:nvPr/>
        </p:nvSpPr>
        <p:spPr>
          <a:xfrm>
            <a:off x="7490308" y="5201920"/>
            <a:ext cx="3878428" cy="682244"/>
          </a:xfrm>
          <a:prstGeom prst="rect">
            <a:avLst/>
          </a:prstGeom>
          <a:noFill/>
          <a:ln/>
        </p:spPr>
        <p:txBody>
          <a:bodyPr wrap="square" lIns="0" tIns="0" rIns="0" bIns="0" rtlCol="0" anchor="t">
            <a:normAutofit/>
          </a:bodyPr>
          <a:lstStyle/>
          <a:p>
            <a:pPr indent="0" marL="0">
              <a:buNone/>
            </a:pPr>
            <a:r>
              <a:rPr lang="en-US" sz="950" dirty="0">
                <a:solidFill>
                  <a:srgbClr val="212B32"/>
                </a:solidFill>
                <a:latin typeface="Segoe UI" pitchFamily="34" charset="0"/>
                <a:ea typeface="Segoe UI" pitchFamily="34" charset="-122"/>
                <a:cs typeface="Segoe UI" pitchFamily="34" charset="-120"/>
              </a:rPr>
              <a:t>No clinic visit to book. No phlebotomist to find a slot with. No half-day off work. </a:t>
            </a:r>
            <a:pPr indent="0" marL="0">
              <a:buNone/>
            </a:pPr>
            <a:r>
              <a:rPr lang="en-US" sz="950" b="1" dirty="0">
                <a:solidFill>
                  <a:srgbClr val="212B32"/>
                </a:solidFill>
                <a:latin typeface="Segoe UI" pitchFamily="34" charset="0"/>
                <a:ea typeface="Segoe UI" pitchFamily="34" charset="-122"/>
                <a:cs typeface="Segoe UI" pitchFamily="34" charset="-120"/>
              </a:rPr>
              <a:t>The kit arrives. He takes the sample. The result lands in the system he already uses for everything else.</a:t>
            </a:r>
            <a:endParaRPr lang="en-US" sz="950" dirty="0"/>
          </a:p>
        </p:txBody>
      </p:sp>
      <p:sp>
        <p:nvSpPr>
          <p:cNvPr id="40" name="Text 37"/>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41" name="Text 38"/>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2" name="Text 39"/>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 STAGE 1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Stratification</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cohort the system cannot see yet</a:t>
            </a:r>
            <a:endParaRPr lang="en-US" sz="1150" dirty="0"/>
          </a:p>
        </p:txBody>
      </p:sp>
      <p:sp>
        <p:nvSpPr>
          <p:cNvPr id="8" name="Text 5"/>
          <p:cNvSpPr/>
          <p:nvPr/>
        </p:nvSpPr>
        <p:spPr>
          <a:xfrm>
            <a:off x="5440680" y="1828800"/>
            <a:ext cx="6202375" cy="812673"/>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Abdul is 38, married, two young kids. Sat all day, knows his diet isn't great. Heart problems run in the family. His single patient record holds his age, BMI, smoking history, family history of heart disease and diabetes. AI-assisted risk stratification reads all of it and flags him as high risk for CVKM. The information has been there all along; this is the first time something reads it.</a:t>
            </a:r>
            <a:endParaRPr lang="en-US" sz="918" dirty="0"/>
          </a:p>
        </p:txBody>
      </p:sp>
      <p:sp>
        <p:nvSpPr>
          <p:cNvPr id="9" name="Shape 6"/>
          <p:cNvSpPr/>
          <p:nvPr/>
        </p:nvSpPr>
        <p:spPr>
          <a:xfrm>
            <a:off x="5440680" y="2778633"/>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88361"/>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 am 38, I work full-time, my wife works full-time, we have two young kids. My dad had his first MI at 51. The system had all of this in my record already. It just needed something to read it and tell me.”</a:t>
            </a:r>
            <a:pPr indent="0" marL="0">
              <a:buNone/>
            </a:pPr>
            <a:r>
              <a:rPr lang="en-US" sz="850" b="1" i="1" dirty="0">
                <a:solidFill>
                  <a:srgbClr val="212B32"/>
                </a:solidFill>
                <a:latin typeface="Segoe UI" pitchFamily="34" charset="0"/>
                <a:ea typeface="Segoe UI" pitchFamily="34" charset="-122"/>
                <a:cs typeface="Segoe UI" pitchFamily="34" charset="-120"/>
              </a:rPr>
              <a:t>  Abdul</a:t>
            </a:r>
            <a:endParaRPr lang="en-US" sz="850" dirty="0"/>
          </a:p>
        </p:txBody>
      </p:sp>
      <p:sp>
        <p:nvSpPr>
          <p:cNvPr id="11" name="Shape 8"/>
          <p:cNvSpPr/>
          <p:nvPr/>
        </p:nvSpPr>
        <p:spPr>
          <a:xfrm>
            <a:off x="5440680" y="3693414"/>
            <a:ext cx="2986888" cy="292608"/>
          </a:xfrm>
          <a:prstGeom prst="rect">
            <a:avLst/>
          </a:prstGeom>
          <a:solidFill>
            <a:srgbClr val="003087"/>
          </a:solidFill>
          <a:ln w="12700">
            <a:solidFill>
              <a:srgbClr val="003087"/>
            </a:solidFill>
            <a:prstDash val="solid"/>
          </a:ln>
        </p:spPr>
      </p:sp>
      <p:sp>
        <p:nvSpPr>
          <p:cNvPr id="12" name="Text 9"/>
          <p:cNvSpPr/>
          <p:nvPr/>
        </p:nvSpPr>
        <p:spPr>
          <a:xfrm>
            <a:off x="5550408" y="3693414"/>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986022"/>
            <a:ext cx="2986888"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077462"/>
            <a:ext cx="2730856" cy="1267358"/>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a:t>
            </a:r>
            <a:endParaRPr lang="en-US" sz="816" dirty="0"/>
          </a:p>
        </p:txBody>
      </p:sp>
      <p:sp>
        <p:nvSpPr>
          <p:cNvPr id="15" name="Shape 12"/>
          <p:cNvSpPr/>
          <p:nvPr/>
        </p:nvSpPr>
        <p:spPr>
          <a:xfrm>
            <a:off x="8656168" y="3693414"/>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693414"/>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986022"/>
            <a:ext cx="2986888"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077462"/>
            <a:ext cx="2730856" cy="863194"/>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Wait until presentation: a chest pain, a stroke, an A&amp;E visit. The single patient record already had every prompt the system needed. Nothing read it. The first contact was the event the system was supposed to prevent.</a:t>
            </a:r>
            <a:endParaRPr lang="en-US" sz="816"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ABDUL'S CARE TEAM SEES  </a:t>
            </a:r>
            <a:pPr indent="0" marL="0">
              <a:buNone/>
            </a:pPr>
            <a:r>
              <a:rPr lang="en-US" sz="800" dirty="0">
                <a:solidFill>
                  <a:srgbClr val="212B32"/>
                </a:solidFill>
                <a:latin typeface="Segoe UI" pitchFamily="34" charset="0"/>
                <a:ea typeface="Segoe UI" pitchFamily="34" charset="-122"/>
                <a:cs typeface="Segoe UI" pitchFamily="34" charset="-120"/>
              </a:rPr>
              <a:t>Sarah's commissioner cohort analysis. Population health analysts. Public-health team identifying the at-risk cohort.</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 STAGE 2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Identification</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NHS App finds him</a:t>
            </a:r>
            <a:endParaRPr lang="en-US" sz="1150" dirty="0"/>
          </a:p>
        </p:txBody>
      </p:sp>
      <p:sp>
        <p:nvSpPr>
          <p:cNvPr id="8" name="Text 5"/>
          <p:cNvSpPr/>
          <p:nvPr/>
        </p:nvSpPr>
        <p:spPr>
          <a:xfrm>
            <a:off x="548640" y="1828800"/>
            <a:ext cx="6220663" cy="812673"/>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Abdul opens the NHS App that morning to look at a prescription. The new Blood Pressure tool uses his phone camera; the reading is 150 over 90. The app recommends a CVKM Check Up. He shares his smartwatch data, which shows low activity and trending-high BP, then books in. The app tells him the BP reading needs re-testing with a medically validated cuff before anything clinical lands.</a:t>
            </a:r>
            <a:endParaRPr lang="en-US" sz="918" dirty="0"/>
          </a:p>
        </p:txBody>
      </p:sp>
      <p:sp>
        <p:nvSpPr>
          <p:cNvPr id="9" name="Shape 6"/>
          <p:cNvSpPr/>
          <p:nvPr/>
        </p:nvSpPr>
        <p:spPr>
          <a:xfrm>
            <a:off x="548640" y="2778633"/>
            <a:ext cx="6220663"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88361"/>
            <a:ext cx="5763463"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 checked my BP using the camera on my phone because heart problems run in the family. It read 150 over 90. The app told me to book a CVKM Check Up. I did not have to chase anything.”</a:t>
            </a:r>
            <a:pPr indent="0" marL="0">
              <a:buNone/>
            </a:pPr>
            <a:r>
              <a:rPr lang="en-US" sz="850" b="1" i="1" dirty="0">
                <a:solidFill>
                  <a:srgbClr val="212B32"/>
                </a:solidFill>
                <a:latin typeface="Segoe UI" pitchFamily="34" charset="0"/>
                <a:ea typeface="Segoe UI" pitchFamily="34" charset="-122"/>
                <a:cs typeface="Segoe UI" pitchFamily="34" charset="-120"/>
              </a:rPr>
              <a:t>  Abdul</a:t>
            </a:r>
            <a:endParaRPr lang="en-US" sz="850" dirty="0"/>
          </a:p>
        </p:txBody>
      </p:sp>
      <p:sp>
        <p:nvSpPr>
          <p:cNvPr id="11" name="Shape 8"/>
          <p:cNvSpPr/>
          <p:nvPr/>
        </p:nvSpPr>
        <p:spPr>
          <a:xfrm>
            <a:off x="548640" y="3693414"/>
            <a:ext cx="2996032" cy="292608"/>
          </a:xfrm>
          <a:prstGeom prst="rect">
            <a:avLst/>
          </a:prstGeom>
          <a:solidFill>
            <a:srgbClr val="003087"/>
          </a:solidFill>
          <a:ln w="12700">
            <a:solidFill>
              <a:srgbClr val="003087"/>
            </a:solidFill>
            <a:prstDash val="solid"/>
          </a:ln>
        </p:spPr>
      </p:sp>
      <p:sp>
        <p:nvSpPr>
          <p:cNvPr id="12" name="Text 9"/>
          <p:cNvSpPr/>
          <p:nvPr/>
        </p:nvSpPr>
        <p:spPr>
          <a:xfrm>
            <a:off x="658368" y="3693414"/>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986022"/>
            <a:ext cx="2996032"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077462"/>
            <a:ext cx="2740000" cy="1267358"/>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a:t>
            </a:r>
            <a:endParaRPr lang="en-US" sz="816" dirty="0"/>
          </a:p>
        </p:txBody>
      </p:sp>
      <p:sp>
        <p:nvSpPr>
          <p:cNvPr id="15" name="Shape 12"/>
          <p:cNvSpPr/>
          <p:nvPr/>
        </p:nvSpPr>
        <p:spPr>
          <a:xfrm>
            <a:off x="3773272" y="3693414"/>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693414"/>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986022"/>
            <a:ext cx="2996032"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077462"/>
            <a:ext cx="2740000" cy="593750"/>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 campaign letter or a generic health prompt that broadcasts at everyone and reaches the engaged. Abdul, in work, no symptoms, would not have engaged.</a:t>
            </a:r>
            <a:endParaRPr lang="en-US" sz="816"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ABDUL'S CARE TEAM SEES  </a:t>
            </a:r>
            <a:pPr indent="0" marL="0">
              <a:buNone/>
            </a:pPr>
            <a:r>
              <a:rPr lang="en-US" sz="800" dirty="0">
                <a:solidFill>
                  <a:srgbClr val="212B32"/>
                </a:solidFill>
                <a:latin typeface="Segoe UI" pitchFamily="34" charset="0"/>
                <a:ea typeface="Segoe UI" pitchFamily="34" charset="-122"/>
                <a:cs typeface="Segoe UI" pitchFamily="34" charset="-120"/>
              </a:rPr>
              <a:t>Priya on the platform side, owning App surfacing. Cohorting-as-a-service. UKHSA data overlay.</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 STAGE 3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Diagnosis</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kit out, sample back</a:t>
            </a:r>
            <a:endParaRPr lang="en-US" sz="1150" dirty="0"/>
          </a:p>
        </p:txBody>
      </p:sp>
      <p:sp>
        <p:nvSpPr>
          <p:cNvPr id="8" name="Text 5"/>
          <p:cNvSpPr/>
          <p:nvPr/>
        </p:nvSpPr>
        <p:spPr>
          <a:xfrm>
            <a:off x="5440680" y="1828800"/>
            <a:ext cx="6202375" cy="910742"/>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At his Neighbourhood Health Centre the nurse validates his BP with a medical cuff and runs an Atrial Fibrillation check. Abdul dislikes needles, so the nurse shows him a new arm-stick blood self-sample device. She lends him a 24-hour Ambulatory BP smart ring to wear home. Two days later the ring confirms Stage 1 Hypertension and the blood results come back: high cholesterol and pre-diabetes. The home pathway proved the same diagnosis the old clinic pathway would have, on his time.</a:t>
            </a:r>
            <a:endParaRPr lang="en-US" sz="864" dirty="0"/>
          </a:p>
        </p:txBody>
      </p:sp>
      <p:sp>
        <p:nvSpPr>
          <p:cNvPr id="9" name="Shape 6"/>
          <p:cNvSpPr/>
          <p:nvPr/>
        </p:nvSpPr>
        <p:spPr>
          <a:xfrm>
            <a:off x="5440680" y="2876702"/>
            <a:ext cx="6202375"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986430"/>
            <a:ext cx="5745175"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ring on my finger told me I had Stage 1 Hypertension before any clinician did. The blood result came two days later. It was the same diagnosis I would have got at the clinic. It just happened around me.”</a:t>
            </a:r>
            <a:pPr indent="0" marL="0">
              <a:buNone/>
            </a:pPr>
            <a:r>
              <a:rPr lang="en-US" sz="800" b="1" i="1" dirty="0">
                <a:solidFill>
                  <a:srgbClr val="212B32"/>
                </a:solidFill>
                <a:latin typeface="Segoe UI" pitchFamily="34" charset="0"/>
                <a:ea typeface="Segoe UI" pitchFamily="34" charset="-122"/>
                <a:cs typeface="Segoe UI" pitchFamily="34" charset="-120"/>
              </a:rPr>
              <a:t>  Abdul</a:t>
            </a:r>
            <a:endParaRPr lang="en-US" sz="800" dirty="0"/>
          </a:p>
        </p:txBody>
      </p:sp>
      <p:sp>
        <p:nvSpPr>
          <p:cNvPr id="11" name="Shape 8"/>
          <p:cNvSpPr/>
          <p:nvPr/>
        </p:nvSpPr>
        <p:spPr>
          <a:xfrm>
            <a:off x="5440680" y="3766718"/>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667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59326"/>
            <a:ext cx="2986888" cy="15459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50766"/>
            <a:ext cx="273085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a:t>
            </a:r>
            <a:endParaRPr lang="en-US" sz="768" dirty="0"/>
          </a:p>
        </p:txBody>
      </p:sp>
      <p:sp>
        <p:nvSpPr>
          <p:cNvPr id="15" name="Shape 12"/>
          <p:cNvSpPr/>
          <p:nvPr/>
        </p:nvSpPr>
        <p:spPr>
          <a:xfrm>
            <a:off x="8656168" y="3766718"/>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667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59326"/>
            <a:ext cx="2986888" cy="15459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50766"/>
            <a:ext cx="2730856" cy="562051"/>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GP appointment for the BP. A second to take blood. A third to discuss results. Three clinic slots, three half-days off. Same diagnosis at the end.</a:t>
            </a:r>
            <a:endParaRPr lang="en-US" sz="768"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ABDUL'S CARE TEAM SEES  </a:t>
            </a:r>
            <a:pPr indent="0" marL="0">
              <a:buNone/>
            </a:pPr>
            <a:r>
              <a:rPr lang="en-US" sz="800" dirty="0">
                <a:solidFill>
                  <a:srgbClr val="212B32"/>
                </a:solidFill>
                <a:latin typeface="Segoe UI" pitchFamily="34" charset="0"/>
                <a:ea typeface="Segoe UI" pitchFamily="34" charset="-122"/>
                <a:cs typeface="Segoe UI" pitchFamily="34" charset="-120"/>
              </a:rPr>
              <a:t>The framework supplier shipping the kit. The lab. The platform writing the result back. Abdul.</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4-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 STAGE 4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Treatment</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conversation the result triggers</a:t>
            </a:r>
            <a:endParaRPr lang="en-US" sz="1150" dirty="0"/>
          </a:p>
        </p:txBody>
      </p:sp>
      <p:sp>
        <p:nvSpPr>
          <p:cNvPr id="8" name="Text 5"/>
          <p:cNvSpPr/>
          <p:nvPr/>
        </p:nvSpPr>
        <p:spPr>
          <a:xfrm>
            <a:off x="548640" y="1828800"/>
            <a:ext cx="6220663" cy="910742"/>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 clinician messages Abdul via the NHS App and asks him to book. She prescribes a CVKM long-term condition management app, plus a GLP-1, statins and an ACE inhibitor. She refers him to the pre-diabetes prevention programme and checks that his smartwatch is accurate enough to monitor his BP. Eight weeks later the diabetes team messages and asks him to take a self-sample HbA1c test at home; he posts it back. The HbA1c has already dropped. They send him a CGM device.</a:t>
            </a:r>
            <a:endParaRPr lang="en-US" sz="864" dirty="0"/>
          </a:p>
        </p:txBody>
      </p:sp>
      <p:sp>
        <p:nvSpPr>
          <p:cNvPr id="9" name="Shape 6"/>
          <p:cNvSpPr/>
          <p:nvPr/>
        </p:nvSpPr>
        <p:spPr>
          <a:xfrm>
            <a:off x="548640" y="2876702"/>
            <a:ext cx="6220663" cy="88493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986430"/>
            <a:ext cx="5763463" cy="66548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“She prescribed me the heart and circulation app, the statins, the GLP-1 and an ACE inhibitor. She put me on the pre-diabetes programme. Eight weeks later I took a HbA1c blood test at the kitchen table and posted it. The HbA1c had dropped. The CGM came through the post.”</a:t>
            </a:r>
            <a:pPr indent="0" marL="0">
              <a:buNone/>
            </a:pPr>
            <a:r>
              <a:rPr lang="en-US" sz="800" b="1" i="1" dirty="0">
                <a:solidFill>
                  <a:srgbClr val="212B32"/>
                </a:solidFill>
                <a:latin typeface="Segoe UI" pitchFamily="34" charset="0"/>
                <a:ea typeface="Segoe UI" pitchFamily="34" charset="-122"/>
                <a:cs typeface="Segoe UI" pitchFamily="34" charset="-120"/>
              </a:rPr>
              <a:t>  Abdul</a:t>
            </a:r>
            <a:endParaRPr lang="en-US" sz="800" dirty="0"/>
          </a:p>
        </p:txBody>
      </p:sp>
      <p:sp>
        <p:nvSpPr>
          <p:cNvPr id="11" name="Shape 8"/>
          <p:cNvSpPr/>
          <p:nvPr/>
        </p:nvSpPr>
        <p:spPr>
          <a:xfrm>
            <a:off x="548640" y="3898798"/>
            <a:ext cx="2996032" cy="292608"/>
          </a:xfrm>
          <a:prstGeom prst="rect">
            <a:avLst/>
          </a:prstGeom>
          <a:solidFill>
            <a:srgbClr val="003087"/>
          </a:solidFill>
          <a:ln w="12700">
            <a:solidFill>
              <a:srgbClr val="003087"/>
            </a:solidFill>
            <a:prstDash val="solid"/>
          </a:ln>
        </p:spPr>
      </p:sp>
      <p:sp>
        <p:nvSpPr>
          <p:cNvPr id="12" name="Text 9"/>
          <p:cNvSpPr/>
          <p:nvPr/>
        </p:nvSpPr>
        <p:spPr>
          <a:xfrm>
            <a:off x="658368" y="389879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4191406"/>
            <a:ext cx="2996032" cy="141386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282846"/>
            <a:ext cx="2740000" cy="119603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a:t>
            </a:r>
            <a:endParaRPr lang="en-US" sz="768" dirty="0"/>
          </a:p>
        </p:txBody>
      </p:sp>
      <p:sp>
        <p:nvSpPr>
          <p:cNvPr id="15" name="Shape 12"/>
          <p:cNvSpPr/>
          <p:nvPr/>
        </p:nvSpPr>
        <p:spPr>
          <a:xfrm>
            <a:off x="3773272" y="3898798"/>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89879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4191406"/>
            <a:ext cx="2996032" cy="141386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282846"/>
            <a:ext cx="2740000" cy="68884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GP appointment for the result conversation. A second for the HbA1c retest. A third for the CGM. The clinical decisions were always the same; the venues were the friction.</a:t>
            </a:r>
            <a:endParaRPr lang="en-US" sz="768"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ABDUL'S CARE TEAM SEES  </a:t>
            </a:r>
            <a:pPr indent="0" marL="0">
              <a:buNone/>
            </a:pPr>
            <a:r>
              <a:rPr lang="en-US" sz="800" dirty="0">
                <a:solidFill>
                  <a:srgbClr val="212B32"/>
                </a:solidFill>
                <a:latin typeface="Segoe UI" pitchFamily="34" charset="0"/>
                <a:ea typeface="Segoe UI" pitchFamily="34" charset="-122"/>
                <a:cs typeface="Segoe UI" pitchFamily="34" charset="-120"/>
              </a:rPr>
              <a:t>Abdul's GP. Practice pharmacist if a statin is prescribed. NICE guidelines.</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5-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JOURNEY · STAGE 5 OF 5</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5897880" y="731520"/>
            <a:ext cx="5745175" cy="491490"/>
          </a:xfrm>
          <a:prstGeom prst="rect">
            <a:avLst/>
          </a:prstGeom>
          <a:noFill/>
          <a:ln/>
        </p:spPr>
        <p:txBody>
          <a:bodyPr wrap="square" lIns="0" tIns="0" rIns="0" bIns="0" rtlCol="0" anchor="t">
            <a:normAutofit/>
          </a:bodyPr>
          <a:lstStyle/>
          <a:p>
            <a:pPr indent="0" marL="0">
              <a:buNone/>
            </a:pPr>
            <a:r>
              <a:rPr lang="en-US" sz="2700" b="1" dirty="0">
                <a:solidFill>
                  <a:srgbClr val="003087"/>
                </a:solidFill>
                <a:latin typeface="Segoe UI" pitchFamily="34" charset="0"/>
                <a:ea typeface="Segoe UI" pitchFamily="34" charset="-122"/>
                <a:cs typeface="Segoe UI" pitchFamily="34" charset="-120"/>
              </a:rPr>
              <a:t>Long-term optimisation</a:t>
            </a:r>
            <a:endParaRPr lang="en-US" sz="2700" dirty="0"/>
          </a:p>
        </p:txBody>
      </p:sp>
      <p:sp>
        <p:nvSpPr>
          <p:cNvPr id="7" name="Text 4"/>
          <p:cNvSpPr/>
          <p:nvPr/>
        </p:nvSpPr>
        <p:spPr>
          <a:xfrm>
            <a:off x="5897880" y="124129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cycle that fits his life</a:t>
            </a:r>
            <a:endParaRPr lang="en-US" sz="1150" dirty="0"/>
          </a:p>
        </p:txBody>
      </p:sp>
      <p:sp>
        <p:nvSpPr>
          <p:cNvPr id="8" name="Text 5"/>
          <p:cNvSpPr/>
          <p:nvPr/>
        </p:nvSpPr>
        <p:spPr>
          <a:xfrm>
            <a:off x="4800600" y="1828800"/>
            <a:ext cx="6842455" cy="910742"/>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Abdul uses the CVKM long-term condition management app to track his weight, diet and activity. He earns rewards and stays engaged. Community nurses receive alerts when his readings step outside his individual range and contact him by video call to review. The pharmacist at his health centre reviews his BP readings and remotely adjusts his medication until his BP reaches control; the updated prescription comes through the post. Later, he calls his mum Liz (64) and walks her through the whole thing.</a:t>
            </a:r>
            <a:endParaRPr lang="en-US" sz="864" dirty="0"/>
          </a:p>
        </p:txBody>
      </p:sp>
      <p:sp>
        <p:nvSpPr>
          <p:cNvPr id="9" name="Shape 6"/>
          <p:cNvSpPr/>
          <p:nvPr/>
        </p:nvSpPr>
        <p:spPr>
          <a:xfrm>
            <a:off x="4800600" y="2876702"/>
            <a:ext cx="6842455" cy="88493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986430"/>
            <a:ext cx="6385255" cy="66548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system has me on its list. The community nurse rings on video if my BP shifts. My pharmacist titrates my dose without me having to be there. The HomeTest kit comes through the post when I am due. Mum was worried it sounded complicated; I told her she could still do all of it with her own GP if she preferred.”</a:t>
            </a:r>
            <a:pPr indent="0" marL="0">
              <a:buNone/>
            </a:pPr>
            <a:r>
              <a:rPr lang="en-US" sz="800" b="1" i="1" dirty="0">
                <a:solidFill>
                  <a:srgbClr val="212B32"/>
                </a:solidFill>
                <a:latin typeface="Segoe UI" pitchFamily="34" charset="0"/>
                <a:ea typeface="Segoe UI" pitchFamily="34" charset="-122"/>
                <a:cs typeface="Segoe UI" pitchFamily="34" charset="-120"/>
              </a:rPr>
              <a:t>  Abdul</a:t>
            </a:r>
            <a:endParaRPr lang="en-US" sz="800" dirty="0"/>
          </a:p>
        </p:txBody>
      </p:sp>
      <p:sp>
        <p:nvSpPr>
          <p:cNvPr id="11" name="Shape 8"/>
          <p:cNvSpPr/>
          <p:nvPr/>
        </p:nvSpPr>
        <p:spPr>
          <a:xfrm>
            <a:off x="4800600" y="3898798"/>
            <a:ext cx="3306928" cy="292608"/>
          </a:xfrm>
          <a:prstGeom prst="rect">
            <a:avLst/>
          </a:prstGeom>
          <a:solidFill>
            <a:srgbClr val="003087"/>
          </a:solidFill>
          <a:ln w="12700">
            <a:solidFill>
              <a:srgbClr val="003087"/>
            </a:solidFill>
            <a:prstDash val="solid"/>
          </a:ln>
        </p:spPr>
      </p:sp>
      <p:sp>
        <p:nvSpPr>
          <p:cNvPr id="12" name="Text 9"/>
          <p:cNvSpPr/>
          <p:nvPr/>
        </p:nvSpPr>
        <p:spPr>
          <a:xfrm>
            <a:off x="4910328" y="3898798"/>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4191406"/>
            <a:ext cx="3306928" cy="141386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4282846"/>
            <a:ext cx="3050896" cy="106923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a:t>
            </a:r>
            <a:endParaRPr lang="en-US" sz="768" dirty="0"/>
          </a:p>
        </p:txBody>
      </p:sp>
      <p:sp>
        <p:nvSpPr>
          <p:cNvPr id="15" name="Shape 12"/>
          <p:cNvSpPr/>
          <p:nvPr/>
        </p:nvSpPr>
        <p:spPr>
          <a:xfrm>
            <a:off x="8336128" y="3898798"/>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898798"/>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4191406"/>
            <a:ext cx="3306928" cy="141386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4282846"/>
            <a:ext cx="3050896" cy="68884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five-yearly NHS Health Check in clinic. A periodic dose-review appointment. A separate one for the CGM check. Most of the cohort missing most of the cycle, and the cardiovascular events arriving regardless.</a:t>
            </a:r>
            <a:endParaRPr lang="en-US" sz="768" dirty="0"/>
          </a:p>
        </p:txBody>
      </p:sp>
      <p:sp>
        <p:nvSpPr>
          <p:cNvPr id="19" name="Shape 16"/>
          <p:cNvSpPr/>
          <p:nvPr/>
        </p:nvSpPr>
        <p:spPr>
          <a:xfrm>
            <a:off x="4800600" y="5742432"/>
            <a:ext cx="6842455" cy="457200"/>
          </a:xfrm>
          <a:prstGeom prst="rect">
            <a:avLst/>
          </a:prstGeom>
          <a:solidFill>
            <a:srgbClr val="E8F3EE"/>
          </a:solidFill>
          <a:ln w="12700">
            <a:solidFill>
              <a:srgbClr val="E8F3EE"/>
            </a:solidFill>
            <a:prstDash val="solid"/>
          </a:ln>
        </p:spPr>
      </p:sp>
      <p:sp>
        <p:nvSpPr>
          <p:cNvPr id="20" name="Text 17"/>
          <p:cNvSpPr/>
          <p:nvPr/>
        </p:nvSpPr>
        <p:spPr>
          <a:xfrm>
            <a:off x="4937760" y="5742432"/>
            <a:ext cx="656813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ABDUL'S CARE TEAM SEES  </a:t>
            </a:r>
            <a:pPr indent="0" marL="0">
              <a:buNone/>
            </a:pPr>
            <a:r>
              <a:rPr lang="en-US" sz="800" dirty="0">
                <a:solidFill>
                  <a:srgbClr val="212B32"/>
                </a:solidFill>
                <a:latin typeface="Segoe UI" pitchFamily="34" charset="0"/>
                <a:ea typeface="Segoe UI" pitchFamily="34" charset="-122"/>
                <a:cs typeface="Segoe UI" pitchFamily="34" charset="-120"/>
              </a:rPr>
              <a:t>Abdul. His GP holding the longitudinal record. The NHS App. Aisha's clinical safety review of the cohort-level pattern.</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ABDUL'S WIN</a:t>
            </a:r>
            <a:endParaRPr lang="en-US" sz="1000" dirty="0"/>
          </a:p>
        </p:txBody>
      </p:sp>
      <p:sp>
        <p:nvSpPr>
          <p:cNvPr id="3" name="Text 1"/>
          <p:cNvSpPr/>
          <p:nvPr/>
        </p:nvSpPr>
        <p:spPr>
          <a:xfrm>
            <a:off x="548640" y="731520"/>
            <a:ext cx="6933895" cy="1878330"/>
          </a:xfrm>
          <a:prstGeom prst="rect">
            <a:avLst/>
          </a:prstGeom>
          <a:noFill/>
          <a:ln/>
        </p:spPr>
        <p:txBody>
          <a:bodyPr wrap="square" lIns="0" tIns="0" rIns="0" bIns="0" rtlCol="0" anchor="t">
            <a:normAutofit/>
          </a:bodyPr>
          <a:lstStyle/>
          <a:p>
            <a:pPr indent="0" marL="0">
              <a:buNone/>
            </a:pPr>
            <a:r>
              <a:rPr lang="en-US" sz="1850" b="1" dirty="0">
                <a:solidFill>
                  <a:srgbClr val="003087"/>
                </a:solidFill>
                <a:latin typeface="Segoe UI" pitchFamily="34" charset="0"/>
                <a:ea typeface="Segoe UI" pitchFamily="34" charset="-122"/>
                <a:cs typeface="Segoe UI" pitchFamily="34" charset="-120"/>
              </a:rPr>
              <a:t>A cohort identified before the symptoms. A diagnosis made around his life, not against it. A treatment cycle that runs through messages, the post and his phone, with the clinical conversations happening exactly where they need to.</a:t>
            </a:r>
            <a:endParaRPr lang="en-US" sz="1850" dirty="0"/>
          </a:p>
        </p:txBody>
      </p:sp>
      <p:sp>
        <p:nvSpPr>
          <p:cNvPr id="4" name="Text 2"/>
          <p:cNvSpPr/>
          <p:nvPr/>
        </p:nvSpPr>
        <p:spPr>
          <a:xfrm>
            <a:off x="548640" y="2838450"/>
            <a:ext cx="6933895" cy="1293114"/>
          </a:xfrm>
          <a:prstGeom prst="rect">
            <a:avLst/>
          </a:prstGeom>
          <a:noFill/>
          <a:ln/>
        </p:spPr>
        <p:txBody>
          <a:bodyPr wrap="square" lIns="0" tIns="0" rIns="0" bIns="0" rtlCol="0" anchor="t">
            <a:normAutofit/>
          </a:bodyPr>
          <a:lstStyle/>
          <a:p>
            <a:pPr indent="0" marL="0">
              <a:buNone/>
            </a:pPr>
            <a:r>
              <a:rPr lang="en-US" sz="1500" dirty="0">
                <a:solidFill>
                  <a:srgbClr val="212B32"/>
                </a:solidFill>
                <a:latin typeface="Segoe UI" pitchFamily="34" charset="0"/>
                <a:ea typeface="Segoe UI" pitchFamily="34" charset="-122"/>
                <a:cs typeface="Segoe UI" pitchFamily="34" charset="-120"/>
              </a:rPr>
              <a:t>Abdul does not see infrastructure. He sees an app he already uses, a kit through the door, and a GP conversation that finally has the data it needed. </a:t>
            </a:r>
            <a:pPr indent="0" marL="0">
              <a:buNone/>
            </a:pPr>
            <a:r>
              <a:rPr lang="en-US" sz="1500" b="1" dirty="0">
                <a:solidFill>
                  <a:srgbClr val="212B32"/>
                </a:solidFill>
                <a:latin typeface="Segoe UI" pitchFamily="34" charset="0"/>
                <a:ea typeface="Segoe UI" pitchFamily="34" charset="-122"/>
                <a:cs typeface="Segoe UI" pitchFamily="34" charset="-120"/>
              </a:rPr>
              <a:t>The cardiovascular event that did not happen is the event that did not get measured because Abdul was found in time.</a:t>
            </a:r>
            <a:endParaRPr lang="en-US" sz="1500" dirty="0"/>
          </a:p>
        </p:txBody>
      </p:sp>
      <p:pic>
        <p:nvPicPr>
          <p:cNvPr id="5" name="Image 0" descr="/sessions/quirky-zen-galileo/mnt/NHS/07 Sites &amp; Repos/dtx-ecosystem/hearts-and-minds/_generators/assets/crops/abdul-stage5-1.780.jpg">    </p:cNvPr>
          <p:cNvPicPr>
            <a:picLocks noChangeAspect="1"/>
          </p:cNvPicPr>
          <p:nvPr/>
        </p:nvPicPr>
        <p:blipFill>
          <a:blip r:embed="rId1"/>
          <a:stretch>
            <a:fillRect/>
          </a:stretch>
        </p:blipFill>
        <p:spPr>
          <a:xfrm>
            <a:off x="548640" y="4405884"/>
            <a:ext cx="3274253" cy="1839468"/>
          </a:xfrm>
          <a:prstGeom prst="rect">
            <a:avLst/>
          </a:prstGeom>
        </p:spPr>
      </p:pic>
      <p:sp>
        <p:nvSpPr>
          <p:cNvPr id="6" name="Shape 3"/>
          <p:cNvSpPr/>
          <p:nvPr/>
        </p:nvSpPr>
        <p:spPr>
          <a:xfrm>
            <a:off x="4097213" y="4405884"/>
            <a:ext cx="3385322" cy="10995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325813" y="4515612"/>
            <a:ext cx="2928122" cy="88011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The system finds him before the symptoms find him.</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274314"/>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Segoe UI" pitchFamily="34" charset="0"/>
                <a:ea typeface="Segoe UI" pitchFamily="34" charset="-122"/>
                <a:cs typeface="Segoe UI" pitchFamily="34" charset="-120"/>
              </a:rPr>
              <a:t>Abdul never sees a bill. His check is commissioned for him, free at the point of use through the NHS App. Behind it, the commissioner pays the supplier a cost per activity for each completed test, against a national ceiling that local volume pushes down. The clinic appointment he did not need stays available for someone who does, and that is where the saving lands: the kit costs pounds, the staffed slot it replaces costs far more.</a:t>
            </a:r>
            <a:endParaRPr lang="en-US" sz="1300" dirty="0"/>
          </a:p>
        </p:txBody>
      </p:sp>
      <p:pic>
        <p:nvPicPr>
          <p:cNvPr id="11" name="Image 1" descr="/sessions/quirky-zen-galileo/mnt/outputs/jd/img/abdul-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Abdul</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Self-initiated patient · CVKM cohort</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abdul-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Abdul</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Self-initiated patient · CVKM cohort</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The system finds him before the symptoms find him.</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Abdul's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Abdul's journey</dc:title>
  <dc:subject>PptxGenJS Presentation</dc:subject>
  <dc:creator>HomeTest Commercial</dc:creator>
  <cp:lastModifiedBy>HomeTest Commercial</cp:lastModifiedBy>
  <cp:revision>1</cp:revision>
  <dcterms:created xsi:type="dcterms:W3CDTF">2026-09-05T10:52:55Z</dcterms:created>
  <dcterms:modified xsi:type="dcterms:W3CDTF">2026-09-05T10:52:55Z</dcterms:modified>
</cp:coreProperties>
</file>