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 a cohort between two budgets
Ruth is handed a cohort that everyone agrees should be monitored and nobody can say who pays for.
Quote: Everyone agrees these men should be monitored. Nobody can tell me whose budget the monitoring comes out of.
What the model is doing underneath: The Prioritisation Framework has already placed PSA active surveillance as the live clinician-initiated configuration, and the monitoring-gap cohort is scoped as a sub-cohort inside it rather than scored on its own. That matters for Ruth: she is not making the case for a new test category. She is making the case for a defined group of men to be attached to a configuration the platform already runs. The Status page carries the cohort as TBC, which is the model's way of saying the dependency is known and the answer is still being worked.
The old way: The raised-PSA, no-diagnosis patient is discharged back to primary care with advice. Whether he is recalled depends on the practice, the patient and luck. Secondary care does not see him again unless he re-presents. No one holds the list, so no one can say how many men are in it, how many were monitored on time and how many were lost.
What the care team sees: Urology sees the cohort as men it has already assessed and cannot keep on its books. Primary care sees them as follow-ups it was never resourced to run. Both are right, which is exactly why the budget question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front door · what the framework has already settled
Ruth inherits the assurance. It was done nationally before her cohort existed.
Quote: I did not have to assure a single supplier. That work was done before my cohort existed.
What the model is doing underneath: The framework has done the national work in advance: Tier 1 company assurance through the Master SCAL, Tier 2 conformance for the PSA category, UKAS-accredited labs, MHRA-conformant kits, clinical safety cases under DCB0129 and DCB0160. Sarah leaned on exactly this for HIV; Catherine for the established active surveillance cohort. Ruth inherits it. Whichever institution she turns out to sit in, the accredited register is the same and the AQP floor of around three suppliers per test holds, in principle, so she is buying from a live market rather than a single incumbent.
The old way: A local procurement for a monitoring service, or more likely no procurement at all: a spreadsheet, a recall letter template and a nurse who knows the list. Assurance, if it happened, was repeated Trust by Trust with the same questions asked of the same suppliers.
What the care team sees: The clinical team's question changes from 'is this kit safe and is this lab any good' to 'does this protocol fit our patients'. The first was answered nationally. The second is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 for this cohort · the protocol has to exist first
The model stops and waits. Ruth cannot commission against a cadence nobody has signed.
Quote: I will not buy a cadence. I will buy a protocol a urologist has signed.
What the model is doing underneath: Here the model stops and waits, deliberately. The surveillance protocol for men with a raised PSA and no diagnosis is being developed by the team scoping the cohort. The candidate cadences are on the table: annual, biannual, risk-stratified or symptom-led. The platform can run any of them, because the initiation pattern is clinician-initiated with a scheduled recall, the same pattern Mark's cohort uses. What the model refuses to do is pick the cadence for the clinicians. Until the protocol is signed off, Ruth has nothing to commission against, and the model says so rather than papering over it.
The old way: Cadence was whatever the discharge letter said, interpreted by whichever GP read it. No protocol meant no way to audit compliance, and no way to tell a commissioner what good looked like.
What the care team sees: Whoever ends up clinically owning the cohort, Urology, primary care, a shared monitoring service or a new owner, gets the protocol as a configuration on the platform: eligibility rule, recall schedule, result thresholds and the escalation route back into the clinic. The care team defines it once and the platform enforces it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buy · a call-off once the owner is clear
The contract shape follows the budget owner. The terms were settled before she started.
Quote: Once someone said 'this budget is ours', the buying took weeks, not a year.
What the model is doing underneath: The framework was built so that the contract shape follows the budget owner rather than the other way round. If the cohort lands in an ICB pathway budget, Ruth's route is a call-off from the accredited register, the way Sarah and Catherine buy. If it lands in an acute tariff envelope, the call-off is made by the Trust with Ruth's ICB as the commissioning counterparty. If it needs a joint arrangement or earmarked national funding, the framework's terms still apply and only the paying party changes. In every version the price is a cost per activity for each completed test, against a national ceiling that local competition can beat, with a levy on throughput that funds the platform and returns a share to NHS England. All of that is in principle until the cohort discovery names the owner.
The old way: A bespoke local contract, or a grant, or a service that ran on goodwill and then stopped when the goodwill did. Terms negotiated from scratch, with no national ceiling and no recourse the commissioner could actually use.
What the care team sees: Nothing changes clinically at the point of contract. The care team's protocol is already on the platform; the buy simply switches it on for their patients and tells the supplier who is paying.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operation · the gap closes
For the first time the list is a list. Every man, when he is due, whether the result came back.
Quote: For the first time I can see the list. Every man on it, when he is due, and whether the result came back.
What the model is doing underneath: Once live, the cohort behaves like any clinician-initiated configuration on HomeTest. Eligible men are enrolled from the clinic, the platform issues the kit on the protocol's schedule, the result returns through the accredited lab to the clinician, and the NHS App carries the patient's view. Missed recalls surface as exceptions rather than silence. Results above the threshold route straight back to Urology through the escalation rule the care team set in Stage 03. Ruth gets the operating data commissioners never had for this group: enrolment, on-time completion, loss to follow-up and escalations.
The old way: Recall depended on the practice system flagging it and someone acting on the flag. A man who moved practice, changed his number or simply did not respond disappeared from a list that was never really a list.
What the care team sees: Urology sees only the men who need to come back. Primary care sees a cohort being monitored without the practice carrying the admin. Both can see the same record because the NHS holds it, not the supplier.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for funding · early detection, shown
The argument was never about kits. It was about the men who would otherwise have been found late.
Quote: The argument was never about kits. It was about the men we would otherwise have found late.
What the model is doing underneath: The monitoring-gap case rests on early detection: the men in this cohort who go on to develop diagnosable prostate cancer, found on schedule rather than on re-presentation. The outcome measure is still to be defined alongside the protocol, and the model says so. What the platform gives Ruth from day one is the denominator and the numerator she never had: how many men are monitored, how many on time, how many escalated and what was found. That is the evidence base for whichever institution funds the next year, and for the wider question of whether this cohort should be commissioned everywhere or only where a gap is proven.
The old way: No baseline, so no case. Commissioners were asked to fund monitoring for a group whose size and outcomes nobody could state.
What the care team sees: Clinicians get an audit trail they can stand behind at the MDT and at inspection. The protocol, the compliance against it and the outcomes sit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pic>
        <p:nvPicPr>
          <p:cNvPr id="2" name="Image 0" descr="/sessions/quirky-zen-galileo/mnt/outputs/deckbuild/nhs_logo.png">    </p:cNvPr>
          <p:cNvPicPr>
            <a:picLocks noChangeAspect="1"/>
          </p:cNvPicPr>
          <p:nvPr/>
        </p:nvPicPr>
        <p:blipFill>
          <a:blip r:embed="rId1"/>
          <a:stretch>
            <a:fillRect/>
          </a:stretch>
        </p:blipFill>
        <p:spPr>
          <a:xfrm>
            <a:off x="10591495" y="365760"/>
            <a:ext cx="1143000" cy="466344"/>
          </a:xfrm>
          <a:prstGeom prst="rect">
            <a:avLst/>
          </a:prstGeom>
        </p:spPr>
      </p:pic>
      <p:sp>
        <p:nvSpPr>
          <p:cNvPr id="3" name="Text 0"/>
          <p:cNvSpPr/>
          <p:nvPr/>
        </p:nvSpPr>
        <p:spPr>
          <a:xfrm>
            <a:off x="640080" y="502920"/>
            <a:ext cx="9326880" cy="274320"/>
          </a:xfrm>
          <a:prstGeom prst="rect">
            <a:avLst/>
          </a:prstGeom>
          <a:noFill/>
          <a:ln/>
        </p:spPr>
        <p:txBody>
          <a:bodyPr wrap="square" lIns="0" tIns="0" rIns="0" bIns="0" rtlCol="0" anchor="ctr"/>
          <a:lstStyle/>
          <a:p>
            <a:pPr indent="0" marL="0">
              <a:buNone/>
            </a:pPr>
            <a:r>
              <a:rPr lang="en-US" sz="1050" b="1" spc="300" kern="0" dirty="0">
                <a:solidFill>
                  <a:srgbClr val="7EC8E3"/>
                </a:solidFill>
                <a:latin typeface="Arial" pitchFamily="34" charset="0"/>
                <a:ea typeface="Arial" pitchFamily="34" charset="-122"/>
                <a:cs typeface="Arial" pitchFamily="34" charset="-120"/>
              </a:rPr>
              <a:t>HEARTS AND MINDS  ·  HOMETEST OPERATING MODEL  ·  COMMISSIONER JOURNEY</a:t>
            </a:r>
            <a:endParaRPr lang="en-US" sz="1050" dirty="0"/>
          </a:p>
        </p:txBody>
      </p:sp>
      <p:sp>
        <p:nvSpPr>
          <p:cNvPr id="4" name="Shape 1"/>
          <p:cNvSpPr/>
          <p:nvPr/>
        </p:nvSpPr>
        <p:spPr>
          <a:xfrm>
            <a:off x="640080" y="914400"/>
            <a:ext cx="822960" cy="54864"/>
          </a:xfrm>
          <a:prstGeom prst="rect">
            <a:avLst/>
          </a:prstGeom>
          <a:solidFill>
            <a:srgbClr val="FFB91D"/>
          </a:solidFill>
          <a:ln w="12700">
            <a:solidFill>
              <a:srgbClr val="FFB91D"/>
            </a:solidFill>
            <a:prstDash val="solid"/>
          </a:ln>
        </p:spPr>
      </p:sp>
      <p:sp>
        <p:nvSpPr>
          <p:cNvPr id="5" name="Text 2"/>
          <p:cNvSpPr/>
          <p:nvPr/>
        </p:nvSpPr>
        <p:spPr>
          <a:xfrm>
            <a:off x="640080" y="1097280"/>
            <a:ext cx="7315200" cy="100584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Ruth.</a:t>
            </a:r>
            <a:endParaRPr lang="en-US" sz="6000" dirty="0"/>
          </a:p>
        </p:txBody>
      </p:sp>
      <p:sp>
        <p:nvSpPr>
          <p:cNvPr id="6" name="Text 3"/>
          <p:cNvSpPr/>
          <p:nvPr/>
        </p:nvSpPr>
        <p:spPr>
          <a:xfrm>
            <a:off x="640080" y="2148840"/>
            <a:ext cx="6949440" cy="835152"/>
          </a:xfrm>
          <a:prstGeom prst="rect">
            <a:avLst/>
          </a:prstGeom>
          <a:noFill/>
          <a:ln/>
        </p:spPr>
        <p:txBody>
          <a:bodyPr wrap="square" lIns="0" tIns="0" rIns="0" bIns="0" rtlCol="0" anchor="t">
            <a:normAutofit/>
          </a:bodyPr>
          <a:lstStyle/>
          <a:p>
            <a:pPr indent="0" marL="0">
              <a:buNone/>
            </a:pPr>
            <a:r>
              <a:rPr lang="en-US" sz="2400" dirty="0">
                <a:solidFill>
                  <a:srgbClr val="FFFFFF"/>
                </a:solidFill>
                <a:latin typeface="Arial" pitchFamily="34" charset="0"/>
                <a:ea typeface="Arial" pitchFamily="34" charset="-122"/>
                <a:cs typeface="Arial" pitchFamily="34" charset="-120"/>
              </a:rPr>
              <a:t>The cohort between two budgets,</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and the commissioner who has to own it.</a:t>
            </a:r>
            <a:endParaRPr lang="en-US" sz="2400" dirty="0"/>
          </a:p>
        </p:txBody>
      </p:sp>
      <p:sp>
        <p:nvSpPr>
          <p:cNvPr id="7" name="Text 4"/>
          <p:cNvSpPr/>
          <p:nvPr/>
        </p:nvSpPr>
        <p:spPr>
          <a:xfrm>
            <a:off x="640080" y="3258312"/>
            <a:ext cx="6949440" cy="1021080"/>
          </a:xfrm>
          <a:prstGeom prst="rect">
            <a:avLst/>
          </a:prstGeom>
          <a:noFill/>
          <a:ln/>
        </p:spPr>
        <p:txBody>
          <a:bodyPr wrap="square" lIns="0" tIns="0" rIns="0" bIns="0" rtlCol="0" anchor="t">
            <a:normAutofit/>
          </a:bodyPr>
          <a:lstStyle/>
          <a:p>
            <a:pPr indent="0" marL="0">
              <a:buNone/>
            </a:pPr>
            <a:r>
              <a:rPr lang="en-US" sz="1200" dirty="0">
                <a:solidFill>
                  <a:srgbClr val="DCE7F0"/>
                </a:solidFill>
                <a:latin typeface="Arial" pitchFamily="34" charset="0"/>
                <a:ea typeface="Arial" pitchFamily="34" charset="-122"/>
                <a:cs typeface="Arial" pitchFamily="34" charset="-120"/>
              </a:rPr>
              <a:t>Ruth is the commissioner who will buy PSA monitoring for men referred to Urology with a raised PSA and no cancer diagnosis. Today that cohort sits between primary and secondary care, with no single budget holder, no agreed protocol cadence and no one counting whether the monitoring happens. </a:t>
            </a:r>
            <a:pPr indent="0" marL="0">
              <a:buNone/>
            </a:pPr>
            <a:r>
              <a:rPr lang="en-US" sz="1200" b="1" dirty="0">
                <a:solidFill>
                  <a:srgbClr val="DCE7F0"/>
                </a:solidFill>
                <a:latin typeface="Arial" pitchFamily="34" charset="0"/>
                <a:ea typeface="Arial" pitchFamily="34" charset="-122"/>
                <a:cs typeface="Arial" pitchFamily="34" charset="-120"/>
              </a:rPr>
              <a:t>This is the journey the model expects her to take once the cohort design lands, told in six stages, with the open specifics deliberately left open.</a:t>
            </a:r>
            <a:endParaRPr lang="en-US" sz="1200" dirty="0"/>
          </a:p>
        </p:txBody>
      </p:sp>
      <p:sp>
        <p:nvSpPr>
          <p:cNvPr id="8" name="Text 5"/>
          <p:cNvSpPr/>
          <p:nvPr/>
        </p:nvSpPr>
        <p:spPr>
          <a:xfrm>
            <a:off x="640080" y="4416552"/>
            <a:ext cx="6949440" cy="365760"/>
          </a:xfrm>
          <a:prstGeom prst="rect">
            <a:avLst/>
          </a:prstGeom>
          <a:noFill/>
          <a:ln/>
        </p:spPr>
        <p:txBody>
          <a:bodyPr wrap="square" lIns="0" tIns="0" rIns="0" bIns="0" rtlCol="0" anchor="ctr"/>
          <a:lstStyle/>
          <a:p>
            <a:pPr indent="0" marL="0">
              <a:buNone/>
            </a:pPr>
            <a:r>
              <a:rPr lang="en-US" sz="1050" i="1" dirty="0">
                <a:solidFill>
                  <a:srgbClr val="7EC8E3"/>
                </a:solidFill>
                <a:latin typeface="Arial" pitchFamily="34" charset="0"/>
                <a:ea typeface="Arial" pitchFamily="34" charset="-122"/>
                <a:cs typeface="Arial" pitchFamily="34" charset="-120"/>
              </a:rPr>
              <a:t>A monitoring-gap commissioner's story through HomeTest, held open as a working hypothesis</a:t>
            </a:r>
            <a:endParaRPr lang="en-US" sz="1050" dirty="0"/>
          </a:p>
        </p:txBody>
      </p:sp>
      <p:sp>
        <p:nvSpPr>
          <p:cNvPr id="9" name="Shape 6"/>
          <p:cNvSpPr/>
          <p:nvPr/>
        </p:nvSpPr>
        <p:spPr>
          <a:xfrm>
            <a:off x="8476488" y="1344168"/>
            <a:ext cx="2889504" cy="2889504"/>
          </a:xfrm>
          <a:prstGeom prst="ellipse">
            <a:avLst/>
          </a:prstGeom>
          <a:solidFill>
            <a:srgbClr val="7EC8E3"/>
          </a:solidFill>
          <a:ln w="12700">
            <a:solidFill>
              <a:srgbClr val="7EC8E3"/>
            </a:solidFill>
            <a:prstDash val="solid"/>
          </a:ln>
        </p:spPr>
      </p:sp>
      <p:pic>
        <p:nvPicPr>
          <p:cNvPr id="10" name="Image 1" descr="/sessions/quirky-zen-galileo/mnt/outputs/hmdecks5/img/ruth-portrait.jpg">    </p:cNvPr>
          <p:cNvPicPr>
            <a:picLocks noChangeAspect="1"/>
          </p:cNvPicPr>
          <p:nvPr/>
        </p:nvPicPr>
        <p:blipFill>
          <a:blip r:embed="rId2"/>
          <a:srcRect l="0" r="0" t="0" b="0"/>
          <a:stretch/>
        </p:blipFill>
        <p:spPr>
          <a:xfrm>
            <a:off x="8549640" y="1417320"/>
            <a:ext cx="2743200" cy="2743200"/>
          </a:xfrm>
          <a:prstGeom prst="ellipse">
            <a:avLst/>
          </a:prstGeom>
        </p:spPr>
      </p:pic>
      <p:sp>
        <p:nvSpPr>
          <p:cNvPr id="11" name="Text 7"/>
          <p:cNvSpPr/>
          <p:nvPr/>
        </p:nvSpPr>
        <p:spPr>
          <a:xfrm>
            <a:off x="8138160" y="4343400"/>
            <a:ext cx="356616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Ruth</a:t>
            </a:r>
            <a:endParaRPr lang="en-US" sz="2000" dirty="0"/>
          </a:p>
        </p:txBody>
      </p:sp>
      <p:sp>
        <p:nvSpPr>
          <p:cNvPr id="12" name="Text 8"/>
          <p:cNvSpPr/>
          <p:nvPr/>
        </p:nvSpPr>
        <p:spPr>
          <a:xfrm>
            <a:off x="7955280" y="4754880"/>
            <a:ext cx="3931920" cy="640080"/>
          </a:xfrm>
          <a:prstGeom prst="rect">
            <a:avLst/>
          </a:prstGeom>
          <a:noFill/>
          <a:ln/>
        </p:spPr>
        <p:txBody>
          <a:bodyPr wrap="square" lIns="0" tIns="0" rIns="0" bIns="0" rtlCol="0" anchor="t"/>
          <a:lstStyle/>
          <a:p>
            <a:pPr algn="ctr" indent="0" marL="0">
              <a:buNone/>
            </a:pPr>
            <a:r>
              <a:rPr lang="en-US" sz="1100" dirty="0">
                <a:solidFill>
                  <a:srgbClr val="FFB91D"/>
                </a:solidFill>
                <a:latin typeface="Arial" pitchFamily="34" charset="0"/>
                <a:ea typeface="Arial" pitchFamily="34" charset="-122"/>
                <a:cs typeface="Arial" pitchFamily="34" charset="-120"/>
              </a:rPr>
              <a:t>Monitoring-gap commissioner · HomeTest PSA active surveillance · TBC</a:t>
            </a:r>
            <a:endParaRPr lang="en-US" sz="1100" dirty="0"/>
          </a:p>
        </p:txBody>
      </p:sp>
      <p:sp>
        <p:nvSpPr>
          <p:cNvPr id="13" name="Text 9"/>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C8E3"/>
                </a:solidFill>
                <a:latin typeface="Arial" pitchFamily="34" charset="0"/>
                <a:ea typeface="Arial" pitchFamily="34" charset="-122"/>
                <a:cs typeface="Arial" pitchFamily="34" charset="-120"/>
              </a:rPr>
              <a:t>HomeTest Operating Model  ·  Hearts and Minds</a:t>
            </a:r>
            <a:endParaRPr lang="en-US" sz="850" dirty="0"/>
          </a:p>
        </p:txBody>
      </p:sp>
      <p:sp>
        <p:nvSpPr>
          <p:cNvPr id="14" name="Text 10"/>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C8E3"/>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COMMISSIONER JOURNEY</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Ruth's journey at a glance</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Shape 4"/>
          <p:cNvSpPr/>
          <p:nvPr/>
        </p:nvSpPr>
        <p:spPr>
          <a:xfrm>
            <a:off x="457200" y="1234440"/>
            <a:ext cx="1788109" cy="1234440"/>
          </a:xfrm>
          <a:prstGeom prst="roundRect">
            <a:avLst>
              <a:gd name="adj" fmla="val 5926"/>
            </a:avLst>
          </a:prstGeom>
          <a:solidFill>
            <a:srgbClr val="F0F4F5"/>
          </a:solidFill>
          <a:ln w="9525">
            <a:solidFill>
              <a:srgbClr val="DDE3E8"/>
            </a:solidFill>
            <a:prstDash val="solid"/>
          </a:ln>
        </p:spPr>
      </p:sp>
      <p:sp>
        <p:nvSpPr>
          <p:cNvPr id="8" name="Shape 5"/>
          <p:cNvSpPr/>
          <p:nvPr/>
        </p:nvSpPr>
        <p:spPr>
          <a:xfrm>
            <a:off x="457200" y="1234440"/>
            <a:ext cx="1788109" cy="54864"/>
          </a:xfrm>
          <a:prstGeom prst="rect">
            <a:avLst/>
          </a:prstGeom>
          <a:solidFill>
            <a:srgbClr val="005EB8"/>
          </a:solidFill>
          <a:ln w="12700">
            <a:solidFill>
              <a:srgbClr val="005EB8"/>
            </a:solidFill>
            <a:prstDash val="solid"/>
          </a:ln>
        </p:spPr>
      </p:sp>
      <p:sp>
        <p:nvSpPr>
          <p:cNvPr id="9" name="Shape 6"/>
          <p:cNvSpPr/>
          <p:nvPr/>
        </p:nvSpPr>
        <p:spPr>
          <a:xfrm>
            <a:off x="585216" y="1417320"/>
            <a:ext cx="347472" cy="347472"/>
          </a:xfrm>
          <a:prstGeom prst="ellipse">
            <a:avLst/>
          </a:prstGeom>
          <a:solidFill>
            <a:srgbClr val="003087"/>
          </a:solidFill>
          <a:ln w="12700">
            <a:solidFill>
              <a:srgbClr val="003087"/>
            </a:solidFill>
            <a:prstDash val="solid"/>
          </a:ln>
        </p:spPr>
      </p:sp>
      <p:sp>
        <p:nvSpPr>
          <p:cNvPr id="10" name="Text 7"/>
          <p:cNvSpPr/>
          <p:nvPr/>
        </p:nvSpPr>
        <p:spPr>
          <a:xfrm>
            <a:off x="585216"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1" name="Text 8"/>
          <p:cNvSpPr/>
          <p:nvPr/>
        </p:nvSpPr>
        <p:spPr>
          <a:xfrm>
            <a:off x="1005840"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The brief</a:t>
            </a:r>
            <a:endParaRPr lang="en-US" sz="1100" dirty="0"/>
          </a:p>
        </p:txBody>
      </p:sp>
      <p:sp>
        <p:nvSpPr>
          <p:cNvPr id="12" name="Text 9"/>
          <p:cNvSpPr/>
          <p:nvPr/>
        </p:nvSpPr>
        <p:spPr>
          <a:xfrm>
            <a:off x="585216"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A cohort between two budgets</a:t>
            </a:r>
            <a:endParaRPr lang="en-US" sz="900" dirty="0"/>
          </a:p>
        </p:txBody>
      </p:sp>
      <p:sp>
        <p:nvSpPr>
          <p:cNvPr id="13" name="Shape 10"/>
          <p:cNvSpPr/>
          <p:nvPr/>
        </p:nvSpPr>
        <p:spPr>
          <a:xfrm>
            <a:off x="2355037" y="1234440"/>
            <a:ext cx="1788109" cy="1234440"/>
          </a:xfrm>
          <a:prstGeom prst="roundRect">
            <a:avLst>
              <a:gd name="adj" fmla="val 5926"/>
            </a:avLst>
          </a:prstGeom>
          <a:solidFill>
            <a:srgbClr val="F0F4F5"/>
          </a:solidFill>
          <a:ln w="9525">
            <a:solidFill>
              <a:srgbClr val="DDE3E8"/>
            </a:solidFill>
            <a:prstDash val="solid"/>
          </a:ln>
        </p:spPr>
      </p:sp>
      <p:sp>
        <p:nvSpPr>
          <p:cNvPr id="14" name="Shape 11"/>
          <p:cNvSpPr/>
          <p:nvPr/>
        </p:nvSpPr>
        <p:spPr>
          <a:xfrm>
            <a:off x="2355037" y="1234440"/>
            <a:ext cx="1788109" cy="54864"/>
          </a:xfrm>
          <a:prstGeom prst="rect">
            <a:avLst/>
          </a:prstGeom>
          <a:solidFill>
            <a:srgbClr val="005EB8"/>
          </a:solidFill>
          <a:ln w="12700">
            <a:solidFill>
              <a:srgbClr val="005EB8"/>
            </a:solidFill>
            <a:prstDash val="solid"/>
          </a:ln>
        </p:spPr>
      </p:sp>
      <p:sp>
        <p:nvSpPr>
          <p:cNvPr id="15" name="Shape 12"/>
          <p:cNvSpPr/>
          <p:nvPr/>
        </p:nvSpPr>
        <p:spPr>
          <a:xfrm>
            <a:off x="2483053" y="1417320"/>
            <a:ext cx="347472" cy="347472"/>
          </a:xfrm>
          <a:prstGeom prst="ellipse">
            <a:avLst/>
          </a:prstGeom>
          <a:solidFill>
            <a:srgbClr val="003087"/>
          </a:solidFill>
          <a:ln w="12700">
            <a:solidFill>
              <a:srgbClr val="003087"/>
            </a:solidFill>
            <a:prstDash val="solid"/>
          </a:ln>
        </p:spPr>
      </p:sp>
      <p:sp>
        <p:nvSpPr>
          <p:cNvPr id="16" name="Text 13"/>
          <p:cNvSpPr/>
          <p:nvPr/>
        </p:nvSpPr>
        <p:spPr>
          <a:xfrm>
            <a:off x="2483053"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7" name="Text 14"/>
          <p:cNvSpPr/>
          <p:nvPr/>
        </p:nvSpPr>
        <p:spPr>
          <a:xfrm>
            <a:off x="2903677"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One front door</a:t>
            </a:r>
            <a:endParaRPr lang="en-US" sz="1100" dirty="0"/>
          </a:p>
        </p:txBody>
      </p:sp>
      <p:sp>
        <p:nvSpPr>
          <p:cNvPr id="18" name="Text 15"/>
          <p:cNvSpPr/>
          <p:nvPr/>
        </p:nvSpPr>
        <p:spPr>
          <a:xfrm>
            <a:off x="2483053"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What the framework has already settled</a:t>
            </a:r>
            <a:endParaRPr lang="en-US" sz="900" dirty="0"/>
          </a:p>
        </p:txBody>
      </p:sp>
      <p:sp>
        <p:nvSpPr>
          <p:cNvPr id="19" name="Shape 16"/>
          <p:cNvSpPr/>
          <p:nvPr/>
        </p:nvSpPr>
        <p:spPr>
          <a:xfrm>
            <a:off x="4252874" y="1234440"/>
            <a:ext cx="1788109" cy="1234440"/>
          </a:xfrm>
          <a:prstGeom prst="roundRect">
            <a:avLst>
              <a:gd name="adj" fmla="val 5926"/>
            </a:avLst>
          </a:prstGeom>
          <a:solidFill>
            <a:srgbClr val="F0F4F5"/>
          </a:solidFill>
          <a:ln w="9525">
            <a:solidFill>
              <a:srgbClr val="DDE3E8"/>
            </a:solidFill>
            <a:prstDash val="solid"/>
          </a:ln>
        </p:spPr>
      </p:sp>
      <p:sp>
        <p:nvSpPr>
          <p:cNvPr id="20" name="Shape 17"/>
          <p:cNvSpPr/>
          <p:nvPr/>
        </p:nvSpPr>
        <p:spPr>
          <a:xfrm>
            <a:off x="4252874" y="1234440"/>
            <a:ext cx="1788109" cy="54864"/>
          </a:xfrm>
          <a:prstGeom prst="rect">
            <a:avLst/>
          </a:prstGeom>
          <a:solidFill>
            <a:srgbClr val="005EB8"/>
          </a:solidFill>
          <a:ln w="12700">
            <a:solidFill>
              <a:srgbClr val="005EB8"/>
            </a:solidFill>
            <a:prstDash val="solid"/>
          </a:ln>
        </p:spPr>
      </p:sp>
      <p:sp>
        <p:nvSpPr>
          <p:cNvPr id="21" name="Shape 18"/>
          <p:cNvSpPr/>
          <p:nvPr/>
        </p:nvSpPr>
        <p:spPr>
          <a:xfrm>
            <a:off x="4380890" y="1417320"/>
            <a:ext cx="347472" cy="347472"/>
          </a:xfrm>
          <a:prstGeom prst="ellipse">
            <a:avLst/>
          </a:prstGeom>
          <a:solidFill>
            <a:srgbClr val="003087"/>
          </a:solidFill>
          <a:ln w="12700">
            <a:solidFill>
              <a:srgbClr val="003087"/>
            </a:solidFill>
            <a:prstDash val="solid"/>
          </a:ln>
        </p:spPr>
      </p:sp>
      <p:sp>
        <p:nvSpPr>
          <p:cNvPr id="22" name="Text 19"/>
          <p:cNvSpPr/>
          <p:nvPr/>
        </p:nvSpPr>
        <p:spPr>
          <a:xfrm>
            <a:off x="4380890"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3" name="Text 20"/>
          <p:cNvSpPr/>
          <p:nvPr/>
        </p:nvSpPr>
        <p:spPr>
          <a:xfrm>
            <a:off x="4801514"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Fit for this cohort</a:t>
            </a:r>
            <a:endParaRPr lang="en-US" sz="1100" dirty="0"/>
          </a:p>
        </p:txBody>
      </p:sp>
      <p:sp>
        <p:nvSpPr>
          <p:cNvPr id="24" name="Text 21"/>
          <p:cNvSpPr/>
          <p:nvPr/>
        </p:nvSpPr>
        <p:spPr>
          <a:xfrm>
            <a:off x="4380890"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The protocol has to exist first</a:t>
            </a:r>
            <a:endParaRPr lang="en-US" sz="900" dirty="0"/>
          </a:p>
        </p:txBody>
      </p:sp>
      <p:sp>
        <p:nvSpPr>
          <p:cNvPr id="25" name="Shape 22"/>
          <p:cNvSpPr/>
          <p:nvPr/>
        </p:nvSpPr>
        <p:spPr>
          <a:xfrm>
            <a:off x="6150712" y="1234440"/>
            <a:ext cx="1788109" cy="1234440"/>
          </a:xfrm>
          <a:prstGeom prst="roundRect">
            <a:avLst>
              <a:gd name="adj" fmla="val 5926"/>
            </a:avLst>
          </a:prstGeom>
          <a:solidFill>
            <a:srgbClr val="F0F4F5"/>
          </a:solidFill>
          <a:ln w="9525">
            <a:solidFill>
              <a:srgbClr val="DDE3E8"/>
            </a:solidFill>
            <a:prstDash val="solid"/>
          </a:ln>
        </p:spPr>
      </p:sp>
      <p:sp>
        <p:nvSpPr>
          <p:cNvPr id="26" name="Shape 23"/>
          <p:cNvSpPr/>
          <p:nvPr/>
        </p:nvSpPr>
        <p:spPr>
          <a:xfrm>
            <a:off x="6150712" y="1234440"/>
            <a:ext cx="1788109" cy="54864"/>
          </a:xfrm>
          <a:prstGeom prst="rect">
            <a:avLst/>
          </a:prstGeom>
          <a:solidFill>
            <a:srgbClr val="005EB8"/>
          </a:solidFill>
          <a:ln w="12700">
            <a:solidFill>
              <a:srgbClr val="005EB8"/>
            </a:solidFill>
            <a:prstDash val="solid"/>
          </a:ln>
        </p:spPr>
      </p:sp>
      <p:sp>
        <p:nvSpPr>
          <p:cNvPr id="27" name="Shape 24"/>
          <p:cNvSpPr/>
          <p:nvPr/>
        </p:nvSpPr>
        <p:spPr>
          <a:xfrm>
            <a:off x="6278728" y="1417320"/>
            <a:ext cx="347472" cy="347472"/>
          </a:xfrm>
          <a:prstGeom prst="ellipse">
            <a:avLst/>
          </a:prstGeom>
          <a:solidFill>
            <a:srgbClr val="003087"/>
          </a:solidFill>
          <a:ln w="12700">
            <a:solidFill>
              <a:srgbClr val="003087"/>
            </a:solidFill>
            <a:prstDash val="solid"/>
          </a:ln>
        </p:spPr>
      </p:sp>
      <p:sp>
        <p:nvSpPr>
          <p:cNvPr id="28" name="Text 25"/>
          <p:cNvSpPr/>
          <p:nvPr/>
        </p:nvSpPr>
        <p:spPr>
          <a:xfrm>
            <a:off x="6278728"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9" name="Text 26"/>
          <p:cNvSpPr/>
          <p:nvPr/>
        </p:nvSpPr>
        <p:spPr>
          <a:xfrm>
            <a:off x="6699352"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The buy</a:t>
            </a:r>
            <a:endParaRPr lang="en-US" sz="1100" dirty="0"/>
          </a:p>
        </p:txBody>
      </p:sp>
      <p:sp>
        <p:nvSpPr>
          <p:cNvPr id="30" name="Text 27"/>
          <p:cNvSpPr/>
          <p:nvPr/>
        </p:nvSpPr>
        <p:spPr>
          <a:xfrm>
            <a:off x="6278728"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A call-off once the owner is clear</a:t>
            </a:r>
            <a:endParaRPr lang="en-US" sz="900" dirty="0"/>
          </a:p>
        </p:txBody>
      </p:sp>
      <p:sp>
        <p:nvSpPr>
          <p:cNvPr id="31" name="Shape 28"/>
          <p:cNvSpPr/>
          <p:nvPr/>
        </p:nvSpPr>
        <p:spPr>
          <a:xfrm>
            <a:off x="8048549" y="1234440"/>
            <a:ext cx="1788109" cy="1234440"/>
          </a:xfrm>
          <a:prstGeom prst="roundRect">
            <a:avLst>
              <a:gd name="adj" fmla="val 5926"/>
            </a:avLst>
          </a:prstGeom>
          <a:solidFill>
            <a:srgbClr val="F0F4F5"/>
          </a:solidFill>
          <a:ln w="9525">
            <a:solidFill>
              <a:srgbClr val="DDE3E8"/>
            </a:solidFill>
            <a:prstDash val="solid"/>
          </a:ln>
        </p:spPr>
      </p:sp>
      <p:sp>
        <p:nvSpPr>
          <p:cNvPr id="32" name="Shape 29"/>
          <p:cNvSpPr/>
          <p:nvPr/>
        </p:nvSpPr>
        <p:spPr>
          <a:xfrm>
            <a:off x="8048549" y="1234440"/>
            <a:ext cx="1788109" cy="54864"/>
          </a:xfrm>
          <a:prstGeom prst="rect">
            <a:avLst/>
          </a:prstGeom>
          <a:solidFill>
            <a:srgbClr val="005EB8"/>
          </a:solidFill>
          <a:ln w="12700">
            <a:solidFill>
              <a:srgbClr val="005EB8"/>
            </a:solidFill>
            <a:prstDash val="solid"/>
          </a:ln>
        </p:spPr>
      </p:sp>
      <p:sp>
        <p:nvSpPr>
          <p:cNvPr id="33" name="Shape 30"/>
          <p:cNvSpPr/>
          <p:nvPr/>
        </p:nvSpPr>
        <p:spPr>
          <a:xfrm>
            <a:off x="8176565" y="1417320"/>
            <a:ext cx="347472" cy="347472"/>
          </a:xfrm>
          <a:prstGeom prst="ellipse">
            <a:avLst/>
          </a:prstGeom>
          <a:solidFill>
            <a:srgbClr val="003087"/>
          </a:solidFill>
          <a:ln w="12700">
            <a:solidFill>
              <a:srgbClr val="003087"/>
            </a:solidFill>
            <a:prstDash val="solid"/>
          </a:ln>
        </p:spPr>
      </p:sp>
      <p:sp>
        <p:nvSpPr>
          <p:cNvPr id="34" name="Text 31"/>
          <p:cNvSpPr/>
          <p:nvPr/>
        </p:nvSpPr>
        <p:spPr>
          <a:xfrm>
            <a:off x="8176565"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5" name="Text 32"/>
          <p:cNvSpPr/>
          <p:nvPr/>
        </p:nvSpPr>
        <p:spPr>
          <a:xfrm>
            <a:off x="8597189"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Live operation</a:t>
            </a:r>
            <a:endParaRPr lang="en-US" sz="1100" dirty="0"/>
          </a:p>
        </p:txBody>
      </p:sp>
      <p:sp>
        <p:nvSpPr>
          <p:cNvPr id="36" name="Text 33"/>
          <p:cNvSpPr/>
          <p:nvPr/>
        </p:nvSpPr>
        <p:spPr>
          <a:xfrm>
            <a:off x="8176565"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The gap closes</a:t>
            </a:r>
            <a:endParaRPr lang="en-US" sz="900" dirty="0"/>
          </a:p>
        </p:txBody>
      </p:sp>
      <p:sp>
        <p:nvSpPr>
          <p:cNvPr id="37" name="Shape 34"/>
          <p:cNvSpPr/>
          <p:nvPr/>
        </p:nvSpPr>
        <p:spPr>
          <a:xfrm>
            <a:off x="9946386" y="1234440"/>
            <a:ext cx="1788109" cy="1234440"/>
          </a:xfrm>
          <a:prstGeom prst="roundRect">
            <a:avLst>
              <a:gd name="adj" fmla="val 5926"/>
            </a:avLst>
          </a:prstGeom>
          <a:solidFill>
            <a:srgbClr val="F0F4F5"/>
          </a:solidFill>
          <a:ln w="9525">
            <a:solidFill>
              <a:srgbClr val="DDE3E8"/>
            </a:solidFill>
            <a:prstDash val="solid"/>
          </a:ln>
        </p:spPr>
      </p:sp>
      <p:sp>
        <p:nvSpPr>
          <p:cNvPr id="38" name="Shape 35"/>
          <p:cNvSpPr/>
          <p:nvPr/>
        </p:nvSpPr>
        <p:spPr>
          <a:xfrm>
            <a:off x="9946386" y="1234440"/>
            <a:ext cx="1788109" cy="54864"/>
          </a:xfrm>
          <a:prstGeom prst="rect">
            <a:avLst/>
          </a:prstGeom>
          <a:solidFill>
            <a:srgbClr val="005EB8"/>
          </a:solidFill>
          <a:ln w="12700">
            <a:solidFill>
              <a:srgbClr val="005EB8"/>
            </a:solidFill>
            <a:prstDash val="solid"/>
          </a:ln>
        </p:spPr>
      </p:sp>
      <p:sp>
        <p:nvSpPr>
          <p:cNvPr id="39" name="Shape 36"/>
          <p:cNvSpPr/>
          <p:nvPr/>
        </p:nvSpPr>
        <p:spPr>
          <a:xfrm>
            <a:off x="10074402" y="1417320"/>
            <a:ext cx="347472" cy="347472"/>
          </a:xfrm>
          <a:prstGeom prst="ellipse">
            <a:avLst/>
          </a:prstGeom>
          <a:solidFill>
            <a:srgbClr val="003087"/>
          </a:solidFill>
          <a:ln w="12700">
            <a:solidFill>
              <a:srgbClr val="003087"/>
            </a:solidFill>
            <a:prstDash val="solid"/>
          </a:ln>
        </p:spPr>
      </p:sp>
      <p:sp>
        <p:nvSpPr>
          <p:cNvPr id="40" name="Text 37"/>
          <p:cNvSpPr/>
          <p:nvPr/>
        </p:nvSpPr>
        <p:spPr>
          <a:xfrm>
            <a:off x="10074402"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41" name="Text 38"/>
          <p:cNvSpPr/>
          <p:nvPr/>
        </p:nvSpPr>
        <p:spPr>
          <a:xfrm>
            <a:off x="10495026"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The case for funding</a:t>
            </a:r>
            <a:endParaRPr lang="en-US" sz="1100" dirty="0"/>
          </a:p>
        </p:txBody>
      </p:sp>
      <p:sp>
        <p:nvSpPr>
          <p:cNvPr id="42" name="Text 39"/>
          <p:cNvSpPr/>
          <p:nvPr/>
        </p:nvSpPr>
        <p:spPr>
          <a:xfrm>
            <a:off x="10074402"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Early detection, shown</a:t>
            </a:r>
            <a:endParaRPr lang="en-US" sz="900" dirty="0"/>
          </a:p>
        </p:txBody>
      </p:sp>
      <p:sp>
        <p:nvSpPr>
          <p:cNvPr id="43" name="Shape 40"/>
          <p:cNvSpPr/>
          <p:nvPr/>
        </p:nvSpPr>
        <p:spPr>
          <a:xfrm>
            <a:off x="457200" y="2788920"/>
            <a:ext cx="5501488" cy="3520440"/>
          </a:xfrm>
          <a:prstGeom prst="roundRect">
            <a:avLst>
              <a:gd name="adj" fmla="val 2597"/>
            </a:avLst>
          </a:prstGeom>
          <a:solidFill>
            <a:srgbClr val="D5E8F0"/>
          </a:solidFill>
          <a:ln w="9525">
            <a:solidFill>
              <a:srgbClr val="B8D3E6"/>
            </a:solidFill>
            <a:prstDash val="solid"/>
          </a:ln>
        </p:spPr>
      </p:sp>
      <p:sp>
        <p:nvSpPr>
          <p:cNvPr id="44" name="Text 41"/>
          <p:cNvSpPr/>
          <p:nvPr/>
        </p:nvSpPr>
        <p:spPr>
          <a:xfrm>
            <a:off x="685800" y="2953512"/>
            <a:ext cx="5044288" cy="256032"/>
          </a:xfrm>
          <a:prstGeom prst="rect">
            <a:avLst/>
          </a:prstGeom>
          <a:noFill/>
          <a:ln/>
        </p:spPr>
        <p:txBody>
          <a:bodyPr wrap="square" lIns="0" tIns="0" rIns="0" bIns="0" rtlCol="0" anchor="ctr"/>
          <a:lstStyle/>
          <a:p>
            <a:pPr indent="0" marL="0">
              <a:buNone/>
            </a:pPr>
            <a:r>
              <a:rPr lang="en-US" sz="900" b="1" spc="150" kern="0" dirty="0">
                <a:solidFill>
                  <a:srgbClr val="005EB8"/>
                </a:solidFill>
                <a:latin typeface="Arial" pitchFamily="34" charset="0"/>
                <a:ea typeface="Arial" pitchFamily="34" charset="-122"/>
                <a:cs typeface="Arial" pitchFamily="34" charset="-120"/>
              </a:rPr>
              <a:t>WHAT RUTH IS TRYING TO DO</a:t>
            </a:r>
            <a:endParaRPr lang="en-US" sz="900" dirty="0"/>
          </a:p>
        </p:txBody>
      </p:sp>
      <p:sp>
        <p:nvSpPr>
          <p:cNvPr id="45" name="Text 42"/>
          <p:cNvSpPr/>
          <p:nvPr/>
        </p:nvSpPr>
        <p:spPr>
          <a:xfrm>
            <a:off x="685800" y="3227832"/>
            <a:ext cx="5044288" cy="685800"/>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Arial" pitchFamily="34" charset="0"/>
                <a:ea typeface="Arial" pitchFamily="34" charset="-122"/>
                <a:cs typeface="Arial" pitchFamily="34" charset="-120"/>
              </a:rPr>
              <a:t>Close a monitoring gap that nobody currently owns</a:t>
            </a:r>
            <a:endParaRPr lang="en-US" sz="1500" dirty="0"/>
          </a:p>
        </p:txBody>
      </p:sp>
      <p:sp>
        <p:nvSpPr>
          <p:cNvPr id="46" name="Text 43"/>
          <p:cNvSpPr/>
          <p:nvPr/>
        </p:nvSpPr>
        <p:spPr>
          <a:xfrm>
            <a:off x="685800" y="3959352"/>
            <a:ext cx="5044288" cy="2194560"/>
          </a:xfrm>
          <a:prstGeom prst="rect">
            <a:avLst/>
          </a:prstGeom>
          <a:noFill/>
          <a:ln/>
        </p:spPr>
        <p:txBody>
          <a:bodyPr wrap="square" lIns="0" tIns="0" rIns="0" bIns="0" rtlCol="0" anchor="t">
            <a:normAutofit/>
          </a:bodyPr>
          <a:lstStyle/>
          <a:p>
            <a:pPr indent="0" marL="0">
              <a:buNone/>
            </a:pPr>
            <a:r>
              <a:rPr lang="en-US" sz="1100" dirty="0">
                <a:solidFill>
                  <a:srgbClr val="231F20"/>
                </a:solidFill>
                <a:latin typeface="Arial" pitchFamily="34" charset="0"/>
                <a:ea typeface="Arial" pitchFamily="34" charset="-122"/>
                <a:cs typeface="Arial" pitchFamily="34" charset="-120"/>
              </a:rPr>
              <a:t>Men referred to Urology with a raised PSA and no cancer found go back to their GP with an instruction to keep an eye on it. Some are monitored well. Some drift. The cohort has no single budget holder, no agreed cadence and no one measuring whether the monitoring happens. </a:t>
            </a:r>
            <a:pPr indent="0" marL="0">
              <a:buNone/>
            </a:pPr>
            <a:r>
              <a:rPr lang="en-US" sz="1100" b="1" dirty="0">
                <a:solidFill>
                  <a:srgbClr val="231F20"/>
                </a:solidFill>
                <a:latin typeface="Arial" pitchFamily="34" charset="0"/>
                <a:ea typeface="Arial" pitchFamily="34" charset="-122"/>
                <a:cs typeface="Arial" pitchFamily="34" charset="-120"/>
              </a:rPr>
              <a:t>Ruth's job is to make that cohort someone's responsibility, with a supplier behind it that has already been assured.</a:t>
            </a:r>
            <a:endParaRPr lang="en-US" sz="1100" dirty="0"/>
          </a:p>
        </p:txBody>
      </p:sp>
      <p:sp>
        <p:nvSpPr>
          <p:cNvPr id="47" name="Shape 44"/>
          <p:cNvSpPr/>
          <p:nvPr/>
        </p:nvSpPr>
        <p:spPr>
          <a:xfrm>
            <a:off x="6233008" y="2788920"/>
            <a:ext cx="5501488" cy="3520440"/>
          </a:xfrm>
          <a:prstGeom prst="roundRect">
            <a:avLst>
              <a:gd name="adj" fmla="val 2597"/>
            </a:avLst>
          </a:prstGeom>
          <a:solidFill>
            <a:srgbClr val="FFF3CD"/>
          </a:solidFill>
          <a:ln w="9525">
            <a:solidFill>
              <a:srgbClr val="E6C96A"/>
            </a:solidFill>
            <a:prstDash val="solid"/>
          </a:ln>
        </p:spPr>
      </p:sp>
      <p:sp>
        <p:nvSpPr>
          <p:cNvPr id="48" name="Text 45"/>
          <p:cNvSpPr/>
          <p:nvPr/>
        </p:nvSpPr>
        <p:spPr>
          <a:xfrm>
            <a:off x="6461608" y="2953512"/>
            <a:ext cx="5044288" cy="256032"/>
          </a:xfrm>
          <a:prstGeom prst="rect">
            <a:avLst/>
          </a:prstGeom>
          <a:noFill/>
          <a:ln/>
        </p:spPr>
        <p:txBody>
          <a:bodyPr wrap="square" lIns="0" tIns="0" rIns="0" bIns="0" rtlCol="0" anchor="ctr"/>
          <a:lstStyle/>
          <a:p>
            <a:pPr indent="0" marL="0">
              <a:buNone/>
            </a:pPr>
            <a:r>
              <a:rPr lang="en-US" sz="900" b="1" spc="150" kern="0" dirty="0">
                <a:solidFill>
                  <a:srgbClr val="8A6D1F"/>
                </a:solidFill>
                <a:latin typeface="Arial" pitchFamily="34" charset="0"/>
                <a:ea typeface="Arial" pitchFamily="34" charset="-122"/>
                <a:cs typeface="Arial" pitchFamily="34" charset="-120"/>
              </a:rPr>
              <a:t>WHAT THE MODEL ALREADY GIVES HER</a:t>
            </a:r>
            <a:endParaRPr lang="en-US" sz="900" dirty="0"/>
          </a:p>
        </p:txBody>
      </p:sp>
      <p:sp>
        <p:nvSpPr>
          <p:cNvPr id="49" name="Text 46"/>
          <p:cNvSpPr/>
          <p:nvPr/>
        </p:nvSpPr>
        <p:spPr>
          <a:xfrm>
            <a:off x="6461608" y="3227832"/>
            <a:ext cx="5044288" cy="685800"/>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Arial" pitchFamily="34" charset="0"/>
                <a:ea typeface="Arial" pitchFamily="34" charset="-122"/>
                <a:cs typeface="Arial" pitchFamily="34" charset="-120"/>
              </a:rPr>
              <a:t>A configuration that exists, and five questions it cannot answer for her</a:t>
            </a:r>
            <a:endParaRPr lang="en-US" sz="1500" dirty="0"/>
          </a:p>
        </p:txBody>
      </p:sp>
      <p:sp>
        <p:nvSpPr>
          <p:cNvPr id="50" name="Text 47"/>
          <p:cNvSpPr/>
          <p:nvPr/>
        </p:nvSpPr>
        <p:spPr>
          <a:xfrm>
            <a:off x="6461608" y="3959352"/>
            <a:ext cx="5044288" cy="2194560"/>
          </a:xfrm>
          <a:prstGeom prst="rect">
            <a:avLst/>
          </a:prstGeom>
          <a:noFill/>
          <a:ln/>
        </p:spPr>
        <p:txBody>
          <a:bodyPr wrap="square" lIns="0" tIns="0" rIns="0" bIns="0" rtlCol="0" anchor="t">
            <a:normAutofit/>
          </a:bodyPr>
          <a:lstStyle/>
          <a:p>
            <a:pPr indent="0" marL="0">
              <a:buNone/>
            </a:pPr>
            <a:r>
              <a:rPr lang="en-US" sz="1100" dirty="0">
                <a:solidFill>
                  <a:srgbClr val="231F20"/>
                </a:solidFill>
                <a:latin typeface="Arial" pitchFamily="34" charset="0"/>
                <a:ea typeface="Arial" pitchFamily="34" charset="-122"/>
                <a:cs typeface="Arial" pitchFamily="34" charset="-120"/>
              </a:rPr>
              <a:t>PSA active surveillance is the board-selected acute use case, scored Priority 2 (35/45) under the Prioritisation Framework. The kit, the labs, the NHS App journey and the supplier assurance are the same ones Mark's cohort uses. </a:t>
            </a:r>
            <a:pPr indent="0" marL="0">
              <a:buNone/>
            </a:pPr>
            <a:r>
              <a:rPr lang="en-US" sz="1100" b="1" dirty="0">
                <a:solidFill>
                  <a:srgbClr val="231F20"/>
                </a:solidFill>
                <a:latin typeface="Arial" pitchFamily="34" charset="0"/>
                <a:ea typeface="Arial" pitchFamily="34" charset="-122"/>
                <a:cs typeface="Arial" pitchFamily="34" charset="-120"/>
              </a:rPr>
              <a:t>What the model deliberately holds open is who Ruth is:</a:t>
            </a:r>
            <a:pPr indent="0" marL="0">
              <a:buNone/>
            </a:pPr>
            <a:r>
              <a:rPr lang="en-US" sz="1100" dirty="0">
                <a:solidFill>
                  <a:srgbClr val="231F20"/>
                </a:solidFill>
                <a:latin typeface="Arial" pitchFamily="34" charset="0"/>
                <a:ea typeface="Arial" pitchFamily="34" charset="-122"/>
                <a:cs typeface="Arial" pitchFamily="34" charset="-120"/>
              </a:rPr>
              <a:t> her institution, her budget source, the clinical owner, the protocol cadence and the contract shape. Those come from the cohort discovery, not from the operating model.</a:t>
            </a:r>
            <a:endParaRPr lang="en-US" sz="1100" dirty="0"/>
          </a:p>
        </p:txBody>
      </p:sp>
      <p:sp>
        <p:nvSpPr>
          <p:cNvPr id="51" name="Text 48"/>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Ruth  ·  Hearts and Minds</a:t>
            </a:r>
            <a:endParaRPr lang="en-US" sz="850" dirty="0"/>
          </a:p>
        </p:txBody>
      </p:sp>
      <p:sp>
        <p:nvSpPr>
          <p:cNvPr id="52" name="Text 49"/>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53" name="Text 50"/>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RUTH'S JOURNEY  ·  STAGE 1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brief · a cohort between two budgets</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005EB8"/>
                </a:solidFill>
                <a:latin typeface="Arial" pitchFamily="34" charset="0"/>
                <a:ea typeface="Arial" pitchFamily="34" charset="-122"/>
                <a:cs typeface="Arial" pitchFamily="34" charset="-120"/>
              </a:rPr>
              <a:t>01</a:t>
            </a:r>
            <a:endParaRPr lang="en-US" sz="5200" dirty="0"/>
          </a:p>
        </p:txBody>
      </p:sp>
      <p:sp>
        <p:nvSpPr>
          <p:cNvPr id="8" name="Text 5"/>
          <p:cNvSpPr/>
          <p:nvPr/>
        </p:nvSpPr>
        <p:spPr>
          <a:xfrm>
            <a:off x="457200" y="1920240"/>
            <a:ext cx="4572000" cy="881634"/>
          </a:xfrm>
          <a:prstGeom prst="rect">
            <a:avLst/>
          </a:prstGeom>
          <a:noFill/>
          <a:ln/>
        </p:spPr>
        <p:txBody>
          <a:bodyPr wrap="square" lIns="0" tIns="0" rIns="0" bIns="0" rtlCol="0" anchor="t">
            <a:normAutofit/>
          </a:bodyPr>
          <a:lstStyle/>
          <a:p>
            <a:pPr indent="0" marL="0">
              <a:buNone/>
            </a:pPr>
            <a:r>
              <a:rPr lang="en-US" sz="1700" b="1" dirty="0">
                <a:solidFill>
                  <a:srgbClr val="003087"/>
                </a:solidFill>
                <a:latin typeface="Arial" pitchFamily="34" charset="0"/>
                <a:ea typeface="Arial" pitchFamily="34" charset="-122"/>
                <a:cs typeface="Arial" pitchFamily="34" charset="-120"/>
              </a:rPr>
              <a:t>Ruth is handed a cohort that everyone agrees should be monitored and nobody can say who pays for.</a:t>
            </a:r>
            <a:endParaRPr lang="en-US" sz="1700" dirty="0"/>
          </a:p>
        </p:txBody>
      </p:sp>
      <p:sp>
        <p:nvSpPr>
          <p:cNvPr id="9" name="Shape 6"/>
          <p:cNvSpPr/>
          <p:nvPr/>
        </p:nvSpPr>
        <p:spPr>
          <a:xfrm>
            <a:off x="457200" y="2911602"/>
            <a:ext cx="4572000" cy="1083945"/>
          </a:xfrm>
          <a:prstGeom prst="rect">
            <a:avLst/>
          </a:prstGeom>
          <a:solidFill>
            <a:srgbClr val="F0F4F5"/>
          </a:solidFill>
          <a:ln w="12700">
            <a:solidFill>
              <a:srgbClr val="F0F4F5"/>
            </a:solidFill>
            <a:prstDash val="solid"/>
          </a:ln>
        </p:spPr>
      </p:sp>
      <p:sp>
        <p:nvSpPr>
          <p:cNvPr id="10" name="Shape 7"/>
          <p:cNvSpPr/>
          <p:nvPr/>
        </p:nvSpPr>
        <p:spPr>
          <a:xfrm>
            <a:off x="457200" y="2911602"/>
            <a:ext cx="82296" cy="1083945"/>
          </a:xfrm>
          <a:prstGeom prst="rect">
            <a:avLst/>
          </a:prstGeom>
          <a:solidFill>
            <a:srgbClr val="005EB8"/>
          </a:solidFill>
          <a:ln w="12700">
            <a:solidFill>
              <a:srgbClr val="005EB8"/>
            </a:solidFill>
            <a:prstDash val="solid"/>
          </a:ln>
        </p:spPr>
      </p:sp>
      <p:sp>
        <p:nvSpPr>
          <p:cNvPr id="11" name="Text 8"/>
          <p:cNvSpPr/>
          <p:nvPr/>
        </p:nvSpPr>
        <p:spPr>
          <a:xfrm>
            <a:off x="685800" y="2966466"/>
            <a:ext cx="4206240" cy="718185"/>
          </a:xfrm>
          <a:prstGeom prst="rect">
            <a:avLst/>
          </a:prstGeom>
          <a:noFill/>
          <a:ln/>
        </p:spPr>
        <p:txBody>
          <a:bodyPr wrap="square" lIns="0" tIns="0" rIns="0" bIns="0" rtlCol="0" anchor="t">
            <a:normAutofit/>
          </a:bodyPr>
          <a:lstStyle/>
          <a:p>
            <a:pPr indent="0" marL="0">
              <a:buNone/>
            </a:pPr>
            <a:r>
              <a:rPr lang="en-US" sz="1250" i="1" dirty="0">
                <a:solidFill>
                  <a:srgbClr val="231F20"/>
                </a:solidFill>
                <a:latin typeface="Arial" pitchFamily="34" charset="0"/>
                <a:ea typeface="Arial" pitchFamily="34" charset="-122"/>
                <a:cs typeface="Arial" pitchFamily="34" charset="-120"/>
              </a:rPr>
              <a:t>“Everyone agrees these men should be monitored. Nobody can tell me whose budget the monitoring comes out of.”</a:t>
            </a:r>
            <a:endParaRPr lang="en-US" sz="1250" dirty="0"/>
          </a:p>
        </p:txBody>
      </p:sp>
      <p:sp>
        <p:nvSpPr>
          <p:cNvPr id="12" name="Text 9"/>
          <p:cNvSpPr/>
          <p:nvPr/>
        </p:nvSpPr>
        <p:spPr>
          <a:xfrm>
            <a:off x="685800" y="3684651"/>
            <a:ext cx="4206240" cy="256032"/>
          </a:xfrm>
          <a:prstGeom prst="rect">
            <a:avLst/>
          </a:prstGeom>
          <a:noFill/>
          <a:ln/>
        </p:spPr>
        <p:txBody>
          <a:bodyPr wrap="square" lIns="0" tIns="0" rIns="0" bIns="0" rtlCol="0" anchor="ctr"/>
          <a:lstStyle/>
          <a:p>
            <a:pPr indent="0" marL="0">
              <a:buNone/>
            </a:pPr>
            <a:r>
              <a:rPr lang="en-US" sz="950" b="1" dirty="0">
                <a:solidFill>
                  <a:srgbClr val="005EB8"/>
                </a:solidFill>
                <a:latin typeface="Arial" pitchFamily="34" charset="0"/>
                <a:ea typeface="Arial" pitchFamily="34" charset="-122"/>
                <a:cs typeface="Arial" pitchFamily="34" charset="-120"/>
              </a:rPr>
              <a:t>Ruth</a:t>
            </a:r>
            <a:endParaRPr lang="en-US" sz="950" dirty="0"/>
          </a:p>
        </p:txBody>
      </p:sp>
      <p:sp>
        <p:nvSpPr>
          <p:cNvPr id="13" name="Shape 10"/>
          <p:cNvSpPr/>
          <p:nvPr/>
        </p:nvSpPr>
        <p:spPr>
          <a:xfrm>
            <a:off x="5349240" y="1097280"/>
            <a:ext cx="6385255" cy="274320"/>
          </a:xfrm>
          <a:prstGeom prst="rect">
            <a:avLst/>
          </a:prstGeom>
          <a:solidFill>
            <a:srgbClr val="005EB8"/>
          </a:solidFill>
          <a:ln w="12700">
            <a:solidFill>
              <a:srgbClr val="005EB8"/>
            </a:solidFill>
            <a:prstDash val="solid"/>
          </a:ln>
        </p:spPr>
      </p:sp>
      <p:sp>
        <p:nvSpPr>
          <p:cNvPr id="14" name="Text 11"/>
          <p:cNvSpPr/>
          <p:nvPr/>
        </p:nvSpPr>
        <p:spPr>
          <a:xfrm>
            <a:off x="5458968" y="1097280"/>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5" name="Shape 12"/>
          <p:cNvSpPr/>
          <p:nvPr/>
        </p:nvSpPr>
        <p:spPr>
          <a:xfrm>
            <a:off x="5349240" y="1371600"/>
            <a:ext cx="6385255" cy="1394206"/>
          </a:xfrm>
          <a:prstGeom prst="rect">
            <a:avLst/>
          </a:prstGeom>
          <a:solidFill>
            <a:srgbClr val="D5E8F0"/>
          </a:solidFill>
          <a:ln w="12700">
            <a:solidFill>
              <a:srgbClr val="D5E8F0"/>
            </a:solidFill>
            <a:prstDash val="solid"/>
          </a:ln>
        </p:spPr>
      </p:sp>
      <p:sp>
        <p:nvSpPr>
          <p:cNvPr id="16" name="Text 13"/>
          <p:cNvSpPr/>
          <p:nvPr/>
        </p:nvSpPr>
        <p:spPr>
          <a:xfrm>
            <a:off x="5458968" y="1408176"/>
            <a:ext cx="6165799" cy="133934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Prioritisation Framework has already placed PSA active surveillance as the live clinician-initiated configuration, and the monitoring-gap cohort is scoped as a sub-cohort inside it rather than scored on its own. That matters for Ruth: </a:t>
            </a:r>
            <a:pPr indent="0" marL="0">
              <a:buNone/>
            </a:pPr>
            <a:r>
              <a:rPr lang="en-US" sz="1100" b="1" dirty="0">
                <a:solidFill>
                  <a:srgbClr val="231F20"/>
                </a:solidFill>
                <a:latin typeface="Arial" pitchFamily="34" charset="0"/>
                <a:ea typeface="Arial" pitchFamily="34" charset="-122"/>
                <a:cs typeface="Arial" pitchFamily="34" charset="-120"/>
              </a:rPr>
              <a:t>she is not making the case for a new test category.</a:t>
            </a:r>
            <a:pPr indent="0" marL="0">
              <a:buNone/>
            </a:pPr>
            <a:r>
              <a:rPr lang="en-US" sz="1100" dirty="0">
                <a:solidFill>
                  <a:srgbClr val="231F20"/>
                </a:solidFill>
                <a:latin typeface="Arial" pitchFamily="34" charset="0"/>
                <a:ea typeface="Arial" pitchFamily="34" charset="-122"/>
                <a:cs typeface="Arial" pitchFamily="34" charset="-120"/>
              </a:rPr>
              <a:t> She is making the case for a defined group of men to be attached to a configuration the platform already runs. The Status page carries the cohort as TBC, which is the model's way of saying the dependency is known and the answer is still being worked.</a:t>
            </a:r>
            <a:endParaRPr lang="en-US" sz="1100" dirty="0"/>
          </a:p>
        </p:txBody>
      </p:sp>
      <p:sp>
        <p:nvSpPr>
          <p:cNvPr id="17" name="Shape 14"/>
          <p:cNvSpPr/>
          <p:nvPr/>
        </p:nvSpPr>
        <p:spPr>
          <a:xfrm>
            <a:off x="5349240" y="2893822"/>
            <a:ext cx="6385255" cy="274320"/>
          </a:xfrm>
          <a:prstGeom prst="rect">
            <a:avLst/>
          </a:prstGeom>
          <a:solidFill>
            <a:srgbClr val="4C6272"/>
          </a:solidFill>
          <a:ln w="12700">
            <a:solidFill>
              <a:srgbClr val="4C6272"/>
            </a:solidFill>
            <a:prstDash val="solid"/>
          </a:ln>
        </p:spPr>
      </p:sp>
      <p:sp>
        <p:nvSpPr>
          <p:cNvPr id="18" name="Text 15"/>
          <p:cNvSpPr/>
          <p:nvPr/>
        </p:nvSpPr>
        <p:spPr>
          <a:xfrm>
            <a:off x="5458968" y="2893822"/>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19" name="Shape 16"/>
          <p:cNvSpPr/>
          <p:nvPr/>
        </p:nvSpPr>
        <p:spPr>
          <a:xfrm>
            <a:off x="5349240" y="3168142"/>
            <a:ext cx="6385255" cy="882904"/>
          </a:xfrm>
          <a:prstGeom prst="rect">
            <a:avLst/>
          </a:prstGeom>
          <a:solidFill>
            <a:srgbClr val="F0F4F5"/>
          </a:solidFill>
          <a:ln w="12700">
            <a:solidFill>
              <a:srgbClr val="F0F4F5"/>
            </a:solidFill>
            <a:prstDash val="solid"/>
          </a:ln>
        </p:spPr>
      </p:sp>
      <p:sp>
        <p:nvSpPr>
          <p:cNvPr id="20" name="Text 17"/>
          <p:cNvSpPr/>
          <p:nvPr/>
        </p:nvSpPr>
        <p:spPr>
          <a:xfrm>
            <a:off x="5458968" y="3204718"/>
            <a:ext cx="616579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raised-PSA, no-diagnosis patient is discharged back to primary care with advice. Whether he is recalled depends on the practice, the patient and luck. Secondary care does not see him again unless he re-presents. No one holds the list, so no one can say how many men are in it, how many were monitored on time and how many were lost.</a:t>
            </a:r>
            <a:endParaRPr lang="en-US" sz="1100" dirty="0"/>
          </a:p>
        </p:txBody>
      </p:sp>
      <p:sp>
        <p:nvSpPr>
          <p:cNvPr id="21" name="Shape 18"/>
          <p:cNvSpPr/>
          <p:nvPr/>
        </p:nvSpPr>
        <p:spPr>
          <a:xfrm>
            <a:off x="5349240" y="4179062"/>
            <a:ext cx="6385255" cy="274320"/>
          </a:xfrm>
          <a:prstGeom prst="rect">
            <a:avLst/>
          </a:prstGeom>
          <a:solidFill>
            <a:srgbClr val="006747"/>
          </a:solidFill>
          <a:ln w="12700">
            <a:solidFill>
              <a:srgbClr val="006747"/>
            </a:solidFill>
            <a:prstDash val="solid"/>
          </a:ln>
        </p:spPr>
      </p:sp>
      <p:sp>
        <p:nvSpPr>
          <p:cNvPr id="22" name="Text 19"/>
          <p:cNvSpPr/>
          <p:nvPr/>
        </p:nvSpPr>
        <p:spPr>
          <a:xfrm>
            <a:off x="5458968" y="4179062"/>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3" name="Shape 20"/>
          <p:cNvSpPr/>
          <p:nvPr/>
        </p:nvSpPr>
        <p:spPr>
          <a:xfrm>
            <a:off x="5349240" y="4453382"/>
            <a:ext cx="6385255" cy="712470"/>
          </a:xfrm>
          <a:prstGeom prst="rect">
            <a:avLst/>
          </a:prstGeom>
          <a:solidFill>
            <a:srgbClr val="E8F3EE"/>
          </a:solidFill>
          <a:ln w="12700">
            <a:solidFill>
              <a:srgbClr val="E8F3EE"/>
            </a:solidFill>
            <a:prstDash val="solid"/>
          </a:ln>
        </p:spPr>
      </p:sp>
      <p:sp>
        <p:nvSpPr>
          <p:cNvPr id="24" name="Text 21"/>
          <p:cNvSpPr/>
          <p:nvPr/>
        </p:nvSpPr>
        <p:spPr>
          <a:xfrm>
            <a:off x="5458968" y="4489958"/>
            <a:ext cx="616579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Urology sees the cohort as men it has already assessed and cannot keep on its books. Primary care sees them as follow-ups it was never resourced to run. Both are right, which is exactly why the budget question comes first.</a:t>
            </a:r>
            <a:endParaRPr lang="en-US" sz="1100" dirty="0"/>
          </a:p>
        </p:txBody>
      </p:sp>
      <p:sp>
        <p:nvSpPr>
          <p:cNvPr id="26"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Ruth  ·  Hearts and Minds</a:t>
            </a:r>
            <a:endParaRPr lang="en-US" sz="850" dirty="0"/>
          </a:p>
        </p:txBody>
      </p:sp>
      <p:sp>
        <p:nvSpPr>
          <p:cNvPr id="27"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8"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RUTH'S JOURNEY  ·  STAGE 2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One front door · what the framework has already settled</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005EB8"/>
                </a:solidFill>
                <a:latin typeface="Arial" pitchFamily="34" charset="0"/>
                <a:ea typeface="Arial" pitchFamily="34" charset="-122"/>
                <a:cs typeface="Arial" pitchFamily="34" charset="-120"/>
              </a:rPr>
              <a:t>02</a:t>
            </a:r>
            <a:endParaRPr lang="en-US" sz="5200" dirty="0"/>
          </a:p>
        </p:txBody>
      </p:sp>
      <p:sp>
        <p:nvSpPr>
          <p:cNvPr id="8" name="Text 5"/>
          <p:cNvSpPr/>
          <p:nvPr/>
        </p:nvSpPr>
        <p:spPr>
          <a:xfrm>
            <a:off x="457200" y="1920240"/>
            <a:ext cx="4572000" cy="618236"/>
          </a:xfrm>
          <a:prstGeom prst="rect">
            <a:avLst/>
          </a:prstGeom>
          <a:noFill/>
          <a:ln/>
        </p:spPr>
        <p:txBody>
          <a:bodyPr wrap="square" lIns="0" tIns="0" rIns="0" bIns="0" rtlCol="0" anchor="t">
            <a:normAutofit/>
          </a:bodyPr>
          <a:lstStyle/>
          <a:p>
            <a:pPr indent="0" marL="0">
              <a:buNone/>
            </a:pPr>
            <a:r>
              <a:rPr lang="en-US" sz="1700" b="1" dirty="0">
                <a:solidFill>
                  <a:srgbClr val="003087"/>
                </a:solidFill>
                <a:latin typeface="Arial" pitchFamily="34" charset="0"/>
                <a:ea typeface="Arial" pitchFamily="34" charset="-122"/>
                <a:cs typeface="Arial" pitchFamily="34" charset="-120"/>
              </a:rPr>
              <a:t>Ruth inherits the assurance. It was done nationally before her cohort existed.</a:t>
            </a:r>
            <a:endParaRPr lang="en-US" sz="1700" dirty="0"/>
          </a:p>
        </p:txBody>
      </p:sp>
      <p:sp>
        <p:nvSpPr>
          <p:cNvPr id="9" name="Shape 6"/>
          <p:cNvSpPr/>
          <p:nvPr/>
        </p:nvSpPr>
        <p:spPr>
          <a:xfrm>
            <a:off x="457200" y="2648204"/>
            <a:ext cx="4572000" cy="890270"/>
          </a:xfrm>
          <a:prstGeom prst="rect">
            <a:avLst/>
          </a:prstGeom>
          <a:solidFill>
            <a:srgbClr val="F0F4F5"/>
          </a:solidFill>
          <a:ln w="12700">
            <a:solidFill>
              <a:srgbClr val="F0F4F5"/>
            </a:solidFill>
            <a:prstDash val="solid"/>
          </a:ln>
        </p:spPr>
      </p:sp>
      <p:sp>
        <p:nvSpPr>
          <p:cNvPr id="10" name="Shape 7"/>
          <p:cNvSpPr/>
          <p:nvPr/>
        </p:nvSpPr>
        <p:spPr>
          <a:xfrm>
            <a:off x="457200" y="2648204"/>
            <a:ext cx="82296" cy="890270"/>
          </a:xfrm>
          <a:prstGeom prst="rect">
            <a:avLst/>
          </a:prstGeom>
          <a:solidFill>
            <a:srgbClr val="005EB8"/>
          </a:solidFill>
          <a:ln w="12700">
            <a:solidFill>
              <a:srgbClr val="005EB8"/>
            </a:solidFill>
            <a:prstDash val="solid"/>
          </a:ln>
        </p:spPr>
      </p:sp>
      <p:sp>
        <p:nvSpPr>
          <p:cNvPr id="11" name="Text 8"/>
          <p:cNvSpPr/>
          <p:nvPr/>
        </p:nvSpPr>
        <p:spPr>
          <a:xfrm>
            <a:off x="685800" y="2703068"/>
            <a:ext cx="4206240" cy="524510"/>
          </a:xfrm>
          <a:prstGeom prst="rect">
            <a:avLst/>
          </a:prstGeom>
          <a:noFill/>
          <a:ln/>
        </p:spPr>
        <p:txBody>
          <a:bodyPr wrap="square" lIns="0" tIns="0" rIns="0" bIns="0" rtlCol="0" anchor="t">
            <a:normAutofit/>
          </a:bodyPr>
          <a:lstStyle/>
          <a:p>
            <a:pPr indent="0" marL="0">
              <a:buNone/>
            </a:pPr>
            <a:r>
              <a:rPr lang="en-US" sz="1250" i="1" dirty="0">
                <a:solidFill>
                  <a:srgbClr val="231F20"/>
                </a:solidFill>
                <a:latin typeface="Arial" pitchFamily="34" charset="0"/>
                <a:ea typeface="Arial" pitchFamily="34" charset="-122"/>
                <a:cs typeface="Arial" pitchFamily="34" charset="-120"/>
              </a:rPr>
              <a:t>“I did not have to assure a single supplier. That work was done before my cohort existed.”</a:t>
            </a:r>
            <a:endParaRPr lang="en-US" sz="1250" dirty="0"/>
          </a:p>
        </p:txBody>
      </p:sp>
      <p:sp>
        <p:nvSpPr>
          <p:cNvPr id="12" name="Text 9"/>
          <p:cNvSpPr/>
          <p:nvPr/>
        </p:nvSpPr>
        <p:spPr>
          <a:xfrm>
            <a:off x="685800" y="3227578"/>
            <a:ext cx="4206240" cy="256032"/>
          </a:xfrm>
          <a:prstGeom prst="rect">
            <a:avLst/>
          </a:prstGeom>
          <a:noFill/>
          <a:ln/>
        </p:spPr>
        <p:txBody>
          <a:bodyPr wrap="square" lIns="0" tIns="0" rIns="0" bIns="0" rtlCol="0" anchor="ctr"/>
          <a:lstStyle/>
          <a:p>
            <a:pPr indent="0" marL="0">
              <a:buNone/>
            </a:pPr>
            <a:r>
              <a:rPr lang="en-US" sz="950" b="1" dirty="0">
                <a:solidFill>
                  <a:srgbClr val="005EB8"/>
                </a:solidFill>
                <a:latin typeface="Arial" pitchFamily="34" charset="0"/>
                <a:ea typeface="Arial" pitchFamily="34" charset="-122"/>
                <a:cs typeface="Arial" pitchFamily="34" charset="-120"/>
              </a:rPr>
              <a:t>Ruth</a:t>
            </a:r>
            <a:endParaRPr lang="en-US" sz="950" dirty="0"/>
          </a:p>
        </p:txBody>
      </p:sp>
      <p:sp>
        <p:nvSpPr>
          <p:cNvPr id="13" name="Shape 10"/>
          <p:cNvSpPr/>
          <p:nvPr/>
        </p:nvSpPr>
        <p:spPr>
          <a:xfrm>
            <a:off x="5349240" y="1097280"/>
            <a:ext cx="6385255" cy="274320"/>
          </a:xfrm>
          <a:prstGeom prst="rect">
            <a:avLst/>
          </a:prstGeom>
          <a:solidFill>
            <a:srgbClr val="005EB8"/>
          </a:solidFill>
          <a:ln w="12700">
            <a:solidFill>
              <a:srgbClr val="005EB8"/>
            </a:solidFill>
            <a:prstDash val="solid"/>
          </a:ln>
        </p:spPr>
      </p:sp>
      <p:sp>
        <p:nvSpPr>
          <p:cNvPr id="14" name="Text 11"/>
          <p:cNvSpPr/>
          <p:nvPr/>
        </p:nvSpPr>
        <p:spPr>
          <a:xfrm>
            <a:off x="5458968" y="1097280"/>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5" name="Shape 12"/>
          <p:cNvSpPr/>
          <p:nvPr/>
        </p:nvSpPr>
        <p:spPr>
          <a:xfrm>
            <a:off x="5349240" y="1371600"/>
            <a:ext cx="6385255" cy="1394206"/>
          </a:xfrm>
          <a:prstGeom prst="rect">
            <a:avLst/>
          </a:prstGeom>
          <a:solidFill>
            <a:srgbClr val="D5E8F0"/>
          </a:solidFill>
          <a:ln w="12700">
            <a:solidFill>
              <a:srgbClr val="D5E8F0"/>
            </a:solidFill>
            <a:prstDash val="solid"/>
          </a:ln>
        </p:spPr>
      </p:sp>
      <p:sp>
        <p:nvSpPr>
          <p:cNvPr id="16" name="Text 13"/>
          <p:cNvSpPr/>
          <p:nvPr/>
        </p:nvSpPr>
        <p:spPr>
          <a:xfrm>
            <a:off x="5458968" y="1408176"/>
            <a:ext cx="6165799" cy="133934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framework has done the national work in advance: Tier 1 company assurance through the Master SCAL, Tier 2 conformance for the PSA category, UKAS-accredited labs, MHRA-conformant kits, clinical safety cases under DCB0129 and DCB0160. Sarah leaned on exactly this for HIV; Catherine for the established active surveillance cohort. Ruth inherits it. </a:t>
            </a:r>
            <a:pPr indent="0" marL="0">
              <a:buNone/>
            </a:pPr>
            <a:r>
              <a:rPr lang="en-US" sz="1100" b="1" dirty="0">
                <a:solidFill>
                  <a:srgbClr val="231F20"/>
                </a:solidFill>
                <a:latin typeface="Arial" pitchFamily="34" charset="0"/>
                <a:ea typeface="Arial" pitchFamily="34" charset="-122"/>
                <a:cs typeface="Arial" pitchFamily="34" charset="-120"/>
              </a:rPr>
              <a:t>Whichever institution she turns out to sit in, the accredited register is the same</a:t>
            </a:r>
            <a:pPr indent="0" marL="0">
              <a:buNone/>
            </a:pPr>
            <a:r>
              <a:rPr lang="en-US" sz="1100" dirty="0">
                <a:solidFill>
                  <a:srgbClr val="231F20"/>
                </a:solidFill>
                <a:latin typeface="Arial" pitchFamily="34" charset="0"/>
                <a:ea typeface="Arial" pitchFamily="34" charset="-122"/>
                <a:cs typeface="Arial" pitchFamily="34" charset="-120"/>
              </a:rPr>
              <a:t> and the AQP floor of around three suppliers per test holds, in principle, so she is buying from a live market rather than a single incumbent.</a:t>
            </a:r>
            <a:endParaRPr lang="en-US" sz="1100" dirty="0"/>
          </a:p>
        </p:txBody>
      </p:sp>
      <p:sp>
        <p:nvSpPr>
          <p:cNvPr id="17" name="Shape 14"/>
          <p:cNvSpPr/>
          <p:nvPr/>
        </p:nvSpPr>
        <p:spPr>
          <a:xfrm>
            <a:off x="5349240" y="2893822"/>
            <a:ext cx="6385255" cy="274320"/>
          </a:xfrm>
          <a:prstGeom prst="rect">
            <a:avLst/>
          </a:prstGeom>
          <a:solidFill>
            <a:srgbClr val="4C6272"/>
          </a:solidFill>
          <a:ln w="12700">
            <a:solidFill>
              <a:srgbClr val="4C6272"/>
            </a:solidFill>
            <a:prstDash val="solid"/>
          </a:ln>
        </p:spPr>
      </p:sp>
      <p:sp>
        <p:nvSpPr>
          <p:cNvPr id="18" name="Text 15"/>
          <p:cNvSpPr/>
          <p:nvPr/>
        </p:nvSpPr>
        <p:spPr>
          <a:xfrm>
            <a:off x="5458968" y="2893822"/>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19" name="Shape 16"/>
          <p:cNvSpPr/>
          <p:nvPr/>
        </p:nvSpPr>
        <p:spPr>
          <a:xfrm>
            <a:off x="5349240" y="3168142"/>
            <a:ext cx="6385255" cy="712470"/>
          </a:xfrm>
          <a:prstGeom prst="rect">
            <a:avLst/>
          </a:prstGeom>
          <a:solidFill>
            <a:srgbClr val="F0F4F5"/>
          </a:solidFill>
          <a:ln w="12700">
            <a:solidFill>
              <a:srgbClr val="F0F4F5"/>
            </a:solidFill>
            <a:prstDash val="solid"/>
          </a:ln>
        </p:spPr>
      </p:sp>
      <p:sp>
        <p:nvSpPr>
          <p:cNvPr id="20" name="Text 17"/>
          <p:cNvSpPr/>
          <p:nvPr/>
        </p:nvSpPr>
        <p:spPr>
          <a:xfrm>
            <a:off x="5458968" y="3204718"/>
            <a:ext cx="616579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local procurement for a monitoring service, or more likely no procurement at all: a spreadsheet, a recall letter template and a nurse who knows the list. Assurance, if it happened, was repeated Trust by Trust with the same questions asked of the same suppliers.</a:t>
            </a:r>
            <a:endParaRPr lang="en-US" sz="1100" dirty="0"/>
          </a:p>
        </p:txBody>
      </p:sp>
      <p:sp>
        <p:nvSpPr>
          <p:cNvPr id="21" name="Shape 18"/>
          <p:cNvSpPr/>
          <p:nvPr/>
        </p:nvSpPr>
        <p:spPr>
          <a:xfrm>
            <a:off x="5349240" y="4008628"/>
            <a:ext cx="6385255" cy="274320"/>
          </a:xfrm>
          <a:prstGeom prst="rect">
            <a:avLst/>
          </a:prstGeom>
          <a:solidFill>
            <a:srgbClr val="006747"/>
          </a:solidFill>
          <a:ln w="12700">
            <a:solidFill>
              <a:srgbClr val="006747"/>
            </a:solidFill>
            <a:prstDash val="solid"/>
          </a:ln>
        </p:spPr>
      </p:sp>
      <p:sp>
        <p:nvSpPr>
          <p:cNvPr id="22" name="Text 19"/>
          <p:cNvSpPr/>
          <p:nvPr/>
        </p:nvSpPr>
        <p:spPr>
          <a:xfrm>
            <a:off x="5458968" y="4008628"/>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3" name="Shape 20"/>
          <p:cNvSpPr/>
          <p:nvPr/>
        </p:nvSpPr>
        <p:spPr>
          <a:xfrm>
            <a:off x="5349240" y="4282948"/>
            <a:ext cx="6385255" cy="712470"/>
          </a:xfrm>
          <a:prstGeom prst="rect">
            <a:avLst/>
          </a:prstGeom>
          <a:solidFill>
            <a:srgbClr val="E8F3EE"/>
          </a:solidFill>
          <a:ln w="12700">
            <a:solidFill>
              <a:srgbClr val="E8F3EE"/>
            </a:solidFill>
            <a:prstDash val="solid"/>
          </a:ln>
        </p:spPr>
      </p:sp>
      <p:sp>
        <p:nvSpPr>
          <p:cNvPr id="24" name="Text 21"/>
          <p:cNvSpPr/>
          <p:nvPr/>
        </p:nvSpPr>
        <p:spPr>
          <a:xfrm>
            <a:off x="5458968" y="4319524"/>
            <a:ext cx="616579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clinical team's question changes from 'is this kit safe and is this lab any good' to 'does this protocol fit our patients'. The first was answered nationally. The second is theirs.</a:t>
            </a:r>
            <a:endParaRPr lang="en-US" sz="1100" dirty="0"/>
          </a:p>
        </p:txBody>
      </p:sp>
      <p:sp>
        <p:nvSpPr>
          <p:cNvPr id="26"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Ruth  ·  Hearts and Minds</a:t>
            </a:r>
            <a:endParaRPr lang="en-US" sz="850" dirty="0"/>
          </a:p>
        </p:txBody>
      </p:sp>
      <p:sp>
        <p:nvSpPr>
          <p:cNvPr id="27"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8"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RUTH'S JOURNEY  ·  STAGE 3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Fit for this cohort · the protocol has to exist first</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005EB8"/>
                </a:solidFill>
                <a:latin typeface="Arial" pitchFamily="34" charset="0"/>
                <a:ea typeface="Arial" pitchFamily="34" charset="-122"/>
                <a:cs typeface="Arial" pitchFamily="34" charset="-120"/>
              </a:rPr>
              <a:t>03</a:t>
            </a:r>
            <a:endParaRPr lang="en-US" sz="5200" dirty="0"/>
          </a:p>
        </p:txBody>
      </p:sp>
      <p:sp>
        <p:nvSpPr>
          <p:cNvPr id="8" name="Text 5"/>
          <p:cNvSpPr/>
          <p:nvPr/>
        </p:nvSpPr>
        <p:spPr>
          <a:xfrm>
            <a:off x="457200" y="1920240"/>
            <a:ext cx="4572000" cy="881634"/>
          </a:xfrm>
          <a:prstGeom prst="rect">
            <a:avLst/>
          </a:prstGeom>
          <a:noFill/>
          <a:ln/>
        </p:spPr>
        <p:txBody>
          <a:bodyPr wrap="square" lIns="0" tIns="0" rIns="0" bIns="0" rtlCol="0" anchor="t">
            <a:normAutofit/>
          </a:bodyPr>
          <a:lstStyle/>
          <a:p>
            <a:pPr indent="0" marL="0">
              <a:buNone/>
            </a:pPr>
            <a:r>
              <a:rPr lang="en-US" sz="1700" b="1" dirty="0">
                <a:solidFill>
                  <a:srgbClr val="003087"/>
                </a:solidFill>
                <a:latin typeface="Arial" pitchFamily="34" charset="0"/>
                <a:ea typeface="Arial" pitchFamily="34" charset="-122"/>
                <a:cs typeface="Arial" pitchFamily="34" charset="-120"/>
              </a:rPr>
              <a:t>The model stops and waits. Ruth cannot commission against a cadence nobody has signed.</a:t>
            </a:r>
            <a:endParaRPr lang="en-US" sz="1700" dirty="0"/>
          </a:p>
        </p:txBody>
      </p:sp>
      <p:sp>
        <p:nvSpPr>
          <p:cNvPr id="9" name="Shape 6"/>
          <p:cNvSpPr/>
          <p:nvPr/>
        </p:nvSpPr>
        <p:spPr>
          <a:xfrm>
            <a:off x="457200" y="2911602"/>
            <a:ext cx="4572000" cy="890270"/>
          </a:xfrm>
          <a:prstGeom prst="rect">
            <a:avLst/>
          </a:prstGeom>
          <a:solidFill>
            <a:srgbClr val="F0F4F5"/>
          </a:solidFill>
          <a:ln w="12700">
            <a:solidFill>
              <a:srgbClr val="F0F4F5"/>
            </a:solidFill>
            <a:prstDash val="solid"/>
          </a:ln>
        </p:spPr>
      </p:sp>
      <p:sp>
        <p:nvSpPr>
          <p:cNvPr id="10" name="Shape 7"/>
          <p:cNvSpPr/>
          <p:nvPr/>
        </p:nvSpPr>
        <p:spPr>
          <a:xfrm>
            <a:off x="457200" y="2911602"/>
            <a:ext cx="82296" cy="890270"/>
          </a:xfrm>
          <a:prstGeom prst="rect">
            <a:avLst/>
          </a:prstGeom>
          <a:solidFill>
            <a:srgbClr val="005EB8"/>
          </a:solidFill>
          <a:ln w="12700">
            <a:solidFill>
              <a:srgbClr val="005EB8"/>
            </a:solidFill>
            <a:prstDash val="solid"/>
          </a:ln>
        </p:spPr>
      </p:sp>
      <p:sp>
        <p:nvSpPr>
          <p:cNvPr id="11" name="Text 8"/>
          <p:cNvSpPr/>
          <p:nvPr/>
        </p:nvSpPr>
        <p:spPr>
          <a:xfrm>
            <a:off x="685800" y="2966466"/>
            <a:ext cx="4206240" cy="524510"/>
          </a:xfrm>
          <a:prstGeom prst="rect">
            <a:avLst/>
          </a:prstGeom>
          <a:noFill/>
          <a:ln/>
        </p:spPr>
        <p:txBody>
          <a:bodyPr wrap="square" lIns="0" tIns="0" rIns="0" bIns="0" rtlCol="0" anchor="t">
            <a:normAutofit/>
          </a:bodyPr>
          <a:lstStyle/>
          <a:p>
            <a:pPr indent="0" marL="0">
              <a:buNone/>
            </a:pPr>
            <a:r>
              <a:rPr lang="en-US" sz="1250" i="1" dirty="0">
                <a:solidFill>
                  <a:srgbClr val="231F20"/>
                </a:solidFill>
                <a:latin typeface="Arial" pitchFamily="34" charset="0"/>
                <a:ea typeface="Arial" pitchFamily="34" charset="-122"/>
                <a:cs typeface="Arial" pitchFamily="34" charset="-120"/>
              </a:rPr>
              <a:t>“I will not buy a cadence. I will buy a protocol a urologist has signed.”</a:t>
            </a:r>
            <a:endParaRPr lang="en-US" sz="1250" dirty="0"/>
          </a:p>
        </p:txBody>
      </p:sp>
      <p:sp>
        <p:nvSpPr>
          <p:cNvPr id="12" name="Text 9"/>
          <p:cNvSpPr/>
          <p:nvPr/>
        </p:nvSpPr>
        <p:spPr>
          <a:xfrm>
            <a:off x="685800" y="3490976"/>
            <a:ext cx="4206240" cy="256032"/>
          </a:xfrm>
          <a:prstGeom prst="rect">
            <a:avLst/>
          </a:prstGeom>
          <a:noFill/>
          <a:ln/>
        </p:spPr>
        <p:txBody>
          <a:bodyPr wrap="square" lIns="0" tIns="0" rIns="0" bIns="0" rtlCol="0" anchor="ctr"/>
          <a:lstStyle/>
          <a:p>
            <a:pPr indent="0" marL="0">
              <a:buNone/>
            </a:pPr>
            <a:r>
              <a:rPr lang="en-US" sz="950" b="1" dirty="0">
                <a:solidFill>
                  <a:srgbClr val="005EB8"/>
                </a:solidFill>
                <a:latin typeface="Arial" pitchFamily="34" charset="0"/>
                <a:ea typeface="Arial" pitchFamily="34" charset="-122"/>
                <a:cs typeface="Arial" pitchFamily="34" charset="-120"/>
              </a:rPr>
              <a:t>Ruth</a:t>
            </a:r>
            <a:endParaRPr lang="en-US" sz="950" dirty="0"/>
          </a:p>
        </p:txBody>
      </p:sp>
      <p:sp>
        <p:nvSpPr>
          <p:cNvPr id="13" name="Shape 10"/>
          <p:cNvSpPr/>
          <p:nvPr/>
        </p:nvSpPr>
        <p:spPr>
          <a:xfrm>
            <a:off x="5349240" y="1097280"/>
            <a:ext cx="6385255" cy="274320"/>
          </a:xfrm>
          <a:prstGeom prst="rect">
            <a:avLst/>
          </a:prstGeom>
          <a:solidFill>
            <a:srgbClr val="005EB8"/>
          </a:solidFill>
          <a:ln w="12700">
            <a:solidFill>
              <a:srgbClr val="005EB8"/>
            </a:solidFill>
            <a:prstDash val="solid"/>
          </a:ln>
        </p:spPr>
      </p:sp>
      <p:sp>
        <p:nvSpPr>
          <p:cNvPr id="14" name="Text 11"/>
          <p:cNvSpPr/>
          <p:nvPr/>
        </p:nvSpPr>
        <p:spPr>
          <a:xfrm>
            <a:off x="5458968" y="1097280"/>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5" name="Shape 12"/>
          <p:cNvSpPr/>
          <p:nvPr/>
        </p:nvSpPr>
        <p:spPr>
          <a:xfrm>
            <a:off x="5349240" y="1371600"/>
            <a:ext cx="6385255" cy="1394206"/>
          </a:xfrm>
          <a:prstGeom prst="rect">
            <a:avLst/>
          </a:prstGeom>
          <a:solidFill>
            <a:srgbClr val="D5E8F0"/>
          </a:solidFill>
          <a:ln w="12700">
            <a:solidFill>
              <a:srgbClr val="D5E8F0"/>
            </a:solidFill>
            <a:prstDash val="solid"/>
          </a:ln>
        </p:spPr>
      </p:sp>
      <p:sp>
        <p:nvSpPr>
          <p:cNvPr id="16" name="Text 13"/>
          <p:cNvSpPr/>
          <p:nvPr/>
        </p:nvSpPr>
        <p:spPr>
          <a:xfrm>
            <a:off x="5458968" y="1408176"/>
            <a:ext cx="6165799" cy="133934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Here the model stops and waits, deliberately. The surveillance protocol for men with a raised PSA and no diagnosis is being developed by the team scoping the cohort. The candidate cadences are on the table: annual, biannual, risk-stratified or symptom-led. The platform can run any of them, because the initiation pattern is clinician-initiated with a scheduled recall, the same pattern Mark's cohort uses. </a:t>
            </a:r>
            <a:pPr indent="0" marL="0">
              <a:buNone/>
            </a:pPr>
            <a:r>
              <a:rPr lang="en-US" sz="1100" b="1" dirty="0">
                <a:solidFill>
                  <a:srgbClr val="231F20"/>
                </a:solidFill>
                <a:latin typeface="Arial" pitchFamily="34" charset="0"/>
                <a:ea typeface="Arial" pitchFamily="34" charset="-122"/>
                <a:cs typeface="Arial" pitchFamily="34" charset="-120"/>
              </a:rPr>
              <a:t>What the model refuses to do is pick the cadence for the clinicians.</a:t>
            </a:r>
            <a:pPr indent="0" marL="0">
              <a:buNone/>
            </a:pPr>
            <a:r>
              <a:rPr lang="en-US" sz="1100" dirty="0">
                <a:solidFill>
                  <a:srgbClr val="231F20"/>
                </a:solidFill>
                <a:latin typeface="Arial" pitchFamily="34" charset="0"/>
                <a:ea typeface="Arial" pitchFamily="34" charset="-122"/>
                <a:cs typeface="Arial" pitchFamily="34" charset="-120"/>
              </a:rPr>
              <a:t> Until the protocol is signed off, Ruth has nothing to commission against, and the model says so rather than papering over it.</a:t>
            </a:r>
            <a:endParaRPr lang="en-US" sz="1100" dirty="0"/>
          </a:p>
        </p:txBody>
      </p:sp>
      <p:sp>
        <p:nvSpPr>
          <p:cNvPr id="17" name="Shape 14"/>
          <p:cNvSpPr/>
          <p:nvPr/>
        </p:nvSpPr>
        <p:spPr>
          <a:xfrm>
            <a:off x="5349240" y="2893822"/>
            <a:ext cx="6385255" cy="274320"/>
          </a:xfrm>
          <a:prstGeom prst="rect">
            <a:avLst/>
          </a:prstGeom>
          <a:solidFill>
            <a:srgbClr val="4C6272"/>
          </a:solidFill>
          <a:ln w="12700">
            <a:solidFill>
              <a:srgbClr val="4C6272"/>
            </a:solidFill>
            <a:prstDash val="solid"/>
          </a:ln>
        </p:spPr>
      </p:sp>
      <p:sp>
        <p:nvSpPr>
          <p:cNvPr id="18" name="Text 15"/>
          <p:cNvSpPr/>
          <p:nvPr/>
        </p:nvSpPr>
        <p:spPr>
          <a:xfrm>
            <a:off x="5458968" y="2893822"/>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19" name="Shape 16"/>
          <p:cNvSpPr/>
          <p:nvPr/>
        </p:nvSpPr>
        <p:spPr>
          <a:xfrm>
            <a:off x="5349240" y="3168142"/>
            <a:ext cx="6385255" cy="712470"/>
          </a:xfrm>
          <a:prstGeom prst="rect">
            <a:avLst/>
          </a:prstGeom>
          <a:solidFill>
            <a:srgbClr val="F0F4F5"/>
          </a:solidFill>
          <a:ln w="12700">
            <a:solidFill>
              <a:srgbClr val="F0F4F5"/>
            </a:solidFill>
            <a:prstDash val="solid"/>
          </a:ln>
        </p:spPr>
      </p:sp>
      <p:sp>
        <p:nvSpPr>
          <p:cNvPr id="20" name="Text 17"/>
          <p:cNvSpPr/>
          <p:nvPr/>
        </p:nvSpPr>
        <p:spPr>
          <a:xfrm>
            <a:off x="5458968" y="3204718"/>
            <a:ext cx="616579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Cadence was whatever the discharge letter said, interpreted by whichever GP read it. No protocol meant no way to audit compliance, and no way to tell a commissioner what good looked like.</a:t>
            </a:r>
            <a:endParaRPr lang="en-US" sz="1100" dirty="0"/>
          </a:p>
        </p:txBody>
      </p:sp>
      <p:sp>
        <p:nvSpPr>
          <p:cNvPr id="21" name="Shape 18"/>
          <p:cNvSpPr/>
          <p:nvPr/>
        </p:nvSpPr>
        <p:spPr>
          <a:xfrm>
            <a:off x="5349240" y="4008628"/>
            <a:ext cx="6385255" cy="274320"/>
          </a:xfrm>
          <a:prstGeom prst="rect">
            <a:avLst/>
          </a:prstGeom>
          <a:solidFill>
            <a:srgbClr val="006747"/>
          </a:solidFill>
          <a:ln w="12700">
            <a:solidFill>
              <a:srgbClr val="006747"/>
            </a:solidFill>
            <a:prstDash val="solid"/>
          </a:ln>
        </p:spPr>
      </p:sp>
      <p:sp>
        <p:nvSpPr>
          <p:cNvPr id="22" name="Text 19"/>
          <p:cNvSpPr/>
          <p:nvPr/>
        </p:nvSpPr>
        <p:spPr>
          <a:xfrm>
            <a:off x="5458968" y="4008628"/>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3" name="Shape 20"/>
          <p:cNvSpPr/>
          <p:nvPr/>
        </p:nvSpPr>
        <p:spPr>
          <a:xfrm>
            <a:off x="5349240" y="4282948"/>
            <a:ext cx="6385255" cy="882904"/>
          </a:xfrm>
          <a:prstGeom prst="rect">
            <a:avLst/>
          </a:prstGeom>
          <a:solidFill>
            <a:srgbClr val="E8F3EE"/>
          </a:solidFill>
          <a:ln w="12700">
            <a:solidFill>
              <a:srgbClr val="E8F3EE"/>
            </a:solidFill>
            <a:prstDash val="solid"/>
          </a:ln>
        </p:spPr>
      </p:sp>
      <p:sp>
        <p:nvSpPr>
          <p:cNvPr id="24" name="Text 21"/>
          <p:cNvSpPr/>
          <p:nvPr/>
        </p:nvSpPr>
        <p:spPr>
          <a:xfrm>
            <a:off x="5458968" y="4319524"/>
            <a:ext cx="616579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Whoever ends up clinically owning the cohort, Urology, primary care, a shared monitoring service or a new owner, gets the protocol as a configuration on the platform: eligibility rule, recall schedule, result thresholds and the escalation route back into the clinic. The care team defines it once and the platform enforces it every time.</a:t>
            </a:r>
            <a:endParaRPr lang="en-US" sz="1100" dirty="0"/>
          </a:p>
        </p:txBody>
      </p:sp>
      <p:sp>
        <p:nvSpPr>
          <p:cNvPr id="26"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Ruth  ·  Hearts and Minds</a:t>
            </a:r>
            <a:endParaRPr lang="en-US" sz="850" dirty="0"/>
          </a:p>
        </p:txBody>
      </p:sp>
      <p:sp>
        <p:nvSpPr>
          <p:cNvPr id="27"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8"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RUTH'S JOURNEY  ·  STAGE 4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buy · a call-off once the owner is clear</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005EB8"/>
                </a:solidFill>
                <a:latin typeface="Arial" pitchFamily="34" charset="0"/>
                <a:ea typeface="Arial" pitchFamily="34" charset="-122"/>
                <a:cs typeface="Arial" pitchFamily="34" charset="-120"/>
              </a:rPr>
              <a:t>04</a:t>
            </a:r>
            <a:endParaRPr lang="en-US" sz="5200" dirty="0"/>
          </a:p>
        </p:txBody>
      </p:sp>
      <p:sp>
        <p:nvSpPr>
          <p:cNvPr id="8" name="Text 5"/>
          <p:cNvSpPr/>
          <p:nvPr/>
        </p:nvSpPr>
        <p:spPr>
          <a:xfrm>
            <a:off x="457200" y="1920240"/>
            <a:ext cx="4572000" cy="881634"/>
          </a:xfrm>
          <a:prstGeom prst="rect">
            <a:avLst/>
          </a:prstGeom>
          <a:noFill/>
          <a:ln/>
        </p:spPr>
        <p:txBody>
          <a:bodyPr wrap="square" lIns="0" tIns="0" rIns="0" bIns="0" rtlCol="0" anchor="t">
            <a:normAutofit/>
          </a:bodyPr>
          <a:lstStyle/>
          <a:p>
            <a:pPr indent="0" marL="0">
              <a:buNone/>
            </a:pPr>
            <a:r>
              <a:rPr lang="en-US" sz="1700" b="1" dirty="0">
                <a:solidFill>
                  <a:srgbClr val="003087"/>
                </a:solidFill>
                <a:latin typeface="Arial" pitchFamily="34" charset="0"/>
                <a:ea typeface="Arial" pitchFamily="34" charset="-122"/>
                <a:cs typeface="Arial" pitchFamily="34" charset="-120"/>
              </a:rPr>
              <a:t>The contract shape follows the budget owner. The terms were settled before she started.</a:t>
            </a:r>
            <a:endParaRPr lang="en-US" sz="1700" dirty="0"/>
          </a:p>
        </p:txBody>
      </p:sp>
      <p:sp>
        <p:nvSpPr>
          <p:cNvPr id="9" name="Shape 6"/>
          <p:cNvSpPr/>
          <p:nvPr/>
        </p:nvSpPr>
        <p:spPr>
          <a:xfrm>
            <a:off x="457200" y="2911602"/>
            <a:ext cx="4572000" cy="890270"/>
          </a:xfrm>
          <a:prstGeom prst="rect">
            <a:avLst/>
          </a:prstGeom>
          <a:solidFill>
            <a:srgbClr val="F0F4F5"/>
          </a:solidFill>
          <a:ln w="12700">
            <a:solidFill>
              <a:srgbClr val="F0F4F5"/>
            </a:solidFill>
            <a:prstDash val="solid"/>
          </a:ln>
        </p:spPr>
      </p:sp>
      <p:sp>
        <p:nvSpPr>
          <p:cNvPr id="10" name="Shape 7"/>
          <p:cNvSpPr/>
          <p:nvPr/>
        </p:nvSpPr>
        <p:spPr>
          <a:xfrm>
            <a:off x="457200" y="2911602"/>
            <a:ext cx="82296" cy="890270"/>
          </a:xfrm>
          <a:prstGeom prst="rect">
            <a:avLst/>
          </a:prstGeom>
          <a:solidFill>
            <a:srgbClr val="005EB8"/>
          </a:solidFill>
          <a:ln w="12700">
            <a:solidFill>
              <a:srgbClr val="005EB8"/>
            </a:solidFill>
            <a:prstDash val="solid"/>
          </a:ln>
        </p:spPr>
      </p:sp>
      <p:sp>
        <p:nvSpPr>
          <p:cNvPr id="11" name="Text 8"/>
          <p:cNvSpPr/>
          <p:nvPr/>
        </p:nvSpPr>
        <p:spPr>
          <a:xfrm>
            <a:off x="685800" y="2966466"/>
            <a:ext cx="4206240" cy="524510"/>
          </a:xfrm>
          <a:prstGeom prst="rect">
            <a:avLst/>
          </a:prstGeom>
          <a:noFill/>
          <a:ln/>
        </p:spPr>
        <p:txBody>
          <a:bodyPr wrap="square" lIns="0" tIns="0" rIns="0" bIns="0" rtlCol="0" anchor="t">
            <a:normAutofit/>
          </a:bodyPr>
          <a:lstStyle/>
          <a:p>
            <a:pPr indent="0" marL="0">
              <a:buNone/>
            </a:pPr>
            <a:r>
              <a:rPr lang="en-US" sz="1250" i="1" dirty="0">
                <a:solidFill>
                  <a:srgbClr val="231F20"/>
                </a:solidFill>
                <a:latin typeface="Arial" pitchFamily="34" charset="0"/>
                <a:ea typeface="Arial" pitchFamily="34" charset="-122"/>
                <a:cs typeface="Arial" pitchFamily="34" charset="-120"/>
              </a:rPr>
              <a:t>“Once someone said 'this budget is ours', the buying took weeks, not a year.”</a:t>
            </a:r>
            <a:endParaRPr lang="en-US" sz="1250" dirty="0"/>
          </a:p>
        </p:txBody>
      </p:sp>
      <p:sp>
        <p:nvSpPr>
          <p:cNvPr id="12" name="Text 9"/>
          <p:cNvSpPr/>
          <p:nvPr/>
        </p:nvSpPr>
        <p:spPr>
          <a:xfrm>
            <a:off x="685800" y="3490976"/>
            <a:ext cx="4206240" cy="256032"/>
          </a:xfrm>
          <a:prstGeom prst="rect">
            <a:avLst/>
          </a:prstGeom>
          <a:noFill/>
          <a:ln/>
        </p:spPr>
        <p:txBody>
          <a:bodyPr wrap="square" lIns="0" tIns="0" rIns="0" bIns="0" rtlCol="0" anchor="ctr"/>
          <a:lstStyle/>
          <a:p>
            <a:pPr indent="0" marL="0">
              <a:buNone/>
            </a:pPr>
            <a:r>
              <a:rPr lang="en-US" sz="950" b="1" dirty="0">
                <a:solidFill>
                  <a:srgbClr val="005EB8"/>
                </a:solidFill>
                <a:latin typeface="Arial" pitchFamily="34" charset="0"/>
                <a:ea typeface="Arial" pitchFamily="34" charset="-122"/>
                <a:cs typeface="Arial" pitchFamily="34" charset="-120"/>
              </a:rPr>
              <a:t>Ruth</a:t>
            </a:r>
            <a:endParaRPr lang="en-US" sz="950" dirty="0"/>
          </a:p>
        </p:txBody>
      </p:sp>
      <p:sp>
        <p:nvSpPr>
          <p:cNvPr id="13" name="Shape 10"/>
          <p:cNvSpPr/>
          <p:nvPr/>
        </p:nvSpPr>
        <p:spPr>
          <a:xfrm>
            <a:off x="5349240" y="1097280"/>
            <a:ext cx="6385255" cy="274320"/>
          </a:xfrm>
          <a:prstGeom prst="rect">
            <a:avLst/>
          </a:prstGeom>
          <a:solidFill>
            <a:srgbClr val="005EB8"/>
          </a:solidFill>
          <a:ln w="12700">
            <a:solidFill>
              <a:srgbClr val="005EB8"/>
            </a:solidFill>
            <a:prstDash val="solid"/>
          </a:ln>
        </p:spPr>
      </p:sp>
      <p:sp>
        <p:nvSpPr>
          <p:cNvPr id="14" name="Text 11"/>
          <p:cNvSpPr/>
          <p:nvPr/>
        </p:nvSpPr>
        <p:spPr>
          <a:xfrm>
            <a:off x="5458968" y="1097280"/>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5" name="Shape 12"/>
          <p:cNvSpPr/>
          <p:nvPr/>
        </p:nvSpPr>
        <p:spPr>
          <a:xfrm>
            <a:off x="5349240" y="1371600"/>
            <a:ext cx="6385255" cy="1905508"/>
          </a:xfrm>
          <a:prstGeom prst="rect">
            <a:avLst/>
          </a:prstGeom>
          <a:solidFill>
            <a:srgbClr val="D5E8F0"/>
          </a:solidFill>
          <a:ln w="12700">
            <a:solidFill>
              <a:srgbClr val="D5E8F0"/>
            </a:solidFill>
            <a:prstDash val="solid"/>
          </a:ln>
        </p:spPr>
      </p:sp>
      <p:sp>
        <p:nvSpPr>
          <p:cNvPr id="16" name="Text 13"/>
          <p:cNvSpPr/>
          <p:nvPr/>
        </p:nvSpPr>
        <p:spPr>
          <a:xfrm>
            <a:off x="5458968" y="1408176"/>
            <a:ext cx="6165799" cy="185064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framework was built so that the contract shape follows the budget owner rather than the other way round. If the cohort lands in an ICB pathway budget, Ruth's route is a call-off from the accredited register, the way Sarah and Catherine buy. If it lands in an acute tariff envelope, the call-off is made by the Trust with Ruth's ICB as the commissioning counterparty. If it needs a joint arrangement or earmarked national funding, the framework's terms still apply and only the paying party changes. </a:t>
            </a:r>
            <a:pPr indent="0" marL="0">
              <a:buNone/>
            </a:pPr>
            <a:r>
              <a:rPr lang="en-US" sz="1100" b="1" dirty="0">
                <a:solidFill>
                  <a:srgbClr val="231F20"/>
                </a:solidFill>
                <a:latin typeface="Arial" pitchFamily="34" charset="0"/>
                <a:ea typeface="Arial" pitchFamily="34" charset="-122"/>
                <a:cs typeface="Arial" pitchFamily="34" charset="-120"/>
              </a:rPr>
              <a:t>In every version the price is a cost per activity for each completed test, against a national ceiling that local competition can beat,</a:t>
            </a:r>
            <a:pPr indent="0" marL="0">
              <a:buNone/>
            </a:pPr>
            <a:r>
              <a:rPr lang="en-US" sz="1100" dirty="0">
                <a:solidFill>
                  <a:srgbClr val="231F20"/>
                </a:solidFill>
                <a:latin typeface="Arial" pitchFamily="34" charset="0"/>
                <a:ea typeface="Arial" pitchFamily="34" charset="-122"/>
                <a:cs typeface="Arial" pitchFamily="34" charset="-120"/>
              </a:rPr>
              <a:t> with a levy on throughput that funds the platform and returns a share to NHS England. All of that is in principle until the cohort discovery names the owner.</a:t>
            </a:r>
            <a:endParaRPr lang="en-US" sz="1100" dirty="0"/>
          </a:p>
        </p:txBody>
      </p:sp>
      <p:sp>
        <p:nvSpPr>
          <p:cNvPr id="17" name="Shape 14"/>
          <p:cNvSpPr/>
          <p:nvPr/>
        </p:nvSpPr>
        <p:spPr>
          <a:xfrm>
            <a:off x="5349240" y="3405124"/>
            <a:ext cx="6385255" cy="274320"/>
          </a:xfrm>
          <a:prstGeom prst="rect">
            <a:avLst/>
          </a:prstGeom>
          <a:solidFill>
            <a:srgbClr val="4C6272"/>
          </a:solidFill>
          <a:ln w="12700">
            <a:solidFill>
              <a:srgbClr val="4C6272"/>
            </a:solidFill>
            <a:prstDash val="solid"/>
          </a:ln>
        </p:spPr>
      </p:sp>
      <p:sp>
        <p:nvSpPr>
          <p:cNvPr id="18" name="Text 15"/>
          <p:cNvSpPr/>
          <p:nvPr/>
        </p:nvSpPr>
        <p:spPr>
          <a:xfrm>
            <a:off x="5458968" y="3405124"/>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19" name="Shape 16"/>
          <p:cNvSpPr/>
          <p:nvPr/>
        </p:nvSpPr>
        <p:spPr>
          <a:xfrm>
            <a:off x="5349240" y="3679444"/>
            <a:ext cx="6385255" cy="712470"/>
          </a:xfrm>
          <a:prstGeom prst="rect">
            <a:avLst/>
          </a:prstGeom>
          <a:solidFill>
            <a:srgbClr val="F0F4F5"/>
          </a:solidFill>
          <a:ln w="12700">
            <a:solidFill>
              <a:srgbClr val="F0F4F5"/>
            </a:solidFill>
            <a:prstDash val="solid"/>
          </a:ln>
        </p:spPr>
      </p:sp>
      <p:sp>
        <p:nvSpPr>
          <p:cNvPr id="20" name="Text 17"/>
          <p:cNvSpPr/>
          <p:nvPr/>
        </p:nvSpPr>
        <p:spPr>
          <a:xfrm>
            <a:off x="5458968" y="3716020"/>
            <a:ext cx="616579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bespoke local contract, or a grant, or a service that ran on goodwill and then stopped when the goodwill did. Terms negotiated from scratch, with no national ceiling and no recourse the commissioner could actually use.</a:t>
            </a:r>
            <a:endParaRPr lang="en-US" sz="1100" dirty="0"/>
          </a:p>
        </p:txBody>
      </p:sp>
      <p:sp>
        <p:nvSpPr>
          <p:cNvPr id="21" name="Shape 18"/>
          <p:cNvSpPr/>
          <p:nvPr/>
        </p:nvSpPr>
        <p:spPr>
          <a:xfrm>
            <a:off x="5349240" y="4519930"/>
            <a:ext cx="6385255" cy="274320"/>
          </a:xfrm>
          <a:prstGeom prst="rect">
            <a:avLst/>
          </a:prstGeom>
          <a:solidFill>
            <a:srgbClr val="006747"/>
          </a:solidFill>
          <a:ln w="12700">
            <a:solidFill>
              <a:srgbClr val="006747"/>
            </a:solidFill>
            <a:prstDash val="solid"/>
          </a:ln>
        </p:spPr>
      </p:sp>
      <p:sp>
        <p:nvSpPr>
          <p:cNvPr id="22" name="Text 19"/>
          <p:cNvSpPr/>
          <p:nvPr/>
        </p:nvSpPr>
        <p:spPr>
          <a:xfrm>
            <a:off x="5458968" y="4519930"/>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3" name="Shape 20"/>
          <p:cNvSpPr/>
          <p:nvPr/>
        </p:nvSpPr>
        <p:spPr>
          <a:xfrm>
            <a:off x="5349240" y="4794250"/>
            <a:ext cx="6385255" cy="712470"/>
          </a:xfrm>
          <a:prstGeom prst="rect">
            <a:avLst/>
          </a:prstGeom>
          <a:solidFill>
            <a:srgbClr val="E8F3EE"/>
          </a:solidFill>
          <a:ln w="12700">
            <a:solidFill>
              <a:srgbClr val="E8F3EE"/>
            </a:solidFill>
            <a:prstDash val="solid"/>
          </a:ln>
        </p:spPr>
      </p:sp>
      <p:sp>
        <p:nvSpPr>
          <p:cNvPr id="24" name="Text 21"/>
          <p:cNvSpPr/>
          <p:nvPr/>
        </p:nvSpPr>
        <p:spPr>
          <a:xfrm>
            <a:off x="5458968" y="4830826"/>
            <a:ext cx="616579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Nothing changes clinically at the point of contract. The care team's protocol is already on the platform; the buy simply switches it on for their patients and tells the supplier who is paying.</a:t>
            </a:r>
            <a:endParaRPr lang="en-US" sz="1100" dirty="0"/>
          </a:p>
        </p:txBody>
      </p:sp>
      <p:sp>
        <p:nvSpPr>
          <p:cNvPr id="26"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Ruth  ·  Hearts and Minds</a:t>
            </a:r>
            <a:endParaRPr lang="en-US" sz="850" dirty="0"/>
          </a:p>
        </p:txBody>
      </p:sp>
      <p:sp>
        <p:nvSpPr>
          <p:cNvPr id="27"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8"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RUTH'S JOURNEY  ·  STAGE 5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Live operation · the gap closes</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005EB8"/>
                </a:solidFill>
                <a:latin typeface="Arial" pitchFamily="34" charset="0"/>
                <a:ea typeface="Arial" pitchFamily="34" charset="-122"/>
                <a:cs typeface="Arial" pitchFamily="34" charset="-120"/>
              </a:rPr>
              <a:t>05</a:t>
            </a:r>
            <a:endParaRPr lang="en-US" sz="5200" dirty="0"/>
          </a:p>
        </p:txBody>
      </p:sp>
      <p:sp>
        <p:nvSpPr>
          <p:cNvPr id="8" name="Text 5"/>
          <p:cNvSpPr/>
          <p:nvPr/>
        </p:nvSpPr>
        <p:spPr>
          <a:xfrm>
            <a:off x="457200" y="1920240"/>
            <a:ext cx="4572000" cy="881634"/>
          </a:xfrm>
          <a:prstGeom prst="rect">
            <a:avLst/>
          </a:prstGeom>
          <a:noFill/>
          <a:ln/>
        </p:spPr>
        <p:txBody>
          <a:bodyPr wrap="square" lIns="0" tIns="0" rIns="0" bIns="0" rtlCol="0" anchor="t">
            <a:normAutofit/>
          </a:bodyPr>
          <a:lstStyle/>
          <a:p>
            <a:pPr indent="0" marL="0">
              <a:buNone/>
            </a:pPr>
            <a:r>
              <a:rPr lang="en-US" sz="1700" b="1" dirty="0">
                <a:solidFill>
                  <a:srgbClr val="003087"/>
                </a:solidFill>
                <a:latin typeface="Arial" pitchFamily="34" charset="0"/>
                <a:ea typeface="Arial" pitchFamily="34" charset="-122"/>
                <a:cs typeface="Arial" pitchFamily="34" charset="-120"/>
              </a:rPr>
              <a:t>For the first time the list is a list. Every man, when he is due, whether the result came back.</a:t>
            </a:r>
            <a:endParaRPr lang="en-US" sz="1700" dirty="0"/>
          </a:p>
        </p:txBody>
      </p:sp>
      <p:sp>
        <p:nvSpPr>
          <p:cNvPr id="9" name="Shape 6"/>
          <p:cNvSpPr/>
          <p:nvPr/>
        </p:nvSpPr>
        <p:spPr>
          <a:xfrm>
            <a:off x="457200" y="2911602"/>
            <a:ext cx="4572000" cy="1083945"/>
          </a:xfrm>
          <a:prstGeom prst="rect">
            <a:avLst/>
          </a:prstGeom>
          <a:solidFill>
            <a:srgbClr val="F0F4F5"/>
          </a:solidFill>
          <a:ln w="12700">
            <a:solidFill>
              <a:srgbClr val="F0F4F5"/>
            </a:solidFill>
            <a:prstDash val="solid"/>
          </a:ln>
        </p:spPr>
      </p:sp>
      <p:sp>
        <p:nvSpPr>
          <p:cNvPr id="10" name="Shape 7"/>
          <p:cNvSpPr/>
          <p:nvPr/>
        </p:nvSpPr>
        <p:spPr>
          <a:xfrm>
            <a:off x="457200" y="2911602"/>
            <a:ext cx="82296" cy="1083945"/>
          </a:xfrm>
          <a:prstGeom prst="rect">
            <a:avLst/>
          </a:prstGeom>
          <a:solidFill>
            <a:srgbClr val="005EB8"/>
          </a:solidFill>
          <a:ln w="12700">
            <a:solidFill>
              <a:srgbClr val="005EB8"/>
            </a:solidFill>
            <a:prstDash val="solid"/>
          </a:ln>
        </p:spPr>
      </p:sp>
      <p:sp>
        <p:nvSpPr>
          <p:cNvPr id="11" name="Text 8"/>
          <p:cNvSpPr/>
          <p:nvPr/>
        </p:nvSpPr>
        <p:spPr>
          <a:xfrm>
            <a:off x="685800" y="2966466"/>
            <a:ext cx="4206240" cy="718185"/>
          </a:xfrm>
          <a:prstGeom prst="rect">
            <a:avLst/>
          </a:prstGeom>
          <a:noFill/>
          <a:ln/>
        </p:spPr>
        <p:txBody>
          <a:bodyPr wrap="square" lIns="0" tIns="0" rIns="0" bIns="0" rtlCol="0" anchor="t">
            <a:normAutofit/>
          </a:bodyPr>
          <a:lstStyle/>
          <a:p>
            <a:pPr indent="0" marL="0">
              <a:buNone/>
            </a:pPr>
            <a:r>
              <a:rPr lang="en-US" sz="1250" i="1" dirty="0">
                <a:solidFill>
                  <a:srgbClr val="231F20"/>
                </a:solidFill>
                <a:latin typeface="Arial" pitchFamily="34" charset="0"/>
                <a:ea typeface="Arial" pitchFamily="34" charset="-122"/>
                <a:cs typeface="Arial" pitchFamily="34" charset="-120"/>
              </a:rPr>
              <a:t>“For the first time I can see the list. Every man on it, when he is due, and whether the result came back.”</a:t>
            </a:r>
            <a:endParaRPr lang="en-US" sz="1250" dirty="0"/>
          </a:p>
        </p:txBody>
      </p:sp>
      <p:sp>
        <p:nvSpPr>
          <p:cNvPr id="12" name="Text 9"/>
          <p:cNvSpPr/>
          <p:nvPr/>
        </p:nvSpPr>
        <p:spPr>
          <a:xfrm>
            <a:off x="685800" y="3684651"/>
            <a:ext cx="4206240" cy="256032"/>
          </a:xfrm>
          <a:prstGeom prst="rect">
            <a:avLst/>
          </a:prstGeom>
          <a:noFill/>
          <a:ln/>
        </p:spPr>
        <p:txBody>
          <a:bodyPr wrap="square" lIns="0" tIns="0" rIns="0" bIns="0" rtlCol="0" anchor="ctr"/>
          <a:lstStyle/>
          <a:p>
            <a:pPr indent="0" marL="0">
              <a:buNone/>
            </a:pPr>
            <a:r>
              <a:rPr lang="en-US" sz="950" b="1" dirty="0">
                <a:solidFill>
                  <a:srgbClr val="005EB8"/>
                </a:solidFill>
                <a:latin typeface="Arial" pitchFamily="34" charset="0"/>
                <a:ea typeface="Arial" pitchFamily="34" charset="-122"/>
                <a:cs typeface="Arial" pitchFamily="34" charset="-120"/>
              </a:rPr>
              <a:t>Ruth</a:t>
            </a:r>
            <a:endParaRPr lang="en-US" sz="950" dirty="0"/>
          </a:p>
        </p:txBody>
      </p:sp>
      <p:sp>
        <p:nvSpPr>
          <p:cNvPr id="13" name="Shape 10"/>
          <p:cNvSpPr/>
          <p:nvPr/>
        </p:nvSpPr>
        <p:spPr>
          <a:xfrm>
            <a:off x="5349240" y="1097280"/>
            <a:ext cx="6385255" cy="274320"/>
          </a:xfrm>
          <a:prstGeom prst="rect">
            <a:avLst/>
          </a:prstGeom>
          <a:solidFill>
            <a:srgbClr val="005EB8"/>
          </a:solidFill>
          <a:ln w="12700">
            <a:solidFill>
              <a:srgbClr val="005EB8"/>
            </a:solidFill>
            <a:prstDash val="solid"/>
          </a:ln>
        </p:spPr>
      </p:sp>
      <p:sp>
        <p:nvSpPr>
          <p:cNvPr id="14" name="Text 11"/>
          <p:cNvSpPr/>
          <p:nvPr/>
        </p:nvSpPr>
        <p:spPr>
          <a:xfrm>
            <a:off x="5458968" y="1097280"/>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5" name="Shape 12"/>
          <p:cNvSpPr/>
          <p:nvPr/>
        </p:nvSpPr>
        <p:spPr>
          <a:xfrm>
            <a:off x="5349240" y="1371600"/>
            <a:ext cx="6385255" cy="1394206"/>
          </a:xfrm>
          <a:prstGeom prst="rect">
            <a:avLst/>
          </a:prstGeom>
          <a:solidFill>
            <a:srgbClr val="D5E8F0"/>
          </a:solidFill>
          <a:ln w="12700">
            <a:solidFill>
              <a:srgbClr val="D5E8F0"/>
            </a:solidFill>
            <a:prstDash val="solid"/>
          </a:ln>
        </p:spPr>
      </p:sp>
      <p:sp>
        <p:nvSpPr>
          <p:cNvPr id="16" name="Text 13"/>
          <p:cNvSpPr/>
          <p:nvPr/>
        </p:nvSpPr>
        <p:spPr>
          <a:xfrm>
            <a:off x="5458968" y="1408176"/>
            <a:ext cx="6165799" cy="133934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Once live, the cohort behaves like any clinician-initiated configuration on HomeTest. Eligible men are enrolled from the clinic, the platform issues the kit on the protocol's schedule, the result returns through the accredited lab to the clinician, and the NHS App carries the patient's view. </a:t>
            </a:r>
            <a:pPr indent="0" marL="0">
              <a:buNone/>
            </a:pPr>
            <a:r>
              <a:rPr lang="en-US" sz="1100" b="1" dirty="0">
                <a:solidFill>
                  <a:srgbClr val="231F20"/>
                </a:solidFill>
                <a:latin typeface="Arial" pitchFamily="34" charset="0"/>
                <a:ea typeface="Arial" pitchFamily="34" charset="-122"/>
                <a:cs typeface="Arial" pitchFamily="34" charset="-120"/>
              </a:rPr>
              <a:t>Missed recalls surface as exceptions rather than silence.</a:t>
            </a:r>
            <a:pPr indent="0" marL="0">
              <a:buNone/>
            </a:pPr>
            <a:r>
              <a:rPr lang="en-US" sz="1100" dirty="0">
                <a:solidFill>
                  <a:srgbClr val="231F20"/>
                </a:solidFill>
                <a:latin typeface="Arial" pitchFamily="34" charset="0"/>
                <a:ea typeface="Arial" pitchFamily="34" charset="-122"/>
                <a:cs typeface="Arial" pitchFamily="34" charset="-120"/>
              </a:rPr>
              <a:t> Results above the threshold route straight back to Urology through the escalation rule the care team set in Stage 03. Ruth gets the operating data commissioners never had for this group: enrolment, on-time completion, loss to follow-up and escalations.</a:t>
            </a:r>
            <a:endParaRPr lang="en-US" sz="1100" dirty="0"/>
          </a:p>
        </p:txBody>
      </p:sp>
      <p:sp>
        <p:nvSpPr>
          <p:cNvPr id="17" name="Shape 14"/>
          <p:cNvSpPr/>
          <p:nvPr/>
        </p:nvSpPr>
        <p:spPr>
          <a:xfrm>
            <a:off x="5349240" y="2893822"/>
            <a:ext cx="6385255" cy="274320"/>
          </a:xfrm>
          <a:prstGeom prst="rect">
            <a:avLst/>
          </a:prstGeom>
          <a:solidFill>
            <a:srgbClr val="4C6272"/>
          </a:solidFill>
          <a:ln w="12700">
            <a:solidFill>
              <a:srgbClr val="4C6272"/>
            </a:solidFill>
            <a:prstDash val="solid"/>
          </a:ln>
        </p:spPr>
      </p:sp>
      <p:sp>
        <p:nvSpPr>
          <p:cNvPr id="18" name="Text 15"/>
          <p:cNvSpPr/>
          <p:nvPr/>
        </p:nvSpPr>
        <p:spPr>
          <a:xfrm>
            <a:off x="5458968" y="2893822"/>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19" name="Shape 16"/>
          <p:cNvSpPr/>
          <p:nvPr/>
        </p:nvSpPr>
        <p:spPr>
          <a:xfrm>
            <a:off x="5349240" y="3168142"/>
            <a:ext cx="6385255" cy="712470"/>
          </a:xfrm>
          <a:prstGeom prst="rect">
            <a:avLst/>
          </a:prstGeom>
          <a:solidFill>
            <a:srgbClr val="F0F4F5"/>
          </a:solidFill>
          <a:ln w="12700">
            <a:solidFill>
              <a:srgbClr val="F0F4F5"/>
            </a:solidFill>
            <a:prstDash val="solid"/>
          </a:ln>
        </p:spPr>
      </p:sp>
      <p:sp>
        <p:nvSpPr>
          <p:cNvPr id="20" name="Text 17"/>
          <p:cNvSpPr/>
          <p:nvPr/>
        </p:nvSpPr>
        <p:spPr>
          <a:xfrm>
            <a:off x="5458968" y="3204718"/>
            <a:ext cx="616579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Recall depended on the practice system flagging it and someone acting on the flag. A man who moved practice, changed his number or simply did not respond disappeared from a list that was never really a list.</a:t>
            </a:r>
            <a:endParaRPr lang="en-US" sz="1100" dirty="0"/>
          </a:p>
        </p:txBody>
      </p:sp>
      <p:sp>
        <p:nvSpPr>
          <p:cNvPr id="21" name="Shape 18"/>
          <p:cNvSpPr/>
          <p:nvPr/>
        </p:nvSpPr>
        <p:spPr>
          <a:xfrm>
            <a:off x="5349240" y="4008628"/>
            <a:ext cx="6385255" cy="274320"/>
          </a:xfrm>
          <a:prstGeom prst="rect">
            <a:avLst/>
          </a:prstGeom>
          <a:solidFill>
            <a:srgbClr val="006747"/>
          </a:solidFill>
          <a:ln w="12700">
            <a:solidFill>
              <a:srgbClr val="006747"/>
            </a:solidFill>
            <a:prstDash val="solid"/>
          </a:ln>
        </p:spPr>
      </p:sp>
      <p:sp>
        <p:nvSpPr>
          <p:cNvPr id="22" name="Text 19"/>
          <p:cNvSpPr/>
          <p:nvPr/>
        </p:nvSpPr>
        <p:spPr>
          <a:xfrm>
            <a:off x="5458968" y="4008628"/>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3" name="Shape 20"/>
          <p:cNvSpPr/>
          <p:nvPr/>
        </p:nvSpPr>
        <p:spPr>
          <a:xfrm>
            <a:off x="5349240" y="4282948"/>
            <a:ext cx="6385255" cy="712470"/>
          </a:xfrm>
          <a:prstGeom prst="rect">
            <a:avLst/>
          </a:prstGeom>
          <a:solidFill>
            <a:srgbClr val="E8F3EE"/>
          </a:solidFill>
          <a:ln w="12700">
            <a:solidFill>
              <a:srgbClr val="E8F3EE"/>
            </a:solidFill>
            <a:prstDash val="solid"/>
          </a:ln>
        </p:spPr>
      </p:sp>
      <p:sp>
        <p:nvSpPr>
          <p:cNvPr id="24" name="Text 21"/>
          <p:cNvSpPr/>
          <p:nvPr/>
        </p:nvSpPr>
        <p:spPr>
          <a:xfrm>
            <a:off x="5458968" y="4319524"/>
            <a:ext cx="616579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Urology sees only the men who need to come back. Primary care sees a cohort being monitored without the practice carrying the admin. Both can see the same record because the NHS holds it, not the supplier.</a:t>
            </a:r>
            <a:endParaRPr lang="en-US" sz="1100" dirty="0"/>
          </a:p>
        </p:txBody>
      </p:sp>
      <p:sp>
        <p:nvSpPr>
          <p:cNvPr id="26"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Ruth  ·  Hearts and Minds</a:t>
            </a:r>
            <a:endParaRPr lang="en-US" sz="850" dirty="0"/>
          </a:p>
        </p:txBody>
      </p:sp>
      <p:sp>
        <p:nvSpPr>
          <p:cNvPr id="27"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8"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RUTH'S JOURNEY  ·  STAGE 6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case for funding · early detection, shown</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005EB8"/>
                </a:solidFill>
                <a:latin typeface="Arial" pitchFamily="34" charset="0"/>
                <a:ea typeface="Arial" pitchFamily="34" charset="-122"/>
                <a:cs typeface="Arial" pitchFamily="34" charset="-120"/>
              </a:rPr>
              <a:t>06</a:t>
            </a:r>
            <a:endParaRPr lang="en-US" sz="5200" dirty="0"/>
          </a:p>
        </p:txBody>
      </p:sp>
      <p:sp>
        <p:nvSpPr>
          <p:cNvPr id="8" name="Text 5"/>
          <p:cNvSpPr/>
          <p:nvPr/>
        </p:nvSpPr>
        <p:spPr>
          <a:xfrm>
            <a:off x="457200" y="1920240"/>
            <a:ext cx="4572000" cy="881634"/>
          </a:xfrm>
          <a:prstGeom prst="rect">
            <a:avLst/>
          </a:prstGeom>
          <a:noFill/>
          <a:ln/>
        </p:spPr>
        <p:txBody>
          <a:bodyPr wrap="square" lIns="0" tIns="0" rIns="0" bIns="0" rtlCol="0" anchor="t">
            <a:normAutofit/>
          </a:bodyPr>
          <a:lstStyle/>
          <a:p>
            <a:pPr indent="0" marL="0">
              <a:buNone/>
            </a:pPr>
            <a:r>
              <a:rPr lang="en-US" sz="1700" b="1" dirty="0">
                <a:solidFill>
                  <a:srgbClr val="003087"/>
                </a:solidFill>
                <a:latin typeface="Arial" pitchFamily="34" charset="0"/>
                <a:ea typeface="Arial" pitchFamily="34" charset="-122"/>
                <a:cs typeface="Arial" pitchFamily="34" charset="-120"/>
              </a:rPr>
              <a:t>The argument was never about kits. It was about the men who would otherwise have been found late.</a:t>
            </a:r>
            <a:endParaRPr lang="en-US" sz="1700" dirty="0"/>
          </a:p>
        </p:txBody>
      </p:sp>
      <p:sp>
        <p:nvSpPr>
          <p:cNvPr id="9" name="Shape 6"/>
          <p:cNvSpPr/>
          <p:nvPr/>
        </p:nvSpPr>
        <p:spPr>
          <a:xfrm>
            <a:off x="457200" y="2911602"/>
            <a:ext cx="4572000" cy="890270"/>
          </a:xfrm>
          <a:prstGeom prst="rect">
            <a:avLst/>
          </a:prstGeom>
          <a:solidFill>
            <a:srgbClr val="F0F4F5"/>
          </a:solidFill>
          <a:ln w="12700">
            <a:solidFill>
              <a:srgbClr val="F0F4F5"/>
            </a:solidFill>
            <a:prstDash val="solid"/>
          </a:ln>
        </p:spPr>
      </p:sp>
      <p:sp>
        <p:nvSpPr>
          <p:cNvPr id="10" name="Shape 7"/>
          <p:cNvSpPr/>
          <p:nvPr/>
        </p:nvSpPr>
        <p:spPr>
          <a:xfrm>
            <a:off x="457200" y="2911602"/>
            <a:ext cx="82296" cy="890270"/>
          </a:xfrm>
          <a:prstGeom prst="rect">
            <a:avLst/>
          </a:prstGeom>
          <a:solidFill>
            <a:srgbClr val="005EB8"/>
          </a:solidFill>
          <a:ln w="12700">
            <a:solidFill>
              <a:srgbClr val="005EB8"/>
            </a:solidFill>
            <a:prstDash val="solid"/>
          </a:ln>
        </p:spPr>
      </p:sp>
      <p:sp>
        <p:nvSpPr>
          <p:cNvPr id="11" name="Text 8"/>
          <p:cNvSpPr/>
          <p:nvPr/>
        </p:nvSpPr>
        <p:spPr>
          <a:xfrm>
            <a:off x="685800" y="2966466"/>
            <a:ext cx="4206240" cy="524510"/>
          </a:xfrm>
          <a:prstGeom prst="rect">
            <a:avLst/>
          </a:prstGeom>
          <a:noFill/>
          <a:ln/>
        </p:spPr>
        <p:txBody>
          <a:bodyPr wrap="square" lIns="0" tIns="0" rIns="0" bIns="0" rtlCol="0" anchor="t">
            <a:normAutofit/>
          </a:bodyPr>
          <a:lstStyle/>
          <a:p>
            <a:pPr indent="0" marL="0">
              <a:buNone/>
            </a:pPr>
            <a:r>
              <a:rPr lang="en-US" sz="1250" i="1" dirty="0">
                <a:solidFill>
                  <a:srgbClr val="231F20"/>
                </a:solidFill>
                <a:latin typeface="Arial" pitchFamily="34" charset="0"/>
                <a:ea typeface="Arial" pitchFamily="34" charset="-122"/>
                <a:cs typeface="Arial" pitchFamily="34" charset="-120"/>
              </a:rPr>
              <a:t>“The argument was never about kits. It was about the men we would otherwise have found late.”</a:t>
            </a:r>
            <a:endParaRPr lang="en-US" sz="1250" dirty="0"/>
          </a:p>
        </p:txBody>
      </p:sp>
      <p:sp>
        <p:nvSpPr>
          <p:cNvPr id="12" name="Text 9"/>
          <p:cNvSpPr/>
          <p:nvPr/>
        </p:nvSpPr>
        <p:spPr>
          <a:xfrm>
            <a:off x="685800" y="3490976"/>
            <a:ext cx="4206240" cy="256032"/>
          </a:xfrm>
          <a:prstGeom prst="rect">
            <a:avLst/>
          </a:prstGeom>
          <a:noFill/>
          <a:ln/>
        </p:spPr>
        <p:txBody>
          <a:bodyPr wrap="square" lIns="0" tIns="0" rIns="0" bIns="0" rtlCol="0" anchor="ctr"/>
          <a:lstStyle/>
          <a:p>
            <a:pPr indent="0" marL="0">
              <a:buNone/>
            </a:pPr>
            <a:r>
              <a:rPr lang="en-US" sz="950" b="1" dirty="0">
                <a:solidFill>
                  <a:srgbClr val="005EB8"/>
                </a:solidFill>
                <a:latin typeface="Arial" pitchFamily="34" charset="0"/>
                <a:ea typeface="Arial" pitchFamily="34" charset="-122"/>
                <a:cs typeface="Arial" pitchFamily="34" charset="-120"/>
              </a:rPr>
              <a:t>Ruth</a:t>
            </a:r>
            <a:endParaRPr lang="en-US" sz="950" dirty="0"/>
          </a:p>
        </p:txBody>
      </p:sp>
      <p:sp>
        <p:nvSpPr>
          <p:cNvPr id="13" name="Shape 10"/>
          <p:cNvSpPr/>
          <p:nvPr/>
        </p:nvSpPr>
        <p:spPr>
          <a:xfrm>
            <a:off x="5349240" y="1097280"/>
            <a:ext cx="6385255" cy="274320"/>
          </a:xfrm>
          <a:prstGeom prst="rect">
            <a:avLst/>
          </a:prstGeom>
          <a:solidFill>
            <a:srgbClr val="005EB8"/>
          </a:solidFill>
          <a:ln w="12700">
            <a:solidFill>
              <a:srgbClr val="005EB8"/>
            </a:solidFill>
            <a:prstDash val="solid"/>
          </a:ln>
        </p:spPr>
      </p:sp>
      <p:sp>
        <p:nvSpPr>
          <p:cNvPr id="14" name="Text 11"/>
          <p:cNvSpPr/>
          <p:nvPr/>
        </p:nvSpPr>
        <p:spPr>
          <a:xfrm>
            <a:off x="5458968" y="1097280"/>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5" name="Shape 12"/>
          <p:cNvSpPr/>
          <p:nvPr/>
        </p:nvSpPr>
        <p:spPr>
          <a:xfrm>
            <a:off x="5349240" y="1371600"/>
            <a:ext cx="6385255" cy="1564640"/>
          </a:xfrm>
          <a:prstGeom prst="rect">
            <a:avLst/>
          </a:prstGeom>
          <a:solidFill>
            <a:srgbClr val="D5E8F0"/>
          </a:solidFill>
          <a:ln w="12700">
            <a:solidFill>
              <a:srgbClr val="D5E8F0"/>
            </a:solidFill>
            <a:prstDash val="solid"/>
          </a:ln>
        </p:spPr>
      </p:sp>
      <p:sp>
        <p:nvSpPr>
          <p:cNvPr id="16" name="Text 13"/>
          <p:cNvSpPr/>
          <p:nvPr/>
        </p:nvSpPr>
        <p:spPr>
          <a:xfrm>
            <a:off x="5458968" y="1408176"/>
            <a:ext cx="6165799" cy="150977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monitoring-gap case rests on early detection: the men in this cohort who go on to develop diagnosable prostate cancer, found on schedule rather than on re-presentation. The outcome measure is still to be defined alongside the protocol, and the model says so. </a:t>
            </a:r>
            <a:pPr indent="0" marL="0">
              <a:buNone/>
            </a:pPr>
            <a:r>
              <a:rPr lang="en-US" sz="1100" b="1" dirty="0">
                <a:solidFill>
                  <a:srgbClr val="231F20"/>
                </a:solidFill>
                <a:latin typeface="Arial" pitchFamily="34" charset="0"/>
                <a:ea typeface="Arial" pitchFamily="34" charset="-122"/>
                <a:cs typeface="Arial" pitchFamily="34" charset="-120"/>
              </a:rPr>
              <a:t>What the platform gives Ruth from day one is the denominator and the numerator she never had:</a:t>
            </a:r>
            <a:pPr indent="0" marL="0">
              <a:buNone/>
            </a:pPr>
            <a:r>
              <a:rPr lang="en-US" sz="1100" dirty="0">
                <a:solidFill>
                  <a:srgbClr val="231F20"/>
                </a:solidFill>
                <a:latin typeface="Arial" pitchFamily="34" charset="0"/>
                <a:ea typeface="Arial" pitchFamily="34" charset="-122"/>
                <a:cs typeface="Arial" pitchFamily="34" charset="-120"/>
              </a:rPr>
              <a:t> how many men are monitored, how many on time, how many escalated and what was found. That is the evidence base for whichever institution funds the next year, and for the wider question of whether this cohort should be commissioned everywhere or only where a gap is proven.</a:t>
            </a:r>
            <a:endParaRPr lang="en-US" sz="1100" dirty="0"/>
          </a:p>
        </p:txBody>
      </p:sp>
      <p:sp>
        <p:nvSpPr>
          <p:cNvPr id="17" name="Shape 14"/>
          <p:cNvSpPr/>
          <p:nvPr/>
        </p:nvSpPr>
        <p:spPr>
          <a:xfrm>
            <a:off x="5349240" y="3064256"/>
            <a:ext cx="6385255" cy="274320"/>
          </a:xfrm>
          <a:prstGeom prst="rect">
            <a:avLst/>
          </a:prstGeom>
          <a:solidFill>
            <a:srgbClr val="4C6272"/>
          </a:solidFill>
          <a:ln w="12700">
            <a:solidFill>
              <a:srgbClr val="4C6272"/>
            </a:solidFill>
            <a:prstDash val="solid"/>
          </a:ln>
        </p:spPr>
      </p:sp>
      <p:sp>
        <p:nvSpPr>
          <p:cNvPr id="18" name="Text 15"/>
          <p:cNvSpPr/>
          <p:nvPr/>
        </p:nvSpPr>
        <p:spPr>
          <a:xfrm>
            <a:off x="5458968" y="3064256"/>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19" name="Shape 16"/>
          <p:cNvSpPr/>
          <p:nvPr/>
        </p:nvSpPr>
        <p:spPr>
          <a:xfrm>
            <a:off x="5349240" y="3338576"/>
            <a:ext cx="6385255" cy="542036"/>
          </a:xfrm>
          <a:prstGeom prst="rect">
            <a:avLst/>
          </a:prstGeom>
          <a:solidFill>
            <a:srgbClr val="F0F4F5"/>
          </a:solidFill>
          <a:ln w="12700">
            <a:solidFill>
              <a:srgbClr val="F0F4F5"/>
            </a:solidFill>
            <a:prstDash val="solid"/>
          </a:ln>
        </p:spPr>
      </p:sp>
      <p:sp>
        <p:nvSpPr>
          <p:cNvPr id="20" name="Text 17"/>
          <p:cNvSpPr/>
          <p:nvPr/>
        </p:nvSpPr>
        <p:spPr>
          <a:xfrm>
            <a:off x="5458968" y="3375152"/>
            <a:ext cx="6165799" cy="48717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No baseline, so no case. Commissioners were asked to fund monitoring for a group whose size and outcomes nobody could state.</a:t>
            </a:r>
            <a:endParaRPr lang="en-US" sz="1100" dirty="0"/>
          </a:p>
        </p:txBody>
      </p:sp>
      <p:sp>
        <p:nvSpPr>
          <p:cNvPr id="21" name="Shape 18"/>
          <p:cNvSpPr/>
          <p:nvPr/>
        </p:nvSpPr>
        <p:spPr>
          <a:xfrm>
            <a:off x="5349240" y="4008628"/>
            <a:ext cx="6385255" cy="274320"/>
          </a:xfrm>
          <a:prstGeom prst="rect">
            <a:avLst/>
          </a:prstGeom>
          <a:solidFill>
            <a:srgbClr val="006747"/>
          </a:solidFill>
          <a:ln w="12700">
            <a:solidFill>
              <a:srgbClr val="006747"/>
            </a:solidFill>
            <a:prstDash val="solid"/>
          </a:ln>
        </p:spPr>
      </p:sp>
      <p:sp>
        <p:nvSpPr>
          <p:cNvPr id="22" name="Text 19"/>
          <p:cNvSpPr/>
          <p:nvPr/>
        </p:nvSpPr>
        <p:spPr>
          <a:xfrm>
            <a:off x="5458968" y="4008628"/>
            <a:ext cx="616579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3" name="Shape 20"/>
          <p:cNvSpPr/>
          <p:nvPr/>
        </p:nvSpPr>
        <p:spPr>
          <a:xfrm>
            <a:off x="5349240" y="4282948"/>
            <a:ext cx="6385255" cy="542036"/>
          </a:xfrm>
          <a:prstGeom prst="rect">
            <a:avLst/>
          </a:prstGeom>
          <a:solidFill>
            <a:srgbClr val="E8F3EE"/>
          </a:solidFill>
          <a:ln w="12700">
            <a:solidFill>
              <a:srgbClr val="E8F3EE"/>
            </a:solidFill>
            <a:prstDash val="solid"/>
          </a:ln>
        </p:spPr>
      </p:sp>
      <p:sp>
        <p:nvSpPr>
          <p:cNvPr id="24" name="Text 21"/>
          <p:cNvSpPr/>
          <p:nvPr/>
        </p:nvSpPr>
        <p:spPr>
          <a:xfrm>
            <a:off x="5458968" y="4319524"/>
            <a:ext cx="6165799" cy="48717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Clinicians get an audit trail they can stand behind at the MDT and at inspection. The protocol, the compliance against it and the outcomes sit in one place.</a:t>
            </a:r>
            <a:endParaRPr lang="en-US" sz="1100" dirty="0"/>
          </a:p>
        </p:txBody>
      </p:sp>
      <p:sp>
        <p:nvSpPr>
          <p:cNvPr id="26"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Ruth  ·  Hearts and Minds</a:t>
            </a:r>
            <a:endParaRPr lang="en-US" sz="850" dirty="0"/>
          </a:p>
        </p:txBody>
      </p:sp>
      <p:sp>
        <p:nvSpPr>
          <p:cNvPr id="27"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8"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005EB8"/>
          </a:solidFill>
          <a:ln w="12700">
            <a:solidFill>
              <a:srgbClr val="005EB8"/>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RUTH'S JOURNEY  ·  THE OUTCOME</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Ruth's win, when it lands</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57200" y="1143000"/>
            <a:ext cx="11277295" cy="822960"/>
          </a:xfrm>
          <a:prstGeom prst="rect">
            <a:avLst/>
          </a:prstGeom>
          <a:noFill/>
          <a:ln/>
        </p:spPr>
        <p:txBody>
          <a:bodyPr wrap="square" lIns="0" tIns="0" rIns="0" bIns="0" rtlCol="0" anchor="t">
            <a:normAutofit/>
          </a:bodyPr>
          <a:lstStyle/>
          <a:p>
            <a:pPr indent="0" marL="0">
              <a:buNone/>
            </a:pPr>
            <a:r>
              <a:rPr lang="en-US" sz="2200" b="1" dirty="0">
                <a:solidFill>
                  <a:srgbClr val="003087"/>
                </a:solidFill>
                <a:latin typeface="Arial" pitchFamily="34" charset="0"/>
                <a:ea typeface="Arial" pitchFamily="34" charset="-122"/>
                <a:cs typeface="Arial" pitchFamily="34" charset="-120"/>
              </a:rPr>
              <a:t>A cohort that belongs to someone, monitored on a protocol, bought on terms already settled.</a:t>
            </a:r>
            <a:endParaRPr lang="en-US" sz="2200" dirty="0"/>
          </a:p>
        </p:txBody>
      </p:sp>
      <p:sp>
        <p:nvSpPr>
          <p:cNvPr id="8" name="Text 5"/>
          <p:cNvSpPr/>
          <p:nvPr/>
        </p:nvSpPr>
        <p:spPr>
          <a:xfrm>
            <a:off x="457200" y="2011680"/>
            <a:ext cx="11277295" cy="835152"/>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Arial" pitchFamily="34" charset="0"/>
                <a:ea typeface="Arial" pitchFamily="34" charset="-122"/>
                <a:cs typeface="Arial" pitchFamily="34" charset="-120"/>
              </a:rPr>
              <a:t>Ruth's journey is the honest one in this cast. Five of its specifics are held open on purpose: her institution, her budget source, the clinical owner, the protocol cadence and the contract shape. </a:t>
            </a:r>
            <a:pPr indent="0" marL="0">
              <a:buNone/>
            </a:pPr>
            <a:r>
              <a:rPr lang="en-US" sz="1200" b="1" dirty="0">
                <a:solidFill>
                  <a:srgbClr val="231F20"/>
                </a:solidFill>
                <a:latin typeface="Arial" pitchFamily="34" charset="0"/>
                <a:ea typeface="Arial" pitchFamily="34" charset="-122"/>
                <a:cs typeface="Arial" pitchFamily="34" charset="-120"/>
              </a:rPr>
              <a:t>What the model shows is that none of those blockers sits in the platform or the framework.</a:t>
            </a:r>
            <a:pPr indent="0" marL="0">
              <a:buNone/>
            </a:pPr>
            <a:r>
              <a:rPr lang="en-US" sz="1200" dirty="0">
                <a:solidFill>
                  <a:srgbClr val="231F20"/>
                </a:solidFill>
                <a:latin typeface="Arial" pitchFamily="34" charset="0"/>
                <a:ea typeface="Arial" pitchFamily="34" charset="-122"/>
                <a:cs typeface="Arial" pitchFamily="34" charset="-120"/>
              </a:rPr>
              <a:t> The assurance is done, the configuration exists, the buy route follows whichever owner emerges, and the operating data starts on day one. When the cohort discovery lands, Ruth becomes a fully populated persona on Sarah's pattern and this journey firms up with her.</a:t>
            </a:r>
            <a:endParaRPr lang="en-US" sz="1200" dirty="0"/>
          </a:p>
        </p:txBody>
      </p:sp>
      <p:sp>
        <p:nvSpPr>
          <p:cNvPr id="9" name="Shape 6"/>
          <p:cNvSpPr/>
          <p:nvPr/>
        </p:nvSpPr>
        <p:spPr>
          <a:xfrm>
            <a:off x="457200" y="3121152"/>
            <a:ext cx="11277295" cy="2161921"/>
          </a:xfrm>
          <a:prstGeom prst="roundRect">
            <a:avLst>
              <a:gd name="adj" fmla="val 4230"/>
            </a:avLst>
          </a:prstGeom>
          <a:solidFill>
            <a:srgbClr val="FFFFFF"/>
          </a:solidFill>
          <a:ln w="9525">
            <a:solidFill>
              <a:srgbClr val="DDE3E8"/>
            </a:solidFill>
            <a:prstDash val="solid"/>
          </a:ln>
        </p:spPr>
      </p:sp>
      <p:sp>
        <p:nvSpPr>
          <p:cNvPr id="10" name="Shape 7"/>
          <p:cNvSpPr/>
          <p:nvPr/>
        </p:nvSpPr>
        <p:spPr>
          <a:xfrm>
            <a:off x="457200" y="3121152"/>
            <a:ext cx="11277295" cy="73152"/>
          </a:xfrm>
          <a:prstGeom prst="rect">
            <a:avLst/>
          </a:prstGeom>
          <a:solidFill>
            <a:srgbClr val="006747"/>
          </a:solidFill>
          <a:ln w="12700">
            <a:solidFill>
              <a:srgbClr val="006747"/>
            </a:solidFill>
            <a:prstDash val="solid"/>
          </a:ln>
        </p:spPr>
      </p:sp>
      <p:sp>
        <p:nvSpPr>
          <p:cNvPr id="11" name="Text 8"/>
          <p:cNvSpPr/>
          <p:nvPr/>
        </p:nvSpPr>
        <p:spPr>
          <a:xfrm>
            <a:off x="731520" y="3304032"/>
            <a:ext cx="5486400" cy="274320"/>
          </a:xfrm>
          <a:prstGeom prst="rect">
            <a:avLst/>
          </a:prstGeom>
          <a:noFill/>
          <a:ln/>
        </p:spPr>
        <p:txBody>
          <a:bodyPr wrap="square" lIns="0" tIns="0" rIns="0" bIns="0" rtlCol="0" anchor="ctr"/>
          <a:lstStyle/>
          <a:p>
            <a:pPr indent="0" marL="0">
              <a:buNone/>
            </a:pPr>
            <a:r>
              <a:rPr lang="en-US" sz="950" b="1" spc="200" kern="0" dirty="0">
                <a:solidFill>
                  <a:srgbClr val="006747"/>
                </a:solidFill>
                <a:latin typeface="Arial" pitchFamily="34" charset="0"/>
                <a:ea typeface="Arial" pitchFamily="34" charset="-122"/>
                <a:cs typeface="Arial" pitchFamily="34" charset="-120"/>
              </a:rPr>
              <a:t>THE MONEY IN THIS STORY</a:t>
            </a:r>
            <a:endParaRPr lang="en-US" sz="950" dirty="0"/>
          </a:p>
        </p:txBody>
      </p:sp>
      <p:sp>
        <p:nvSpPr>
          <p:cNvPr id="12" name="Text 9"/>
          <p:cNvSpPr/>
          <p:nvPr/>
        </p:nvSpPr>
        <p:spPr>
          <a:xfrm>
            <a:off x="731520" y="3624072"/>
            <a:ext cx="10728655" cy="1201801"/>
          </a:xfrm>
          <a:prstGeom prst="rect">
            <a:avLst/>
          </a:prstGeom>
          <a:noFill/>
          <a:ln/>
        </p:spPr>
        <p:txBody>
          <a:bodyPr wrap="square" lIns="0" tIns="0" rIns="0" bIns="0" rtlCol="0" anchor="t">
            <a:normAutofit/>
          </a:bodyPr>
          <a:lstStyle/>
          <a:p>
            <a:pPr indent="0" marL="0">
              <a:spcAft>
                <a:spcPts val="600"/>
              </a:spcAft>
              <a:buNone/>
            </a:pPr>
            <a:r>
              <a:rPr lang="en-US" sz="1150" dirty="0">
                <a:solidFill>
                  <a:srgbClr val="4C6272"/>
                </a:solidFill>
                <a:latin typeface="Arial" pitchFamily="34" charset="0"/>
                <a:ea typeface="Arial" pitchFamily="34" charset="-122"/>
                <a:cs typeface="Arial" pitchFamily="34" charset="-120"/>
              </a:rPr>
              <a:t>Ruth buys nothing until the cohort has an owner, and the model is explicit about that. When she does buy, the mechanics are the ones already built for Sarah and Catherine: a call-off from the accredited register, a cost per activity for each completed test against a national ceiling, local competition able to beat that ceiling, and a levy on throughput that funds the platform with a share returned to NHS England.</a:t>
            </a:r>
            <a:pPr indent="0" marL="0">
              <a:spcAft>
                <a:spcPts val="600"/>
              </a:spcAft>
              <a:buNone/>
            </a:pPr>
            <a:endParaRPr lang="en-US" sz="1150" dirty="0"/>
          </a:p>
          <a:p>
            <a:pPr indent="0" marL="0">
              <a:spcAft>
                <a:spcPts val="600"/>
              </a:spcAft>
              <a:buNone/>
            </a:pPr>
            <a:r>
              <a:rPr lang="en-US" sz="1150" dirty="0">
                <a:solidFill>
                  <a:srgbClr val="4C6272"/>
                </a:solidFill>
                <a:latin typeface="Arial" pitchFamily="34" charset="0"/>
                <a:ea typeface="Arial" pitchFamily="34" charset="-122"/>
                <a:cs typeface="Arial" pitchFamily="34" charset="-120"/>
              </a:rPr>
              <a:t>What her cohort adds is the funding question itself. A group that sits between primary and secondary care needs a paying party named before any of that machinery can turn, which is why the budget owner sits at Stage 01 of this story and not at the end.</a:t>
            </a:r>
            <a:endParaRPr lang="en-US" sz="1150" dirty="0"/>
          </a:p>
        </p:txBody>
      </p:sp>
      <p:sp>
        <p:nvSpPr>
          <p:cNvPr id="13" name="Text 10"/>
          <p:cNvSpPr/>
          <p:nvPr/>
        </p:nvSpPr>
        <p:spPr>
          <a:xfrm>
            <a:off x="731520" y="4871593"/>
            <a:ext cx="10728655" cy="320040"/>
          </a:xfrm>
          <a:prstGeom prst="rect">
            <a:avLst/>
          </a:prstGeom>
          <a:noFill/>
          <a:ln/>
        </p:spPr>
        <p:txBody>
          <a:bodyPr wrap="square" lIns="0" tIns="0" rIns="0" bIns="0" rtlCol="0" anchor="ctr"/>
          <a:lstStyle/>
          <a:p>
            <a:pPr indent="0" marL="0">
              <a:buNone/>
            </a:pPr>
            <a:r>
              <a:rPr lang="en-US" sz="850" i="1" dirty="0">
                <a:solidFill>
                  <a:srgbClr val="7E8B97"/>
                </a:solidFill>
                <a:latin typeface="Arial" pitchFamily="34" charset="0"/>
                <a:ea typeface="Arial" pitchFamily="34" charset="-122"/>
                <a:cs typeface="Arial" pitchFamily="34" charset="-120"/>
              </a:rPr>
              <a:t>Commercial positions are agreed in principle and remain subject to the live procurement. See the Money Loop and How Commissioners Buy pages of the operating model.</a:t>
            </a:r>
            <a:endParaRPr lang="en-US" sz="850" dirty="0"/>
          </a:p>
        </p:txBody>
      </p:sp>
      <p:sp>
        <p:nvSpPr>
          <p:cNvPr id="14" name="Text 11"/>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Ruth  ·  Hearts and Minds</a:t>
            </a:r>
            <a:endParaRPr lang="en-US" sz="850" dirty="0"/>
          </a:p>
        </p:txBody>
      </p:sp>
      <p:sp>
        <p:nvSpPr>
          <p:cNvPr id="15" name="Text 12"/>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16" name="Text 13"/>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NHS England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Ruth's story: HomeTest Hearts and Minds</dc:title>
  <dc:subject>PptxGenJS Presentation</dc:subject>
  <dc:creator>HomeTest Programme</dc:creator>
  <cp:lastModifiedBy>HomeTest Programme</cp:lastModifiedBy>
  <cp:revision>1</cp:revision>
  <dcterms:created xsi:type="dcterms:W3CDTF">2026-09-05T08:28:26Z</dcterms:created>
  <dcterms:modified xsi:type="dcterms:W3CDTF">2026-09-05T08:28:26Z</dcterms:modified>
</cp:coreProperties>
</file>