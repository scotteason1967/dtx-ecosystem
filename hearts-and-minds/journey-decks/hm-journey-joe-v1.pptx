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 the framework · the public criteria pack
Joe sees the framework on Future NHS. The public criteria pack sits at one URL, linked from the HomeTest and HealthStore public pages and from Find a Tender. He reads it without booking a call, without an NDA, without an NHSE-side gatekeeper. The design point is that he can decide not to proceed before NHSE has heard his name.
Quote: I have read enough NHS procurement packs to know what a closed door looks like. This one was open. I did not need to ask anyone's permission to read the criteria. I did not need to be on a list to know what the bar was.
What the model is doing underneath: The framework publishes the criteria pack openly: five dimensions (commercial, clinical, IG, technical, operational), three tiers (core / scaled / aspirational), three access routes (standard / light-touch / partnership). Future NHS hosts the canonical version. The HomeTest and HealthStore public pages link to it. Find a Tender carries it where a formal procurement is live. The pack is the door; reading it is the first step.
The old way: A supplier discovers a new NHS procurement by tender notice, signs an NDA, joins a closed bidder community, and gets the criteria a fortnight before bid submission. The path is inside the procurement. The criteria are private until the procurement opens. Suppliers who could have self-selected out never had the chance.
What the care team sees: Nobody at NHSE knows Joe exists yet. The Partnerships team maintain the public pages and the Future NHS posting. The framework sits as a self-service artefact.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Self-assess · no NHSE meeting needed yet
Joe works through the published checklist using the boilerplate artefacts: the DPIA template, the DSA template, the privacy notice boilerplate, the clinical safety starter, the technical integration guide. He passes the core tier on all five dimensions. He is scaled-tier on clinical (DCB0129 evidence, clinical safety officer in post) and IG (DSPT done, Cyber Essentials Plus). He is sitting at the aspirational tier on technical (multi-pathway integration experience). He decides he is ready.
Quote: By the end of the self-assessment we knew where we passed, where we needed evidence, and where we were not ready. NHSE did not have to tell us. The pack did.
What the model is doing underneath: The framework principle: self-declared evidence against published criteria is the first step. The boilerplate artefacts are versioned centrally and reused across pathways, Joe does not author a DPIA from scratch, he completes the NHSE template. The self-assessment output is a structured position against each criterion with references to the evidence Joe will produce at application stage. The grey-area calls escalate; the box-ticks run themselves.
The old way: A bidder produces a unique DPIA, a unique DSA, a unique privacy notice. Each commissioner reviews them locally with no shared baseline. The same supplier ends up with five different DPIAs across five LAs. The IG team review the same patterns five times. The supplier reformats five times.
What the care team sees: Still nobody at NHSE. Joe's side: his clinical safety officer, his DPO, his commercial lead, his technical lead. They self-assess against the public pack.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Submit the EOI · structured, evidenced
Joe submits the EOI through Atamis. The form is structured: APIs he wants to onboard to, scope (tests, pathways, territory), the self-assessment result by criterion, the evidence references. Nothing free-text. Nothing bespoke. He uploads his DCB0129 evidence pack, his DSPT certificate, his Cyber Essentials Plus letter, his accounts. He picks Route A, the standard route, because he is sitting at the scaled tier across all five dimensions.
Quote: I did not get on a phone call to find out what they wanted from me. I uploaded what the pack asked for, against the route I had self-selected into. Then I waited.
What the model is doing underneath: Atamis carries the formal procurement EOI. The submission is structured: API targets, scope declarations, criterion-by-criterion self-assessment results, evidence references. The platform stores the artefacts in a single tenancy that NHSE workstream leads will read against. A dedicated EOI form picks up the partnership routes for Year 1; both feed the same downstream review.
The old way: A free-text proposal of 40+ pages addressing imprecise evaluation questions, with the bidder guessing at what each question is testing. The evaluation panel reads the proposal and tries to reconstruct what the supplier is offering. Material gets lost. Equivalent suppliers look different on paper because the structure is bespoke.
What the care team sees: A new EOI lands in the Atamis tenancy. Operations team see a submission against the framework. Commercial Operations, IG team, Clinical Safety team and Head of Technology &amp; Product are notified that a structured EOI is ready for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Through the gate · triage, review, conformance
Automated triage checks Joe's submission for completeness and valid evidence references. It passes. The workstream leads pick it up: Commercial, IG, Clinical Safety, Technical, each reviews the dimension they own against a time-boxed SLA. There are two grey-area calls (one on clinical evidence novelty, one on operational SLA scope) that escalate to senior review. Both clear in a fortnight. Joe receives the conformance certificate. He is now an admitted framework supplier.
Quote: The conformance certificate is the unlock. It is the same letter every commissioner will see when they call us off. The next ten conversations are about the deployment, not about whether we are good enough to be there.
What the model is doing underneath: Automated triage checks completeness, valid evidence references and declared passes at core tier. Incomplete or non-qualifying submissions bounce back with specific feedback. Submissions that pass triage enter human review by workstream lead: commercial lead for commercial and operational, IG team for information governance, clinical safety for clinical, technical/platform team for technical. Review is time-boxed with a committed SLA. Grey-area judgements escalate. The conformance certificate is the output: a portable artefact that every commissioner will read as the once-and-reuse assurance.
The old way: A bilateral conversation between each commissioner and the supplier, where the same evidence is reviewed five times because no central body has signed it off. The supplier carries the cost of duplicate scrutiny. The commissioner carries the risk of arriving at a different conclusion than the commissioner next door. The patient gets none of the value.
What the care team sees: Commercial Operations (David), IG team (Ngozi), Clinical Safety (Aisha), Head of Technology &amp; Product (Priya). Workstream leads review the dimension they own. Escalation route for grey-area calls. Conformance certificate signed off as a single artefact.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commissioner calls off · no re-assurance
A Local Authority commissioner calls Joe off the framework for HIV self-testing in her cohort. The DPIA template is already in place; the privacy notice text is already in the artefact stack; the clinical safety case starter is already mapped to the configuration. The LA's role is to deploy the service, not to reassure that the supplier is safe. From conformance certificate to live deployment takes weeks, not the months a bespoke negotiation would have taken.
Quote: Her first question was when we could go live, not whether we should be allowed to. That was the unlock.
What the model is doing underneath: The commissioner calls Joe off using the framework call-off contract. The DPIA template is signed at the LA's controller layer; the DSA is the standing inherited template with LA-specific parties; the privacy notice text is already drafted; the clinical safety case starter is mapped to the configuration. The local body acts as the deployment authority, not as a re-assurer. The certificate is the trust marker.
The old way: A 3-6 month bespoke negotiation per LA. The commissioner's legal team reviews terms from scratch. The IG team reviews the DPIA from scratch. The clinical safety team reviews the safety case from scratch. The supplier prepares a slightly different pack for each commissioner. The clinical service launch is delayed by the assurance cycle.
What the care team sees: Sarah on the LA commissioner side. Joe's deployment lead. The local IG team confirming the DSA. Patient routing into the LA-commissioned service. The conformance certificate held centrally; the deployment held locally.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Reuse across the cohort · one certificate, many deployments
An Acute Trust commissioner calls Joe off for PSA Active Surveillance. A GP commissioner calls him off for iron deficiency anaemia monitoring. A third commissioner is in conversation about a CVKM screening configuration. Same supplier. Three different conditions. Three different commissioner archetypes. Zero additional assurance burden. Each new test under the same API is a lightweight check; each new LA scope is a configuration change. Joe is in the cohort the framework was built for.
Quote: I am the same business I was eighteen months ago. The framework changed what I could reach. One conformance certificate, three conditions, six commissioners, and counting.
What the model is doing underneath: The principle of onboard-once-per-API doing its work. Joe's technical integration to the platform was evidenced once. A new test under the same API is a lightweight check against the API's eligibility rules, it does not repeat the API-level evidence. A new commissioner calling Joe off uses the standing framework call-off contract. The annual refresh is the touchpoint. The conformance certificate is the durable artefact; the deployments multiply around it.
The old way: Each new condition required a fresh procurement. Each new commissioner required a fresh contract. Each new LA scope required a fresh assurance pack. The cost of expanding into a new cohort scaled with the number of LAs, not with the value of the cohort. Smaller suppliers couldn't carry the per-deployment overhead. The market consolidated by accident.
What the care team sees: Joe's deployment team holding multiple commissioner relationships. NHSE Partnerships team brokering new conversations. The Operations team running the annual refresh. The conformance certificate as the trust marker every commissioner now reads.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jp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jp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jp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jp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jp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jp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087"/>
        </a:solidFill>
      </p:bgPr>
    </p:bg>
    <p:spTree>
      <p:nvGrpSpPr>
        <p:cNvPr id="1" name=""/>
        <p:cNvGrpSpPr/>
        <p:nvPr/>
      </p:nvGrpSpPr>
      <p:grpSpPr>
        <a:xfrm>
          <a:off x="0" y="0"/>
          <a:ext cx="0" cy="0"/>
          <a:chOff x="0" y="0"/>
          <a:chExt cx="0" cy="0"/>
        </a:xfrm>
      </p:grpSpPr>
      <p:pic>
        <p:nvPicPr>
          <p:cNvPr id="2" name="Image 0" descr="/sessions/quirky-zen-galileo/mnt/outputs/deckbuild/nhs_logo.png">    </p:cNvPr>
          <p:cNvPicPr>
            <a:picLocks noChangeAspect="1"/>
          </p:cNvPicPr>
          <p:nvPr/>
        </p:nvPicPr>
        <p:blipFill>
          <a:blip r:embed="rId1"/>
          <a:stretch>
            <a:fillRect/>
          </a:stretch>
        </p:blipFill>
        <p:spPr>
          <a:xfrm>
            <a:off x="10591495" y="365760"/>
            <a:ext cx="1143000" cy="466344"/>
          </a:xfrm>
          <a:prstGeom prst="rect">
            <a:avLst/>
          </a:prstGeom>
        </p:spPr>
      </p:pic>
      <p:sp>
        <p:nvSpPr>
          <p:cNvPr id="3" name="Text 0"/>
          <p:cNvSpPr/>
          <p:nvPr/>
        </p:nvSpPr>
        <p:spPr>
          <a:xfrm>
            <a:off x="640080" y="502920"/>
            <a:ext cx="9326880" cy="274320"/>
          </a:xfrm>
          <a:prstGeom prst="rect">
            <a:avLst/>
          </a:prstGeom>
          <a:noFill/>
          <a:ln/>
        </p:spPr>
        <p:txBody>
          <a:bodyPr wrap="square" lIns="0" tIns="0" rIns="0" bIns="0" rtlCol="0" anchor="ctr"/>
          <a:lstStyle/>
          <a:p>
            <a:pPr indent="0" marL="0">
              <a:buNone/>
            </a:pPr>
            <a:r>
              <a:rPr lang="en-US" sz="1050" b="1" spc="300" kern="0" dirty="0">
                <a:solidFill>
                  <a:srgbClr val="7EC8E3"/>
                </a:solidFill>
                <a:latin typeface="Arial" pitchFamily="34" charset="0"/>
                <a:ea typeface="Arial" pitchFamily="34" charset="-122"/>
                <a:cs typeface="Arial" pitchFamily="34" charset="-120"/>
              </a:rPr>
              <a:t>HEARTS AND MINDS  ·  HOMETEST OPERATING MODEL  ·  SUPPLIER JOURNEY</a:t>
            </a:r>
            <a:endParaRPr lang="en-US" sz="1050" dirty="0"/>
          </a:p>
        </p:txBody>
      </p:sp>
      <p:sp>
        <p:nvSpPr>
          <p:cNvPr id="4" name="Shape 1"/>
          <p:cNvSpPr/>
          <p:nvPr/>
        </p:nvSpPr>
        <p:spPr>
          <a:xfrm>
            <a:off x="640080" y="914400"/>
            <a:ext cx="822960" cy="54864"/>
          </a:xfrm>
          <a:prstGeom prst="rect">
            <a:avLst/>
          </a:prstGeom>
          <a:solidFill>
            <a:srgbClr val="FFB91D"/>
          </a:solidFill>
          <a:ln w="12700">
            <a:solidFill>
              <a:srgbClr val="FFB91D"/>
            </a:solidFill>
            <a:prstDash val="solid"/>
          </a:ln>
        </p:spPr>
      </p:sp>
      <p:sp>
        <p:nvSpPr>
          <p:cNvPr id="5" name="Text 2"/>
          <p:cNvSpPr/>
          <p:nvPr/>
        </p:nvSpPr>
        <p:spPr>
          <a:xfrm>
            <a:off x="640080" y="1097280"/>
            <a:ext cx="7315200" cy="1005840"/>
          </a:xfrm>
          <a:prstGeom prst="rect">
            <a:avLst/>
          </a:prstGeom>
          <a:noFill/>
          <a:ln/>
        </p:spPr>
        <p:txBody>
          <a:bodyPr wrap="square" lIns="0" tIns="0" rIns="0" bIns="0" rtlCol="0" anchor="ctr"/>
          <a:lstStyle/>
          <a:p>
            <a:pPr indent="0" marL="0">
              <a:buNone/>
            </a:pPr>
            <a:r>
              <a:rPr lang="en-US" sz="6000" b="1" dirty="0">
                <a:solidFill>
                  <a:srgbClr val="FFFFFF"/>
                </a:solidFill>
                <a:latin typeface="Arial" pitchFamily="34" charset="0"/>
                <a:ea typeface="Arial" pitchFamily="34" charset="-122"/>
                <a:cs typeface="Arial" pitchFamily="34" charset="-120"/>
              </a:rPr>
              <a:t>Joe.</a:t>
            </a:r>
            <a:endParaRPr lang="en-US" sz="6000" dirty="0"/>
          </a:p>
        </p:txBody>
      </p:sp>
      <p:sp>
        <p:nvSpPr>
          <p:cNvPr id="6" name="Text 3"/>
          <p:cNvSpPr/>
          <p:nvPr/>
        </p:nvSpPr>
        <p:spPr>
          <a:xfrm>
            <a:off x="640080" y="2148840"/>
            <a:ext cx="6949440" cy="1207008"/>
          </a:xfrm>
          <a:prstGeom prst="rect">
            <a:avLst/>
          </a:prstGeom>
          <a:noFill/>
          <a:ln/>
        </p:spPr>
        <p:txBody>
          <a:bodyPr wrap="square" lIns="0" tIns="0" rIns="0" bIns="0" rtlCol="0" anchor="t">
            <a:normAutofit/>
          </a:bodyPr>
          <a:lstStyle/>
          <a:p>
            <a:pPr indent="0" marL="0">
              <a:buNone/>
            </a:pPr>
            <a:r>
              <a:rPr lang="en-US" sz="2400" dirty="0">
                <a:solidFill>
                  <a:srgbClr val="FFFFFF"/>
                </a:solidFill>
                <a:latin typeface="Arial" pitchFamily="34" charset="0"/>
                <a:ea typeface="Arial" pitchFamily="34" charset="-122"/>
                <a:cs typeface="Arial" pitchFamily="34" charset="-120"/>
              </a:rPr>
              <a:t>Admitted</a:t>
            </a:r>
            <a:endParaRPr lang="en-US" sz="2400" dirty="0"/>
          </a:p>
          <a:p>
            <a:pPr indent="0" marL="0">
              <a:buNone/>
            </a:pPr>
            <a:r>
              <a:rPr lang="en-US" sz="2400" dirty="0">
                <a:solidFill>
                  <a:srgbClr val="FFFFFF"/>
                </a:solidFill>
                <a:latin typeface="Arial" pitchFamily="34" charset="0"/>
                <a:ea typeface="Arial" pitchFamily="34" charset="-122"/>
                <a:cs typeface="Arial" pitchFamily="34" charset="-120"/>
              </a:rPr>
              <a:t>once.</a:t>
            </a:r>
            <a:endParaRPr lang="en-US" sz="2400" dirty="0"/>
          </a:p>
          <a:p>
            <a:pPr indent="0" marL="0">
              <a:buNone/>
            </a:pPr>
            <a:r>
              <a:rPr lang="en-US" sz="2400" dirty="0">
                <a:solidFill>
                  <a:srgbClr val="FFFFFF"/>
                </a:solidFill>
                <a:latin typeface="Arial" pitchFamily="34" charset="0"/>
                <a:ea typeface="Arial" pitchFamily="34" charset="-122"/>
                <a:cs typeface="Arial" pitchFamily="34" charset="-120"/>
              </a:rPr>
              <a:t>Reused everywhere.</a:t>
            </a:r>
            <a:endParaRPr lang="en-US" sz="2400" dirty="0"/>
          </a:p>
        </p:txBody>
      </p:sp>
      <p:sp>
        <p:nvSpPr>
          <p:cNvPr id="7" name="Text 4"/>
          <p:cNvSpPr/>
          <p:nvPr/>
        </p:nvSpPr>
        <p:spPr>
          <a:xfrm>
            <a:off x="640080" y="3630168"/>
            <a:ext cx="6949440" cy="1021080"/>
          </a:xfrm>
          <a:prstGeom prst="rect">
            <a:avLst/>
          </a:prstGeom>
          <a:noFill/>
          <a:ln/>
        </p:spPr>
        <p:txBody>
          <a:bodyPr wrap="square" lIns="0" tIns="0" rIns="0" bIns="0" rtlCol="0" anchor="t">
            <a:normAutofit/>
          </a:bodyPr>
          <a:lstStyle/>
          <a:p>
            <a:pPr indent="0" marL="0">
              <a:buNone/>
            </a:pPr>
            <a:r>
              <a:rPr lang="en-US" sz="1200" dirty="0">
                <a:solidFill>
                  <a:srgbClr val="DCE7F0"/>
                </a:solidFill>
                <a:latin typeface="Arial" pitchFamily="34" charset="0"/>
                <a:ea typeface="Arial" pitchFamily="34" charset="-122"/>
                <a:cs typeface="Arial" pitchFamily="34" charset="-120"/>
              </a:rPr>
              <a:t>Joe runs a self-sample diagnostics business. Twenty staff, two labs, a kit, a clinical safety officer, the regulatory paperwork done. The market is fragmented, every commissioner wants their own DPIA, their own contract, their own assurance pack. </a:t>
            </a:r>
            <a:pPr indent="0" marL="0">
              <a:buNone/>
            </a:pPr>
            <a:r>
              <a:rPr lang="en-US" sz="1200" b="1" dirty="0">
                <a:solidFill>
                  <a:srgbClr val="DCE7F0"/>
                </a:solidFill>
                <a:latin typeface="Arial" pitchFamily="34" charset="0"/>
                <a:ea typeface="Arial" pitchFamily="34" charset="-122"/>
                <a:cs typeface="Arial" pitchFamily="34" charset="-120"/>
              </a:rPr>
              <a:t>This is the story of how the framework turns one admission into many deployments, without a fresh assurance pass each time.</a:t>
            </a:r>
            <a:endParaRPr lang="en-US" sz="1200" dirty="0"/>
          </a:p>
        </p:txBody>
      </p:sp>
      <p:sp>
        <p:nvSpPr>
          <p:cNvPr id="8" name="Text 5"/>
          <p:cNvSpPr/>
          <p:nvPr/>
        </p:nvSpPr>
        <p:spPr>
          <a:xfrm>
            <a:off x="640080" y="4788408"/>
            <a:ext cx="6949440" cy="365760"/>
          </a:xfrm>
          <a:prstGeom prst="rect">
            <a:avLst/>
          </a:prstGeom>
          <a:noFill/>
          <a:ln/>
        </p:spPr>
        <p:txBody>
          <a:bodyPr wrap="square" lIns="0" tIns="0" rIns="0" bIns="0" rtlCol="0" anchor="ctr"/>
          <a:lstStyle/>
          <a:p>
            <a:pPr indent="0" marL="0">
              <a:buNone/>
            </a:pPr>
            <a:r>
              <a:rPr lang="en-US" sz="1050" i="1" dirty="0">
                <a:solidFill>
                  <a:srgbClr val="7EC8E3"/>
                </a:solidFill>
                <a:latin typeface="Arial" pitchFamily="34" charset="0"/>
                <a:ea typeface="Arial" pitchFamily="34" charset="-122"/>
                <a:cs typeface="Arial" pitchFamily="34" charset="-120"/>
              </a:rPr>
              <a:t>A supplier's story through the operating model</a:t>
            </a:r>
            <a:endParaRPr lang="en-US" sz="1050" dirty="0"/>
          </a:p>
        </p:txBody>
      </p:sp>
      <p:sp>
        <p:nvSpPr>
          <p:cNvPr id="9" name="Shape 6"/>
          <p:cNvSpPr/>
          <p:nvPr/>
        </p:nvSpPr>
        <p:spPr>
          <a:xfrm>
            <a:off x="8476488" y="1344168"/>
            <a:ext cx="2889504" cy="2889504"/>
          </a:xfrm>
          <a:prstGeom prst="ellipse">
            <a:avLst/>
          </a:prstGeom>
          <a:solidFill>
            <a:srgbClr val="5BC093"/>
          </a:solidFill>
          <a:ln w="12700">
            <a:solidFill>
              <a:srgbClr val="5BC093"/>
            </a:solidFill>
            <a:prstDash val="solid"/>
          </a:ln>
        </p:spPr>
      </p:sp>
      <p:pic>
        <p:nvPicPr>
          <p:cNvPr id="10" name="Image 1" descr="/sessions/quirky-zen-galileo/mnt/outputs/hmdecks/img/joe-portrait.jpg">    </p:cNvPr>
          <p:cNvPicPr>
            <a:picLocks noChangeAspect="1"/>
          </p:cNvPicPr>
          <p:nvPr/>
        </p:nvPicPr>
        <p:blipFill>
          <a:blip r:embed="rId2"/>
          <a:srcRect l="0" r="0" t="0" b="0"/>
          <a:stretch/>
        </p:blipFill>
        <p:spPr>
          <a:xfrm>
            <a:off x="8549640" y="1417320"/>
            <a:ext cx="2743200" cy="2743200"/>
          </a:xfrm>
          <a:prstGeom prst="ellipse">
            <a:avLst/>
          </a:prstGeom>
        </p:spPr>
      </p:pic>
      <p:sp>
        <p:nvSpPr>
          <p:cNvPr id="11" name="Text 7"/>
          <p:cNvSpPr/>
          <p:nvPr/>
        </p:nvSpPr>
        <p:spPr>
          <a:xfrm>
            <a:off x="8138160" y="4343400"/>
            <a:ext cx="356616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Joe</a:t>
            </a:r>
            <a:endParaRPr lang="en-US" sz="2000" dirty="0"/>
          </a:p>
        </p:txBody>
      </p:sp>
      <p:sp>
        <p:nvSpPr>
          <p:cNvPr id="12" name="Text 8"/>
          <p:cNvSpPr/>
          <p:nvPr/>
        </p:nvSpPr>
        <p:spPr>
          <a:xfrm>
            <a:off x="7955280" y="4754880"/>
            <a:ext cx="3931920" cy="640080"/>
          </a:xfrm>
          <a:prstGeom prst="rect">
            <a:avLst/>
          </a:prstGeom>
          <a:noFill/>
          <a:ln/>
        </p:spPr>
        <p:txBody>
          <a:bodyPr wrap="square" lIns="0" tIns="0" rIns="0" bIns="0" rtlCol="0" anchor="t"/>
          <a:lstStyle/>
          <a:p>
            <a:pPr algn="ctr" indent="0" marL="0">
              <a:buNone/>
            </a:pPr>
            <a:r>
              <a:rPr lang="en-US" sz="1100" dirty="0">
                <a:solidFill>
                  <a:srgbClr val="FFB91D"/>
                </a:solidFill>
                <a:latin typeface="Arial" pitchFamily="34" charset="0"/>
                <a:ea typeface="Arial" pitchFamily="34" charset="-122"/>
                <a:cs typeface="Arial" pitchFamily="34" charset="-120"/>
              </a:rPr>
              <a:t>Self-sample supplier · Framework-admitted</a:t>
            </a:r>
            <a:endParaRPr lang="en-US" sz="1100" dirty="0"/>
          </a:p>
        </p:txBody>
      </p:sp>
      <p:sp>
        <p:nvSpPr>
          <p:cNvPr id="13" name="Text 9"/>
          <p:cNvSpPr/>
          <p:nvPr/>
        </p:nvSpPr>
        <p:spPr>
          <a:xfrm>
            <a:off x="457200" y="6473952"/>
            <a:ext cx="3108960" cy="274320"/>
          </a:xfrm>
          <a:prstGeom prst="rect">
            <a:avLst/>
          </a:prstGeom>
          <a:noFill/>
          <a:ln/>
        </p:spPr>
        <p:txBody>
          <a:bodyPr wrap="square" lIns="0" tIns="0" rIns="0" bIns="0" rtlCol="0" anchor="ctr"/>
          <a:lstStyle/>
          <a:p>
            <a:pPr indent="0" marL="0">
              <a:buNone/>
            </a:pPr>
            <a:r>
              <a:rPr lang="en-US" sz="850" dirty="0">
                <a:solidFill>
                  <a:srgbClr val="7EC8E3"/>
                </a:solidFill>
                <a:latin typeface="Arial" pitchFamily="34" charset="0"/>
                <a:ea typeface="Arial" pitchFamily="34" charset="-122"/>
                <a:cs typeface="Arial" pitchFamily="34" charset="-120"/>
              </a:rPr>
              <a:t>HomeTest Operating Model  ·  Hearts and Minds</a:t>
            </a:r>
            <a:endParaRPr lang="en-US" sz="850" dirty="0"/>
          </a:p>
        </p:txBody>
      </p:sp>
      <p:sp>
        <p:nvSpPr>
          <p:cNvPr id="14" name="Text 10"/>
          <p:cNvSpPr/>
          <p:nvPr/>
        </p:nvSpPr>
        <p:spPr>
          <a:xfrm>
            <a:off x="3657600" y="6473952"/>
            <a:ext cx="7528255" cy="274320"/>
          </a:xfrm>
          <a:prstGeom prst="rect">
            <a:avLst/>
          </a:prstGeom>
          <a:noFill/>
          <a:ln/>
        </p:spPr>
        <p:txBody>
          <a:bodyPr wrap="square" lIns="0" tIns="0" rIns="0" bIns="0" rtlCol="0" anchor="ctr"/>
          <a:lstStyle/>
          <a:p>
            <a:pPr algn="r" indent="0" marL="0">
              <a:buNone/>
            </a:pPr>
            <a:r>
              <a:rPr lang="en-US" sz="800" dirty="0">
                <a:solidFill>
                  <a:srgbClr val="7EC8E3"/>
                </a:solidFill>
                <a:latin typeface="Arial" pitchFamily="34" charset="0"/>
                <a:ea typeface="Arial" pitchFamily="34" charset="-122"/>
                <a:cs typeface="Arial" pitchFamily="34" charset="-120"/>
              </a:rPr>
              <a:t>Commercial positions are agreed in principle and remain subject to the live procurement.</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03087"/>
          </a:solidFill>
          <a:ln w="12700">
            <a:solidFill>
              <a:srgbClr val="003087"/>
            </a:solidFill>
            <a:prstDash val="solid"/>
          </a:ln>
        </p:spPr>
      </p:sp>
      <p:sp>
        <p:nvSpPr>
          <p:cNvPr id="3" name="Shape 1"/>
          <p:cNvSpPr/>
          <p:nvPr/>
        </p:nvSpPr>
        <p:spPr>
          <a:xfrm>
            <a:off x="0" y="868680"/>
            <a:ext cx="12191695" cy="54864"/>
          </a:xfrm>
          <a:prstGeom prst="rect">
            <a:avLst/>
          </a:prstGeom>
          <a:solidFill>
            <a:srgbClr val="5BC093"/>
          </a:solidFill>
          <a:ln w="12700">
            <a:solidFill>
              <a:srgbClr val="5BC093"/>
            </a:solidFill>
            <a:prstDash val="solid"/>
          </a:ln>
        </p:spPr>
      </p:sp>
      <p:sp>
        <p:nvSpPr>
          <p:cNvPr id="4" name="Text 2"/>
          <p:cNvSpPr/>
          <p:nvPr/>
        </p:nvSpPr>
        <p:spPr>
          <a:xfrm>
            <a:off x="457200" y="128016"/>
            <a:ext cx="8686800" cy="256032"/>
          </a:xfrm>
          <a:prstGeom prst="rect">
            <a:avLst/>
          </a:prstGeom>
          <a:noFill/>
          <a:ln/>
        </p:spPr>
        <p:txBody>
          <a:bodyPr wrap="square" lIns="0" tIns="0" rIns="0" bIns="0" rtlCol="0" anchor="ctr"/>
          <a:lstStyle/>
          <a:p>
            <a:pPr indent="0" marL="0">
              <a:buNone/>
            </a:pPr>
            <a:r>
              <a:rPr lang="en-US" sz="950" b="1" spc="200" kern="0" dirty="0">
                <a:solidFill>
                  <a:srgbClr val="7EC8E3"/>
                </a:solidFill>
                <a:latin typeface="Arial" pitchFamily="34" charset="0"/>
                <a:ea typeface="Arial" pitchFamily="34" charset="-122"/>
                <a:cs typeface="Arial" pitchFamily="34" charset="-120"/>
              </a:rPr>
              <a:t>HEARTS AND MINDS  ·  SUPPLIER JOURNEY</a:t>
            </a:r>
            <a:endParaRPr lang="en-US" sz="950" dirty="0"/>
          </a:p>
        </p:txBody>
      </p:sp>
      <p:sp>
        <p:nvSpPr>
          <p:cNvPr id="5" name="Text 3"/>
          <p:cNvSpPr/>
          <p:nvPr/>
        </p:nvSpPr>
        <p:spPr>
          <a:xfrm>
            <a:off x="457200" y="384048"/>
            <a:ext cx="960120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Joe's journey at a glance</a:t>
            </a:r>
            <a:endParaRPr lang="en-US" sz="2000" dirty="0"/>
          </a:p>
        </p:txBody>
      </p:sp>
      <p:pic>
        <p:nvPicPr>
          <p:cNvPr id="6" name="Image 0" descr="/sessions/quirky-zen-galileo/mnt/outputs/deckbuild/nhs_logo.png">    </p:cNvPr>
          <p:cNvPicPr>
            <a:picLocks noChangeAspect="1"/>
          </p:cNvPicPr>
          <p:nvPr/>
        </p:nvPicPr>
        <p:blipFill>
          <a:blip r:embed="rId1"/>
          <a:stretch>
            <a:fillRect/>
          </a:stretch>
        </p:blipFill>
        <p:spPr>
          <a:xfrm>
            <a:off x="10774375" y="201168"/>
            <a:ext cx="960120" cy="393192"/>
          </a:xfrm>
          <a:prstGeom prst="rect">
            <a:avLst/>
          </a:prstGeom>
        </p:spPr>
      </p:pic>
      <p:sp>
        <p:nvSpPr>
          <p:cNvPr id="7" name="Shape 4"/>
          <p:cNvSpPr/>
          <p:nvPr/>
        </p:nvSpPr>
        <p:spPr>
          <a:xfrm>
            <a:off x="457200" y="1234440"/>
            <a:ext cx="1788109" cy="1234440"/>
          </a:xfrm>
          <a:prstGeom prst="roundRect">
            <a:avLst>
              <a:gd name="adj" fmla="val 5926"/>
            </a:avLst>
          </a:prstGeom>
          <a:solidFill>
            <a:srgbClr val="F0F4F5"/>
          </a:solidFill>
          <a:ln w="9525">
            <a:solidFill>
              <a:srgbClr val="DDE3E8"/>
            </a:solidFill>
            <a:prstDash val="solid"/>
          </a:ln>
        </p:spPr>
      </p:sp>
      <p:sp>
        <p:nvSpPr>
          <p:cNvPr id="8" name="Shape 5"/>
          <p:cNvSpPr/>
          <p:nvPr/>
        </p:nvSpPr>
        <p:spPr>
          <a:xfrm>
            <a:off x="457200" y="1234440"/>
            <a:ext cx="1788109" cy="54864"/>
          </a:xfrm>
          <a:prstGeom prst="rect">
            <a:avLst/>
          </a:prstGeom>
          <a:solidFill>
            <a:srgbClr val="5BC093"/>
          </a:solidFill>
          <a:ln w="12700">
            <a:solidFill>
              <a:srgbClr val="5BC093"/>
            </a:solidFill>
            <a:prstDash val="solid"/>
          </a:ln>
        </p:spPr>
      </p:sp>
      <p:sp>
        <p:nvSpPr>
          <p:cNvPr id="9" name="Shape 6"/>
          <p:cNvSpPr/>
          <p:nvPr/>
        </p:nvSpPr>
        <p:spPr>
          <a:xfrm>
            <a:off x="585216" y="1417320"/>
            <a:ext cx="347472" cy="347472"/>
          </a:xfrm>
          <a:prstGeom prst="ellipse">
            <a:avLst/>
          </a:prstGeom>
          <a:solidFill>
            <a:srgbClr val="003087"/>
          </a:solidFill>
          <a:ln w="12700">
            <a:solidFill>
              <a:srgbClr val="003087"/>
            </a:solidFill>
            <a:prstDash val="solid"/>
          </a:ln>
        </p:spPr>
      </p:sp>
      <p:sp>
        <p:nvSpPr>
          <p:cNvPr id="10" name="Text 7"/>
          <p:cNvSpPr/>
          <p:nvPr/>
        </p:nvSpPr>
        <p:spPr>
          <a:xfrm>
            <a:off x="585216" y="141732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1" name="Text 8"/>
          <p:cNvSpPr/>
          <p:nvPr/>
        </p:nvSpPr>
        <p:spPr>
          <a:xfrm>
            <a:off x="1005840" y="1380744"/>
            <a:ext cx="1148029"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Arial" pitchFamily="34" charset="0"/>
                <a:ea typeface="Arial" pitchFamily="34" charset="-122"/>
                <a:cs typeface="Arial" pitchFamily="34" charset="-120"/>
              </a:rPr>
              <a:t>Find the framework</a:t>
            </a:r>
            <a:endParaRPr lang="en-US" sz="1100" dirty="0"/>
          </a:p>
        </p:txBody>
      </p:sp>
      <p:sp>
        <p:nvSpPr>
          <p:cNvPr id="12" name="Text 9"/>
          <p:cNvSpPr/>
          <p:nvPr/>
        </p:nvSpPr>
        <p:spPr>
          <a:xfrm>
            <a:off x="585216" y="1856232"/>
            <a:ext cx="1532077" cy="53949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Arial" pitchFamily="34" charset="0"/>
                <a:ea typeface="Arial" pitchFamily="34" charset="-122"/>
                <a:cs typeface="Arial" pitchFamily="34" charset="-120"/>
              </a:rPr>
              <a:t>Public criteria pack</a:t>
            </a:r>
            <a:endParaRPr lang="en-US" sz="900" dirty="0"/>
          </a:p>
        </p:txBody>
      </p:sp>
      <p:sp>
        <p:nvSpPr>
          <p:cNvPr id="13" name="Shape 10"/>
          <p:cNvSpPr/>
          <p:nvPr/>
        </p:nvSpPr>
        <p:spPr>
          <a:xfrm>
            <a:off x="2355037" y="1234440"/>
            <a:ext cx="1788109" cy="1234440"/>
          </a:xfrm>
          <a:prstGeom prst="roundRect">
            <a:avLst>
              <a:gd name="adj" fmla="val 5926"/>
            </a:avLst>
          </a:prstGeom>
          <a:solidFill>
            <a:srgbClr val="F0F4F5"/>
          </a:solidFill>
          <a:ln w="9525">
            <a:solidFill>
              <a:srgbClr val="DDE3E8"/>
            </a:solidFill>
            <a:prstDash val="solid"/>
          </a:ln>
        </p:spPr>
      </p:sp>
      <p:sp>
        <p:nvSpPr>
          <p:cNvPr id="14" name="Shape 11"/>
          <p:cNvSpPr/>
          <p:nvPr/>
        </p:nvSpPr>
        <p:spPr>
          <a:xfrm>
            <a:off x="2355037" y="1234440"/>
            <a:ext cx="1788109" cy="54864"/>
          </a:xfrm>
          <a:prstGeom prst="rect">
            <a:avLst/>
          </a:prstGeom>
          <a:solidFill>
            <a:srgbClr val="5BC093"/>
          </a:solidFill>
          <a:ln w="12700">
            <a:solidFill>
              <a:srgbClr val="5BC093"/>
            </a:solidFill>
            <a:prstDash val="solid"/>
          </a:ln>
        </p:spPr>
      </p:sp>
      <p:sp>
        <p:nvSpPr>
          <p:cNvPr id="15" name="Shape 12"/>
          <p:cNvSpPr/>
          <p:nvPr/>
        </p:nvSpPr>
        <p:spPr>
          <a:xfrm>
            <a:off x="2483053" y="1417320"/>
            <a:ext cx="347472" cy="347472"/>
          </a:xfrm>
          <a:prstGeom prst="ellipse">
            <a:avLst/>
          </a:prstGeom>
          <a:solidFill>
            <a:srgbClr val="003087"/>
          </a:solidFill>
          <a:ln w="12700">
            <a:solidFill>
              <a:srgbClr val="003087"/>
            </a:solidFill>
            <a:prstDash val="solid"/>
          </a:ln>
        </p:spPr>
      </p:sp>
      <p:sp>
        <p:nvSpPr>
          <p:cNvPr id="16" name="Text 13"/>
          <p:cNvSpPr/>
          <p:nvPr/>
        </p:nvSpPr>
        <p:spPr>
          <a:xfrm>
            <a:off x="2483053" y="141732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7" name="Text 14"/>
          <p:cNvSpPr/>
          <p:nvPr/>
        </p:nvSpPr>
        <p:spPr>
          <a:xfrm>
            <a:off x="2903677" y="1380744"/>
            <a:ext cx="1148029"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Arial" pitchFamily="34" charset="0"/>
                <a:ea typeface="Arial" pitchFamily="34" charset="-122"/>
                <a:cs typeface="Arial" pitchFamily="34" charset="-120"/>
              </a:rPr>
              <a:t>Self-assess</a:t>
            </a:r>
            <a:endParaRPr lang="en-US" sz="1100" dirty="0"/>
          </a:p>
        </p:txBody>
      </p:sp>
      <p:sp>
        <p:nvSpPr>
          <p:cNvPr id="18" name="Text 15"/>
          <p:cNvSpPr/>
          <p:nvPr/>
        </p:nvSpPr>
        <p:spPr>
          <a:xfrm>
            <a:off x="2483053" y="1856232"/>
            <a:ext cx="1532077" cy="53949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Arial" pitchFamily="34" charset="0"/>
                <a:ea typeface="Arial" pitchFamily="34" charset="-122"/>
                <a:cs typeface="Arial" pitchFamily="34" charset="-120"/>
              </a:rPr>
              <a:t>No NHSE meeting needed yet</a:t>
            </a:r>
            <a:endParaRPr lang="en-US" sz="900" dirty="0"/>
          </a:p>
        </p:txBody>
      </p:sp>
      <p:sp>
        <p:nvSpPr>
          <p:cNvPr id="19" name="Shape 16"/>
          <p:cNvSpPr/>
          <p:nvPr/>
        </p:nvSpPr>
        <p:spPr>
          <a:xfrm>
            <a:off x="4252874" y="1234440"/>
            <a:ext cx="1788109" cy="1234440"/>
          </a:xfrm>
          <a:prstGeom prst="roundRect">
            <a:avLst>
              <a:gd name="adj" fmla="val 5926"/>
            </a:avLst>
          </a:prstGeom>
          <a:solidFill>
            <a:srgbClr val="F0F4F5"/>
          </a:solidFill>
          <a:ln w="9525">
            <a:solidFill>
              <a:srgbClr val="DDE3E8"/>
            </a:solidFill>
            <a:prstDash val="solid"/>
          </a:ln>
        </p:spPr>
      </p:sp>
      <p:sp>
        <p:nvSpPr>
          <p:cNvPr id="20" name="Shape 17"/>
          <p:cNvSpPr/>
          <p:nvPr/>
        </p:nvSpPr>
        <p:spPr>
          <a:xfrm>
            <a:off x="4252874" y="1234440"/>
            <a:ext cx="1788109" cy="54864"/>
          </a:xfrm>
          <a:prstGeom prst="rect">
            <a:avLst/>
          </a:prstGeom>
          <a:solidFill>
            <a:srgbClr val="5BC093"/>
          </a:solidFill>
          <a:ln w="12700">
            <a:solidFill>
              <a:srgbClr val="5BC093"/>
            </a:solidFill>
            <a:prstDash val="solid"/>
          </a:ln>
        </p:spPr>
      </p:sp>
      <p:sp>
        <p:nvSpPr>
          <p:cNvPr id="21" name="Shape 18"/>
          <p:cNvSpPr/>
          <p:nvPr/>
        </p:nvSpPr>
        <p:spPr>
          <a:xfrm>
            <a:off x="4380890" y="1417320"/>
            <a:ext cx="347472" cy="347472"/>
          </a:xfrm>
          <a:prstGeom prst="ellipse">
            <a:avLst/>
          </a:prstGeom>
          <a:solidFill>
            <a:srgbClr val="003087"/>
          </a:solidFill>
          <a:ln w="12700">
            <a:solidFill>
              <a:srgbClr val="003087"/>
            </a:solidFill>
            <a:prstDash val="solid"/>
          </a:ln>
        </p:spPr>
      </p:sp>
      <p:sp>
        <p:nvSpPr>
          <p:cNvPr id="22" name="Text 19"/>
          <p:cNvSpPr/>
          <p:nvPr/>
        </p:nvSpPr>
        <p:spPr>
          <a:xfrm>
            <a:off x="4380890" y="141732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3" name="Text 20"/>
          <p:cNvSpPr/>
          <p:nvPr/>
        </p:nvSpPr>
        <p:spPr>
          <a:xfrm>
            <a:off x="4801514" y="1380744"/>
            <a:ext cx="1148029"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Arial" pitchFamily="34" charset="0"/>
                <a:ea typeface="Arial" pitchFamily="34" charset="-122"/>
                <a:cs typeface="Arial" pitchFamily="34" charset="-120"/>
              </a:rPr>
              <a:t>Submit the EOI</a:t>
            </a:r>
            <a:endParaRPr lang="en-US" sz="1100" dirty="0"/>
          </a:p>
        </p:txBody>
      </p:sp>
      <p:sp>
        <p:nvSpPr>
          <p:cNvPr id="24" name="Text 21"/>
          <p:cNvSpPr/>
          <p:nvPr/>
        </p:nvSpPr>
        <p:spPr>
          <a:xfrm>
            <a:off x="4380890" y="1856232"/>
            <a:ext cx="1532077" cy="53949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Arial" pitchFamily="34" charset="0"/>
                <a:ea typeface="Arial" pitchFamily="34" charset="-122"/>
                <a:cs typeface="Arial" pitchFamily="34" charset="-120"/>
              </a:rPr>
              <a:t>Structured, evidenced</a:t>
            </a:r>
            <a:endParaRPr lang="en-US" sz="900" dirty="0"/>
          </a:p>
        </p:txBody>
      </p:sp>
      <p:sp>
        <p:nvSpPr>
          <p:cNvPr id="25" name="Shape 22"/>
          <p:cNvSpPr/>
          <p:nvPr/>
        </p:nvSpPr>
        <p:spPr>
          <a:xfrm>
            <a:off x="6150712" y="1234440"/>
            <a:ext cx="1788109" cy="1234440"/>
          </a:xfrm>
          <a:prstGeom prst="roundRect">
            <a:avLst>
              <a:gd name="adj" fmla="val 5926"/>
            </a:avLst>
          </a:prstGeom>
          <a:solidFill>
            <a:srgbClr val="F0F4F5"/>
          </a:solidFill>
          <a:ln w="9525">
            <a:solidFill>
              <a:srgbClr val="DDE3E8"/>
            </a:solidFill>
            <a:prstDash val="solid"/>
          </a:ln>
        </p:spPr>
      </p:sp>
      <p:sp>
        <p:nvSpPr>
          <p:cNvPr id="26" name="Shape 23"/>
          <p:cNvSpPr/>
          <p:nvPr/>
        </p:nvSpPr>
        <p:spPr>
          <a:xfrm>
            <a:off x="6150712" y="1234440"/>
            <a:ext cx="1788109" cy="54864"/>
          </a:xfrm>
          <a:prstGeom prst="rect">
            <a:avLst/>
          </a:prstGeom>
          <a:solidFill>
            <a:srgbClr val="5BC093"/>
          </a:solidFill>
          <a:ln w="12700">
            <a:solidFill>
              <a:srgbClr val="5BC093"/>
            </a:solidFill>
            <a:prstDash val="solid"/>
          </a:ln>
        </p:spPr>
      </p:sp>
      <p:sp>
        <p:nvSpPr>
          <p:cNvPr id="27" name="Shape 24"/>
          <p:cNvSpPr/>
          <p:nvPr/>
        </p:nvSpPr>
        <p:spPr>
          <a:xfrm>
            <a:off x="6278728" y="1417320"/>
            <a:ext cx="347472" cy="347472"/>
          </a:xfrm>
          <a:prstGeom prst="ellipse">
            <a:avLst/>
          </a:prstGeom>
          <a:solidFill>
            <a:srgbClr val="003087"/>
          </a:solidFill>
          <a:ln w="12700">
            <a:solidFill>
              <a:srgbClr val="003087"/>
            </a:solidFill>
            <a:prstDash val="solid"/>
          </a:ln>
        </p:spPr>
      </p:sp>
      <p:sp>
        <p:nvSpPr>
          <p:cNvPr id="28" name="Text 25"/>
          <p:cNvSpPr/>
          <p:nvPr/>
        </p:nvSpPr>
        <p:spPr>
          <a:xfrm>
            <a:off x="6278728" y="141732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9" name="Text 26"/>
          <p:cNvSpPr/>
          <p:nvPr/>
        </p:nvSpPr>
        <p:spPr>
          <a:xfrm>
            <a:off x="6699352" y="1380744"/>
            <a:ext cx="1148029"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Arial" pitchFamily="34" charset="0"/>
                <a:ea typeface="Arial" pitchFamily="34" charset="-122"/>
                <a:cs typeface="Arial" pitchFamily="34" charset="-120"/>
              </a:rPr>
              <a:t>Through the gate</a:t>
            </a:r>
            <a:endParaRPr lang="en-US" sz="1100" dirty="0"/>
          </a:p>
        </p:txBody>
      </p:sp>
      <p:sp>
        <p:nvSpPr>
          <p:cNvPr id="30" name="Text 27"/>
          <p:cNvSpPr/>
          <p:nvPr/>
        </p:nvSpPr>
        <p:spPr>
          <a:xfrm>
            <a:off x="6278728" y="1856232"/>
            <a:ext cx="1532077" cy="53949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Arial" pitchFamily="34" charset="0"/>
                <a:ea typeface="Arial" pitchFamily="34" charset="-122"/>
                <a:cs typeface="Arial" pitchFamily="34" charset="-120"/>
              </a:rPr>
              <a:t>Triage, review, conformance</a:t>
            </a:r>
            <a:endParaRPr lang="en-US" sz="900" dirty="0"/>
          </a:p>
        </p:txBody>
      </p:sp>
      <p:sp>
        <p:nvSpPr>
          <p:cNvPr id="31" name="Shape 28"/>
          <p:cNvSpPr/>
          <p:nvPr/>
        </p:nvSpPr>
        <p:spPr>
          <a:xfrm>
            <a:off x="8048549" y="1234440"/>
            <a:ext cx="1788109" cy="1234440"/>
          </a:xfrm>
          <a:prstGeom prst="roundRect">
            <a:avLst>
              <a:gd name="adj" fmla="val 5926"/>
            </a:avLst>
          </a:prstGeom>
          <a:solidFill>
            <a:srgbClr val="F0F4F5"/>
          </a:solidFill>
          <a:ln w="9525">
            <a:solidFill>
              <a:srgbClr val="DDE3E8"/>
            </a:solidFill>
            <a:prstDash val="solid"/>
          </a:ln>
        </p:spPr>
      </p:sp>
      <p:sp>
        <p:nvSpPr>
          <p:cNvPr id="32" name="Shape 29"/>
          <p:cNvSpPr/>
          <p:nvPr/>
        </p:nvSpPr>
        <p:spPr>
          <a:xfrm>
            <a:off x="8048549" y="1234440"/>
            <a:ext cx="1788109" cy="54864"/>
          </a:xfrm>
          <a:prstGeom prst="rect">
            <a:avLst/>
          </a:prstGeom>
          <a:solidFill>
            <a:srgbClr val="5BC093"/>
          </a:solidFill>
          <a:ln w="12700">
            <a:solidFill>
              <a:srgbClr val="5BC093"/>
            </a:solidFill>
            <a:prstDash val="solid"/>
          </a:ln>
        </p:spPr>
      </p:sp>
      <p:sp>
        <p:nvSpPr>
          <p:cNvPr id="33" name="Shape 30"/>
          <p:cNvSpPr/>
          <p:nvPr/>
        </p:nvSpPr>
        <p:spPr>
          <a:xfrm>
            <a:off x="8176565" y="1417320"/>
            <a:ext cx="347472" cy="347472"/>
          </a:xfrm>
          <a:prstGeom prst="ellipse">
            <a:avLst/>
          </a:prstGeom>
          <a:solidFill>
            <a:srgbClr val="003087"/>
          </a:solidFill>
          <a:ln w="12700">
            <a:solidFill>
              <a:srgbClr val="003087"/>
            </a:solidFill>
            <a:prstDash val="solid"/>
          </a:ln>
        </p:spPr>
      </p:sp>
      <p:sp>
        <p:nvSpPr>
          <p:cNvPr id="34" name="Text 31"/>
          <p:cNvSpPr/>
          <p:nvPr/>
        </p:nvSpPr>
        <p:spPr>
          <a:xfrm>
            <a:off x="8176565" y="141732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35" name="Text 32"/>
          <p:cNvSpPr/>
          <p:nvPr/>
        </p:nvSpPr>
        <p:spPr>
          <a:xfrm>
            <a:off x="8597189" y="1380744"/>
            <a:ext cx="1148029"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Arial" pitchFamily="34" charset="0"/>
                <a:ea typeface="Arial" pitchFamily="34" charset="-122"/>
                <a:cs typeface="Arial" pitchFamily="34" charset="-120"/>
              </a:rPr>
              <a:t>First commissioner calls off</a:t>
            </a:r>
            <a:endParaRPr lang="en-US" sz="1100" dirty="0"/>
          </a:p>
        </p:txBody>
      </p:sp>
      <p:sp>
        <p:nvSpPr>
          <p:cNvPr id="36" name="Text 33"/>
          <p:cNvSpPr/>
          <p:nvPr/>
        </p:nvSpPr>
        <p:spPr>
          <a:xfrm>
            <a:off x="8176565" y="1856232"/>
            <a:ext cx="1532077" cy="53949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Arial" pitchFamily="34" charset="0"/>
                <a:ea typeface="Arial" pitchFamily="34" charset="-122"/>
                <a:cs typeface="Arial" pitchFamily="34" charset="-120"/>
              </a:rPr>
              <a:t>No re-assurance</a:t>
            </a:r>
            <a:endParaRPr lang="en-US" sz="900" dirty="0"/>
          </a:p>
        </p:txBody>
      </p:sp>
      <p:sp>
        <p:nvSpPr>
          <p:cNvPr id="37" name="Shape 34"/>
          <p:cNvSpPr/>
          <p:nvPr/>
        </p:nvSpPr>
        <p:spPr>
          <a:xfrm>
            <a:off x="9946386" y="1234440"/>
            <a:ext cx="1788109" cy="1234440"/>
          </a:xfrm>
          <a:prstGeom prst="roundRect">
            <a:avLst>
              <a:gd name="adj" fmla="val 5926"/>
            </a:avLst>
          </a:prstGeom>
          <a:solidFill>
            <a:srgbClr val="F0F4F5"/>
          </a:solidFill>
          <a:ln w="9525">
            <a:solidFill>
              <a:srgbClr val="DDE3E8"/>
            </a:solidFill>
            <a:prstDash val="solid"/>
          </a:ln>
        </p:spPr>
      </p:sp>
      <p:sp>
        <p:nvSpPr>
          <p:cNvPr id="38" name="Shape 35"/>
          <p:cNvSpPr/>
          <p:nvPr/>
        </p:nvSpPr>
        <p:spPr>
          <a:xfrm>
            <a:off x="9946386" y="1234440"/>
            <a:ext cx="1788109" cy="54864"/>
          </a:xfrm>
          <a:prstGeom prst="rect">
            <a:avLst/>
          </a:prstGeom>
          <a:solidFill>
            <a:srgbClr val="5BC093"/>
          </a:solidFill>
          <a:ln w="12700">
            <a:solidFill>
              <a:srgbClr val="5BC093"/>
            </a:solidFill>
            <a:prstDash val="solid"/>
          </a:ln>
        </p:spPr>
      </p:sp>
      <p:sp>
        <p:nvSpPr>
          <p:cNvPr id="39" name="Shape 36"/>
          <p:cNvSpPr/>
          <p:nvPr/>
        </p:nvSpPr>
        <p:spPr>
          <a:xfrm>
            <a:off x="10074402" y="1417320"/>
            <a:ext cx="347472" cy="347472"/>
          </a:xfrm>
          <a:prstGeom prst="ellipse">
            <a:avLst/>
          </a:prstGeom>
          <a:solidFill>
            <a:srgbClr val="003087"/>
          </a:solidFill>
          <a:ln w="12700">
            <a:solidFill>
              <a:srgbClr val="003087"/>
            </a:solidFill>
            <a:prstDash val="solid"/>
          </a:ln>
        </p:spPr>
      </p:sp>
      <p:sp>
        <p:nvSpPr>
          <p:cNvPr id="40" name="Text 37"/>
          <p:cNvSpPr/>
          <p:nvPr/>
        </p:nvSpPr>
        <p:spPr>
          <a:xfrm>
            <a:off x="10074402" y="141732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6</a:t>
            </a:r>
            <a:endParaRPr lang="en-US" sz="1100" dirty="0"/>
          </a:p>
        </p:txBody>
      </p:sp>
      <p:sp>
        <p:nvSpPr>
          <p:cNvPr id="41" name="Text 38"/>
          <p:cNvSpPr/>
          <p:nvPr/>
        </p:nvSpPr>
        <p:spPr>
          <a:xfrm>
            <a:off x="10495026" y="1380744"/>
            <a:ext cx="1148029"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Arial" pitchFamily="34" charset="0"/>
                <a:ea typeface="Arial" pitchFamily="34" charset="-122"/>
                <a:cs typeface="Arial" pitchFamily="34" charset="-120"/>
              </a:rPr>
              <a:t>Reuse across the cohort</a:t>
            </a:r>
            <a:endParaRPr lang="en-US" sz="1100" dirty="0"/>
          </a:p>
        </p:txBody>
      </p:sp>
      <p:sp>
        <p:nvSpPr>
          <p:cNvPr id="42" name="Text 39"/>
          <p:cNvSpPr/>
          <p:nvPr/>
        </p:nvSpPr>
        <p:spPr>
          <a:xfrm>
            <a:off x="10074402" y="1856232"/>
            <a:ext cx="1532077" cy="53949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Arial" pitchFamily="34" charset="0"/>
                <a:ea typeface="Arial" pitchFamily="34" charset="-122"/>
                <a:cs typeface="Arial" pitchFamily="34" charset="-120"/>
              </a:rPr>
              <a:t>One certificate, many deployments</a:t>
            </a:r>
            <a:endParaRPr lang="en-US" sz="900" dirty="0"/>
          </a:p>
        </p:txBody>
      </p:sp>
      <p:sp>
        <p:nvSpPr>
          <p:cNvPr id="43" name="Shape 40"/>
          <p:cNvSpPr/>
          <p:nvPr/>
        </p:nvSpPr>
        <p:spPr>
          <a:xfrm>
            <a:off x="457200" y="2788920"/>
            <a:ext cx="5501488" cy="3520440"/>
          </a:xfrm>
          <a:prstGeom prst="roundRect">
            <a:avLst>
              <a:gd name="adj" fmla="val 2597"/>
            </a:avLst>
          </a:prstGeom>
          <a:solidFill>
            <a:srgbClr val="D5E8F0"/>
          </a:solidFill>
          <a:ln w="9525">
            <a:solidFill>
              <a:srgbClr val="B8D3E6"/>
            </a:solidFill>
            <a:prstDash val="solid"/>
          </a:ln>
        </p:spPr>
      </p:sp>
      <p:sp>
        <p:nvSpPr>
          <p:cNvPr id="44" name="Text 41"/>
          <p:cNvSpPr/>
          <p:nvPr/>
        </p:nvSpPr>
        <p:spPr>
          <a:xfrm>
            <a:off x="685800" y="2953512"/>
            <a:ext cx="5044288" cy="256032"/>
          </a:xfrm>
          <a:prstGeom prst="rect">
            <a:avLst/>
          </a:prstGeom>
          <a:noFill/>
          <a:ln/>
        </p:spPr>
        <p:txBody>
          <a:bodyPr wrap="square" lIns="0" tIns="0" rIns="0" bIns="0" rtlCol="0" anchor="ctr"/>
          <a:lstStyle/>
          <a:p>
            <a:pPr indent="0" marL="0">
              <a:buNone/>
            </a:pPr>
            <a:r>
              <a:rPr lang="en-US" sz="900" b="1" spc="150" kern="0" dirty="0">
                <a:solidFill>
                  <a:srgbClr val="005EB8"/>
                </a:solidFill>
                <a:latin typeface="Arial" pitchFamily="34" charset="0"/>
                <a:ea typeface="Arial" pitchFamily="34" charset="-122"/>
                <a:cs typeface="Arial" pitchFamily="34" charset="-120"/>
              </a:rPr>
              <a:t>THE SUPPLIER-SIDE NORTH STAR</a:t>
            </a:r>
            <a:endParaRPr lang="en-US" sz="900" dirty="0"/>
          </a:p>
        </p:txBody>
      </p:sp>
      <p:sp>
        <p:nvSpPr>
          <p:cNvPr id="45" name="Text 42"/>
          <p:cNvSpPr/>
          <p:nvPr/>
        </p:nvSpPr>
        <p:spPr>
          <a:xfrm>
            <a:off x="685800" y="3227832"/>
            <a:ext cx="5044288" cy="685800"/>
          </a:xfrm>
          <a:prstGeom prst="rect">
            <a:avLst/>
          </a:prstGeom>
          <a:noFill/>
          <a:ln/>
        </p:spPr>
        <p:txBody>
          <a:bodyPr wrap="square" lIns="0" tIns="0" rIns="0" bIns="0" rtlCol="0" anchor="t">
            <a:normAutofit/>
          </a:bodyPr>
          <a:lstStyle/>
          <a:p>
            <a:pPr indent="0" marL="0">
              <a:buNone/>
            </a:pPr>
            <a:r>
              <a:rPr lang="en-US" sz="1500" b="1" dirty="0">
                <a:solidFill>
                  <a:srgbClr val="003087"/>
                </a:solidFill>
                <a:latin typeface="Arial" pitchFamily="34" charset="0"/>
                <a:ea typeface="Arial" pitchFamily="34" charset="-122"/>
                <a:cs typeface="Arial" pitchFamily="34" charset="-120"/>
              </a:rPr>
              <a:t>Assure once. Reuse nationally.</a:t>
            </a:r>
            <a:endParaRPr lang="en-US" sz="1500" dirty="0"/>
          </a:p>
        </p:txBody>
      </p:sp>
      <p:sp>
        <p:nvSpPr>
          <p:cNvPr id="46" name="Text 43"/>
          <p:cNvSpPr/>
          <p:nvPr/>
        </p:nvSpPr>
        <p:spPr>
          <a:xfrm>
            <a:off x="685800" y="3959352"/>
            <a:ext cx="5044288" cy="2194560"/>
          </a:xfrm>
          <a:prstGeom prst="rect">
            <a:avLst/>
          </a:prstGeom>
          <a:noFill/>
          <a:ln/>
        </p:spPr>
        <p:txBody>
          <a:bodyPr wrap="square" lIns="0" tIns="0" rIns="0" bIns="0" rtlCol="0" anchor="t">
            <a:normAutofit/>
          </a:bodyPr>
          <a:lstStyle/>
          <a:p>
            <a:pPr indent="0" marL="0">
              <a:buNone/>
            </a:pPr>
            <a:r>
              <a:rPr lang="en-US" sz="1100" dirty="0">
                <a:solidFill>
                  <a:srgbClr val="231F20"/>
                </a:solidFill>
                <a:latin typeface="Arial" pitchFamily="34" charset="0"/>
                <a:ea typeface="Arial" pitchFamily="34" charset="-122"/>
                <a:cs typeface="Arial" pitchFamily="34" charset="-120"/>
              </a:rPr>
              <a:t>A supplier evidences core compliance once per API they connect to. Adding a new test under an onboarded API is a lightweight check, not a full repeat. The clinical safety case, the IG package and the lab assurance are then portable across every commissioner who calls them off. </a:t>
            </a:r>
            <a:pPr indent="0" marL="0">
              <a:buNone/>
            </a:pPr>
            <a:r>
              <a:rPr lang="en-US" sz="1100" b="1" dirty="0">
                <a:solidFill>
                  <a:srgbClr val="231F20"/>
                </a:solidFill>
                <a:latin typeface="Arial" pitchFamily="34" charset="0"/>
                <a:ea typeface="Arial" pitchFamily="34" charset="-122"/>
                <a:cs typeface="Arial" pitchFamily="34" charset="-120"/>
              </a:rPr>
              <a:t>The local body acts as the deployment authority. Not as a re-assurer.</a:t>
            </a:r>
            <a:endParaRPr lang="en-US" sz="1100" dirty="0"/>
          </a:p>
        </p:txBody>
      </p:sp>
      <p:sp>
        <p:nvSpPr>
          <p:cNvPr id="47" name="Shape 44"/>
          <p:cNvSpPr/>
          <p:nvPr/>
        </p:nvSpPr>
        <p:spPr>
          <a:xfrm>
            <a:off x="6233008" y="2788920"/>
            <a:ext cx="5501488" cy="3520440"/>
          </a:xfrm>
          <a:prstGeom prst="roundRect">
            <a:avLst>
              <a:gd name="adj" fmla="val 2597"/>
            </a:avLst>
          </a:prstGeom>
          <a:solidFill>
            <a:srgbClr val="FFF3CD"/>
          </a:solidFill>
          <a:ln w="9525">
            <a:solidFill>
              <a:srgbClr val="E6C96A"/>
            </a:solidFill>
            <a:prstDash val="solid"/>
          </a:ln>
        </p:spPr>
      </p:sp>
      <p:sp>
        <p:nvSpPr>
          <p:cNvPr id="48" name="Text 45"/>
          <p:cNvSpPr/>
          <p:nvPr/>
        </p:nvSpPr>
        <p:spPr>
          <a:xfrm>
            <a:off x="6461608" y="2953512"/>
            <a:ext cx="5044288" cy="256032"/>
          </a:xfrm>
          <a:prstGeom prst="rect">
            <a:avLst/>
          </a:prstGeom>
          <a:noFill/>
          <a:ln/>
        </p:spPr>
        <p:txBody>
          <a:bodyPr wrap="square" lIns="0" tIns="0" rIns="0" bIns="0" rtlCol="0" anchor="ctr"/>
          <a:lstStyle/>
          <a:p>
            <a:pPr indent="0" marL="0">
              <a:buNone/>
            </a:pPr>
            <a:r>
              <a:rPr lang="en-US" sz="900" b="1" spc="150" kern="0" dirty="0">
                <a:solidFill>
                  <a:srgbClr val="8A6D1F"/>
                </a:solidFill>
                <a:latin typeface="Arial" pitchFamily="34" charset="0"/>
                <a:ea typeface="Arial" pitchFamily="34" charset="-122"/>
                <a:cs typeface="Arial" pitchFamily="34" charset="-120"/>
              </a:rPr>
              <a:t>WHY THIS WORKS FOR HIS BUSINESS</a:t>
            </a:r>
            <a:endParaRPr lang="en-US" sz="900" dirty="0"/>
          </a:p>
        </p:txBody>
      </p:sp>
      <p:sp>
        <p:nvSpPr>
          <p:cNvPr id="49" name="Text 46"/>
          <p:cNvSpPr/>
          <p:nvPr/>
        </p:nvSpPr>
        <p:spPr>
          <a:xfrm>
            <a:off x="6461608" y="3227832"/>
            <a:ext cx="5044288" cy="685800"/>
          </a:xfrm>
          <a:prstGeom prst="rect">
            <a:avLst/>
          </a:prstGeom>
          <a:noFill/>
          <a:ln/>
        </p:spPr>
        <p:txBody>
          <a:bodyPr wrap="square" lIns="0" tIns="0" rIns="0" bIns="0" rtlCol="0" anchor="t">
            <a:normAutofit/>
          </a:bodyPr>
          <a:lstStyle/>
          <a:p>
            <a:pPr indent="0" marL="0">
              <a:buNone/>
            </a:pPr>
            <a:r>
              <a:rPr lang="en-US" sz="1500" b="1" dirty="0">
                <a:solidFill>
                  <a:srgbClr val="003087"/>
                </a:solidFill>
                <a:latin typeface="Arial" pitchFamily="34" charset="0"/>
                <a:ea typeface="Arial" pitchFamily="34" charset="-122"/>
                <a:cs typeface="Arial" pitchFamily="34" charset="-120"/>
              </a:rPr>
              <a:t>No per-commissioner negotiation. One conformance certificate, fifty deployments.</a:t>
            </a:r>
            <a:endParaRPr lang="en-US" sz="1500" dirty="0"/>
          </a:p>
        </p:txBody>
      </p:sp>
      <p:sp>
        <p:nvSpPr>
          <p:cNvPr id="50" name="Text 47"/>
          <p:cNvSpPr/>
          <p:nvPr/>
        </p:nvSpPr>
        <p:spPr>
          <a:xfrm>
            <a:off x="6461608" y="3959352"/>
            <a:ext cx="5044288" cy="2194560"/>
          </a:xfrm>
          <a:prstGeom prst="rect">
            <a:avLst/>
          </a:prstGeom>
          <a:noFill/>
          <a:ln/>
        </p:spPr>
        <p:txBody>
          <a:bodyPr wrap="square" lIns="0" tIns="0" rIns="0" bIns="0" rtlCol="0" anchor="t">
            <a:normAutofit/>
          </a:bodyPr>
          <a:lstStyle/>
          <a:p>
            <a:pPr indent="0" marL="0">
              <a:buNone/>
            </a:pPr>
            <a:r>
              <a:rPr lang="en-US" sz="1100" b="1" dirty="0">
                <a:solidFill>
                  <a:srgbClr val="231F20"/>
                </a:solidFill>
                <a:latin typeface="Arial" pitchFamily="34" charset="0"/>
                <a:ea typeface="Arial" pitchFamily="34" charset="-122"/>
                <a:cs typeface="Arial" pitchFamily="34" charset="-120"/>
              </a:rPr>
              <a:t>Bespoke per-LA contracting</a:t>
            </a:r>
            <a:pPr indent="0" marL="0">
              <a:buNone/>
            </a:pPr>
            <a:r>
              <a:rPr lang="en-US" sz="1100" dirty="0">
                <a:solidFill>
                  <a:srgbClr val="231F20"/>
                </a:solidFill>
                <a:latin typeface="Arial" pitchFamily="34" charset="0"/>
                <a:ea typeface="Arial" pitchFamily="34" charset="-122"/>
                <a:cs typeface="Arial" pitchFamily="34" charset="-120"/>
              </a:rPr>
              <a:t> historically takes 3-6 months per call-off. </a:t>
            </a:r>
            <a:pPr indent="0" marL="0">
              <a:buNone/>
            </a:pPr>
            <a:r>
              <a:rPr lang="en-US" sz="1100" b="1" dirty="0">
                <a:solidFill>
                  <a:srgbClr val="231F20"/>
                </a:solidFill>
                <a:latin typeface="Arial" pitchFamily="34" charset="0"/>
                <a:ea typeface="Arial" pitchFamily="34" charset="-122"/>
                <a:cs typeface="Arial" pitchFamily="34" charset="-120"/>
              </a:rPr>
              <a:t>Per-deployment DPIA and DSA</a:t>
            </a:r>
            <a:pPr indent="0" marL="0">
              <a:buNone/>
            </a:pPr>
            <a:r>
              <a:rPr lang="en-US" sz="1100" dirty="0">
                <a:solidFill>
                  <a:srgbClr val="231F20"/>
                </a:solidFill>
                <a:latin typeface="Arial" pitchFamily="34" charset="0"/>
                <a:ea typeface="Arial" pitchFamily="34" charset="-122"/>
                <a:cs typeface="Arial" pitchFamily="34" charset="-120"/>
              </a:rPr>
              <a:t> reassessment burns clinical and IG capacity Joe does not have. </a:t>
            </a:r>
            <a:pPr indent="0" marL="0">
              <a:buNone/>
            </a:pPr>
            <a:r>
              <a:rPr lang="en-US" sz="1100" b="1" dirty="0">
                <a:solidFill>
                  <a:srgbClr val="231F20"/>
                </a:solidFill>
                <a:latin typeface="Arial" pitchFamily="34" charset="0"/>
                <a:ea typeface="Arial" pitchFamily="34" charset="-122"/>
                <a:cs typeface="Arial" pitchFamily="34" charset="-120"/>
              </a:rPr>
              <a:t>The framework</a:t>
            </a:r>
            <a:pPr indent="0" marL="0">
              <a:buNone/>
            </a:pPr>
            <a:r>
              <a:rPr lang="en-US" sz="1100" dirty="0">
                <a:solidFill>
                  <a:srgbClr val="231F20"/>
                </a:solidFill>
                <a:latin typeface="Arial" pitchFamily="34" charset="0"/>
                <a:ea typeface="Arial" pitchFamily="34" charset="-122"/>
                <a:cs typeface="Arial" pitchFamily="34" charset="-120"/>
              </a:rPr>
              <a:t> publishes the templates once and admits the supplier once. Every call-off that follows lands on the same artefact stack, the same contract template, the same conformance certificate.</a:t>
            </a:r>
            <a:endParaRPr lang="en-US" sz="1100" dirty="0"/>
          </a:p>
        </p:txBody>
      </p:sp>
      <p:sp>
        <p:nvSpPr>
          <p:cNvPr id="51" name="Text 48"/>
          <p:cNvSpPr/>
          <p:nvPr/>
        </p:nvSpPr>
        <p:spPr>
          <a:xfrm>
            <a:off x="457200" y="6473952"/>
            <a:ext cx="3108960" cy="274320"/>
          </a:xfrm>
          <a:prstGeom prst="rect">
            <a:avLst/>
          </a:prstGeom>
          <a:noFill/>
          <a:ln/>
        </p:spPr>
        <p:txBody>
          <a:bodyPr wrap="square" lIns="0" tIns="0" rIns="0" bIns="0" rtlCol="0" anchor="ctr"/>
          <a:lstStyle/>
          <a:p>
            <a:pPr indent="0" marL="0">
              <a:buNone/>
            </a:pPr>
            <a:r>
              <a:rPr lang="en-US" sz="850" dirty="0">
                <a:solidFill>
                  <a:srgbClr val="7E8B97"/>
                </a:solidFill>
                <a:latin typeface="Arial" pitchFamily="34" charset="0"/>
                <a:ea typeface="Arial" pitchFamily="34" charset="-122"/>
                <a:cs typeface="Arial" pitchFamily="34" charset="-120"/>
              </a:rPr>
              <a:t>Joe  ·  Hearts and Minds</a:t>
            </a:r>
            <a:endParaRPr lang="en-US" sz="850" dirty="0"/>
          </a:p>
        </p:txBody>
      </p:sp>
      <p:sp>
        <p:nvSpPr>
          <p:cNvPr id="52" name="Text 49"/>
          <p:cNvSpPr/>
          <p:nvPr/>
        </p:nvSpPr>
        <p:spPr>
          <a:xfrm>
            <a:off x="3657600" y="6473952"/>
            <a:ext cx="7528255" cy="274320"/>
          </a:xfrm>
          <a:prstGeom prst="rect">
            <a:avLst/>
          </a:prstGeom>
          <a:noFill/>
          <a:ln/>
        </p:spPr>
        <p:txBody>
          <a:bodyPr wrap="square" lIns="0" tIns="0" rIns="0" bIns="0" rtlCol="0" anchor="ctr"/>
          <a:lstStyle/>
          <a:p>
            <a:pPr algn="r" indent="0" marL="0">
              <a:buNone/>
            </a:pPr>
            <a:r>
              <a:rPr lang="en-US" sz="800" dirty="0">
                <a:solidFill>
                  <a:srgbClr val="7E8B97"/>
                </a:solidFill>
                <a:latin typeface="Arial" pitchFamily="34" charset="0"/>
                <a:ea typeface="Arial" pitchFamily="34" charset="-122"/>
                <a:cs typeface="Arial" pitchFamily="34" charset="-120"/>
              </a:rPr>
              <a:t>Commercial positions are agreed in principle and remain subject to the live procurement.</a:t>
            </a:r>
            <a:endParaRPr lang="en-US" sz="800" dirty="0"/>
          </a:p>
        </p:txBody>
      </p:sp>
      <p:sp>
        <p:nvSpPr>
          <p:cNvPr id="53" name="Text 50"/>
          <p:cNvSpPr/>
          <p:nvPr/>
        </p:nvSpPr>
        <p:spPr>
          <a:xfrm>
            <a:off x="11368735" y="6473952"/>
            <a:ext cx="36576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Arial" pitchFamily="34" charset="0"/>
                <a:ea typeface="Arial" pitchFamily="34" charset="-122"/>
                <a:cs typeface="Arial"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03087"/>
          </a:solidFill>
          <a:ln w="12700">
            <a:solidFill>
              <a:srgbClr val="003087"/>
            </a:solidFill>
            <a:prstDash val="solid"/>
          </a:ln>
        </p:spPr>
      </p:sp>
      <p:sp>
        <p:nvSpPr>
          <p:cNvPr id="3" name="Shape 1"/>
          <p:cNvSpPr/>
          <p:nvPr/>
        </p:nvSpPr>
        <p:spPr>
          <a:xfrm>
            <a:off x="0" y="868680"/>
            <a:ext cx="12191695" cy="54864"/>
          </a:xfrm>
          <a:prstGeom prst="rect">
            <a:avLst/>
          </a:prstGeom>
          <a:solidFill>
            <a:srgbClr val="5BC093"/>
          </a:solidFill>
          <a:ln w="12700">
            <a:solidFill>
              <a:srgbClr val="5BC093"/>
            </a:solidFill>
            <a:prstDash val="solid"/>
          </a:ln>
        </p:spPr>
      </p:sp>
      <p:sp>
        <p:nvSpPr>
          <p:cNvPr id="4" name="Text 2"/>
          <p:cNvSpPr/>
          <p:nvPr/>
        </p:nvSpPr>
        <p:spPr>
          <a:xfrm>
            <a:off x="457200" y="128016"/>
            <a:ext cx="8686800" cy="256032"/>
          </a:xfrm>
          <a:prstGeom prst="rect">
            <a:avLst/>
          </a:prstGeom>
          <a:noFill/>
          <a:ln/>
        </p:spPr>
        <p:txBody>
          <a:bodyPr wrap="square" lIns="0" tIns="0" rIns="0" bIns="0" rtlCol="0" anchor="ctr"/>
          <a:lstStyle/>
          <a:p>
            <a:pPr indent="0" marL="0">
              <a:buNone/>
            </a:pPr>
            <a:r>
              <a:rPr lang="en-US" sz="950" b="1" spc="200" kern="0" dirty="0">
                <a:solidFill>
                  <a:srgbClr val="7EC8E3"/>
                </a:solidFill>
                <a:latin typeface="Arial" pitchFamily="34" charset="0"/>
                <a:ea typeface="Arial" pitchFamily="34" charset="-122"/>
                <a:cs typeface="Arial" pitchFamily="34" charset="-120"/>
              </a:rPr>
              <a:t>HEARTS AND MINDS  ·  JOE'S JOURNEY  ·  STAGE 1 OF 6</a:t>
            </a:r>
            <a:endParaRPr lang="en-US" sz="950" dirty="0"/>
          </a:p>
        </p:txBody>
      </p:sp>
      <p:sp>
        <p:nvSpPr>
          <p:cNvPr id="5" name="Text 3"/>
          <p:cNvSpPr/>
          <p:nvPr/>
        </p:nvSpPr>
        <p:spPr>
          <a:xfrm>
            <a:off x="457200" y="384048"/>
            <a:ext cx="960120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Find the framework · the public criteria pack</a:t>
            </a:r>
            <a:endParaRPr lang="en-US" sz="2000" dirty="0"/>
          </a:p>
        </p:txBody>
      </p:sp>
      <p:pic>
        <p:nvPicPr>
          <p:cNvPr id="6" name="Image 0" descr="/sessions/quirky-zen-galileo/mnt/outputs/deckbuild/nhs_logo.png">    </p:cNvPr>
          <p:cNvPicPr>
            <a:picLocks noChangeAspect="1"/>
          </p:cNvPicPr>
          <p:nvPr/>
        </p:nvPicPr>
        <p:blipFill>
          <a:blip r:embed="rId1"/>
          <a:stretch>
            <a:fillRect/>
          </a:stretch>
        </p:blipFill>
        <p:spPr>
          <a:xfrm>
            <a:off x="10774375" y="201168"/>
            <a:ext cx="960120" cy="393192"/>
          </a:xfrm>
          <a:prstGeom prst="rect">
            <a:avLst/>
          </a:prstGeom>
        </p:spPr>
      </p:pic>
      <p:sp>
        <p:nvSpPr>
          <p:cNvPr id="7" name="Text 4"/>
          <p:cNvSpPr/>
          <p:nvPr/>
        </p:nvSpPr>
        <p:spPr>
          <a:xfrm>
            <a:off x="429768" y="1024128"/>
            <a:ext cx="1463040" cy="868680"/>
          </a:xfrm>
          <a:prstGeom prst="rect">
            <a:avLst/>
          </a:prstGeom>
          <a:noFill/>
          <a:ln/>
        </p:spPr>
        <p:txBody>
          <a:bodyPr wrap="square" lIns="0" tIns="0" rIns="0" bIns="0" rtlCol="0" anchor="ctr"/>
          <a:lstStyle/>
          <a:p>
            <a:pPr indent="0" marL="0">
              <a:buNone/>
            </a:pPr>
            <a:r>
              <a:rPr lang="en-US" sz="5200" b="1" dirty="0">
                <a:solidFill>
                  <a:srgbClr val="5BC093"/>
                </a:solidFill>
                <a:latin typeface="Arial" pitchFamily="34" charset="0"/>
                <a:ea typeface="Arial" pitchFamily="34" charset="-122"/>
                <a:cs typeface="Arial" pitchFamily="34" charset="-120"/>
              </a:rPr>
              <a:t>01</a:t>
            </a:r>
            <a:endParaRPr lang="en-US" sz="5200" dirty="0"/>
          </a:p>
        </p:txBody>
      </p:sp>
      <p:sp>
        <p:nvSpPr>
          <p:cNvPr id="8" name="Text 5"/>
          <p:cNvSpPr/>
          <p:nvPr/>
        </p:nvSpPr>
        <p:spPr>
          <a:xfrm>
            <a:off x="457200" y="1920240"/>
            <a:ext cx="4892040" cy="1207008"/>
          </a:xfrm>
          <a:prstGeom prst="rect">
            <a:avLst/>
          </a:prstGeom>
          <a:noFill/>
          <a:ln/>
        </p:spPr>
        <p:txBody>
          <a:bodyPr wrap="square" lIns="0" tIns="0" rIns="0" bIns="0" rtlCol="0" anchor="t">
            <a:normAutofit/>
          </a:bodyPr>
          <a:lstStyle/>
          <a:p>
            <a:pPr indent="0" marL="0">
              <a:buNone/>
            </a:pPr>
            <a:r>
              <a:rPr lang="en-US" sz="1200" b="1" dirty="0">
                <a:solidFill>
                  <a:srgbClr val="003087"/>
                </a:solidFill>
                <a:latin typeface="Arial" pitchFamily="34" charset="0"/>
                <a:ea typeface="Arial" pitchFamily="34" charset="-122"/>
                <a:cs typeface="Arial" pitchFamily="34" charset="-120"/>
              </a:rPr>
              <a:t>Joe sees the framework on Future NHS. The public criteria pack sits at one URL, linked from the HomeTest and HealthStore public pages and from Find a Tender. He reads it without booking a call, without an NDA, without an NHSE-side gatekeeper. The design point is that he can decide not to proceed before NHSE has heard his name.</a:t>
            </a:r>
            <a:endParaRPr lang="en-US" sz="1200" dirty="0"/>
          </a:p>
        </p:txBody>
      </p:sp>
      <p:sp>
        <p:nvSpPr>
          <p:cNvPr id="9" name="Shape 6"/>
          <p:cNvSpPr/>
          <p:nvPr/>
        </p:nvSpPr>
        <p:spPr>
          <a:xfrm>
            <a:off x="457200" y="3236976"/>
            <a:ext cx="4892040" cy="921258"/>
          </a:xfrm>
          <a:prstGeom prst="rect">
            <a:avLst/>
          </a:prstGeom>
          <a:solidFill>
            <a:srgbClr val="F0F4F5"/>
          </a:solidFill>
          <a:ln w="12700">
            <a:solidFill>
              <a:srgbClr val="F0F4F5"/>
            </a:solidFill>
            <a:prstDash val="solid"/>
          </a:ln>
        </p:spPr>
      </p:sp>
      <p:sp>
        <p:nvSpPr>
          <p:cNvPr id="10" name="Shape 7"/>
          <p:cNvSpPr/>
          <p:nvPr/>
        </p:nvSpPr>
        <p:spPr>
          <a:xfrm>
            <a:off x="457200" y="3236976"/>
            <a:ext cx="82296" cy="921258"/>
          </a:xfrm>
          <a:prstGeom prst="rect">
            <a:avLst/>
          </a:prstGeom>
          <a:solidFill>
            <a:srgbClr val="5BC093"/>
          </a:solidFill>
          <a:ln w="12700">
            <a:solidFill>
              <a:srgbClr val="5BC093"/>
            </a:solidFill>
            <a:prstDash val="solid"/>
          </a:ln>
        </p:spPr>
      </p:sp>
      <p:sp>
        <p:nvSpPr>
          <p:cNvPr id="11" name="Text 8"/>
          <p:cNvSpPr/>
          <p:nvPr/>
        </p:nvSpPr>
        <p:spPr>
          <a:xfrm>
            <a:off x="685800" y="3291840"/>
            <a:ext cx="4526280" cy="555498"/>
          </a:xfrm>
          <a:prstGeom prst="rect">
            <a:avLst/>
          </a:prstGeom>
          <a:noFill/>
          <a:ln/>
        </p:spPr>
        <p:txBody>
          <a:bodyPr wrap="square" lIns="0" tIns="0" rIns="0" bIns="0" rtlCol="0" anchor="t">
            <a:normAutofit/>
          </a:bodyPr>
          <a:lstStyle/>
          <a:p>
            <a:pPr indent="0" marL="0">
              <a:buNone/>
            </a:pPr>
            <a:r>
              <a:rPr lang="en-US" sz="900" i="1" dirty="0">
                <a:solidFill>
                  <a:srgbClr val="231F20"/>
                </a:solidFill>
                <a:latin typeface="Arial" pitchFamily="34" charset="0"/>
                <a:ea typeface="Arial" pitchFamily="34" charset="-122"/>
                <a:cs typeface="Arial" pitchFamily="34" charset="-120"/>
              </a:rPr>
              <a:t>“I have read enough NHS procurement packs to know what a closed door looks like. This one was open. I did not need to ask anyone's permission to read the criteria. I did not need to be on a list to know what the bar was.”</a:t>
            </a:r>
            <a:endParaRPr lang="en-US" sz="900" dirty="0"/>
          </a:p>
        </p:txBody>
      </p:sp>
      <p:sp>
        <p:nvSpPr>
          <p:cNvPr id="12" name="Text 9"/>
          <p:cNvSpPr/>
          <p:nvPr/>
        </p:nvSpPr>
        <p:spPr>
          <a:xfrm>
            <a:off x="685800" y="3847338"/>
            <a:ext cx="4526280" cy="256032"/>
          </a:xfrm>
          <a:prstGeom prst="rect">
            <a:avLst/>
          </a:prstGeom>
          <a:noFill/>
          <a:ln/>
        </p:spPr>
        <p:txBody>
          <a:bodyPr wrap="square" lIns="0" tIns="0" rIns="0" bIns="0" rtlCol="0" anchor="ctr"/>
          <a:lstStyle/>
          <a:p>
            <a:pPr indent="0" marL="0">
              <a:buNone/>
            </a:pPr>
            <a:r>
              <a:rPr lang="en-US" sz="950" b="1" dirty="0">
                <a:solidFill>
                  <a:srgbClr val="5BC093"/>
                </a:solidFill>
                <a:latin typeface="Arial" pitchFamily="34" charset="0"/>
                <a:ea typeface="Arial" pitchFamily="34" charset="-122"/>
                <a:cs typeface="Arial" pitchFamily="34" charset="-120"/>
              </a:rPr>
              <a:t>Joe</a:t>
            </a:r>
            <a:endParaRPr lang="en-US" sz="950" dirty="0"/>
          </a:p>
        </p:txBody>
      </p:sp>
      <p:pic>
        <p:nvPicPr>
          <p:cNvPr id="13" name="Image 1" descr="/sessions/quirky-zen-galileo/mnt/outputs/hmdecks/img/joe-stage1.jpg">    </p:cNvPr>
          <p:cNvPicPr>
            <a:picLocks noChangeAspect="1"/>
          </p:cNvPicPr>
          <p:nvPr/>
        </p:nvPicPr>
        <p:blipFill>
          <a:blip r:embed="rId2"/>
          <a:stretch>
            <a:fillRect/>
          </a:stretch>
        </p:blipFill>
        <p:spPr>
          <a:xfrm>
            <a:off x="457200" y="4322826"/>
            <a:ext cx="2933801" cy="1968246"/>
          </a:xfrm>
          <a:prstGeom prst="rect">
            <a:avLst/>
          </a:prstGeom>
        </p:spPr>
      </p:pic>
      <p:sp>
        <p:nvSpPr>
          <p:cNvPr id="14" name="Shape 10"/>
          <p:cNvSpPr/>
          <p:nvPr/>
        </p:nvSpPr>
        <p:spPr>
          <a:xfrm>
            <a:off x="5669280" y="1097280"/>
            <a:ext cx="6065215" cy="274320"/>
          </a:xfrm>
          <a:prstGeom prst="rect">
            <a:avLst/>
          </a:prstGeom>
          <a:solidFill>
            <a:srgbClr val="005EB8"/>
          </a:solidFill>
          <a:ln w="12700">
            <a:solidFill>
              <a:srgbClr val="005EB8"/>
            </a:solidFill>
            <a:prstDash val="solid"/>
          </a:ln>
        </p:spPr>
      </p:sp>
      <p:sp>
        <p:nvSpPr>
          <p:cNvPr id="15" name="Text 11"/>
          <p:cNvSpPr/>
          <p:nvPr/>
        </p:nvSpPr>
        <p:spPr>
          <a:xfrm>
            <a:off x="5779008" y="1097280"/>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MODEL IS DOING UNDERNEATH</a:t>
            </a:r>
            <a:endParaRPr lang="en-US" sz="850" dirty="0"/>
          </a:p>
        </p:txBody>
      </p:sp>
      <p:sp>
        <p:nvSpPr>
          <p:cNvPr id="16" name="Shape 12"/>
          <p:cNvSpPr/>
          <p:nvPr/>
        </p:nvSpPr>
        <p:spPr>
          <a:xfrm>
            <a:off x="5669280" y="1371600"/>
            <a:ext cx="6065215" cy="1223772"/>
          </a:xfrm>
          <a:prstGeom prst="rect">
            <a:avLst/>
          </a:prstGeom>
          <a:solidFill>
            <a:srgbClr val="D5E8F0"/>
          </a:solidFill>
          <a:ln w="12700">
            <a:solidFill>
              <a:srgbClr val="D5E8F0"/>
            </a:solidFill>
            <a:prstDash val="solid"/>
          </a:ln>
        </p:spPr>
      </p:sp>
      <p:sp>
        <p:nvSpPr>
          <p:cNvPr id="17" name="Text 13"/>
          <p:cNvSpPr/>
          <p:nvPr/>
        </p:nvSpPr>
        <p:spPr>
          <a:xfrm>
            <a:off x="5779008" y="1408176"/>
            <a:ext cx="5845759" cy="1168908"/>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The framework publishes the criteria pack openly: </a:t>
            </a:r>
            <a:pPr indent="0" marL="0">
              <a:buNone/>
            </a:pPr>
            <a:r>
              <a:rPr lang="en-US" sz="1100" b="1" dirty="0">
                <a:solidFill>
                  <a:srgbClr val="231F20"/>
                </a:solidFill>
                <a:latin typeface="Arial" pitchFamily="34" charset="0"/>
                <a:ea typeface="Arial" pitchFamily="34" charset="-122"/>
                <a:cs typeface="Arial" pitchFamily="34" charset="-120"/>
              </a:rPr>
              <a:t>five dimensions (commercial, clinical, IG, technical, operational), three tiers (core / scaled / aspirational), three access routes (standard / light-touch / partnership)</a:t>
            </a:r>
            <a:pPr indent="0" marL="0">
              <a:buNone/>
            </a:pPr>
            <a:r>
              <a:rPr lang="en-US" sz="1100" dirty="0">
                <a:solidFill>
                  <a:srgbClr val="231F20"/>
                </a:solidFill>
                <a:latin typeface="Arial" pitchFamily="34" charset="0"/>
                <a:ea typeface="Arial" pitchFamily="34" charset="-122"/>
                <a:cs typeface="Arial" pitchFamily="34" charset="-120"/>
              </a:rPr>
              <a:t>. Future NHS hosts the canonical version. The HomeTest and HealthStore public pages link to it. Find a Tender carries it where a formal procurement is live. The pack is the door; reading it is the first step.</a:t>
            </a:r>
            <a:endParaRPr lang="en-US" sz="1100" dirty="0"/>
          </a:p>
        </p:txBody>
      </p:sp>
      <p:sp>
        <p:nvSpPr>
          <p:cNvPr id="18" name="Shape 14"/>
          <p:cNvSpPr/>
          <p:nvPr/>
        </p:nvSpPr>
        <p:spPr>
          <a:xfrm>
            <a:off x="5669280" y="2723388"/>
            <a:ext cx="6065215" cy="274320"/>
          </a:xfrm>
          <a:prstGeom prst="rect">
            <a:avLst/>
          </a:prstGeom>
          <a:solidFill>
            <a:srgbClr val="4C6272"/>
          </a:solidFill>
          <a:ln w="12700">
            <a:solidFill>
              <a:srgbClr val="4C6272"/>
            </a:solidFill>
            <a:prstDash val="solid"/>
          </a:ln>
        </p:spPr>
      </p:sp>
      <p:sp>
        <p:nvSpPr>
          <p:cNvPr id="19" name="Text 15"/>
          <p:cNvSpPr/>
          <p:nvPr/>
        </p:nvSpPr>
        <p:spPr>
          <a:xfrm>
            <a:off x="5779008" y="2723388"/>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THE OLD WAY</a:t>
            </a:r>
            <a:endParaRPr lang="en-US" sz="850" dirty="0"/>
          </a:p>
        </p:txBody>
      </p:sp>
      <p:sp>
        <p:nvSpPr>
          <p:cNvPr id="20" name="Shape 16"/>
          <p:cNvSpPr/>
          <p:nvPr/>
        </p:nvSpPr>
        <p:spPr>
          <a:xfrm>
            <a:off x="5669280" y="2997708"/>
            <a:ext cx="6065215" cy="882904"/>
          </a:xfrm>
          <a:prstGeom prst="rect">
            <a:avLst/>
          </a:prstGeom>
          <a:solidFill>
            <a:srgbClr val="F0F4F5"/>
          </a:solidFill>
          <a:ln w="12700">
            <a:solidFill>
              <a:srgbClr val="F0F4F5"/>
            </a:solidFill>
            <a:prstDash val="solid"/>
          </a:ln>
        </p:spPr>
      </p:sp>
      <p:sp>
        <p:nvSpPr>
          <p:cNvPr id="21" name="Text 17"/>
          <p:cNvSpPr/>
          <p:nvPr/>
        </p:nvSpPr>
        <p:spPr>
          <a:xfrm>
            <a:off x="5779008" y="3034284"/>
            <a:ext cx="5845759" cy="828040"/>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A supplier discovers a new NHS procurement by tender notice, signs an NDA, joins a closed bidder community, and gets the criteria a fortnight before bid submission. The path is inside the procurement. The criteria are private until the procurement opens. Suppliers who could have self-selected out never had the chance.</a:t>
            </a:r>
            <a:endParaRPr lang="en-US" sz="1100" dirty="0"/>
          </a:p>
        </p:txBody>
      </p:sp>
      <p:sp>
        <p:nvSpPr>
          <p:cNvPr id="22" name="Shape 18"/>
          <p:cNvSpPr/>
          <p:nvPr/>
        </p:nvSpPr>
        <p:spPr>
          <a:xfrm>
            <a:off x="5669280" y="4008628"/>
            <a:ext cx="6065215" cy="274320"/>
          </a:xfrm>
          <a:prstGeom prst="rect">
            <a:avLst/>
          </a:prstGeom>
          <a:solidFill>
            <a:srgbClr val="006747"/>
          </a:solidFill>
          <a:ln w="12700">
            <a:solidFill>
              <a:srgbClr val="006747"/>
            </a:solidFill>
            <a:prstDash val="solid"/>
          </a:ln>
        </p:spPr>
      </p:sp>
      <p:sp>
        <p:nvSpPr>
          <p:cNvPr id="23" name="Text 19"/>
          <p:cNvSpPr/>
          <p:nvPr/>
        </p:nvSpPr>
        <p:spPr>
          <a:xfrm>
            <a:off x="5779008" y="4008628"/>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CARE TEAM SEES</a:t>
            </a:r>
            <a:endParaRPr lang="en-US" sz="850" dirty="0"/>
          </a:p>
        </p:txBody>
      </p:sp>
      <p:sp>
        <p:nvSpPr>
          <p:cNvPr id="24" name="Shape 20"/>
          <p:cNvSpPr/>
          <p:nvPr/>
        </p:nvSpPr>
        <p:spPr>
          <a:xfrm>
            <a:off x="5669280" y="4282948"/>
            <a:ext cx="6065215" cy="542036"/>
          </a:xfrm>
          <a:prstGeom prst="rect">
            <a:avLst/>
          </a:prstGeom>
          <a:solidFill>
            <a:srgbClr val="E8F3EE"/>
          </a:solidFill>
          <a:ln w="12700">
            <a:solidFill>
              <a:srgbClr val="E8F3EE"/>
            </a:solidFill>
            <a:prstDash val="solid"/>
          </a:ln>
        </p:spPr>
      </p:sp>
      <p:sp>
        <p:nvSpPr>
          <p:cNvPr id="25" name="Text 21"/>
          <p:cNvSpPr/>
          <p:nvPr/>
        </p:nvSpPr>
        <p:spPr>
          <a:xfrm>
            <a:off x="5779008" y="4319524"/>
            <a:ext cx="5845759" cy="487172"/>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Nobody at NHSE knows Joe exists yet. The Partnerships team maintain the public pages and the Future NHS posting. The framework sits as a self-service artefact.</a:t>
            </a:r>
            <a:endParaRPr lang="en-US" sz="1100" dirty="0"/>
          </a:p>
        </p:txBody>
      </p:sp>
      <p:sp>
        <p:nvSpPr>
          <p:cNvPr id="27" name="Text 22"/>
          <p:cNvSpPr/>
          <p:nvPr/>
        </p:nvSpPr>
        <p:spPr>
          <a:xfrm>
            <a:off x="457200" y="6473952"/>
            <a:ext cx="3108960" cy="274320"/>
          </a:xfrm>
          <a:prstGeom prst="rect">
            <a:avLst/>
          </a:prstGeom>
          <a:noFill/>
          <a:ln/>
        </p:spPr>
        <p:txBody>
          <a:bodyPr wrap="square" lIns="0" tIns="0" rIns="0" bIns="0" rtlCol="0" anchor="ctr"/>
          <a:lstStyle/>
          <a:p>
            <a:pPr indent="0" marL="0">
              <a:buNone/>
            </a:pPr>
            <a:r>
              <a:rPr lang="en-US" sz="850" dirty="0">
                <a:solidFill>
                  <a:srgbClr val="7E8B97"/>
                </a:solidFill>
                <a:latin typeface="Arial" pitchFamily="34" charset="0"/>
                <a:ea typeface="Arial" pitchFamily="34" charset="-122"/>
                <a:cs typeface="Arial" pitchFamily="34" charset="-120"/>
              </a:rPr>
              <a:t>Joe  ·  Hearts and Minds</a:t>
            </a:r>
            <a:endParaRPr lang="en-US" sz="850" dirty="0"/>
          </a:p>
        </p:txBody>
      </p:sp>
      <p:sp>
        <p:nvSpPr>
          <p:cNvPr id="28" name="Text 23"/>
          <p:cNvSpPr/>
          <p:nvPr/>
        </p:nvSpPr>
        <p:spPr>
          <a:xfrm>
            <a:off x="3657600" y="6473952"/>
            <a:ext cx="7528255" cy="274320"/>
          </a:xfrm>
          <a:prstGeom prst="rect">
            <a:avLst/>
          </a:prstGeom>
          <a:noFill/>
          <a:ln/>
        </p:spPr>
        <p:txBody>
          <a:bodyPr wrap="square" lIns="0" tIns="0" rIns="0" bIns="0" rtlCol="0" anchor="ctr"/>
          <a:lstStyle/>
          <a:p>
            <a:pPr algn="r" indent="0" marL="0">
              <a:buNone/>
            </a:pPr>
            <a:r>
              <a:rPr lang="en-US" sz="800" dirty="0">
                <a:solidFill>
                  <a:srgbClr val="7E8B97"/>
                </a:solidFill>
                <a:latin typeface="Arial" pitchFamily="34" charset="0"/>
                <a:ea typeface="Arial" pitchFamily="34" charset="-122"/>
                <a:cs typeface="Arial" pitchFamily="34" charset="-120"/>
              </a:rPr>
              <a:t>Commercial positions are agreed in principle and remain subject to the live procurement.</a:t>
            </a:r>
            <a:endParaRPr lang="en-US" sz="800" dirty="0"/>
          </a:p>
        </p:txBody>
      </p:sp>
      <p:sp>
        <p:nvSpPr>
          <p:cNvPr id="29" name="Text 24"/>
          <p:cNvSpPr/>
          <p:nvPr/>
        </p:nvSpPr>
        <p:spPr>
          <a:xfrm>
            <a:off x="11368735" y="6473952"/>
            <a:ext cx="36576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Arial" pitchFamily="34" charset="0"/>
                <a:ea typeface="Arial" pitchFamily="34" charset="-122"/>
                <a:cs typeface="Arial"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03087"/>
          </a:solidFill>
          <a:ln w="12700">
            <a:solidFill>
              <a:srgbClr val="003087"/>
            </a:solidFill>
            <a:prstDash val="solid"/>
          </a:ln>
        </p:spPr>
      </p:sp>
      <p:sp>
        <p:nvSpPr>
          <p:cNvPr id="3" name="Shape 1"/>
          <p:cNvSpPr/>
          <p:nvPr/>
        </p:nvSpPr>
        <p:spPr>
          <a:xfrm>
            <a:off x="0" y="868680"/>
            <a:ext cx="12191695" cy="54864"/>
          </a:xfrm>
          <a:prstGeom prst="rect">
            <a:avLst/>
          </a:prstGeom>
          <a:solidFill>
            <a:srgbClr val="5BC093"/>
          </a:solidFill>
          <a:ln w="12700">
            <a:solidFill>
              <a:srgbClr val="5BC093"/>
            </a:solidFill>
            <a:prstDash val="solid"/>
          </a:ln>
        </p:spPr>
      </p:sp>
      <p:sp>
        <p:nvSpPr>
          <p:cNvPr id="4" name="Text 2"/>
          <p:cNvSpPr/>
          <p:nvPr/>
        </p:nvSpPr>
        <p:spPr>
          <a:xfrm>
            <a:off x="457200" y="128016"/>
            <a:ext cx="8686800" cy="256032"/>
          </a:xfrm>
          <a:prstGeom prst="rect">
            <a:avLst/>
          </a:prstGeom>
          <a:noFill/>
          <a:ln/>
        </p:spPr>
        <p:txBody>
          <a:bodyPr wrap="square" lIns="0" tIns="0" rIns="0" bIns="0" rtlCol="0" anchor="ctr"/>
          <a:lstStyle/>
          <a:p>
            <a:pPr indent="0" marL="0">
              <a:buNone/>
            </a:pPr>
            <a:r>
              <a:rPr lang="en-US" sz="950" b="1" spc="200" kern="0" dirty="0">
                <a:solidFill>
                  <a:srgbClr val="7EC8E3"/>
                </a:solidFill>
                <a:latin typeface="Arial" pitchFamily="34" charset="0"/>
                <a:ea typeface="Arial" pitchFamily="34" charset="-122"/>
                <a:cs typeface="Arial" pitchFamily="34" charset="-120"/>
              </a:rPr>
              <a:t>HEARTS AND MINDS  ·  JOE'S JOURNEY  ·  STAGE 2 OF 6</a:t>
            </a:r>
            <a:endParaRPr lang="en-US" sz="950" dirty="0"/>
          </a:p>
        </p:txBody>
      </p:sp>
      <p:sp>
        <p:nvSpPr>
          <p:cNvPr id="5" name="Text 3"/>
          <p:cNvSpPr/>
          <p:nvPr/>
        </p:nvSpPr>
        <p:spPr>
          <a:xfrm>
            <a:off x="457200" y="384048"/>
            <a:ext cx="960120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Self-assess · no NHSE meeting needed yet</a:t>
            </a:r>
            <a:endParaRPr lang="en-US" sz="2000" dirty="0"/>
          </a:p>
        </p:txBody>
      </p:sp>
      <p:pic>
        <p:nvPicPr>
          <p:cNvPr id="6" name="Image 0" descr="/sessions/quirky-zen-galileo/mnt/outputs/deckbuild/nhs_logo.png">    </p:cNvPr>
          <p:cNvPicPr>
            <a:picLocks noChangeAspect="1"/>
          </p:cNvPicPr>
          <p:nvPr/>
        </p:nvPicPr>
        <p:blipFill>
          <a:blip r:embed="rId1"/>
          <a:stretch>
            <a:fillRect/>
          </a:stretch>
        </p:blipFill>
        <p:spPr>
          <a:xfrm>
            <a:off x="10774375" y="201168"/>
            <a:ext cx="960120" cy="393192"/>
          </a:xfrm>
          <a:prstGeom prst="rect">
            <a:avLst/>
          </a:prstGeom>
        </p:spPr>
      </p:pic>
      <p:sp>
        <p:nvSpPr>
          <p:cNvPr id="7" name="Text 4"/>
          <p:cNvSpPr/>
          <p:nvPr/>
        </p:nvSpPr>
        <p:spPr>
          <a:xfrm>
            <a:off x="429768" y="1024128"/>
            <a:ext cx="1463040" cy="868680"/>
          </a:xfrm>
          <a:prstGeom prst="rect">
            <a:avLst/>
          </a:prstGeom>
          <a:noFill/>
          <a:ln/>
        </p:spPr>
        <p:txBody>
          <a:bodyPr wrap="square" lIns="0" tIns="0" rIns="0" bIns="0" rtlCol="0" anchor="ctr"/>
          <a:lstStyle/>
          <a:p>
            <a:pPr indent="0" marL="0">
              <a:buNone/>
            </a:pPr>
            <a:r>
              <a:rPr lang="en-US" sz="5200" b="1" dirty="0">
                <a:solidFill>
                  <a:srgbClr val="5BC093"/>
                </a:solidFill>
                <a:latin typeface="Arial" pitchFamily="34" charset="0"/>
                <a:ea typeface="Arial" pitchFamily="34" charset="-122"/>
                <a:cs typeface="Arial" pitchFamily="34" charset="-120"/>
              </a:rPr>
              <a:t>02</a:t>
            </a:r>
            <a:endParaRPr lang="en-US" sz="5200" dirty="0"/>
          </a:p>
        </p:txBody>
      </p:sp>
      <p:sp>
        <p:nvSpPr>
          <p:cNvPr id="8" name="Text 5"/>
          <p:cNvSpPr/>
          <p:nvPr/>
        </p:nvSpPr>
        <p:spPr>
          <a:xfrm>
            <a:off x="457200" y="1920240"/>
            <a:ext cx="4892040" cy="1234440"/>
          </a:xfrm>
          <a:prstGeom prst="rect">
            <a:avLst/>
          </a:prstGeom>
          <a:noFill/>
          <a:ln/>
        </p:spPr>
        <p:txBody>
          <a:bodyPr wrap="square" lIns="0" tIns="0" rIns="0" bIns="0" rtlCol="0" anchor="t">
            <a:normAutofit/>
          </a:bodyPr>
          <a:lstStyle/>
          <a:p>
            <a:pPr indent="0" marL="0">
              <a:buNone/>
            </a:pPr>
            <a:r>
              <a:rPr lang="en-US" sz="1050" b="1" dirty="0">
                <a:solidFill>
                  <a:srgbClr val="003087"/>
                </a:solidFill>
                <a:latin typeface="Arial" pitchFamily="34" charset="0"/>
                <a:ea typeface="Arial" pitchFamily="34" charset="-122"/>
                <a:cs typeface="Arial" pitchFamily="34" charset="-120"/>
              </a:rPr>
              <a:t>Joe works through the published checklist using the boilerplate artefacts: the DPIA template, the DSA template, the privacy notice boilerplate, the clinical safety starter, the technical integration guide. He passes the core tier on all five dimensions. He is scaled-tier on clinical (DCB0129 evidence, clinical safety officer in post) and IG (DSPT done, Cyber Essentials Plus). He is sitting at the aspirational tier on technical (multi-pathway integration experience). He decides he is ready.</a:t>
            </a:r>
            <a:endParaRPr lang="en-US" sz="1050" dirty="0"/>
          </a:p>
        </p:txBody>
      </p:sp>
      <p:sp>
        <p:nvSpPr>
          <p:cNvPr id="9" name="Shape 6"/>
          <p:cNvSpPr/>
          <p:nvPr/>
        </p:nvSpPr>
        <p:spPr>
          <a:xfrm>
            <a:off x="457200" y="3264408"/>
            <a:ext cx="4892040" cy="944499"/>
          </a:xfrm>
          <a:prstGeom prst="rect">
            <a:avLst/>
          </a:prstGeom>
          <a:solidFill>
            <a:srgbClr val="F0F4F5"/>
          </a:solidFill>
          <a:ln w="12700">
            <a:solidFill>
              <a:srgbClr val="F0F4F5"/>
            </a:solidFill>
            <a:prstDash val="solid"/>
          </a:ln>
        </p:spPr>
      </p:sp>
      <p:sp>
        <p:nvSpPr>
          <p:cNvPr id="10" name="Shape 7"/>
          <p:cNvSpPr/>
          <p:nvPr/>
        </p:nvSpPr>
        <p:spPr>
          <a:xfrm>
            <a:off x="457200" y="3264408"/>
            <a:ext cx="82296" cy="944499"/>
          </a:xfrm>
          <a:prstGeom prst="rect">
            <a:avLst/>
          </a:prstGeom>
          <a:solidFill>
            <a:srgbClr val="5BC093"/>
          </a:solidFill>
          <a:ln w="12700">
            <a:solidFill>
              <a:srgbClr val="5BC093"/>
            </a:solidFill>
            <a:prstDash val="solid"/>
          </a:ln>
        </p:spPr>
      </p:sp>
      <p:sp>
        <p:nvSpPr>
          <p:cNvPr id="11" name="Text 8"/>
          <p:cNvSpPr/>
          <p:nvPr/>
        </p:nvSpPr>
        <p:spPr>
          <a:xfrm>
            <a:off x="685800" y="3319272"/>
            <a:ext cx="4526280" cy="578739"/>
          </a:xfrm>
          <a:prstGeom prst="rect">
            <a:avLst/>
          </a:prstGeom>
          <a:noFill/>
          <a:ln/>
        </p:spPr>
        <p:txBody>
          <a:bodyPr wrap="square" lIns="0" tIns="0" rIns="0" bIns="0" rtlCol="0" anchor="t">
            <a:normAutofit/>
          </a:bodyPr>
          <a:lstStyle/>
          <a:p>
            <a:pPr indent="0" marL="0">
              <a:buNone/>
            </a:pPr>
            <a:r>
              <a:rPr lang="en-US" sz="950" i="1" dirty="0">
                <a:solidFill>
                  <a:srgbClr val="231F20"/>
                </a:solidFill>
                <a:latin typeface="Arial" pitchFamily="34" charset="0"/>
                <a:ea typeface="Arial" pitchFamily="34" charset="-122"/>
                <a:cs typeface="Arial" pitchFamily="34" charset="-120"/>
              </a:rPr>
              <a:t>“By the end of the self-assessment we knew where we passed, where we needed evidence, and where we were not ready. NHSE did not have to tell us. The pack did.”</a:t>
            </a:r>
            <a:endParaRPr lang="en-US" sz="950" dirty="0"/>
          </a:p>
        </p:txBody>
      </p:sp>
      <p:sp>
        <p:nvSpPr>
          <p:cNvPr id="12" name="Text 9"/>
          <p:cNvSpPr/>
          <p:nvPr/>
        </p:nvSpPr>
        <p:spPr>
          <a:xfrm>
            <a:off x="685800" y="3898011"/>
            <a:ext cx="4526280" cy="256032"/>
          </a:xfrm>
          <a:prstGeom prst="rect">
            <a:avLst/>
          </a:prstGeom>
          <a:noFill/>
          <a:ln/>
        </p:spPr>
        <p:txBody>
          <a:bodyPr wrap="square" lIns="0" tIns="0" rIns="0" bIns="0" rtlCol="0" anchor="ctr"/>
          <a:lstStyle/>
          <a:p>
            <a:pPr indent="0" marL="0">
              <a:buNone/>
            </a:pPr>
            <a:r>
              <a:rPr lang="en-US" sz="950" b="1" dirty="0">
                <a:solidFill>
                  <a:srgbClr val="5BC093"/>
                </a:solidFill>
                <a:latin typeface="Arial" pitchFamily="34" charset="0"/>
                <a:ea typeface="Arial" pitchFamily="34" charset="-122"/>
                <a:cs typeface="Arial" pitchFamily="34" charset="-120"/>
              </a:rPr>
              <a:t>Joe</a:t>
            </a:r>
            <a:endParaRPr lang="en-US" sz="950" dirty="0"/>
          </a:p>
        </p:txBody>
      </p:sp>
      <p:pic>
        <p:nvPicPr>
          <p:cNvPr id="13" name="Image 1" descr="/sessions/quirky-zen-galileo/mnt/outputs/hmdecks/img/joe-stage2.jpg">    </p:cNvPr>
          <p:cNvPicPr>
            <a:picLocks noChangeAspect="1"/>
          </p:cNvPicPr>
          <p:nvPr/>
        </p:nvPicPr>
        <p:blipFill>
          <a:blip r:embed="rId2"/>
          <a:stretch>
            <a:fillRect/>
          </a:stretch>
        </p:blipFill>
        <p:spPr>
          <a:xfrm>
            <a:off x="457200" y="4373499"/>
            <a:ext cx="2858269" cy="1917573"/>
          </a:xfrm>
          <a:prstGeom prst="rect">
            <a:avLst/>
          </a:prstGeom>
        </p:spPr>
      </p:pic>
      <p:sp>
        <p:nvSpPr>
          <p:cNvPr id="14" name="Shape 10"/>
          <p:cNvSpPr/>
          <p:nvPr/>
        </p:nvSpPr>
        <p:spPr>
          <a:xfrm>
            <a:off x="5669280" y="1097280"/>
            <a:ext cx="6065215" cy="274320"/>
          </a:xfrm>
          <a:prstGeom prst="rect">
            <a:avLst/>
          </a:prstGeom>
          <a:solidFill>
            <a:srgbClr val="005EB8"/>
          </a:solidFill>
          <a:ln w="12700">
            <a:solidFill>
              <a:srgbClr val="005EB8"/>
            </a:solidFill>
            <a:prstDash val="solid"/>
          </a:ln>
        </p:spPr>
      </p:sp>
      <p:sp>
        <p:nvSpPr>
          <p:cNvPr id="15" name="Text 11"/>
          <p:cNvSpPr/>
          <p:nvPr/>
        </p:nvSpPr>
        <p:spPr>
          <a:xfrm>
            <a:off x="5779008" y="1097280"/>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MODEL IS DOING UNDERNEATH</a:t>
            </a:r>
            <a:endParaRPr lang="en-US" sz="850" dirty="0"/>
          </a:p>
        </p:txBody>
      </p:sp>
      <p:sp>
        <p:nvSpPr>
          <p:cNvPr id="16" name="Shape 12"/>
          <p:cNvSpPr/>
          <p:nvPr/>
        </p:nvSpPr>
        <p:spPr>
          <a:xfrm>
            <a:off x="5669280" y="1371600"/>
            <a:ext cx="6065215" cy="1223772"/>
          </a:xfrm>
          <a:prstGeom prst="rect">
            <a:avLst/>
          </a:prstGeom>
          <a:solidFill>
            <a:srgbClr val="D5E8F0"/>
          </a:solidFill>
          <a:ln w="12700">
            <a:solidFill>
              <a:srgbClr val="D5E8F0"/>
            </a:solidFill>
            <a:prstDash val="solid"/>
          </a:ln>
        </p:spPr>
      </p:sp>
      <p:sp>
        <p:nvSpPr>
          <p:cNvPr id="17" name="Text 13"/>
          <p:cNvSpPr/>
          <p:nvPr/>
        </p:nvSpPr>
        <p:spPr>
          <a:xfrm>
            <a:off x="5779008" y="1408176"/>
            <a:ext cx="5845759" cy="1168908"/>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The framework principle: </a:t>
            </a:r>
            <a:pPr indent="0" marL="0">
              <a:buNone/>
            </a:pPr>
            <a:r>
              <a:rPr lang="en-US" sz="1100" b="1" dirty="0">
                <a:solidFill>
                  <a:srgbClr val="231F20"/>
                </a:solidFill>
                <a:latin typeface="Arial" pitchFamily="34" charset="0"/>
                <a:ea typeface="Arial" pitchFamily="34" charset="-122"/>
                <a:cs typeface="Arial" pitchFamily="34" charset="-120"/>
              </a:rPr>
              <a:t>self-declared evidence against published criteria is the first step</a:t>
            </a:r>
            <a:pPr indent="0" marL="0">
              <a:buNone/>
            </a:pPr>
            <a:r>
              <a:rPr lang="en-US" sz="1100" dirty="0">
                <a:solidFill>
                  <a:srgbClr val="231F20"/>
                </a:solidFill>
                <a:latin typeface="Arial" pitchFamily="34" charset="0"/>
                <a:ea typeface="Arial" pitchFamily="34" charset="-122"/>
                <a:cs typeface="Arial" pitchFamily="34" charset="-120"/>
              </a:rPr>
              <a:t>. The boilerplate artefacts are versioned centrally and reused across pathways, Joe does not author a DPIA from scratch, he completes the NHSE template. The self-assessment output is a structured position against each criterion with references to the evidence Joe will produce at application stage. </a:t>
            </a:r>
            <a:pPr indent="0" marL="0">
              <a:buNone/>
            </a:pPr>
            <a:r>
              <a:rPr lang="en-US" sz="1100" b="1" dirty="0">
                <a:solidFill>
                  <a:srgbClr val="231F20"/>
                </a:solidFill>
                <a:latin typeface="Arial" pitchFamily="34" charset="0"/>
                <a:ea typeface="Arial" pitchFamily="34" charset="-122"/>
                <a:cs typeface="Arial" pitchFamily="34" charset="-120"/>
              </a:rPr>
              <a:t>The grey-area calls escalate; the box-ticks run themselves.</a:t>
            </a:r>
            <a:endParaRPr lang="en-US" sz="1100" dirty="0"/>
          </a:p>
        </p:txBody>
      </p:sp>
      <p:sp>
        <p:nvSpPr>
          <p:cNvPr id="18" name="Shape 14"/>
          <p:cNvSpPr/>
          <p:nvPr/>
        </p:nvSpPr>
        <p:spPr>
          <a:xfrm>
            <a:off x="5669280" y="2723388"/>
            <a:ext cx="6065215" cy="274320"/>
          </a:xfrm>
          <a:prstGeom prst="rect">
            <a:avLst/>
          </a:prstGeom>
          <a:solidFill>
            <a:srgbClr val="4C6272"/>
          </a:solidFill>
          <a:ln w="12700">
            <a:solidFill>
              <a:srgbClr val="4C6272"/>
            </a:solidFill>
            <a:prstDash val="solid"/>
          </a:ln>
        </p:spPr>
      </p:sp>
      <p:sp>
        <p:nvSpPr>
          <p:cNvPr id="19" name="Text 15"/>
          <p:cNvSpPr/>
          <p:nvPr/>
        </p:nvSpPr>
        <p:spPr>
          <a:xfrm>
            <a:off x="5779008" y="2723388"/>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THE OLD WAY</a:t>
            </a:r>
            <a:endParaRPr lang="en-US" sz="850" dirty="0"/>
          </a:p>
        </p:txBody>
      </p:sp>
      <p:sp>
        <p:nvSpPr>
          <p:cNvPr id="20" name="Shape 16"/>
          <p:cNvSpPr/>
          <p:nvPr/>
        </p:nvSpPr>
        <p:spPr>
          <a:xfrm>
            <a:off x="5669280" y="2997708"/>
            <a:ext cx="6065215" cy="882904"/>
          </a:xfrm>
          <a:prstGeom prst="rect">
            <a:avLst/>
          </a:prstGeom>
          <a:solidFill>
            <a:srgbClr val="F0F4F5"/>
          </a:solidFill>
          <a:ln w="12700">
            <a:solidFill>
              <a:srgbClr val="F0F4F5"/>
            </a:solidFill>
            <a:prstDash val="solid"/>
          </a:ln>
        </p:spPr>
      </p:sp>
      <p:sp>
        <p:nvSpPr>
          <p:cNvPr id="21" name="Text 17"/>
          <p:cNvSpPr/>
          <p:nvPr/>
        </p:nvSpPr>
        <p:spPr>
          <a:xfrm>
            <a:off x="5779008" y="3034284"/>
            <a:ext cx="5845759" cy="828040"/>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A bidder produces a unique DPIA, a unique DSA, a unique privacy notice. Each commissioner reviews them locally with no shared baseline. The same supplier ends up with five different DPIAs across five LAs. The IG team review the same patterns five times. The supplier reformats five times.</a:t>
            </a:r>
            <a:endParaRPr lang="en-US" sz="1100" dirty="0"/>
          </a:p>
        </p:txBody>
      </p:sp>
      <p:sp>
        <p:nvSpPr>
          <p:cNvPr id="22" name="Shape 18"/>
          <p:cNvSpPr/>
          <p:nvPr/>
        </p:nvSpPr>
        <p:spPr>
          <a:xfrm>
            <a:off x="5669280" y="4008628"/>
            <a:ext cx="6065215" cy="274320"/>
          </a:xfrm>
          <a:prstGeom prst="rect">
            <a:avLst/>
          </a:prstGeom>
          <a:solidFill>
            <a:srgbClr val="006747"/>
          </a:solidFill>
          <a:ln w="12700">
            <a:solidFill>
              <a:srgbClr val="006747"/>
            </a:solidFill>
            <a:prstDash val="solid"/>
          </a:ln>
        </p:spPr>
      </p:sp>
      <p:sp>
        <p:nvSpPr>
          <p:cNvPr id="23" name="Text 19"/>
          <p:cNvSpPr/>
          <p:nvPr/>
        </p:nvSpPr>
        <p:spPr>
          <a:xfrm>
            <a:off x="5779008" y="4008628"/>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CARE TEAM SEES</a:t>
            </a:r>
            <a:endParaRPr lang="en-US" sz="850" dirty="0"/>
          </a:p>
        </p:txBody>
      </p:sp>
      <p:sp>
        <p:nvSpPr>
          <p:cNvPr id="24" name="Shape 20"/>
          <p:cNvSpPr/>
          <p:nvPr/>
        </p:nvSpPr>
        <p:spPr>
          <a:xfrm>
            <a:off x="5669280" y="4282948"/>
            <a:ext cx="6065215" cy="542036"/>
          </a:xfrm>
          <a:prstGeom prst="rect">
            <a:avLst/>
          </a:prstGeom>
          <a:solidFill>
            <a:srgbClr val="E8F3EE"/>
          </a:solidFill>
          <a:ln w="12700">
            <a:solidFill>
              <a:srgbClr val="E8F3EE"/>
            </a:solidFill>
            <a:prstDash val="solid"/>
          </a:ln>
        </p:spPr>
      </p:sp>
      <p:sp>
        <p:nvSpPr>
          <p:cNvPr id="25" name="Text 21"/>
          <p:cNvSpPr/>
          <p:nvPr/>
        </p:nvSpPr>
        <p:spPr>
          <a:xfrm>
            <a:off x="5779008" y="4319524"/>
            <a:ext cx="5845759" cy="487172"/>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Still nobody at NHSE. Joe's side: his clinical safety officer, his DPO, his commercial lead, his technical lead. They self-assess against the public pack.</a:t>
            </a:r>
            <a:endParaRPr lang="en-US" sz="1100" dirty="0"/>
          </a:p>
        </p:txBody>
      </p:sp>
      <p:sp>
        <p:nvSpPr>
          <p:cNvPr id="27" name="Text 22"/>
          <p:cNvSpPr/>
          <p:nvPr/>
        </p:nvSpPr>
        <p:spPr>
          <a:xfrm>
            <a:off x="457200" y="6473952"/>
            <a:ext cx="3108960" cy="274320"/>
          </a:xfrm>
          <a:prstGeom prst="rect">
            <a:avLst/>
          </a:prstGeom>
          <a:noFill/>
          <a:ln/>
        </p:spPr>
        <p:txBody>
          <a:bodyPr wrap="square" lIns="0" tIns="0" rIns="0" bIns="0" rtlCol="0" anchor="ctr"/>
          <a:lstStyle/>
          <a:p>
            <a:pPr indent="0" marL="0">
              <a:buNone/>
            </a:pPr>
            <a:r>
              <a:rPr lang="en-US" sz="850" dirty="0">
                <a:solidFill>
                  <a:srgbClr val="7E8B97"/>
                </a:solidFill>
                <a:latin typeface="Arial" pitchFamily="34" charset="0"/>
                <a:ea typeface="Arial" pitchFamily="34" charset="-122"/>
                <a:cs typeface="Arial" pitchFamily="34" charset="-120"/>
              </a:rPr>
              <a:t>Joe  ·  Hearts and Minds</a:t>
            </a:r>
            <a:endParaRPr lang="en-US" sz="850" dirty="0"/>
          </a:p>
        </p:txBody>
      </p:sp>
      <p:sp>
        <p:nvSpPr>
          <p:cNvPr id="28" name="Text 23"/>
          <p:cNvSpPr/>
          <p:nvPr/>
        </p:nvSpPr>
        <p:spPr>
          <a:xfrm>
            <a:off x="3657600" y="6473952"/>
            <a:ext cx="7528255" cy="274320"/>
          </a:xfrm>
          <a:prstGeom prst="rect">
            <a:avLst/>
          </a:prstGeom>
          <a:noFill/>
          <a:ln/>
        </p:spPr>
        <p:txBody>
          <a:bodyPr wrap="square" lIns="0" tIns="0" rIns="0" bIns="0" rtlCol="0" anchor="ctr"/>
          <a:lstStyle/>
          <a:p>
            <a:pPr algn="r" indent="0" marL="0">
              <a:buNone/>
            </a:pPr>
            <a:r>
              <a:rPr lang="en-US" sz="800" dirty="0">
                <a:solidFill>
                  <a:srgbClr val="7E8B97"/>
                </a:solidFill>
                <a:latin typeface="Arial" pitchFamily="34" charset="0"/>
                <a:ea typeface="Arial" pitchFamily="34" charset="-122"/>
                <a:cs typeface="Arial" pitchFamily="34" charset="-120"/>
              </a:rPr>
              <a:t>Commercial positions are agreed in principle and remain subject to the live procurement.</a:t>
            </a:r>
            <a:endParaRPr lang="en-US" sz="800" dirty="0"/>
          </a:p>
        </p:txBody>
      </p:sp>
      <p:sp>
        <p:nvSpPr>
          <p:cNvPr id="29" name="Text 24"/>
          <p:cNvSpPr/>
          <p:nvPr/>
        </p:nvSpPr>
        <p:spPr>
          <a:xfrm>
            <a:off x="11368735" y="6473952"/>
            <a:ext cx="36576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Arial" pitchFamily="34" charset="0"/>
                <a:ea typeface="Arial" pitchFamily="34" charset="-122"/>
                <a:cs typeface="Arial"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03087"/>
          </a:solidFill>
          <a:ln w="12700">
            <a:solidFill>
              <a:srgbClr val="003087"/>
            </a:solidFill>
            <a:prstDash val="solid"/>
          </a:ln>
        </p:spPr>
      </p:sp>
      <p:sp>
        <p:nvSpPr>
          <p:cNvPr id="3" name="Shape 1"/>
          <p:cNvSpPr/>
          <p:nvPr/>
        </p:nvSpPr>
        <p:spPr>
          <a:xfrm>
            <a:off x="0" y="868680"/>
            <a:ext cx="12191695" cy="54864"/>
          </a:xfrm>
          <a:prstGeom prst="rect">
            <a:avLst/>
          </a:prstGeom>
          <a:solidFill>
            <a:srgbClr val="5BC093"/>
          </a:solidFill>
          <a:ln w="12700">
            <a:solidFill>
              <a:srgbClr val="5BC093"/>
            </a:solidFill>
            <a:prstDash val="solid"/>
          </a:ln>
        </p:spPr>
      </p:sp>
      <p:sp>
        <p:nvSpPr>
          <p:cNvPr id="4" name="Text 2"/>
          <p:cNvSpPr/>
          <p:nvPr/>
        </p:nvSpPr>
        <p:spPr>
          <a:xfrm>
            <a:off x="457200" y="128016"/>
            <a:ext cx="8686800" cy="256032"/>
          </a:xfrm>
          <a:prstGeom prst="rect">
            <a:avLst/>
          </a:prstGeom>
          <a:noFill/>
          <a:ln/>
        </p:spPr>
        <p:txBody>
          <a:bodyPr wrap="square" lIns="0" tIns="0" rIns="0" bIns="0" rtlCol="0" anchor="ctr"/>
          <a:lstStyle/>
          <a:p>
            <a:pPr indent="0" marL="0">
              <a:buNone/>
            </a:pPr>
            <a:r>
              <a:rPr lang="en-US" sz="950" b="1" spc="200" kern="0" dirty="0">
                <a:solidFill>
                  <a:srgbClr val="7EC8E3"/>
                </a:solidFill>
                <a:latin typeface="Arial" pitchFamily="34" charset="0"/>
                <a:ea typeface="Arial" pitchFamily="34" charset="-122"/>
                <a:cs typeface="Arial" pitchFamily="34" charset="-120"/>
              </a:rPr>
              <a:t>HEARTS AND MINDS  ·  JOE'S JOURNEY  ·  STAGE 3 OF 6</a:t>
            </a:r>
            <a:endParaRPr lang="en-US" sz="950" dirty="0"/>
          </a:p>
        </p:txBody>
      </p:sp>
      <p:sp>
        <p:nvSpPr>
          <p:cNvPr id="5" name="Text 3"/>
          <p:cNvSpPr/>
          <p:nvPr/>
        </p:nvSpPr>
        <p:spPr>
          <a:xfrm>
            <a:off x="457200" y="384048"/>
            <a:ext cx="960120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Submit the EOI · structured, evidenced</a:t>
            </a:r>
            <a:endParaRPr lang="en-US" sz="2000" dirty="0"/>
          </a:p>
        </p:txBody>
      </p:sp>
      <p:pic>
        <p:nvPicPr>
          <p:cNvPr id="6" name="Image 0" descr="/sessions/quirky-zen-galileo/mnt/outputs/deckbuild/nhs_logo.png">    </p:cNvPr>
          <p:cNvPicPr>
            <a:picLocks noChangeAspect="1"/>
          </p:cNvPicPr>
          <p:nvPr/>
        </p:nvPicPr>
        <p:blipFill>
          <a:blip r:embed="rId1"/>
          <a:stretch>
            <a:fillRect/>
          </a:stretch>
        </p:blipFill>
        <p:spPr>
          <a:xfrm>
            <a:off x="10774375" y="201168"/>
            <a:ext cx="960120" cy="393192"/>
          </a:xfrm>
          <a:prstGeom prst="rect">
            <a:avLst/>
          </a:prstGeom>
        </p:spPr>
      </p:pic>
      <p:sp>
        <p:nvSpPr>
          <p:cNvPr id="7" name="Text 4"/>
          <p:cNvSpPr/>
          <p:nvPr/>
        </p:nvSpPr>
        <p:spPr>
          <a:xfrm>
            <a:off x="429768" y="1024128"/>
            <a:ext cx="1463040" cy="868680"/>
          </a:xfrm>
          <a:prstGeom prst="rect">
            <a:avLst/>
          </a:prstGeom>
          <a:noFill/>
          <a:ln/>
        </p:spPr>
        <p:txBody>
          <a:bodyPr wrap="square" lIns="0" tIns="0" rIns="0" bIns="0" rtlCol="0" anchor="ctr"/>
          <a:lstStyle/>
          <a:p>
            <a:pPr indent="0" marL="0">
              <a:buNone/>
            </a:pPr>
            <a:r>
              <a:rPr lang="en-US" sz="5200" b="1" dirty="0">
                <a:solidFill>
                  <a:srgbClr val="5BC093"/>
                </a:solidFill>
                <a:latin typeface="Arial" pitchFamily="34" charset="0"/>
                <a:ea typeface="Arial" pitchFamily="34" charset="-122"/>
                <a:cs typeface="Arial" pitchFamily="34" charset="-120"/>
              </a:rPr>
              <a:t>03</a:t>
            </a:r>
            <a:endParaRPr lang="en-US" sz="5200" dirty="0"/>
          </a:p>
        </p:txBody>
      </p:sp>
      <p:sp>
        <p:nvSpPr>
          <p:cNvPr id="8" name="Text 5"/>
          <p:cNvSpPr/>
          <p:nvPr/>
        </p:nvSpPr>
        <p:spPr>
          <a:xfrm>
            <a:off x="457200" y="1920240"/>
            <a:ext cx="4892040" cy="1230249"/>
          </a:xfrm>
          <a:prstGeom prst="rect">
            <a:avLst/>
          </a:prstGeom>
          <a:noFill/>
          <a:ln/>
        </p:spPr>
        <p:txBody>
          <a:bodyPr wrap="square" lIns="0" tIns="0" rIns="0" bIns="0" rtlCol="0" anchor="t">
            <a:normAutofit/>
          </a:bodyPr>
          <a:lstStyle/>
          <a:p>
            <a:pPr indent="0" marL="0">
              <a:buNone/>
            </a:pPr>
            <a:r>
              <a:rPr lang="en-US" sz="1050" b="1" dirty="0">
                <a:solidFill>
                  <a:srgbClr val="003087"/>
                </a:solidFill>
                <a:latin typeface="Arial" pitchFamily="34" charset="0"/>
                <a:ea typeface="Arial" pitchFamily="34" charset="-122"/>
                <a:cs typeface="Arial" pitchFamily="34" charset="-120"/>
              </a:rPr>
              <a:t>Joe submits the EOI through Atamis. The form is structured: APIs he wants to onboard to, scope (tests, pathways, territory), the self-assessment result by criterion, the evidence references. Nothing free-text. Nothing bespoke. He uploads his DCB0129 evidence pack, his DSPT certificate, his Cyber Essentials Plus letter, his accounts. He picks Route A, the standard route, because he is sitting at the scaled tier across all five dimensions.</a:t>
            </a:r>
            <a:endParaRPr lang="en-US" sz="1050" dirty="0"/>
          </a:p>
        </p:txBody>
      </p:sp>
      <p:sp>
        <p:nvSpPr>
          <p:cNvPr id="9" name="Shape 6"/>
          <p:cNvSpPr/>
          <p:nvPr/>
        </p:nvSpPr>
        <p:spPr>
          <a:xfrm>
            <a:off x="457200" y="3260217"/>
            <a:ext cx="4892040" cy="944499"/>
          </a:xfrm>
          <a:prstGeom prst="rect">
            <a:avLst/>
          </a:prstGeom>
          <a:solidFill>
            <a:srgbClr val="F0F4F5"/>
          </a:solidFill>
          <a:ln w="12700">
            <a:solidFill>
              <a:srgbClr val="F0F4F5"/>
            </a:solidFill>
            <a:prstDash val="solid"/>
          </a:ln>
        </p:spPr>
      </p:sp>
      <p:sp>
        <p:nvSpPr>
          <p:cNvPr id="10" name="Shape 7"/>
          <p:cNvSpPr/>
          <p:nvPr/>
        </p:nvSpPr>
        <p:spPr>
          <a:xfrm>
            <a:off x="457200" y="3260217"/>
            <a:ext cx="82296" cy="944499"/>
          </a:xfrm>
          <a:prstGeom prst="rect">
            <a:avLst/>
          </a:prstGeom>
          <a:solidFill>
            <a:srgbClr val="5BC093"/>
          </a:solidFill>
          <a:ln w="12700">
            <a:solidFill>
              <a:srgbClr val="5BC093"/>
            </a:solidFill>
            <a:prstDash val="solid"/>
          </a:ln>
        </p:spPr>
      </p:sp>
      <p:sp>
        <p:nvSpPr>
          <p:cNvPr id="11" name="Text 8"/>
          <p:cNvSpPr/>
          <p:nvPr/>
        </p:nvSpPr>
        <p:spPr>
          <a:xfrm>
            <a:off x="685800" y="3315081"/>
            <a:ext cx="4526280" cy="578739"/>
          </a:xfrm>
          <a:prstGeom prst="rect">
            <a:avLst/>
          </a:prstGeom>
          <a:noFill/>
          <a:ln/>
        </p:spPr>
        <p:txBody>
          <a:bodyPr wrap="square" lIns="0" tIns="0" rIns="0" bIns="0" rtlCol="0" anchor="t">
            <a:normAutofit/>
          </a:bodyPr>
          <a:lstStyle/>
          <a:p>
            <a:pPr indent="0" marL="0">
              <a:buNone/>
            </a:pPr>
            <a:r>
              <a:rPr lang="en-US" sz="950" i="1" dirty="0">
                <a:solidFill>
                  <a:srgbClr val="231F20"/>
                </a:solidFill>
                <a:latin typeface="Arial" pitchFamily="34" charset="0"/>
                <a:ea typeface="Arial" pitchFamily="34" charset="-122"/>
                <a:cs typeface="Arial" pitchFamily="34" charset="-120"/>
              </a:rPr>
              <a:t>“I did not get on a phone call to find out what they wanted from me. I uploaded what the pack asked for, against the route I had self-selected into. Then I waited.”</a:t>
            </a:r>
            <a:endParaRPr lang="en-US" sz="950" dirty="0"/>
          </a:p>
        </p:txBody>
      </p:sp>
      <p:sp>
        <p:nvSpPr>
          <p:cNvPr id="12" name="Text 9"/>
          <p:cNvSpPr/>
          <p:nvPr/>
        </p:nvSpPr>
        <p:spPr>
          <a:xfrm>
            <a:off x="685800" y="3893820"/>
            <a:ext cx="4526280" cy="256032"/>
          </a:xfrm>
          <a:prstGeom prst="rect">
            <a:avLst/>
          </a:prstGeom>
          <a:noFill/>
          <a:ln/>
        </p:spPr>
        <p:txBody>
          <a:bodyPr wrap="square" lIns="0" tIns="0" rIns="0" bIns="0" rtlCol="0" anchor="ctr"/>
          <a:lstStyle/>
          <a:p>
            <a:pPr indent="0" marL="0">
              <a:buNone/>
            </a:pPr>
            <a:r>
              <a:rPr lang="en-US" sz="950" b="1" dirty="0">
                <a:solidFill>
                  <a:srgbClr val="5BC093"/>
                </a:solidFill>
                <a:latin typeface="Arial" pitchFamily="34" charset="0"/>
                <a:ea typeface="Arial" pitchFamily="34" charset="-122"/>
                <a:cs typeface="Arial" pitchFamily="34" charset="-120"/>
              </a:rPr>
              <a:t>Joe</a:t>
            </a:r>
            <a:endParaRPr lang="en-US" sz="950" dirty="0"/>
          </a:p>
        </p:txBody>
      </p:sp>
      <p:pic>
        <p:nvPicPr>
          <p:cNvPr id="13" name="Image 1" descr="/sessions/quirky-zen-galileo/mnt/outputs/hmdecks/img/joe-stage3.jpg">    </p:cNvPr>
          <p:cNvPicPr>
            <a:picLocks noChangeAspect="1"/>
          </p:cNvPicPr>
          <p:nvPr/>
        </p:nvPicPr>
        <p:blipFill>
          <a:blip r:embed="rId2"/>
          <a:stretch>
            <a:fillRect/>
          </a:stretch>
        </p:blipFill>
        <p:spPr>
          <a:xfrm>
            <a:off x="457200" y="4369308"/>
            <a:ext cx="2864516" cy="1921764"/>
          </a:xfrm>
          <a:prstGeom prst="rect">
            <a:avLst/>
          </a:prstGeom>
        </p:spPr>
      </p:pic>
      <p:sp>
        <p:nvSpPr>
          <p:cNvPr id="14" name="Shape 10"/>
          <p:cNvSpPr/>
          <p:nvPr/>
        </p:nvSpPr>
        <p:spPr>
          <a:xfrm>
            <a:off x="5669280" y="1097280"/>
            <a:ext cx="6065215" cy="274320"/>
          </a:xfrm>
          <a:prstGeom prst="rect">
            <a:avLst/>
          </a:prstGeom>
          <a:solidFill>
            <a:srgbClr val="005EB8"/>
          </a:solidFill>
          <a:ln w="12700">
            <a:solidFill>
              <a:srgbClr val="005EB8"/>
            </a:solidFill>
            <a:prstDash val="solid"/>
          </a:ln>
        </p:spPr>
      </p:sp>
      <p:sp>
        <p:nvSpPr>
          <p:cNvPr id="15" name="Text 11"/>
          <p:cNvSpPr/>
          <p:nvPr/>
        </p:nvSpPr>
        <p:spPr>
          <a:xfrm>
            <a:off x="5779008" y="1097280"/>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MODEL IS DOING UNDERNEATH</a:t>
            </a:r>
            <a:endParaRPr lang="en-US" sz="850" dirty="0"/>
          </a:p>
        </p:txBody>
      </p:sp>
      <p:sp>
        <p:nvSpPr>
          <p:cNvPr id="16" name="Shape 12"/>
          <p:cNvSpPr/>
          <p:nvPr/>
        </p:nvSpPr>
        <p:spPr>
          <a:xfrm>
            <a:off x="5669280" y="1371600"/>
            <a:ext cx="6065215" cy="1053338"/>
          </a:xfrm>
          <a:prstGeom prst="rect">
            <a:avLst/>
          </a:prstGeom>
          <a:solidFill>
            <a:srgbClr val="D5E8F0"/>
          </a:solidFill>
          <a:ln w="12700">
            <a:solidFill>
              <a:srgbClr val="D5E8F0"/>
            </a:solidFill>
            <a:prstDash val="solid"/>
          </a:ln>
        </p:spPr>
      </p:sp>
      <p:sp>
        <p:nvSpPr>
          <p:cNvPr id="17" name="Text 13"/>
          <p:cNvSpPr/>
          <p:nvPr/>
        </p:nvSpPr>
        <p:spPr>
          <a:xfrm>
            <a:off x="5779008" y="1408176"/>
            <a:ext cx="5845759" cy="998474"/>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Atamis carries the formal procurement EOI. The submission is structured: </a:t>
            </a:r>
            <a:pPr indent="0" marL="0">
              <a:buNone/>
            </a:pPr>
            <a:r>
              <a:rPr lang="en-US" sz="1100" b="1" dirty="0">
                <a:solidFill>
                  <a:srgbClr val="231F20"/>
                </a:solidFill>
                <a:latin typeface="Arial" pitchFamily="34" charset="0"/>
                <a:ea typeface="Arial" pitchFamily="34" charset="-122"/>
                <a:cs typeface="Arial" pitchFamily="34" charset="-120"/>
              </a:rPr>
              <a:t>API targets, scope declarations, criterion-by-criterion self-assessment results, evidence references</a:t>
            </a:r>
            <a:pPr indent="0" marL="0">
              <a:buNone/>
            </a:pPr>
            <a:r>
              <a:rPr lang="en-US" sz="1100" dirty="0">
                <a:solidFill>
                  <a:srgbClr val="231F20"/>
                </a:solidFill>
                <a:latin typeface="Arial" pitchFamily="34" charset="0"/>
                <a:ea typeface="Arial" pitchFamily="34" charset="-122"/>
                <a:cs typeface="Arial" pitchFamily="34" charset="-120"/>
              </a:rPr>
              <a:t>. The platform stores the artefacts in a single tenancy that NHSE workstream leads will read against. A dedicated EOI form picks up the partnership routes for Year 1; both feed the same downstream review.</a:t>
            </a:r>
            <a:endParaRPr lang="en-US" sz="1100" dirty="0"/>
          </a:p>
        </p:txBody>
      </p:sp>
      <p:sp>
        <p:nvSpPr>
          <p:cNvPr id="18" name="Shape 14"/>
          <p:cNvSpPr/>
          <p:nvPr/>
        </p:nvSpPr>
        <p:spPr>
          <a:xfrm>
            <a:off x="5669280" y="2552954"/>
            <a:ext cx="6065215" cy="274320"/>
          </a:xfrm>
          <a:prstGeom prst="rect">
            <a:avLst/>
          </a:prstGeom>
          <a:solidFill>
            <a:srgbClr val="4C6272"/>
          </a:solidFill>
          <a:ln w="12700">
            <a:solidFill>
              <a:srgbClr val="4C6272"/>
            </a:solidFill>
            <a:prstDash val="solid"/>
          </a:ln>
        </p:spPr>
      </p:sp>
      <p:sp>
        <p:nvSpPr>
          <p:cNvPr id="19" name="Text 15"/>
          <p:cNvSpPr/>
          <p:nvPr/>
        </p:nvSpPr>
        <p:spPr>
          <a:xfrm>
            <a:off x="5779008" y="2552954"/>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THE OLD WAY</a:t>
            </a:r>
            <a:endParaRPr lang="en-US" sz="850" dirty="0"/>
          </a:p>
        </p:txBody>
      </p:sp>
      <p:sp>
        <p:nvSpPr>
          <p:cNvPr id="20" name="Shape 16"/>
          <p:cNvSpPr/>
          <p:nvPr/>
        </p:nvSpPr>
        <p:spPr>
          <a:xfrm>
            <a:off x="5669280" y="2827274"/>
            <a:ext cx="6065215" cy="882904"/>
          </a:xfrm>
          <a:prstGeom prst="rect">
            <a:avLst/>
          </a:prstGeom>
          <a:solidFill>
            <a:srgbClr val="F0F4F5"/>
          </a:solidFill>
          <a:ln w="12700">
            <a:solidFill>
              <a:srgbClr val="F0F4F5"/>
            </a:solidFill>
            <a:prstDash val="solid"/>
          </a:ln>
        </p:spPr>
      </p:sp>
      <p:sp>
        <p:nvSpPr>
          <p:cNvPr id="21" name="Text 17"/>
          <p:cNvSpPr/>
          <p:nvPr/>
        </p:nvSpPr>
        <p:spPr>
          <a:xfrm>
            <a:off x="5779008" y="2863850"/>
            <a:ext cx="5845759" cy="828040"/>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A free-text proposal of 40+ pages addressing imprecise evaluation questions, with the bidder guessing at what each question is testing. The evaluation panel reads the proposal and tries to reconstruct what the supplier is offering. Material gets lost. Equivalent suppliers look different on paper because the structure is bespoke.</a:t>
            </a:r>
            <a:endParaRPr lang="en-US" sz="1100" dirty="0"/>
          </a:p>
        </p:txBody>
      </p:sp>
      <p:sp>
        <p:nvSpPr>
          <p:cNvPr id="22" name="Shape 18"/>
          <p:cNvSpPr/>
          <p:nvPr/>
        </p:nvSpPr>
        <p:spPr>
          <a:xfrm>
            <a:off x="5669280" y="3838194"/>
            <a:ext cx="6065215" cy="274320"/>
          </a:xfrm>
          <a:prstGeom prst="rect">
            <a:avLst/>
          </a:prstGeom>
          <a:solidFill>
            <a:srgbClr val="006747"/>
          </a:solidFill>
          <a:ln w="12700">
            <a:solidFill>
              <a:srgbClr val="006747"/>
            </a:solidFill>
            <a:prstDash val="solid"/>
          </a:ln>
        </p:spPr>
      </p:sp>
      <p:sp>
        <p:nvSpPr>
          <p:cNvPr id="23" name="Text 19"/>
          <p:cNvSpPr/>
          <p:nvPr/>
        </p:nvSpPr>
        <p:spPr>
          <a:xfrm>
            <a:off x="5779008" y="3838194"/>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CARE TEAM SEES</a:t>
            </a:r>
            <a:endParaRPr lang="en-US" sz="850" dirty="0"/>
          </a:p>
        </p:txBody>
      </p:sp>
      <p:sp>
        <p:nvSpPr>
          <p:cNvPr id="24" name="Shape 20"/>
          <p:cNvSpPr/>
          <p:nvPr/>
        </p:nvSpPr>
        <p:spPr>
          <a:xfrm>
            <a:off x="5669280" y="4112514"/>
            <a:ext cx="6065215" cy="712470"/>
          </a:xfrm>
          <a:prstGeom prst="rect">
            <a:avLst/>
          </a:prstGeom>
          <a:solidFill>
            <a:srgbClr val="E8F3EE"/>
          </a:solidFill>
          <a:ln w="12700">
            <a:solidFill>
              <a:srgbClr val="E8F3EE"/>
            </a:solidFill>
            <a:prstDash val="solid"/>
          </a:ln>
        </p:spPr>
      </p:sp>
      <p:sp>
        <p:nvSpPr>
          <p:cNvPr id="25" name="Text 21"/>
          <p:cNvSpPr/>
          <p:nvPr/>
        </p:nvSpPr>
        <p:spPr>
          <a:xfrm>
            <a:off x="5779008" y="4149090"/>
            <a:ext cx="5845759" cy="657606"/>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A new EOI lands in the Atamis tenancy. Operations team see a submission against the framework. Commercial Operations, IG team, Clinical Safety team and Head of Technology &amp; Product are notified that a structured EOI is ready for review.</a:t>
            </a:r>
            <a:endParaRPr lang="en-US" sz="1100" dirty="0"/>
          </a:p>
        </p:txBody>
      </p:sp>
      <p:sp>
        <p:nvSpPr>
          <p:cNvPr id="27" name="Text 22"/>
          <p:cNvSpPr/>
          <p:nvPr/>
        </p:nvSpPr>
        <p:spPr>
          <a:xfrm>
            <a:off x="457200" y="6473952"/>
            <a:ext cx="3108960" cy="274320"/>
          </a:xfrm>
          <a:prstGeom prst="rect">
            <a:avLst/>
          </a:prstGeom>
          <a:noFill/>
          <a:ln/>
        </p:spPr>
        <p:txBody>
          <a:bodyPr wrap="square" lIns="0" tIns="0" rIns="0" bIns="0" rtlCol="0" anchor="ctr"/>
          <a:lstStyle/>
          <a:p>
            <a:pPr indent="0" marL="0">
              <a:buNone/>
            </a:pPr>
            <a:r>
              <a:rPr lang="en-US" sz="850" dirty="0">
                <a:solidFill>
                  <a:srgbClr val="7E8B97"/>
                </a:solidFill>
                <a:latin typeface="Arial" pitchFamily="34" charset="0"/>
                <a:ea typeface="Arial" pitchFamily="34" charset="-122"/>
                <a:cs typeface="Arial" pitchFamily="34" charset="-120"/>
              </a:rPr>
              <a:t>Joe  ·  Hearts and Minds</a:t>
            </a:r>
            <a:endParaRPr lang="en-US" sz="850" dirty="0"/>
          </a:p>
        </p:txBody>
      </p:sp>
      <p:sp>
        <p:nvSpPr>
          <p:cNvPr id="28" name="Text 23"/>
          <p:cNvSpPr/>
          <p:nvPr/>
        </p:nvSpPr>
        <p:spPr>
          <a:xfrm>
            <a:off x="3657600" y="6473952"/>
            <a:ext cx="7528255" cy="274320"/>
          </a:xfrm>
          <a:prstGeom prst="rect">
            <a:avLst/>
          </a:prstGeom>
          <a:noFill/>
          <a:ln/>
        </p:spPr>
        <p:txBody>
          <a:bodyPr wrap="square" lIns="0" tIns="0" rIns="0" bIns="0" rtlCol="0" anchor="ctr"/>
          <a:lstStyle/>
          <a:p>
            <a:pPr algn="r" indent="0" marL="0">
              <a:buNone/>
            </a:pPr>
            <a:r>
              <a:rPr lang="en-US" sz="800" dirty="0">
                <a:solidFill>
                  <a:srgbClr val="7E8B97"/>
                </a:solidFill>
                <a:latin typeface="Arial" pitchFamily="34" charset="0"/>
                <a:ea typeface="Arial" pitchFamily="34" charset="-122"/>
                <a:cs typeface="Arial" pitchFamily="34" charset="-120"/>
              </a:rPr>
              <a:t>Commercial positions are agreed in principle and remain subject to the live procurement.</a:t>
            </a:r>
            <a:endParaRPr lang="en-US" sz="800" dirty="0"/>
          </a:p>
        </p:txBody>
      </p:sp>
      <p:sp>
        <p:nvSpPr>
          <p:cNvPr id="29" name="Text 24"/>
          <p:cNvSpPr/>
          <p:nvPr/>
        </p:nvSpPr>
        <p:spPr>
          <a:xfrm>
            <a:off x="11368735" y="6473952"/>
            <a:ext cx="36576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Arial" pitchFamily="34" charset="0"/>
                <a:ea typeface="Arial" pitchFamily="34" charset="-122"/>
                <a:cs typeface="Arial"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03087"/>
          </a:solidFill>
          <a:ln w="12700">
            <a:solidFill>
              <a:srgbClr val="003087"/>
            </a:solidFill>
            <a:prstDash val="solid"/>
          </a:ln>
        </p:spPr>
      </p:sp>
      <p:sp>
        <p:nvSpPr>
          <p:cNvPr id="3" name="Shape 1"/>
          <p:cNvSpPr/>
          <p:nvPr/>
        </p:nvSpPr>
        <p:spPr>
          <a:xfrm>
            <a:off x="0" y="868680"/>
            <a:ext cx="12191695" cy="54864"/>
          </a:xfrm>
          <a:prstGeom prst="rect">
            <a:avLst/>
          </a:prstGeom>
          <a:solidFill>
            <a:srgbClr val="5BC093"/>
          </a:solidFill>
          <a:ln w="12700">
            <a:solidFill>
              <a:srgbClr val="5BC093"/>
            </a:solidFill>
            <a:prstDash val="solid"/>
          </a:ln>
        </p:spPr>
      </p:sp>
      <p:sp>
        <p:nvSpPr>
          <p:cNvPr id="4" name="Text 2"/>
          <p:cNvSpPr/>
          <p:nvPr/>
        </p:nvSpPr>
        <p:spPr>
          <a:xfrm>
            <a:off x="457200" y="128016"/>
            <a:ext cx="8686800" cy="256032"/>
          </a:xfrm>
          <a:prstGeom prst="rect">
            <a:avLst/>
          </a:prstGeom>
          <a:noFill/>
          <a:ln/>
        </p:spPr>
        <p:txBody>
          <a:bodyPr wrap="square" lIns="0" tIns="0" rIns="0" bIns="0" rtlCol="0" anchor="ctr"/>
          <a:lstStyle/>
          <a:p>
            <a:pPr indent="0" marL="0">
              <a:buNone/>
            </a:pPr>
            <a:r>
              <a:rPr lang="en-US" sz="950" b="1" spc="200" kern="0" dirty="0">
                <a:solidFill>
                  <a:srgbClr val="7EC8E3"/>
                </a:solidFill>
                <a:latin typeface="Arial" pitchFamily="34" charset="0"/>
                <a:ea typeface="Arial" pitchFamily="34" charset="-122"/>
                <a:cs typeface="Arial" pitchFamily="34" charset="-120"/>
              </a:rPr>
              <a:t>HEARTS AND MINDS  ·  JOE'S JOURNEY  ·  STAGE 4 OF 6</a:t>
            </a:r>
            <a:endParaRPr lang="en-US" sz="950" dirty="0"/>
          </a:p>
        </p:txBody>
      </p:sp>
      <p:sp>
        <p:nvSpPr>
          <p:cNvPr id="5" name="Text 3"/>
          <p:cNvSpPr/>
          <p:nvPr/>
        </p:nvSpPr>
        <p:spPr>
          <a:xfrm>
            <a:off x="457200" y="384048"/>
            <a:ext cx="960120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Through the gate · triage, review, conformance</a:t>
            </a:r>
            <a:endParaRPr lang="en-US" sz="2000" dirty="0"/>
          </a:p>
        </p:txBody>
      </p:sp>
      <p:pic>
        <p:nvPicPr>
          <p:cNvPr id="6" name="Image 0" descr="/sessions/quirky-zen-galileo/mnt/outputs/deckbuild/nhs_logo.png">    </p:cNvPr>
          <p:cNvPicPr>
            <a:picLocks noChangeAspect="1"/>
          </p:cNvPicPr>
          <p:nvPr/>
        </p:nvPicPr>
        <p:blipFill>
          <a:blip r:embed="rId1"/>
          <a:stretch>
            <a:fillRect/>
          </a:stretch>
        </p:blipFill>
        <p:spPr>
          <a:xfrm>
            <a:off x="10774375" y="201168"/>
            <a:ext cx="960120" cy="393192"/>
          </a:xfrm>
          <a:prstGeom prst="rect">
            <a:avLst/>
          </a:prstGeom>
        </p:spPr>
      </p:pic>
      <p:sp>
        <p:nvSpPr>
          <p:cNvPr id="7" name="Text 4"/>
          <p:cNvSpPr/>
          <p:nvPr/>
        </p:nvSpPr>
        <p:spPr>
          <a:xfrm>
            <a:off x="429768" y="1024128"/>
            <a:ext cx="1463040" cy="868680"/>
          </a:xfrm>
          <a:prstGeom prst="rect">
            <a:avLst/>
          </a:prstGeom>
          <a:noFill/>
          <a:ln/>
        </p:spPr>
        <p:txBody>
          <a:bodyPr wrap="square" lIns="0" tIns="0" rIns="0" bIns="0" rtlCol="0" anchor="ctr"/>
          <a:lstStyle/>
          <a:p>
            <a:pPr indent="0" marL="0">
              <a:buNone/>
            </a:pPr>
            <a:r>
              <a:rPr lang="en-US" sz="5200" b="1" dirty="0">
                <a:solidFill>
                  <a:srgbClr val="5BC093"/>
                </a:solidFill>
                <a:latin typeface="Arial" pitchFamily="34" charset="0"/>
                <a:ea typeface="Arial" pitchFamily="34" charset="-122"/>
                <a:cs typeface="Arial" pitchFamily="34" charset="-120"/>
              </a:rPr>
              <a:t>04</a:t>
            </a:r>
            <a:endParaRPr lang="en-US" sz="5200" dirty="0"/>
          </a:p>
        </p:txBody>
      </p:sp>
      <p:sp>
        <p:nvSpPr>
          <p:cNvPr id="8" name="Text 5"/>
          <p:cNvSpPr/>
          <p:nvPr/>
        </p:nvSpPr>
        <p:spPr>
          <a:xfrm>
            <a:off x="457200" y="1920240"/>
            <a:ext cx="4892040" cy="1230249"/>
          </a:xfrm>
          <a:prstGeom prst="rect">
            <a:avLst/>
          </a:prstGeom>
          <a:noFill/>
          <a:ln/>
        </p:spPr>
        <p:txBody>
          <a:bodyPr wrap="square" lIns="0" tIns="0" rIns="0" bIns="0" rtlCol="0" anchor="t">
            <a:normAutofit/>
          </a:bodyPr>
          <a:lstStyle/>
          <a:p>
            <a:pPr indent="0" marL="0">
              <a:buNone/>
            </a:pPr>
            <a:r>
              <a:rPr lang="en-US" sz="1050" b="1" dirty="0">
                <a:solidFill>
                  <a:srgbClr val="003087"/>
                </a:solidFill>
                <a:latin typeface="Arial" pitchFamily="34" charset="0"/>
                <a:ea typeface="Arial" pitchFamily="34" charset="-122"/>
                <a:cs typeface="Arial" pitchFamily="34" charset="-120"/>
              </a:rPr>
              <a:t>Automated triage checks Joe's submission for completeness and valid evidence references. It passes. The workstream leads pick it up: Commercial, IG, Clinical Safety, Technical, each reviews the dimension they own against a time-boxed SLA. There are two grey-area calls (one on clinical evidence novelty, one on operational SLA scope) that escalate to senior review. Both clear in a fortnight. Joe receives the conformance certificate. He is now an admitted framework supplier.</a:t>
            </a:r>
            <a:endParaRPr lang="en-US" sz="1050" dirty="0"/>
          </a:p>
        </p:txBody>
      </p:sp>
      <p:sp>
        <p:nvSpPr>
          <p:cNvPr id="9" name="Shape 6"/>
          <p:cNvSpPr/>
          <p:nvPr/>
        </p:nvSpPr>
        <p:spPr>
          <a:xfrm>
            <a:off x="457200" y="3260217"/>
            <a:ext cx="4892040" cy="921258"/>
          </a:xfrm>
          <a:prstGeom prst="rect">
            <a:avLst/>
          </a:prstGeom>
          <a:solidFill>
            <a:srgbClr val="F0F4F5"/>
          </a:solidFill>
          <a:ln w="12700">
            <a:solidFill>
              <a:srgbClr val="F0F4F5"/>
            </a:solidFill>
            <a:prstDash val="solid"/>
          </a:ln>
        </p:spPr>
      </p:sp>
      <p:sp>
        <p:nvSpPr>
          <p:cNvPr id="10" name="Shape 7"/>
          <p:cNvSpPr/>
          <p:nvPr/>
        </p:nvSpPr>
        <p:spPr>
          <a:xfrm>
            <a:off x="457200" y="3260217"/>
            <a:ext cx="82296" cy="921258"/>
          </a:xfrm>
          <a:prstGeom prst="rect">
            <a:avLst/>
          </a:prstGeom>
          <a:solidFill>
            <a:srgbClr val="5BC093"/>
          </a:solidFill>
          <a:ln w="12700">
            <a:solidFill>
              <a:srgbClr val="5BC093"/>
            </a:solidFill>
            <a:prstDash val="solid"/>
          </a:ln>
        </p:spPr>
      </p:sp>
      <p:sp>
        <p:nvSpPr>
          <p:cNvPr id="11" name="Text 8"/>
          <p:cNvSpPr/>
          <p:nvPr/>
        </p:nvSpPr>
        <p:spPr>
          <a:xfrm>
            <a:off x="685800" y="3315081"/>
            <a:ext cx="4526280" cy="555498"/>
          </a:xfrm>
          <a:prstGeom prst="rect">
            <a:avLst/>
          </a:prstGeom>
          <a:noFill/>
          <a:ln/>
        </p:spPr>
        <p:txBody>
          <a:bodyPr wrap="square" lIns="0" tIns="0" rIns="0" bIns="0" rtlCol="0" anchor="t">
            <a:normAutofit/>
          </a:bodyPr>
          <a:lstStyle/>
          <a:p>
            <a:pPr indent="0" marL="0">
              <a:buNone/>
            </a:pPr>
            <a:r>
              <a:rPr lang="en-US" sz="900" i="1" dirty="0">
                <a:solidFill>
                  <a:srgbClr val="231F20"/>
                </a:solidFill>
                <a:latin typeface="Arial" pitchFamily="34" charset="0"/>
                <a:ea typeface="Arial" pitchFamily="34" charset="-122"/>
                <a:cs typeface="Arial" pitchFamily="34" charset="-120"/>
              </a:rPr>
              <a:t>“The conformance certificate is the unlock. It is the same letter every commissioner will see when they call us off. The next ten conversations are about the deployment, not about whether we are good enough to be there.”</a:t>
            </a:r>
            <a:endParaRPr lang="en-US" sz="900" dirty="0"/>
          </a:p>
        </p:txBody>
      </p:sp>
      <p:sp>
        <p:nvSpPr>
          <p:cNvPr id="12" name="Text 9"/>
          <p:cNvSpPr/>
          <p:nvPr/>
        </p:nvSpPr>
        <p:spPr>
          <a:xfrm>
            <a:off x="685800" y="3870579"/>
            <a:ext cx="4526280" cy="256032"/>
          </a:xfrm>
          <a:prstGeom prst="rect">
            <a:avLst/>
          </a:prstGeom>
          <a:noFill/>
          <a:ln/>
        </p:spPr>
        <p:txBody>
          <a:bodyPr wrap="square" lIns="0" tIns="0" rIns="0" bIns="0" rtlCol="0" anchor="ctr"/>
          <a:lstStyle/>
          <a:p>
            <a:pPr indent="0" marL="0">
              <a:buNone/>
            </a:pPr>
            <a:r>
              <a:rPr lang="en-US" sz="950" b="1" dirty="0">
                <a:solidFill>
                  <a:srgbClr val="5BC093"/>
                </a:solidFill>
                <a:latin typeface="Arial" pitchFamily="34" charset="0"/>
                <a:ea typeface="Arial" pitchFamily="34" charset="-122"/>
                <a:cs typeface="Arial" pitchFamily="34" charset="-120"/>
              </a:rPr>
              <a:t>Joe</a:t>
            </a:r>
            <a:endParaRPr lang="en-US" sz="950" dirty="0"/>
          </a:p>
        </p:txBody>
      </p:sp>
      <p:pic>
        <p:nvPicPr>
          <p:cNvPr id="13" name="Image 1" descr="/sessions/quirky-zen-galileo/mnt/outputs/hmdecks/img/joe-stage4.jpg">    </p:cNvPr>
          <p:cNvPicPr>
            <a:picLocks noChangeAspect="1"/>
          </p:cNvPicPr>
          <p:nvPr/>
        </p:nvPicPr>
        <p:blipFill>
          <a:blip r:embed="rId2"/>
          <a:stretch>
            <a:fillRect/>
          </a:stretch>
        </p:blipFill>
        <p:spPr>
          <a:xfrm>
            <a:off x="457200" y="4346067"/>
            <a:ext cx="2899158" cy="1945005"/>
          </a:xfrm>
          <a:prstGeom prst="rect">
            <a:avLst/>
          </a:prstGeom>
        </p:spPr>
      </p:pic>
      <p:sp>
        <p:nvSpPr>
          <p:cNvPr id="14" name="Shape 10"/>
          <p:cNvSpPr/>
          <p:nvPr/>
        </p:nvSpPr>
        <p:spPr>
          <a:xfrm>
            <a:off x="5669280" y="1097280"/>
            <a:ext cx="6065215" cy="274320"/>
          </a:xfrm>
          <a:prstGeom prst="rect">
            <a:avLst/>
          </a:prstGeom>
          <a:solidFill>
            <a:srgbClr val="005EB8"/>
          </a:solidFill>
          <a:ln w="12700">
            <a:solidFill>
              <a:srgbClr val="005EB8"/>
            </a:solidFill>
            <a:prstDash val="solid"/>
          </a:ln>
        </p:spPr>
      </p:sp>
      <p:sp>
        <p:nvSpPr>
          <p:cNvPr id="15" name="Text 11"/>
          <p:cNvSpPr/>
          <p:nvPr/>
        </p:nvSpPr>
        <p:spPr>
          <a:xfrm>
            <a:off x="5779008" y="1097280"/>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MODEL IS DOING UNDERNEATH</a:t>
            </a:r>
            <a:endParaRPr lang="en-US" sz="850" dirty="0"/>
          </a:p>
        </p:txBody>
      </p:sp>
      <p:sp>
        <p:nvSpPr>
          <p:cNvPr id="16" name="Shape 12"/>
          <p:cNvSpPr/>
          <p:nvPr/>
        </p:nvSpPr>
        <p:spPr>
          <a:xfrm>
            <a:off x="5669280" y="1371600"/>
            <a:ext cx="6065215" cy="1564640"/>
          </a:xfrm>
          <a:prstGeom prst="rect">
            <a:avLst/>
          </a:prstGeom>
          <a:solidFill>
            <a:srgbClr val="D5E8F0"/>
          </a:solidFill>
          <a:ln w="12700">
            <a:solidFill>
              <a:srgbClr val="D5E8F0"/>
            </a:solidFill>
            <a:prstDash val="solid"/>
          </a:ln>
        </p:spPr>
      </p:sp>
      <p:sp>
        <p:nvSpPr>
          <p:cNvPr id="17" name="Text 13"/>
          <p:cNvSpPr/>
          <p:nvPr/>
        </p:nvSpPr>
        <p:spPr>
          <a:xfrm>
            <a:off x="5779008" y="1408176"/>
            <a:ext cx="5845759" cy="1509776"/>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Automated triage checks completeness, valid evidence references and declared passes at core tier. Incomplete or non-qualifying submissions bounce back with specific feedback. Submissions that pass triage enter </a:t>
            </a:r>
            <a:pPr indent="0" marL="0">
              <a:buNone/>
            </a:pPr>
            <a:r>
              <a:rPr lang="en-US" sz="1100" b="1" dirty="0">
                <a:solidFill>
                  <a:srgbClr val="231F20"/>
                </a:solidFill>
                <a:latin typeface="Arial" pitchFamily="34" charset="0"/>
                <a:ea typeface="Arial" pitchFamily="34" charset="-122"/>
                <a:cs typeface="Arial" pitchFamily="34" charset="-120"/>
              </a:rPr>
              <a:t>human review by workstream lead</a:t>
            </a:r>
            <a:pPr indent="0" marL="0">
              <a:buNone/>
            </a:pPr>
            <a:r>
              <a:rPr lang="en-US" sz="1100" dirty="0">
                <a:solidFill>
                  <a:srgbClr val="231F20"/>
                </a:solidFill>
                <a:latin typeface="Arial" pitchFamily="34" charset="0"/>
                <a:ea typeface="Arial" pitchFamily="34" charset="-122"/>
                <a:cs typeface="Arial" pitchFamily="34" charset="-120"/>
              </a:rPr>
              <a:t>: commercial lead for commercial and operational, IG team for information governance, clinical safety for clinical, technical/platform team for technical. Review is time-boxed with a committed SLA. Grey-area judgements escalate. The conformance certificate is the output: a portable artefact that every commissioner will read as the once-and-reuse assurance.</a:t>
            </a:r>
            <a:endParaRPr lang="en-US" sz="1100" dirty="0"/>
          </a:p>
        </p:txBody>
      </p:sp>
      <p:sp>
        <p:nvSpPr>
          <p:cNvPr id="18" name="Shape 14"/>
          <p:cNvSpPr/>
          <p:nvPr/>
        </p:nvSpPr>
        <p:spPr>
          <a:xfrm>
            <a:off x="5669280" y="3064256"/>
            <a:ext cx="6065215" cy="274320"/>
          </a:xfrm>
          <a:prstGeom prst="rect">
            <a:avLst/>
          </a:prstGeom>
          <a:solidFill>
            <a:srgbClr val="4C6272"/>
          </a:solidFill>
          <a:ln w="12700">
            <a:solidFill>
              <a:srgbClr val="4C6272"/>
            </a:solidFill>
            <a:prstDash val="solid"/>
          </a:ln>
        </p:spPr>
      </p:sp>
      <p:sp>
        <p:nvSpPr>
          <p:cNvPr id="19" name="Text 15"/>
          <p:cNvSpPr/>
          <p:nvPr/>
        </p:nvSpPr>
        <p:spPr>
          <a:xfrm>
            <a:off x="5779008" y="3064256"/>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THE OLD WAY</a:t>
            </a:r>
            <a:endParaRPr lang="en-US" sz="850" dirty="0"/>
          </a:p>
        </p:txBody>
      </p:sp>
      <p:sp>
        <p:nvSpPr>
          <p:cNvPr id="20" name="Shape 16"/>
          <p:cNvSpPr/>
          <p:nvPr/>
        </p:nvSpPr>
        <p:spPr>
          <a:xfrm>
            <a:off x="5669280" y="3338576"/>
            <a:ext cx="6065215" cy="1053338"/>
          </a:xfrm>
          <a:prstGeom prst="rect">
            <a:avLst/>
          </a:prstGeom>
          <a:solidFill>
            <a:srgbClr val="F0F4F5"/>
          </a:solidFill>
          <a:ln w="12700">
            <a:solidFill>
              <a:srgbClr val="F0F4F5"/>
            </a:solidFill>
            <a:prstDash val="solid"/>
          </a:ln>
        </p:spPr>
      </p:sp>
      <p:sp>
        <p:nvSpPr>
          <p:cNvPr id="21" name="Text 17"/>
          <p:cNvSpPr/>
          <p:nvPr/>
        </p:nvSpPr>
        <p:spPr>
          <a:xfrm>
            <a:off x="5779008" y="3375152"/>
            <a:ext cx="5845759" cy="998474"/>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A bilateral conversation between each commissioner and the supplier, where the same evidence is reviewed five times because no central body has signed it off. The supplier carries the cost of duplicate scrutiny. The commissioner carries the risk of arriving at a different conclusion than the commissioner next door. The patient gets none of the value.</a:t>
            </a:r>
            <a:endParaRPr lang="en-US" sz="1100" dirty="0"/>
          </a:p>
        </p:txBody>
      </p:sp>
      <p:sp>
        <p:nvSpPr>
          <p:cNvPr id="22" name="Shape 18"/>
          <p:cNvSpPr/>
          <p:nvPr/>
        </p:nvSpPr>
        <p:spPr>
          <a:xfrm>
            <a:off x="5669280" y="4519930"/>
            <a:ext cx="6065215" cy="274320"/>
          </a:xfrm>
          <a:prstGeom prst="rect">
            <a:avLst/>
          </a:prstGeom>
          <a:solidFill>
            <a:srgbClr val="006747"/>
          </a:solidFill>
          <a:ln w="12700">
            <a:solidFill>
              <a:srgbClr val="006747"/>
            </a:solidFill>
            <a:prstDash val="solid"/>
          </a:ln>
        </p:spPr>
      </p:sp>
      <p:sp>
        <p:nvSpPr>
          <p:cNvPr id="23" name="Text 19"/>
          <p:cNvSpPr/>
          <p:nvPr/>
        </p:nvSpPr>
        <p:spPr>
          <a:xfrm>
            <a:off x="5779008" y="4519930"/>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CARE TEAM SEES</a:t>
            </a:r>
            <a:endParaRPr lang="en-US" sz="850" dirty="0"/>
          </a:p>
        </p:txBody>
      </p:sp>
      <p:sp>
        <p:nvSpPr>
          <p:cNvPr id="24" name="Shape 20"/>
          <p:cNvSpPr/>
          <p:nvPr/>
        </p:nvSpPr>
        <p:spPr>
          <a:xfrm>
            <a:off x="5669280" y="4794250"/>
            <a:ext cx="6065215" cy="882904"/>
          </a:xfrm>
          <a:prstGeom prst="rect">
            <a:avLst/>
          </a:prstGeom>
          <a:solidFill>
            <a:srgbClr val="E8F3EE"/>
          </a:solidFill>
          <a:ln w="12700">
            <a:solidFill>
              <a:srgbClr val="E8F3EE"/>
            </a:solidFill>
            <a:prstDash val="solid"/>
          </a:ln>
        </p:spPr>
      </p:sp>
      <p:sp>
        <p:nvSpPr>
          <p:cNvPr id="25" name="Text 21"/>
          <p:cNvSpPr/>
          <p:nvPr/>
        </p:nvSpPr>
        <p:spPr>
          <a:xfrm>
            <a:off x="5779008" y="4830826"/>
            <a:ext cx="5845759" cy="828040"/>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Commercial Operations (David), IG team (Ngozi), Clinical Safety (Aisha), Head of Technology &amp; Product (Priya). Workstream leads review the dimension they own. Escalation route for grey-area calls. Conformance certificate signed off as a single artefact.</a:t>
            </a:r>
            <a:endParaRPr lang="en-US" sz="1100" dirty="0"/>
          </a:p>
        </p:txBody>
      </p:sp>
      <p:sp>
        <p:nvSpPr>
          <p:cNvPr id="27" name="Text 22"/>
          <p:cNvSpPr/>
          <p:nvPr/>
        </p:nvSpPr>
        <p:spPr>
          <a:xfrm>
            <a:off x="457200" y="6473952"/>
            <a:ext cx="3108960" cy="274320"/>
          </a:xfrm>
          <a:prstGeom prst="rect">
            <a:avLst/>
          </a:prstGeom>
          <a:noFill/>
          <a:ln/>
        </p:spPr>
        <p:txBody>
          <a:bodyPr wrap="square" lIns="0" tIns="0" rIns="0" bIns="0" rtlCol="0" anchor="ctr"/>
          <a:lstStyle/>
          <a:p>
            <a:pPr indent="0" marL="0">
              <a:buNone/>
            </a:pPr>
            <a:r>
              <a:rPr lang="en-US" sz="850" dirty="0">
                <a:solidFill>
                  <a:srgbClr val="7E8B97"/>
                </a:solidFill>
                <a:latin typeface="Arial" pitchFamily="34" charset="0"/>
                <a:ea typeface="Arial" pitchFamily="34" charset="-122"/>
                <a:cs typeface="Arial" pitchFamily="34" charset="-120"/>
              </a:rPr>
              <a:t>Joe  ·  Hearts and Minds</a:t>
            </a:r>
            <a:endParaRPr lang="en-US" sz="850" dirty="0"/>
          </a:p>
        </p:txBody>
      </p:sp>
      <p:sp>
        <p:nvSpPr>
          <p:cNvPr id="28" name="Text 23"/>
          <p:cNvSpPr/>
          <p:nvPr/>
        </p:nvSpPr>
        <p:spPr>
          <a:xfrm>
            <a:off x="3657600" y="6473952"/>
            <a:ext cx="7528255" cy="274320"/>
          </a:xfrm>
          <a:prstGeom prst="rect">
            <a:avLst/>
          </a:prstGeom>
          <a:noFill/>
          <a:ln/>
        </p:spPr>
        <p:txBody>
          <a:bodyPr wrap="square" lIns="0" tIns="0" rIns="0" bIns="0" rtlCol="0" anchor="ctr"/>
          <a:lstStyle/>
          <a:p>
            <a:pPr algn="r" indent="0" marL="0">
              <a:buNone/>
            </a:pPr>
            <a:r>
              <a:rPr lang="en-US" sz="800" dirty="0">
                <a:solidFill>
                  <a:srgbClr val="7E8B97"/>
                </a:solidFill>
                <a:latin typeface="Arial" pitchFamily="34" charset="0"/>
                <a:ea typeface="Arial" pitchFamily="34" charset="-122"/>
                <a:cs typeface="Arial" pitchFamily="34" charset="-120"/>
              </a:rPr>
              <a:t>Commercial positions are agreed in principle and remain subject to the live procurement.</a:t>
            </a:r>
            <a:endParaRPr lang="en-US" sz="800" dirty="0"/>
          </a:p>
        </p:txBody>
      </p:sp>
      <p:sp>
        <p:nvSpPr>
          <p:cNvPr id="29" name="Text 24"/>
          <p:cNvSpPr/>
          <p:nvPr/>
        </p:nvSpPr>
        <p:spPr>
          <a:xfrm>
            <a:off x="11368735" y="6473952"/>
            <a:ext cx="36576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Arial" pitchFamily="34" charset="0"/>
                <a:ea typeface="Arial" pitchFamily="34" charset="-122"/>
                <a:cs typeface="Arial"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03087"/>
          </a:solidFill>
          <a:ln w="12700">
            <a:solidFill>
              <a:srgbClr val="003087"/>
            </a:solidFill>
            <a:prstDash val="solid"/>
          </a:ln>
        </p:spPr>
      </p:sp>
      <p:sp>
        <p:nvSpPr>
          <p:cNvPr id="3" name="Shape 1"/>
          <p:cNvSpPr/>
          <p:nvPr/>
        </p:nvSpPr>
        <p:spPr>
          <a:xfrm>
            <a:off x="0" y="868680"/>
            <a:ext cx="12191695" cy="54864"/>
          </a:xfrm>
          <a:prstGeom prst="rect">
            <a:avLst/>
          </a:prstGeom>
          <a:solidFill>
            <a:srgbClr val="5BC093"/>
          </a:solidFill>
          <a:ln w="12700">
            <a:solidFill>
              <a:srgbClr val="5BC093"/>
            </a:solidFill>
            <a:prstDash val="solid"/>
          </a:ln>
        </p:spPr>
      </p:sp>
      <p:sp>
        <p:nvSpPr>
          <p:cNvPr id="4" name="Text 2"/>
          <p:cNvSpPr/>
          <p:nvPr/>
        </p:nvSpPr>
        <p:spPr>
          <a:xfrm>
            <a:off x="457200" y="128016"/>
            <a:ext cx="8686800" cy="256032"/>
          </a:xfrm>
          <a:prstGeom prst="rect">
            <a:avLst/>
          </a:prstGeom>
          <a:noFill/>
          <a:ln/>
        </p:spPr>
        <p:txBody>
          <a:bodyPr wrap="square" lIns="0" tIns="0" rIns="0" bIns="0" rtlCol="0" anchor="ctr"/>
          <a:lstStyle/>
          <a:p>
            <a:pPr indent="0" marL="0">
              <a:buNone/>
            </a:pPr>
            <a:r>
              <a:rPr lang="en-US" sz="950" b="1" spc="200" kern="0" dirty="0">
                <a:solidFill>
                  <a:srgbClr val="7EC8E3"/>
                </a:solidFill>
                <a:latin typeface="Arial" pitchFamily="34" charset="0"/>
                <a:ea typeface="Arial" pitchFamily="34" charset="-122"/>
                <a:cs typeface="Arial" pitchFamily="34" charset="-120"/>
              </a:rPr>
              <a:t>HEARTS AND MINDS  ·  JOE'S JOURNEY  ·  STAGE 5 OF 6</a:t>
            </a:r>
            <a:endParaRPr lang="en-US" sz="950" dirty="0"/>
          </a:p>
        </p:txBody>
      </p:sp>
      <p:sp>
        <p:nvSpPr>
          <p:cNvPr id="5" name="Text 3"/>
          <p:cNvSpPr/>
          <p:nvPr/>
        </p:nvSpPr>
        <p:spPr>
          <a:xfrm>
            <a:off x="457200" y="384048"/>
            <a:ext cx="960120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First commissioner calls off · no re-assurance</a:t>
            </a:r>
            <a:endParaRPr lang="en-US" sz="2000" dirty="0"/>
          </a:p>
        </p:txBody>
      </p:sp>
      <p:pic>
        <p:nvPicPr>
          <p:cNvPr id="6" name="Image 0" descr="/sessions/quirky-zen-galileo/mnt/outputs/deckbuild/nhs_logo.png">    </p:cNvPr>
          <p:cNvPicPr>
            <a:picLocks noChangeAspect="1"/>
          </p:cNvPicPr>
          <p:nvPr/>
        </p:nvPicPr>
        <p:blipFill>
          <a:blip r:embed="rId1"/>
          <a:stretch>
            <a:fillRect/>
          </a:stretch>
        </p:blipFill>
        <p:spPr>
          <a:xfrm>
            <a:off x="10774375" y="201168"/>
            <a:ext cx="960120" cy="393192"/>
          </a:xfrm>
          <a:prstGeom prst="rect">
            <a:avLst/>
          </a:prstGeom>
        </p:spPr>
      </p:pic>
      <p:sp>
        <p:nvSpPr>
          <p:cNvPr id="7" name="Text 4"/>
          <p:cNvSpPr/>
          <p:nvPr/>
        </p:nvSpPr>
        <p:spPr>
          <a:xfrm>
            <a:off x="429768" y="1024128"/>
            <a:ext cx="1463040" cy="868680"/>
          </a:xfrm>
          <a:prstGeom prst="rect">
            <a:avLst/>
          </a:prstGeom>
          <a:noFill/>
          <a:ln/>
        </p:spPr>
        <p:txBody>
          <a:bodyPr wrap="square" lIns="0" tIns="0" rIns="0" bIns="0" rtlCol="0" anchor="ctr"/>
          <a:lstStyle/>
          <a:p>
            <a:pPr indent="0" marL="0">
              <a:buNone/>
            </a:pPr>
            <a:r>
              <a:rPr lang="en-US" sz="5200" b="1" dirty="0">
                <a:solidFill>
                  <a:srgbClr val="5BC093"/>
                </a:solidFill>
                <a:latin typeface="Arial" pitchFamily="34" charset="0"/>
                <a:ea typeface="Arial" pitchFamily="34" charset="-122"/>
                <a:cs typeface="Arial" pitchFamily="34" charset="-120"/>
              </a:rPr>
              <a:t>05</a:t>
            </a:r>
            <a:endParaRPr lang="en-US" sz="5200" dirty="0"/>
          </a:p>
        </p:txBody>
      </p:sp>
      <p:sp>
        <p:nvSpPr>
          <p:cNvPr id="8" name="Text 5"/>
          <p:cNvSpPr/>
          <p:nvPr/>
        </p:nvSpPr>
        <p:spPr>
          <a:xfrm>
            <a:off x="457200" y="1920240"/>
            <a:ext cx="4892040" cy="1230249"/>
          </a:xfrm>
          <a:prstGeom prst="rect">
            <a:avLst/>
          </a:prstGeom>
          <a:noFill/>
          <a:ln/>
        </p:spPr>
        <p:txBody>
          <a:bodyPr wrap="square" lIns="0" tIns="0" rIns="0" bIns="0" rtlCol="0" anchor="t">
            <a:normAutofit/>
          </a:bodyPr>
          <a:lstStyle/>
          <a:p>
            <a:pPr indent="0" marL="0">
              <a:buNone/>
            </a:pPr>
            <a:r>
              <a:rPr lang="en-US" sz="1050" b="1" dirty="0">
                <a:solidFill>
                  <a:srgbClr val="003087"/>
                </a:solidFill>
                <a:latin typeface="Arial" pitchFamily="34" charset="0"/>
                <a:ea typeface="Arial" pitchFamily="34" charset="-122"/>
                <a:cs typeface="Arial" pitchFamily="34" charset="-120"/>
              </a:rPr>
              <a:t>A Local Authority commissioner calls Joe off the framework for HIV self-testing in her cohort. The DPIA template is already in place; the privacy notice text is already in the artefact stack; the clinical safety case starter is already mapped to the configuration. The LA's role is to deploy the service, not to reassure that the supplier is safe. From conformance certificate to live deployment takes weeks, not the months a bespoke negotiation would have taken.</a:t>
            </a:r>
            <a:endParaRPr lang="en-US" sz="1050" dirty="0"/>
          </a:p>
        </p:txBody>
      </p:sp>
      <p:sp>
        <p:nvSpPr>
          <p:cNvPr id="9" name="Shape 6"/>
          <p:cNvSpPr/>
          <p:nvPr/>
        </p:nvSpPr>
        <p:spPr>
          <a:xfrm>
            <a:off x="457200" y="3260217"/>
            <a:ext cx="4892040" cy="859282"/>
          </a:xfrm>
          <a:prstGeom prst="rect">
            <a:avLst/>
          </a:prstGeom>
          <a:solidFill>
            <a:srgbClr val="F0F4F5"/>
          </a:solidFill>
          <a:ln w="12700">
            <a:solidFill>
              <a:srgbClr val="F0F4F5"/>
            </a:solidFill>
            <a:prstDash val="solid"/>
          </a:ln>
        </p:spPr>
      </p:sp>
      <p:sp>
        <p:nvSpPr>
          <p:cNvPr id="10" name="Shape 7"/>
          <p:cNvSpPr/>
          <p:nvPr/>
        </p:nvSpPr>
        <p:spPr>
          <a:xfrm>
            <a:off x="457200" y="3260217"/>
            <a:ext cx="82296" cy="859282"/>
          </a:xfrm>
          <a:prstGeom prst="rect">
            <a:avLst/>
          </a:prstGeom>
          <a:solidFill>
            <a:srgbClr val="5BC093"/>
          </a:solidFill>
          <a:ln w="12700">
            <a:solidFill>
              <a:srgbClr val="5BC093"/>
            </a:solidFill>
            <a:prstDash val="solid"/>
          </a:ln>
        </p:spPr>
      </p:sp>
      <p:sp>
        <p:nvSpPr>
          <p:cNvPr id="11" name="Text 8"/>
          <p:cNvSpPr/>
          <p:nvPr/>
        </p:nvSpPr>
        <p:spPr>
          <a:xfrm>
            <a:off x="685800" y="3315081"/>
            <a:ext cx="4526280" cy="493522"/>
          </a:xfrm>
          <a:prstGeom prst="rect">
            <a:avLst/>
          </a:prstGeom>
          <a:noFill/>
          <a:ln/>
        </p:spPr>
        <p:txBody>
          <a:bodyPr wrap="square" lIns="0" tIns="0" rIns="0" bIns="0" rtlCol="0" anchor="t">
            <a:normAutofit/>
          </a:bodyPr>
          <a:lstStyle/>
          <a:p>
            <a:pPr indent="0" marL="0">
              <a:buNone/>
            </a:pPr>
            <a:r>
              <a:rPr lang="en-US" sz="1150" i="1" dirty="0">
                <a:solidFill>
                  <a:srgbClr val="231F20"/>
                </a:solidFill>
                <a:latin typeface="Arial" pitchFamily="34" charset="0"/>
                <a:ea typeface="Arial" pitchFamily="34" charset="-122"/>
                <a:cs typeface="Arial" pitchFamily="34" charset="-120"/>
              </a:rPr>
              <a:t>“Her first question was when we could go live, not whether we should be allowed to. That was the unlock.”</a:t>
            </a:r>
            <a:endParaRPr lang="en-US" sz="1150" dirty="0"/>
          </a:p>
        </p:txBody>
      </p:sp>
      <p:sp>
        <p:nvSpPr>
          <p:cNvPr id="12" name="Text 9"/>
          <p:cNvSpPr/>
          <p:nvPr/>
        </p:nvSpPr>
        <p:spPr>
          <a:xfrm>
            <a:off x="685800" y="3808603"/>
            <a:ext cx="4526280" cy="256032"/>
          </a:xfrm>
          <a:prstGeom prst="rect">
            <a:avLst/>
          </a:prstGeom>
          <a:noFill/>
          <a:ln/>
        </p:spPr>
        <p:txBody>
          <a:bodyPr wrap="square" lIns="0" tIns="0" rIns="0" bIns="0" rtlCol="0" anchor="ctr"/>
          <a:lstStyle/>
          <a:p>
            <a:pPr indent="0" marL="0">
              <a:buNone/>
            </a:pPr>
            <a:r>
              <a:rPr lang="en-US" sz="950" b="1" dirty="0">
                <a:solidFill>
                  <a:srgbClr val="5BC093"/>
                </a:solidFill>
                <a:latin typeface="Arial" pitchFamily="34" charset="0"/>
                <a:ea typeface="Arial" pitchFamily="34" charset="-122"/>
                <a:cs typeface="Arial" pitchFamily="34" charset="-120"/>
              </a:rPr>
              <a:t>Joe</a:t>
            </a:r>
            <a:endParaRPr lang="en-US" sz="950" dirty="0"/>
          </a:p>
        </p:txBody>
      </p:sp>
      <p:pic>
        <p:nvPicPr>
          <p:cNvPr id="13" name="Image 1" descr="/sessions/quirky-zen-galileo/mnt/outputs/hmdecks/img/joe-stage5.jpg">    </p:cNvPr>
          <p:cNvPicPr>
            <a:picLocks noChangeAspect="1"/>
          </p:cNvPicPr>
          <p:nvPr/>
        </p:nvPicPr>
        <p:blipFill>
          <a:blip r:embed="rId2"/>
          <a:stretch>
            <a:fillRect/>
          </a:stretch>
        </p:blipFill>
        <p:spPr>
          <a:xfrm>
            <a:off x="457200" y="4284091"/>
            <a:ext cx="2991538" cy="2006981"/>
          </a:xfrm>
          <a:prstGeom prst="rect">
            <a:avLst/>
          </a:prstGeom>
        </p:spPr>
      </p:pic>
      <p:sp>
        <p:nvSpPr>
          <p:cNvPr id="14" name="Shape 10"/>
          <p:cNvSpPr/>
          <p:nvPr/>
        </p:nvSpPr>
        <p:spPr>
          <a:xfrm>
            <a:off x="5669280" y="1097280"/>
            <a:ext cx="6065215" cy="274320"/>
          </a:xfrm>
          <a:prstGeom prst="rect">
            <a:avLst/>
          </a:prstGeom>
          <a:solidFill>
            <a:srgbClr val="005EB8"/>
          </a:solidFill>
          <a:ln w="12700">
            <a:solidFill>
              <a:srgbClr val="005EB8"/>
            </a:solidFill>
            <a:prstDash val="solid"/>
          </a:ln>
        </p:spPr>
      </p:sp>
      <p:sp>
        <p:nvSpPr>
          <p:cNvPr id="15" name="Text 11"/>
          <p:cNvSpPr/>
          <p:nvPr/>
        </p:nvSpPr>
        <p:spPr>
          <a:xfrm>
            <a:off x="5779008" y="1097280"/>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MODEL IS DOING UNDERNEATH</a:t>
            </a:r>
            <a:endParaRPr lang="en-US" sz="850" dirty="0"/>
          </a:p>
        </p:txBody>
      </p:sp>
      <p:sp>
        <p:nvSpPr>
          <p:cNvPr id="16" name="Shape 12"/>
          <p:cNvSpPr/>
          <p:nvPr/>
        </p:nvSpPr>
        <p:spPr>
          <a:xfrm>
            <a:off x="5669280" y="1371600"/>
            <a:ext cx="6065215" cy="1053338"/>
          </a:xfrm>
          <a:prstGeom prst="rect">
            <a:avLst/>
          </a:prstGeom>
          <a:solidFill>
            <a:srgbClr val="D5E8F0"/>
          </a:solidFill>
          <a:ln w="12700">
            <a:solidFill>
              <a:srgbClr val="D5E8F0"/>
            </a:solidFill>
            <a:prstDash val="solid"/>
          </a:ln>
        </p:spPr>
      </p:sp>
      <p:sp>
        <p:nvSpPr>
          <p:cNvPr id="17" name="Text 13"/>
          <p:cNvSpPr/>
          <p:nvPr/>
        </p:nvSpPr>
        <p:spPr>
          <a:xfrm>
            <a:off x="5779008" y="1408176"/>
            <a:ext cx="5845759" cy="998474"/>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The commissioner calls Joe off using the framework call-off contract. The DPIA template is signed at the LA's controller layer; the DSA is the standing inherited template with LA-specific parties; the privacy notice text is already drafted; the clinical safety case starter is mapped to the configuration. </a:t>
            </a:r>
            <a:pPr indent="0" marL="0">
              <a:buNone/>
            </a:pPr>
            <a:r>
              <a:rPr lang="en-US" sz="1100" b="1" dirty="0">
                <a:solidFill>
                  <a:srgbClr val="231F20"/>
                </a:solidFill>
                <a:latin typeface="Arial" pitchFamily="34" charset="0"/>
                <a:ea typeface="Arial" pitchFamily="34" charset="-122"/>
                <a:cs typeface="Arial" pitchFamily="34" charset="-120"/>
              </a:rPr>
              <a:t>The local body acts as the deployment authority, not as a re-assurer</a:t>
            </a:r>
            <a:pPr indent="0" marL="0">
              <a:buNone/>
            </a:pPr>
            <a:r>
              <a:rPr lang="en-US" sz="1100" dirty="0">
                <a:solidFill>
                  <a:srgbClr val="231F20"/>
                </a:solidFill>
                <a:latin typeface="Arial" pitchFamily="34" charset="0"/>
                <a:ea typeface="Arial" pitchFamily="34" charset="-122"/>
                <a:cs typeface="Arial" pitchFamily="34" charset="-120"/>
              </a:rPr>
              <a:t>. The certificate is the trust marker.</a:t>
            </a:r>
            <a:endParaRPr lang="en-US" sz="1100" dirty="0"/>
          </a:p>
        </p:txBody>
      </p:sp>
      <p:sp>
        <p:nvSpPr>
          <p:cNvPr id="18" name="Shape 14"/>
          <p:cNvSpPr/>
          <p:nvPr/>
        </p:nvSpPr>
        <p:spPr>
          <a:xfrm>
            <a:off x="5669280" y="2552954"/>
            <a:ext cx="6065215" cy="274320"/>
          </a:xfrm>
          <a:prstGeom prst="rect">
            <a:avLst/>
          </a:prstGeom>
          <a:solidFill>
            <a:srgbClr val="4C6272"/>
          </a:solidFill>
          <a:ln w="12700">
            <a:solidFill>
              <a:srgbClr val="4C6272"/>
            </a:solidFill>
            <a:prstDash val="solid"/>
          </a:ln>
        </p:spPr>
      </p:sp>
      <p:sp>
        <p:nvSpPr>
          <p:cNvPr id="19" name="Text 15"/>
          <p:cNvSpPr/>
          <p:nvPr/>
        </p:nvSpPr>
        <p:spPr>
          <a:xfrm>
            <a:off x="5779008" y="2552954"/>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THE OLD WAY</a:t>
            </a:r>
            <a:endParaRPr lang="en-US" sz="850" dirty="0"/>
          </a:p>
        </p:txBody>
      </p:sp>
      <p:sp>
        <p:nvSpPr>
          <p:cNvPr id="20" name="Shape 16"/>
          <p:cNvSpPr/>
          <p:nvPr/>
        </p:nvSpPr>
        <p:spPr>
          <a:xfrm>
            <a:off x="5669280" y="2827274"/>
            <a:ext cx="6065215" cy="1053338"/>
          </a:xfrm>
          <a:prstGeom prst="rect">
            <a:avLst/>
          </a:prstGeom>
          <a:solidFill>
            <a:srgbClr val="F0F4F5"/>
          </a:solidFill>
          <a:ln w="12700">
            <a:solidFill>
              <a:srgbClr val="F0F4F5"/>
            </a:solidFill>
            <a:prstDash val="solid"/>
          </a:ln>
        </p:spPr>
      </p:sp>
      <p:sp>
        <p:nvSpPr>
          <p:cNvPr id="21" name="Text 17"/>
          <p:cNvSpPr/>
          <p:nvPr/>
        </p:nvSpPr>
        <p:spPr>
          <a:xfrm>
            <a:off x="5779008" y="2863850"/>
            <a:ext cx="5845759" cy="998474"/>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A 3-6 month bespoke negotiation per LA. The commissioner's legal team reviews terms from scratch. The IG team reviews the DPIA from scratch. The clinical safety team reviews the safety case from scratch. The supplier prepares a slightly different pack for each commissioner. The clinical service launch is delayed by the assurance cycle.</a:t>
            </a:r>
            <a:endParaRPr lang="en-US" sz="1100" dirty="0"/>
          </a:p>
        </p:txBody>
      </p:sp>
      <p:sp>
        <p:nvSpPr>
          <p:cNvPr id="22" name="Shape 18"/>
          <p:cNvSpPr/>
          <p:nvPr/>
        </p:nvSpPr>
        <p:spPr>
          <a:xfrm>
            <a:off x="5669280" y="4008628"/>
            <a:ext cx="6065215" cy="274320"/>
          </a:xfrm>
          <a:prstGeom prst="rect">
            <a:avLst/>
          </a:prstGeom>
          <a:solidFill>
            <a:srgbClr val="006747"/>
          </a:solidFill>
          <a:ln w="12700">
            <a:solidFill>
              <a:srgbClr val="006747"/>
            </a:solidFill>
            <a:prstDash val="solid"/>
          </a:ln>
        </p:spPr>
      </p:sp>
      <p:sp>
        <p:nvSpPr>
          <p:cNvPr id="23" name="Text 19"/>
          <p:cNvSpPr/>
          <p:nvPr/>
        </p:nvSpPr>
        <p:spPr>
          <a:xfrm>
            <a:off x="5779008" y="4008628"/>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CARE TEAM SEES</a:t>
            </a:r>
            <a:endParaRPr lang="en-US" sz="850" dirty="0"/>
          </a:p>
        </p:txBody>
      </p:sp>
      <p:sp>
        <p:nvSpPr>
          <p:cNvPr id="24" name="Shape 20"/>
          <p:cNvSpPr/>
          <p:nvPr/>
        </p:nvSpPr>
        <p:spPr>
          <a:xfrm>
            <a:off x="5669280" y="4282948"/>
            <a:ext cx="6065215" cy="712470"/>
          </a:xfrm>
          <a:prstGeom prst="rect">
            <a:avLst/>
          </a:prstGeom>
          <a:solidFill>
            <a:srgbClr val="E8F3EE"/>
          </a:solidFill>
          <a:ln w="12700">
            <a:solidFill>
              <a:srgbClr val="E8F3EE"/>
            </a:solidFill>
            <a:prstDash val="solid"/>
          </a:ln>
        </p:spPr>
      </p:sp>
      <p:sp>
        <p:nvSpPr>
          <p:cNvPr id="25" name="Text 21"/>
          <p:cNvSpPr/>
          <p:nvPr/>
        </p:nvSpPr>
        <p:spPr>
          <a:xfrm>
            <a:off x="5779008" y="4319524"/>
            <a:ext cx="5845759" cy="657606"/>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Sarah on the LA commissioner side. Joe's deployment lead. The local IG team confirming the DSA. Patient routing into the LA-commissioned service. The conformance certificate held centrally; the deployment held locally.</a:t>
            </a:r>
            <a:endParaRPr lang="en-US" sz="1100" dirty="0"/>
          </a:p>
        </p:txBody>
      </p:sp>
      <p:sp>
        <p:nvSpPr>
          <p:cNvPr id="27" name="Text 22"/>
          <p:cNvSpPr/>
          <p:nvPr/>
        </p:nvSpPr>
        <p:spPr>
          <a:xfrm>
            <a:off x="457200" y="6473952"/>
            <a:ext cx="3108960" cy="274320"/>
          </a:xfrm>
          <a:prstGeom prst="rect">
            <a:avLst/>
          </a:prstGeom>
          <a:noFill/>
          <a:ln/>
        </p:spPr>
        <p:txBody>
          <a:bodyPr wrap="square" lIns="0" tIns="0" rIns="0" bIns="0" rtlCol="0" anchor="ctr"/>
          <a:lstStyle/>
          <a:p>
            <a:pPr indent="0" marL="0">
              <a:buNone/>
            </a:pPr>
            <a:r>
              <a:rPr lang="en-US" sz="850" dirty="0">
                <a:solidFill>
                  <a:srgbClr val="7E8B97"/>
                </a:solidFill>
                <a:latin typeface="Arial" pitchFamily="34" charset="0"/>
                <a:ea typeface="Arial" pitchFamily="34" charset="-122"/>
                <a:cs typeface="Arial" pitchFamily="34" charset="-120"/>
              </a:rPr>
              <a:t>Joe  ·  Hearts and Minds</a:t>
            </a:r>
            <a:endParaRPr lang="en-US" sz="850" dirty="0"/>
          </a:p>
        </p:txBody>
      </p:sp>
      <p:sp>
        <p:nvSpPr>
          <p:cNvPr id="28" name="Text 23"/>
          <p:cNvSpPr/>
          <p:nvPr/>
        </p:nvSpPr>
        <p:spPr>
          <a:xfrm>
            <a:off x="3657600" y="6473952"/>
            <a:ext cx="7528255" cy="274320"/>
          </a:xfrm>
          <a:prstGeom prst="rect">
            <a:avLst/>
          </a:prstGeom>
          <a:noFill/>
          <a:ln/>
        </p:spPr>
        <p:txBody>
          <a:bodyPr wrap="square" lIns="0" tIns="0" rIns="0" bIns="0" rtlCol="0" anchor="ctr"/>
          <a:lstStyle/>
          <a:p>
            <a:pPr algn="r" indent="0" marL="0">
              <a:buNone/>
            </a:pPr>
            <a:r>
              <a:rPr lang="en-US" sz="800" dirty="0">
                <a:solidFill>
                  <a:srgbClr val="7E8B97"/>
                </a:solidFill>
                <a:latin typeface="Arial" pitchFamily="34" charset="0"/>
                <a:ea typeface="Arial" pitchFamily="34" charset="-122"/>
                <a:cs typeface="Arial" pitchFamily="34" charset="-120"/>
              </a:rPr>
              <a:t>Commercial positions are agreed in principle and remain subject to the live procurement.</a:t>
            </a:r>
            <a:endParaRPr lang="en-US" sz="800" dirty="0"/>
          </a:p>
        </p:txBody>
      </p:sp>
      <p:sp>
        <p:nvSpPr>
          <p:cNvPr id="29" name="Text 24"/>
          <p:cNvSpPr/>
          <p:nvPr/>
        </p:nvSpPr>
        <p:spPr>
          <a:xfrm>
            <a:off x="11368735" y="6473952"/>
            <a:ext cx="36576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Arial" pitchFamily="34" charset="0"/>
                <a:ea typeface="Arial" pitchFamily="34" charset="-122"/>
                <a:cs typeface="Arial"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03087"/>
          </a:solidFill>
          <a:ln w="12700">
            <a:solidFill>
              <a:srgbClr val="003087"/>
            </a:solidFill>
            <a:prstDash val="solid"/>
          </a:ln>
        </p:spPr>
      </p:sp>
      <p:sp>
        <p:nvSpPr>
          <p:cNvPr id="3" name="Shape 1"/>
          <p:cNvSpPr/>
          <p:nvPr/>
        </p:nvSpPr>
        <p:spPr>
          <a:xfrm>
            <a:off x="0" y="868680"/>
            <a:ext cx="12191695" cy="54864"/>
          </a:xfrm>
          <a:prstGeom prst="rect">
            <a:avLst/>
          </a:prstGeom>
          <a:solidFill>
            <a:srgbClr val="5BC093"/>
          </a:solidFill>
          <a:ln w="12700">
            <a:solidFill>
              <a:srgbClr val="5BC093"/>
            </a:solidFill>
            <a:prstDash val="solid"/>
          </a:ln>
        </p:spPr>
      </p:sp>
      <p:sp>
        <p:nvSpPr>
          <p:cNvPr id="4" name="Text 2"/>
          <p:cNvSpPr/>
          <p:nvPr/>
        </p:nvSpPr>
        <p:spPr>
          <a:xfrm>
            <a:off x="457200" y="128016"/>
            <a:ext cx="8686800" cy="256032"/>
          </a:xfrm>
          <a:prstGeom prst="rect">
            <a:avLst/>
          </a:prstGeom>
          <a:noFill/>
          <a:ln/>
        </p:spPr>
        <p:txBody>
          <a:bodyPr wrap="square" lIns="0" tIns="0" rIns="0" bIns="0" rtlCol="0" anchor="ctr"/>
          <a:lstStyle/>
          <a:p>
            <a:pPr indent="0" marL="0">
              <a:buNone/>
            </a:pPr>
            <a:r>
              <a:rPr lang="en-US" sz="950" b="1" spc="200" kern="0" dirty="0">
                <a:solidFill>
                  <a:srgbClr val="7EC8E3"/>
                </a:solidFill>
                <a:latin typeface="Arial" pitchFamily="34" charset="0"/>
                <a:ea typeface="Arial" pitchFamily="34" charset="-122"/>
                <a:cs typeface="Arial" pitchFamily="34" charset="-120"/>
              </a:rPr>
              <a:t>HEARTS AND MINDS  ·  JOE'S JOURNEY  ·  STAGE 6 OF 6</a:t>
            </a:r>
            <a:endParaRPr lang="en-US" sz="950" dirty="0"/>
          </a:p>
        </p:txBody>
      </p:sp>
      <p:sp>
        <p:nvSpPr>
          <p:cNvPr id="5" name="Text 3"/>
          <p:cNvSpPr/>
          <p:nvPr/>
        </p:nvSpPr>
        <p:spPr>
          <a:xfrm>
            <a:off x="457200" y="384048"/>
            <a:ext cx="960120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Reuse across the cohort · one certificate, many deployments</a:t>
            </a:r>
            <a:endParaRPr lang="en-US" sz="2000" dirty="0"/>
          </a:p>
        </p:txBody>
      </p:sp>
      <p:pic>
        <p:nvPicPr>
          <p:cNvPr id="6" name="Image 0" descr="/sessions/quirky-zen-galileo/mnt/outputs/deckbuild/nhs_logo.png">    </p:cNvPr>
          <p:cNvPicPr>
            <a:picLocks noChangeAspect="1"/>
          </p:cNvPicPr>
          <p:nvPr/>
        </p:nvPicPr>
        <p:blipFill>
          <a:blip r:embed="rId1"/>
          <a:stretch>
            <a:fillRect/>
          </a:stretch>
        </p:blipFill>
        <p:spPr>
          <a:xfrm>
            <a:off x="10774375" y="201168"/>
            <a:ext cx="960120" cy="393192"/>
          </a:xfrm>
          <a:prstGeom prst="rect">
            <a:avLst/>
          </a:prstGeom>
        </p:spPr>
      </p:pic>
      <p:sp>
        <p:nvSpPr>
          <p:cNvPr id="7" name="Text 4"/>
          <p:cNvSpPr/>
          <p:nvPr/>
        </p:nvSpPr>
        <p:spPr>
          <a:xfrm>
            <a:off x="429768" y="1024128"/>
            <a:ext cx="1463040" cy="868680"/>
          </a:xfrm>
          <a:prstGeom prst="rect">
            <a:avLst/>
          </a:prstGeom>
          <a:noFill/>
          <a:ln/>
        </p:spPr>
        <p:txBody>
          <a:bodyPr wrap="square" lIns="0" tIns="0" rIns="0" bIns="0" rtlCol="0" anchor="ctr"/>
          <a:lstStyle/>
          <a:p>
            <a:pPr indent="0" marL="0">
              <a:buNone/>
            </a:pPr>
            <a:r>
              <a:rPr lang="en-US" sz="5200" b="1" dirty="0">
                <a:solidFill>
                  <a:srgbClr val="5BC093"/>
                </a:solidFill>
                <a:latin typeface="Arial" pitchFamily="34" charset="0"/>
                <a:ea typeface="Arial" pitchFamily="34" charset="-122"/>
                <a:cs typeface="Arial" pitchFamily="34" charset="-120"/>
              </a:rPr>
              <a:t>06</a:t>
            </a:r>
            <a:endParaRPr lang="en-US" sz="5200" dirty="0"/>
          </a:p>
        </p:txBody>
      </p:sp>
      <p:sp>
        <p:nvSpPr>
          <p:cNvPr id="8" name="Text 5"/>
          <p:cNvSpPr/>
          <p:nvPr/>
        </p:nvSpPr>
        <p:spPr>
          <a:xfrm>
            <a:off x="457200" y="1920240"/>
            <a:ext cx="4892040" cy="1234440"/>
          </a:xfrm>
          <a:prstGeom prst="rect">
            <a:avLst/>
          </a:prstGeom>
          <a:noFill/>
          <a:ln/>
        </p:spPr>
        <p:txBody>
          <a:bodyPr wrap="square" lIns="0" tIns="0" rIns="0" bIns="0" rtlCol="0" anchor="t">
            <a:normAutofit/>
          </a:bodyPr>
          <a:lstStyle/>
          <a:p>
            <a:pPr indent="0" marL="0">
              <a:buNone/>
            </a:pPr>
            <a:r>
              <a:rPr lang="en-US" sz="1050" b="1" dirty="0">
                <a:solidFill>
                  <a:srgbClr val="003087"/>
                </a:solidFill>
                <a:latin typeface="Arial" pitchFamily="34" charset="0"/>
                <a:ea typeface="Arial" pitchFamily="34" charset="-122"/>
                <a:cs typeface="Arial" pitchFamily="34" charset="-120"/>
              </a:rPr>
              <a:t>An Acute Trust commissioner calls Joe off for PSA Active Surveillance. A GP commissioner calls him off for iron deficiency anaemia monitoring. A third commissioner is in conversation about a CVKM screening configuration. Same supplier. Three different conditions. Three different commissioner archetypes. Zero additional assurance burden. Each new test under the same API is a lightweight check; each new LA scope is a configuration change. Joe is in the cohort the framework was built for.</a:t>
            </a:r>
            <a:endParaRPr lang="en-US" sz="1050" dirty="0"/>
          </a:p>
        </p:txBody>
      </p:sp>
      <p:sp>
        <p:nvSpPr>
          <p:cNvPr id="9" name="Shape 6"/>
          <p:cNvSpPr/>
          <p:nvPr/>
        </p:nvSpPr>
        <p:spPr>
          <a:xfrm>
            <a:off x="457200" y="3264408"/>
            <a:ext cx="4892040" cy="944499"/>
          </a:xfrm>
          <a:prstGeom prst="rect">
            <a:avLst/>
          </a:prstGeom>
          <a:solidFill>
            <a:srgbClr val="F0F4F5"/>
          </a:solidFill>
          <a:ln w="12700">
            <a:solidFill>
              <a:srgbClr val="F0F4F5"/>
            </a:solidFill>
            <a:prstDash val="solid"/>
          </a:ln>
        </p:spPr>
      </p:sp>
      <p:sp>
        <p:nvSpPr>
          <p:cNvPr id="10" name="Shape 7"/>
          <p:cNvSpPr/>
          <p:nvPr/>
        </p:nvSpPr>
        <p:spPr>
          <a:xfrm>
            <a:off x="457200" y="3264408"/>
            <a:ext cx="82296" cy="944499"/>
          </a:xfrm>
          <a:prstGeom prst="rect">
            <a:avLst/>
          </a:prstGeom>
          <a:solidFill>
            <a:srgbClr val="5BC093"/>
          </a:solidFill>
          <a:ln w="12700">
            <a:solidFill>
              <a:srgbClr val="5BC093"/>
            </a:solidFill>
            <a:prstDash val="solid"/>
          </a:ln>
        </p:spPr>
      </p:sp>
      <p:sp>
        <p:nvSpPr>
          <p:cNvPr id="11" name="Text 8"/>
          <p:cNvSpPr/>
          <p:nvPr/>
        </p:nvSpPr>
        <p:spPr>
          <a:xfrm>
            <a:off x="685800" y="3319272"/>
            <a:ext cx="4526280" cy="578739"/>
          </a:xfrm>
          <a:prstGeom prst="rect">
            <a:avLst/>
          </a:prstGeom>
          <a:noFill/>
          <a:ln/>
        </p:spPr>
        <p:txBody>
          <a:bodyPr wrap="square" lIns="0" tIns="0" rIns="0" bIns="0" rtlCol="0" anchor="t">
            <a:normAutofit/>
          </a:bodyPr>
          <a:lstStyle/>
          <a:p>
            <a:pPr indent="0" marL="0">
              <a:buNone/>
            </a:pPr>
            <a:r>
              <a:rPr lang="en-US" sz="950" i="1" dirty="0">
                <a:solidFill>
                  <a:srgbClr val="231F20"/>
                </a:solidFill>
                <a:latin typeface="Arial" pitchFamily="34" charset="0"/>
                <a:ea typeface="Arial" pitchFamily="34" charset="-122"/>
                <a:cs typeface="Arial" pitchFamily="34" charset="-120"/>
              </a:rPr>
              <a:t>“I am the same business I was eighteen months ago. The framework changed what I could reach. One conformance certificate, three conditions, six commissioners, and counting.”</a:t>
            </a:r>
            <a:endParaRPr lang="en-US" sz="950" dirty="0"/>
          </a:p>
        </p:txBody>
      </p:sp>
      <p:sp>
        <p:nvSpPr>
          <p:cNvPr id="12" name="Text 9"/>
          <p:cNvSpPr/>
          <p:nvPr/>
        </p:nvSpPr>
        <p:spPr>
          <a:xfrm>
            <a:off x="685800" y="3898011"/>
            <a:ext cx="4526280" cy="256032"/>
          </a:xfrm>
          <a:prstGeom prst="rect">
            <a:avLst/>
          </a:prstGeom>
          <a:noFill/>
          <a:ln/>
        </p:spPr>
        <p:txBody>
          <a:bodyPr wrap="square" lIns="0" tIns="0" rIns="0" bIns="0" rtlCol="0" anchor="ctr"/>
          <a:lstStyle/>
          <a:p>
            <a:pPr indent="0" marL="0">
              <a:buNone/>
            </a:pPr>
            <a:r>
              <a:rPr lang="en-US" sz="950" b="1" dirty="0">
                <a:solidFill>
                  <a:srgbClr val="5BC093"/>
                </a:solidFill>
                <a:latin typeface="Arial" pitchFamily="34" charset="0"/>
                <a:ea typeface="Arial" pitchFamily="34" charset="-122"/>
                <a:cs typeface="Arial" pitchFamily="34" charset="-120"/>
              </a:rPr>
              <a:t>Joe</a:t>
            </a:r>
            <a:endParaRPr lang="en-US" sz="950" dirty="0"/>
          </a:p>
        </p:txBody>
      </p:sp>
      <p:pic>
        <p:nvPicPr>
          <p:cNvPr id="13" name="Image 1" descr="/sessions/quirky-zen-galileo/mnt/outputs/hmdecks/img/joe-stage6.jpg">    </p:cNvPr>
          <p:cNvPicPr>
            <a:picLocks noChangeAspect="1"/>
          </p:cNvPicPr>
          <p:nvPr/>
        </p:nvPicPr>
        <p:blipFill>
          <a:blip r:embed="rId2"/>
          <a:stretch>
            <a:fillRect/>
          </a:stretch>
        </p:blipFill>
        <p:spPr>
          <a:xfrm>
            <a:off x="457200" y="4373499"/>
            <a:ext cx="2858269" cy="1917573"/>
          </a:xfrm>
          <a:prstGeom prst="rect">
            <a:avLst/>
          </a:prstGeom>
        </p:spPr>
      </p:pic>
      <p:sp>
        <p:nvSpPr>
          <p:cNvPr id="14" name="Shape 10"/>
          <p:cNvSpPr/>
          <p:nvPr/>
        </p:nvSpPr>
        <p:spPr>
          <a:xfrm>
            <a:off x="5669280" y="1097280"/>
            <a:ext cx="6065215" cy="274320"/>
          </a:xfrm>
          <a:prstGeom prst="rect">
            <a:avLst/>
          </a:prstGeom>
          <a:solidFill>
            <a:srgbClr val="005EB8"/>
          </a:solidFill>
          <a:ln w="12700">
            <a:solidFill>
              <a:srgbClr val="005EB8"/>
            </a:solidFill>
            <a:prstDash val="solid"/>
          </a:ln>
        </p:spPr>
      </p:sp>
      <p:sp>
        <p:nvSpPr>
          <p:cNvPr id="15" name="Text 11"/>
          <p:cNvSpPr/>
          <p:nvPr/>
        </p:nvSpPr>
        <p:spPr>
          <a:xfrm>
            <a:off x="5779008" y="1097280"/>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MODEL IS DOING UNDERNEATH</a:t>
            </a:r>
            <a:endParaRPr lang="en-US" sz="850" dirty="0"/>
          </a:p>
        </p:txBody>
      </p:sp>
      <p:sp>
        <p:nvSpPr>
          <p:cNvPr id="16" name="Shape 12"/>
          <p:cNvSpPr/>
          <p:nvPr/>
        </p:nvSpPr>
        <p:spPr>
          <a:xfrm>
            <a:off x="5669280" y="1371600"/>
            <a:ext cx="6065215" cy="1223772"/>
          </a:xfrm>
          <a:prstGeom prst="rect">
            <a:avLst/>
          </a:prstGeom>
          <a:solidFill>
            <a:srgbClr val="D5E8F0"/>
          </a:solidFill>
          <a:ln w="12700">
            <a:solidFill>
              <a:srgbClr val="D5E8F0"/>
            </a:solidFill>
            <a:prstDash val="solid"/>
          </a:ln>
        </p:spPr>
      </p:sp>
      <p:sp>
        <p:nvSpPr>
          <p:cNvPr id="17" name="Text 13"/>
          <p:cNvSpPr/>
          <p:nvPr/>
        </p:nvSpPr>
        <p:spPr>
          <a:xfrm>
            <a:off x="5779008" y="1408176"/>
            <a:ext cx="5845759" cy="1168908"/>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The principle of </a:t>
            </a:r>
            <a:pPr indent="0" marL="0">
              <a:buNone/>
            </a:pPr>
            <a:r>
              <a:rPr lang="en-US" sz="1100" b="1" dirty="0">
                <a:solidFill>
                  <a:srgbClr val="231F20"/>
                </a:solidFill>
                <a:latin typeface="Arial" pitchFamily="34" charset="0"/>
                <a:ea typeface="Arial" pitchFamily="34" charset="-122"/>
                <a:cs typeface="Arial" pitchFamily="34" charset="-120"/>
              </a:rPr>
              <a:t>onboard-once-per-API</a:t>
            </a:r>
            <a:pPr indent="0" marL="0">
              <a:buNone/>
            </a:pPr>
            <a:r>
              <a:rPr lang="en-US" sz="1100" dirty="0">
                <a:solidFill>
                  <a:srgbClr val="231F20"/>
                </a:solidFill>
                <a:latin typeface="Arial" pitchFamily="34" charset="0"/>
                <a:ea typeface="Arial" pitchFamily="34" charset="-122"/>
                <a:cs typeface="Arial" pitchFamily="34" charset="-120"/>
              </a:rPr>
              <a:t> doing its work. Joe's technical integration to the platform was evidenced once. A new test under the same API is a lightweight check against the API's eligibility rules, it does not repeat the API-level evidence. A new commissioner calling Joe off uses the standing framework call-off contract. The annual refresh is the touchpoint. </a:t>
            </a:r>
            <a:pPr indent="0" marL="0">
              <a:buNone/>
            </a:pPr>
            <a:r>
              <a:rPr lang="en-US" sz="1100" b="1" dirty="0">
                <a:solidFill>
                  <a:srgbClr val="231F20"/>
                </a:solidFill>
                <a:latin typeface="Arial" pitchFamily="34" charset="0"/>
                <a:ea typeface="Arial" pitchFamily="34" charset="-122"/>
                <a:cs typeface="Arial" pitchFamily="34" charset="-120"/>
              </a:rPr>
              <a:t>The conformance certificate is the durable artefact; the deployments multiply around it.</a:t>
            </a:r>
            <a:endParaRPr lang="en-US" sz="1100" dirty="0"/>
          </a:p>
        </p:txBody>
      </p:sp>
      <p:sp>
        <p:nvSpPr>
          <p:cNvPr id="18" name="Shape 14"/>
          <p:cNvSpPr/>
          <p:nvPr/>
        </p:nvSpPr>
        <p:spPr>
          <a:xfrm>
            <a:off x="5669280" y="2723388"/>
            <a:ext cx="6065215" cy="274320"/>
          </a:xfrm>
          <a:prstGeom prst="rect">
            <a:avLst/>
          </a:prstGeom>
          <a:solidFill>
            <a:srgbClr val="4C6272"/>
          </a:solidFill>
          <a:ln w="12700">
            <a:solidFill>
              <a:srgbClr val="4C6272"/>
            </a:solidFill>
            <a:prstDash val="solid"/>
          </a:ln>
        </p:spPr>
      </p:sp>
      <p:sp>
        <p:nvSpPr>
          <p:cNvPr id="19" name="Text 15"/>
          <p:cNvSpPr/>
          <p:nvPr/>
        </p:nvSpPr>
        <p:spPr>
          <a:xfrm>
            <a:off x="5779008" y="2723388"/>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THE OLD WAY</a:t>
            </a:r>
            <a:endParaRPr lang="en-US" sz="850" dirty="0"/>
          </a:p>
        </p:txBody>
      </p:sp>
      <p:sp>
        <p:nvSpPr>
          <p:cNvPr id="20" name="Shape 16"/>
          <p:cNvSpPr/>
          <p:nvPr/>
        </p:nvSpPr>
        <p:spPr>
          <a:xfrm>
            <a:off x="5669280" y="2997708"/>
            <a:ext cx="6065215" cy="1053338"/>
          </a:xfrm>
          <a:prstGeom prst="rect">
            <a:avLst/>
          </a:prstGeom>
          <a:solidFill>
            <a:srgbClr val="F0F4F5"/>
          </a:solidFill>
          <a:ln w="12700">
            <a:solidFill>
              <a:srgbClr val="F0F4F5"/>
            </a:solidFill>
            <a:prstDash val="solid"/>
          </a:ln>
        </p:spPr>
      </p:sp>
      <p:sp>
        <p:nvSpPr>
          <p:cNvPr id="21" name="Text 17"/>
          <p:cNvSpPr/>
          <p:nvPr/>
        </p:nvSpPr>
        <p:spPr>
          <a:xfrm>
            <a:off x="5779008" y="3034284"/>
            <a:ext cx="5845759" cy="998474"/>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Each new condition required a fresh procurement. Each new commissioner required a fresh contract. Each new LA scope required a fresh assurance pack. The cost of expanding into a new cohort scaled with the number of LAs, not with the value of the cohort. Smaller suppliers couldn't carry the per-deployment overhead. The market consolidated by accident.</a:t>
            </a:r>
            <a:endParaRPr lang="en-US" sz="1100" dirty="0"/>
          </a:p>
        </p:txBody>
      </p:sp>
      <p:sp>
        <p:nvSpPr>
          <p:cNvPr id="22" name="Shape 18"/>
          <p:cNvSpPr/>
          <p:nvPr/>
        </p:nvSpPr>
        <p:spPr>
          <a:xfrm>
            <a:off x="5669280" y="4179062"/>
            <a:ext cx="6065215" cy="274320"/>
          </a:xfrm>
          <a:prstGeom prst="rect">
            <a:avLst/>
          </a:prstGeom>
          <a:solidFill>
            <a:srgbClr val="006747"/>
          </a:solidFill>
          <a:ln w="12700">
            <a:solidFill>
              <a:srgbClr val="006747"/>
            </a:solidFill>
            <a:prstDash val="solid"/>
          </a:ln>
        </p:spPr>
      </p:sp>
      <p:sp>
        <p:nvSpPr>
          <p:cNvPr id="23" name="Text 19"/>
          <p:cNvSpPr/>
          <p:nvPr/>
        </p:nvSpPr>
        <p:spPr>
          <a:xfrm>
            <a:off x="5779008" y="4179062"/>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CARE TEAM SEES</a:t>
            </a:r>
            <a:endParaRPr lang="en-US" sz="850" dirty="0"/>
          </a:p>
        </p:txBody>
      </p:sp>
      <p:sp>
        <p:nvSpPr>
          <p:cNvPr id="24" name="Shape 20"/>
          <p:cNvSpPr/>
          <p:nvPr/>
        </p:nvSpPr>
        <p:spPr>
          <a:xfrm>
            <a:off x="5669280" y="4453382"/>
            <a:ext cx="6065215" cy="712470"/>
          </a:xfrm>
          <a:prstGeom prst="rect">
            <a:avLst/>
          </a:prstGeom>
          <a:solidFill>
            <a:srgbClr val="E8F3EE"/>
          </a:solidFill>
          <a:ln w="12700">
            <a:solidFill>
              <a:srgbClr val="E8F3EE"/>
            </a:solidFill>
            <a:prstDash val="solid"/>
          </a:ln>
        </p:spPr>
      </p:sp>
      <p:sp>
        <p:nvSpPr>
          <p:cNvPr id="25" name="Text 21"/>
          <p:cNvSpPr/>
          <p:nvPr/>
        </p:nvSpPr>
        <p:spPr>
          <a:xfrm>
            <a:off x="5779008" y="4489958"/>
            <a:ext cx="5845759" cy="657606"/>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Joe's deployment team holding multiple commissioner relationships. NHSE Partnerships team brokering new conversations. The Operations team running the annual refresh. The conformance certificate as the trust marker every commissioner now reads.</a:t>
            </a:r>
            <a:endParaRPr lang="en-US" sz="1100" dirty="0"/>
          </a:p>
        </p:txBody>
      </p:sp>
      <p:sp>
        <p:nvSpPr>
          <p:cNvPr id="27" name="Text 22"/>
          <p:cNvSpPr/>
          <p:nvPr/>
        </p:nvSpPr>
        <p:spPr>
          <a:xfrm>
            <a:off x="457200" y="6473952"/>
            <a:ext cx="3108960" cy="274320"/>
          </a:xfrm>
          <a:prstGeom prst="rect">
            <a:avLst/>
          </a:prstGeom>
          <a:noFill/>
          <a:ln/>
        </p:spPr>
        <p:txBody>
          <a:bodyPr wrap="square" lIns="0" tIns="0" rIns="0" bIns="0" rtlCol="0" anchor="ctr"/>
          <a:lstStyle/>
          <a:p>
            <a:pPr indent="0" marL="0">
              <a:buNone/>
            </a:pPr>
            <a:r>
              <a:rPr lang="en-US" sz="850" dirty="0">
                <a:solidFill>
                  <a:srgbClr val="7E8B97"/>
                </a:solidFill>
                <a:latin typeface="Arial" pitchFamily="34" charset="0"/>
                <a:ea typeface="Arial" pitchFamily="34" charset="-122"/>
                <a:cs typeface="Arial" pitchFamily="34" charset="-120"/>
              </a:rPr>
              <a:t>Joe  ·  Hearts and Minds</a:t>
            </a:r>
            <a:endParaRPr lang="en-US" sz="850" dirty="0"/>
          </a:p>
        </p:txBody>
      </p:sp>
      <p:sp>
        <p:nvSpPr>
          <p:cNvPr id="28" name="Text 23"/>
          <p:cNvSpPr/>
          <p:nvPr/>
        </p:nvSpPr>
        <p:spPr>
          <a:xfrm>
            <a:off x="3657600" y="6473952"/>
            <a:ext cx="7528255" cy="274320"/>
          </a:xfrm>
          <a:prstGeom prst="rect">
            <a:avLst/>
          </a:prstGeom>
          <a:noFill/>
          <a:ln/>
        </p:spPr>
        <p:txBody>
          <a:bodyPr wrap="square" lIns="0" tIns="0" rIns="0" bIns="0" rtlCol="0" anchor="ctr"/>
          <a:lstStyle/>
          <a:p>
            <a:pPr algn="r" indent="0" marL="0">
              <a:buNone/>
            </a:pPr>
            <a:r>
              <a:rPr lang="en-US" sz="800" dirty="0">
                <a:solidFill>
                  <a:srgbClr val="7E8B97"/>
                </a:solidFill>
                <a:latin typeface="Arial" pitchFamily="34" charset="0"/>
                <a:ea typeface="Arial" pitchFamily="34" charset="-122"/>
                <a:cs typeface="Arial" pitchFamily="34" charset="-120"/>
              </a:rPr>
              <a:t>Commercial positions are agreed in principle and remain subject to the live procurement.</a:t>
            </a:r>
            <a:endParaRPr lang="en-US" sz="800" dirty="0"/>
          </a:p>
        </p:txBody>
      </p:sp>
      <p:sp>
        <p:nvSpPr>
          <p:cNvPr id="29" name="Text 24"/>
          <p:cNvSpPr/>
          <p:nvPr/>
        </p:nvSpPr>
        <p:spPr>
          <a:xfrm>
            <a:off x="11368735" y="6473952"/>
            <a:ext cx="36576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Arial" pitchFamily="34" charset="0"/>
                <a:ea typeface="Arial" pitchFamily="34" charset="-122"/>
                <a:cs typeface="Arial" pitchFamily="34" charset="-120"/>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03087"/>
          </a:solidFill>
          <a:ln w="12700">
            <a:solidFill>
              <a:srgbClr val="003087"/>
            </a:solidFill>
            <a:prstDash val="solid"/>
          </a:ln>
        </p:spPr>
      </p:sp>
      <p:sp>
        <p:nvSpPr>
          <p:cNvPr id="3" name="Shape 1"/>
          <p:cNvSpPr/>
          <p:nvPr/>
        </p:nvSpPr>
        <p:spPr>
          <a:xfrm>
            <a:off x="0" y="868680"/>
            <a:ext cx="12191695" cy="54864"/>
          </a:xfrm>
          <a:prstGeom prst="rect">
            <a:avLst/>
          </a:prstGeom>
          <a:solidFill>
            <a:srgbClr val="5BC093"/>
          </a:solidFill>
          <a:ln w="12700">
            <a:solidFill>
              <a:srgbClr val="5BC093"/>
            </a:solidFill>
            <a:prstDash val="solid"/>
          </a:ln>
        </p:spPr>
      </p:sp>
      <p:sp>
        <p:nvSpPr>
          <p:cNvPr id="4" name="Text 2"/>
          <p:cNvSpPr/>
          <p:nvPr/>
        </p:nvSpPr>
        <p:spPr>
          <a:xfrm>
            <a:off x="457200" y="128016"/>
            <a:ext cx="8686800" cy="256032"/>
          </a:xfrm>
          <a:prstGeom prst="rect">
            <a:avLst/>
          </a:prstGeom>
          <a:noFill/>
          <a:ln/>
        </p:spPr>
        <p:txBody>
          <a:bodyPr wrap="square" lIns="0" tIns="0" rIns="0" bIns="0" rtlCol="0" anchor="ctr"/>
          <a:lstStyle/>
          <a:p>
            <a:pPr indent="0" marL="0">
              <a:buNone/>
            </a:pPr>
            <a:r>
              <a:rPr lang="en-US" sz="950" b="1" spc="200" kern="0" dirty="0">
                <a:solidFill>
                  <a:srgbClr val="7EC8E3"/>
                </a:solidFill>
                <a:latin typeface="Arial" pitchFamily="34" charset="0"/>
                <a:ea typeface="Arial" pitchFamily="34" charset="-122"/>
                <a:cs typeface="Arial" pitchFamily="34" charset="-120"/>
              </a:rPr>
              <a:t>HEARTS AND MINDS  ·  JOE'S JOURNEY  ·  THE OUTCOME</a:t>
            </a:r>
            <a:endParaRPr lang="en-US" sz="950" dirty="0"/>
          </a:p>
        </p:txBody>
      </p:sp>
      <p:sp>
        <p:nvSpPr>
          <p:cNvPr id="5" name="Text 3"/>
          <p:cNvSpPr/>
          <p:nvPr/>
        </p:nvSpPr>
        <p:spPr>
          <a:xfrm>
            <a:off x="457200" y="384048"/>
            <a:ext cx="960120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Joe's win · the model's commitment</a:t>
            </a:r>
            <a:endParaRPr lang="en-US" sz="2000" dirty="0"/>
          </a:p>
        </p:txBody>
      </p:sp>
      <p:pic>
        <p:nvPicPr>
          <p:cNvPr id="6" name="Image 0" descr="/sessions/quirky-zen-galileo/mnt/outputs/deckbuild/nhs_logo.png">    </p:cNvPr>
          <p:cNvPicPr>
            <a:picLocks noChangeAspect="1"/>
          </p:cNvPicPr>
          <p:nvPr/>
        </p:nvPicPr>
        <p:blipFill>
          <a:blip r:embed="rId1"/>
          <a:stretch>
            <a:fillRect/>
          </a:stretch>
        </p:blipFill>
        <p:spPr>
          <a:xfrm>
            <a:off x="10774375" y="201168"/>
            <a:ext cx="960120" cy="393192"/>
          </a:xfrm>
          <a:prstGeom prst="rect">
            <a:avLst/>
          </a:prstGeom>
        </p:spPr>
      </p:pic>
      <p:sp>
        <p:nvSpPr>
          <p:cNvPr id="7" name="Text 4"/>
          <p:cNvSpPr/>
          <p:nvPr/>
        </p:nvSpPr>
        <p:spPr>
          <a:xfrm>
            <a:off x="457200" y="1143000"/>
            <a:ext cx="11277295" cy="822960"/>
          </a:xfrm>
          <a:prstGeom prst="rect">
            <a:avLst/>
          </a:prstGeom>
          <a:noFill/>
          <a:ln/>
        </p:spPr>
        <p:txBody>
          <a:bodyPr wrap="square" lIns="0" tIns="0" rIns="0" bIns="0" rtlCol="0" anchor="t">
            <a:normAutofit/>
          </a:bodyPr>
          <a:lstStyle/>
          <a:p>
            <a:pPr indent="0" marL="0">
              <a:buNone/>
            </a:pPr>
            <a:r>
              <a:rPr lang="en-US" sz="2200" b="1" dirty="0">
                <a:solidFill>
                  <a:srgbClr val="003087"/>
                </a:solidFill>
                <a:latin typeface="Arial" pitchFamily="34" charset="0"/>
                <a:ea typeface="Arial" pitchFamily="34" charset="-122"/>
                <a:cs typeface="Arial" pitchFamily="34" charset="-120"/>
              </a:rPr>
              <a:t>One admission. One conformance certificate. As many deployments as the cohort needs.</a:t>
            </a:r>
            <a:endParaRPr lang="en-US" sz="2200" dirty="0"/>
          </a:p>
        </p:txBody>
      </p:sp>
      <p:sp>
        <p:nvSpPr>
          <p:cNvPr id="8" name="Text 5"/>
          <p:cNvSpPr/>
          <p:nvPr/>
        </p:nvSpPr>
        <p:spPr>
          <a:xfrm>
            <a:off x="457200" y="2011680"/>
            <a:ext cx="11277295" cy="649224"/>
          </a:xfrm>
          <a:prstGeom prst="rect">
            <a:avLst/>
          </a:prstGeom>
          <a:noFill/>
          <a:ln/>
        </p:spPr>
        <p:txBody>
          <a:bodyPr wrap="square" lIns="0" tIns="0" rIns="0" bIns="0" rtlCol="0" anchor="t">
            <a:normAutofit/>
          </a:bodyPr>
          <a:lstStyle/>
          <a:p>
            <a:pPr indent="0" marL="0">
              <a:buNone/>
            </a:pPr>
            <a:r>
              <a:rPr lang="en-US" sz="1200" dirty="0">
                <a:solidFill>
                  <a:srgbClr val="231F20"/>
                </a:solidFill>
                <a:latin typeface="Arial" pitchFamily="34" charset="0"/>
                <a:ea typeface="Arial" pitchFamily="34" charset="-122"/>
                <a:cs typeface="Arial" pitchFamily="34" charset="-120"/>
              </a:rPr>
              <a:t>Joe is not a special case. He is the design pattern. Every supplier that comes through the framework is admitted once, certified once, and reusable. </a:t>
            </a:r>
            <a:pPr indent="0" marL="0">
              <a:buNone/>
            </a:pPr>
            <a:r>
              <a:rPr lang="en-US" sz="1200" b="1" dirty="0">
                <a:solidFill>
                  <a:srgbClr val="231F20"/>
                </a:solidFill>
                <a:latin typeface="Arial" pitchFamily="34" charset="0"/>
                <a:ea typeface="Arial" pitchFamily="34" charset="-122"/>
                <a:cs typeface="Arial" pitchFamily="34" charset="-120"/>
              </a:rPr>
              <a:t>The local body becomes the deployment authority, not the re-assurer.</a:t>
            </a:r>
            <a:pPr indent="0" marL="0">
              <a:buNone/>
            </a:pPr>
            <a:r>
              <a:rPr lang="en-US" sz="1200" dirty="0">
                <a:solidFill>
                  <a:srgbClr val="231F20"/>
                </a:solidFill>
                <a:latin typeface="Arial" pitchFamily="34" charset="0"/>
                <a:ea typeface="Arial" pitchFamily="34" charset="-122"/>
                <a:cs typeface="Arial" pitchFamily="34" charset="-120"/>
              </a:rPr>
              <a:t> The platform's commitment to commissioners is that the supplier is safe to call off. The platform's commitment to suppliers is that the assurance burden is paid once.</a:t>
            </a:r>
            <a:endParaRPr lang="en-US" sz="1200" dirty="0"/>
          </a:p>
        </p:txBody>
      </p:sp>
      <p:sp>
        <p:nvSpPr>
          <p:cNvPr id="9" name="Shape 6"/>
          <p:cNvSpPr/>
          <p:nvPr/>
        </p:nvSpPr>
        <p:spPr>
          <a:xfrm>
            <a:off x="457200" y="2935224"/>
            <a:ext cx="11277295" cy="2340102"/>
          </a:xfrm>
          <a:prstGeom prst="roundRect">
            <a:avLst>
              <a:gd name="adj" fmla="val 3908"/>
            </a:avLst>
          </a:prstGeom>
          <a:solidFill>
            <a:srgbClr val="FFFFFF"/>
          </a:solidFill>
          <a:ln w="9525">
            <a:solidFill>
              <a:srgbClr val="DDE3E8"/>
            </a:solidFill>
            <a:prstDash val="solid"/>
          </a:ln>
        </p:spPr>
      </p:sp>
      <p:sp>
        <p:nvSpPr>
          <p:cNvPr id="10" name="Shape 7"/>
          <p:cNvSpPr/>
          <p:nvPr/>
        </p:nvSpPr>
        <p:spPr>
          <a:xfrm>
            <a:off x="457200" y="2935224"/>
            <a:ext cx="11277295" cy="73152"/>
          </a:xfrm>
          <a:prstGeom prst="rect">
            <a:avLst/>
          </a:prstGeom>
          <a:solidFill>
            <a:srgbClr val="006747"/>
          </a:solidFill>
          <a:ln w="12700">
            <a:solidFill>
              <a:srgbClr val="006747"/>
            </a:solidFill>
            <a:prstDash val="solid"/>
          </a:ln>
        </p:spPr>
      </p:sp>
      <p:sp>
        <p:nvSpPr>
          <p:cNvPr id="11" name="Text 8"/>
          <p:cNvSpPr/>
          <p:nvPr/>
        </p:nvSpPr>
        <p:spPr>
          <a:xfrm>
            <a:off x="731520" y="3118104"/>
            <a:ext cx="5486400" cy="274320"/>
          </a:xfrm>
          <a:prstGeom prst="rect">
            <a:avLst/>
          </a:prstGeom>
          <a:noFill/>
          <a:ln/>
        </p:spPr>
        <p:txBody>
          <a:bodyPr wrap="square" lIns="0" tIns="0" rIns="0" bIns="0" rtlCol="0" anchor="ctr"/>
          <a:lstStyle/>
          <a:p>
            <a:pPr indent="0" marL="0">
              <a:buNone/>
            </a:pPr>
            <a:r>
              <a:rPr lang="en-US" sz="950" b="1" spc="200" kern="0" dirty="0">
                <a:solidFill>
                  <a:srgbClr val="006747"/>
                </a:solidFill>
                <a:latin typeface="Arial" pitchFamily="34" charset="0"/>
                <a:ea typeface="Arial" pitchFamily="34" charset="-122"/>
                <a:cs typeface="Arial" pitchFamily="34" charset="-120"/>
              </a:rPr>
              <a:t>THE MONEY IN THIS STORY</a:t>
            </a:r>
            <a:endParaRPr lang="en-US" sz="950" dirty="0"/>
          </a:p>
        </p:txBody>
      </p:sp>
      <p:sp>
        <p:nvSpPr>
          <p:cNvPr id="12" name="Text 9"/>
          <p:cNvSpPr/>
          <p:nvPr/>
        </p:nvSpPr>
        <p:spPr>
          <a:xfrm>
            <a:off x="731520" y="3438144"/>
            <a:ext cx="10728655" cy="1379982"/>
          </a:xfrm>
          <a:prstGeom prst="rect">
            <a:avLst/>
          </a:prstGeom>
          <a:noFill/>
          <a:ln/>
        </p:spPr>
        <p:txBody>
          <a:bodyPr wrap="square" lIns="0" tIns="0" rIns="0" bIns="0" rtlCol="0" anchor="t">
            <a:normAutofit/>
          </a:bodyPr>
          <a:lstStyle/>
          <a:p>
            <a:pPr indent="0" marL="0">
              <a:spcAft>
                <a:spcPts val="600"/>
              </a:spcAft>
              <a:buNone/>
            </a:pPr>
            <a:r>
              <a:rPr lang="en-US" sz="1150" dirty="0">
                <a:solidFill>
                  <a:srgbClr val="4C6272"/>
                </a:solidFill>
                <a:latin typeface="Arial" pitchFamily="34" charset="0"/>
                <a:ea typeface="Arial" pitchFamily="34" charset="-122"/>
                <a:cs typeface="Arial" pitchFamily="34" charset="-120"/>
              </a:rPr>
              <a:t>Joe is assured once and paid many times. Company checks happen once at the door, category checks as each test opens, and one conformance certificate carries him to every commissioner on the framework. Each call-off pays him direct, at a price he sets under the national ceiling, in a field the framework keeps open: a floor of about three suppliers per test where the market can support it, and no cap.</a:t>
            </a:r>
            <a:pPr indent="0" marL="0">
              <a:spcAft>
                <a:spcPts val="600"/>
              </a:spcAft>
              <a:buNone/>
            </a:pPr>
            <a:endParaRPr lang="en-US" sz="1150" dirty="0"/>
          </a:p>
          <a:p>
            <a:pPr indent="0" marL="0">
              <a:spcAft>
                <a:spcPts val="600"/>
              </a:spcAft>
              <a:buNone/>
            </a:pPr>
            <a:r>
              <a:rPr lang="en-US" sz="1150" dirty="0">
                <a:solidFill>
                  <a:srgbClr val="4C6272"/>
                </a:solidFill>
                <a:latin typeface="Arial" pitchFamily="34" charset="0"/>
                <a:ea typeface="Arial" pitchFamily="34" charset="-122"/>
                <a:cs typeface="Arial" pitchFamily="34" charset="-120"/>
              </a:rPr>
              <a:t>One to two percent of his throughput goes back as the levy that runs the framework, with a share returning to NHSE as a platform fee on the working assumption that funds the app journey and the clinician panels. Reopening windows during the framework's life let him add categories without re-proving his company.</a:t>
            </a:r>
            <a:endParaRPr lang="en-US" sz="1150" dirty="0"/>
          </a:p>
        </p:txBody>
      </p:sp>
      <p:sp>
        <p:nvSpPr>
          <p:cNvPr id="13" name="Text 10"/>
          <p:cNvSpPr/>
          <p:nvPr/>
        </p:nvSpPr>
        <p:spPr>
          <a:xfrm>
            <a:off x="731520" y="4863846"/>
            <a:ext cx="10728655" cy="320040"/>
          </a:xfrm>
          <a:prstGeom prst="rect">
            <a:avLst/>
          </a:prstGeom>
          <a:noFill/>
          <a:ln/>
        </p:spPr>
        <p:txBody>
          <a:bodyPr wrap="square" lIns="0" tIns="0" rIns="0" bIns="0" rtlCol="0" anchor="ctr"/>
          <a:lstStyle/>
          <a:p>
            <a:pPr indent="0" marL="0">
              <a:buNone/>
            </a:pPr>
            <a:r>
              <a:rPr lang="en-US" sz="850" i="1" dirty="0">
                <a:solidFill>
                  <a:srgbClr val="7E8B97"/>
                </a:solidFill>
                <a:latin typeface="Arial" pitchFamily="34" charset="0"/>
                <a:ea typeface="Arial" pitchFamily="34" charset="-122"/>
                <a:cs typeface="Arial" pitchFamily="34" charset="-120"/>
              </a:rPr>
              <a:t>Commercial positions are agreed in principle and remain subject to the live procurement. See the Money Loop and How Commissioners Buy pages of the operating model.</a:t>
            </a:r>
            <a:endParaRPr lang="en-US" sz="850" dirty="0"/>
          </a:p>
        </p:txBody>
      </p:sp>
      <p:sp>
        <p:nvSpPr>
          <p:cNvPr id="14" name="Text 11"/>
          <p:cNvSpPr/>
          <p:nvPr/>
        </p:nvSpPr>
        <p:spPr>
          <a:xfrm>
            <a:off x="457200" y="6473952"/>
            <a:ext cx="3108960" cy="274320"/>
          </a:xfrm>
          <a:prstGeom prst="rect">
            <a:avLst/>
          </a:prstGeom>
          <a:noFill/>
          <a:ln/>
        </p:spPr>
        <p:txBody>
          <a:bodyPr wrap="square" lIns="0" tIns="0" rIns="0" bIns="0" rtlCol="0" anchor="ctr"/>
          <a:lstStyle/>
          <a:p>
            <a:pPr indent="0" marL="0">
              <a:buNone/>
            </a:pPr>
            <a:r>
              <a:rPr lang="en-US" sz="850" dirty="0">
                <a:solidFill>
                  <a:srgbClr val="7E8B97"/>
                </a:solidFill>
                <a:latin typeface="Arial" pitchFamily="34" charset="0"/>
                <a:ea typeface="Arial" pitchFamily="34" charset="-122"/>
                <a:cs typeface="Arial" pitchFamily="34" charset="-120"/>
              </a:rPr>
              <a:t>Joe  ·  Hearts and Minds</a:t>
            </a:r>
            <a:endParaRPr lang="en-US" sz="850" dirty="0"/>
          </a:p>
        </p:txBody>
      </p:sp>
      <p:sp>
        <p:nvSpPr>
          <p:cNvPr id="15" name="Text 12"/>
          <p:cNvSpPr/>
          <p:nvPr/>
        </p:nvSpPr>
        <p:spPr>
          <a:xfrm>
            <a:off x="3657600" y="6473952"/>
            <a:ext cx="7528255" cy="274320"/>
          </a:xfrm>
          <a:prstGeom prst="rect">
            <a:avLst/>
          </a:prstGeom>
          <a:noFill/>
          <a:ln/>
        </p:spPr>
        <p:txBody>
          <a:bodyPr wrap="square" lIns="0" tIns="0" rIns="0" bIns="0" rtlCol="0" anchor="ctr"/>
          <a:lstStyle/>
          <a:p>
            <a:pPr algn="r" indent="0" marL="0">
              <a:buNone/>
            </a:pPr>
            <a:r>
              <a:rPr lang="en-US" sz="800" dirty="0">
                <a:solidFill>
                  <a:srgbClr val="7E8B97"/>
                </a:solidFill>
                <a:latin typeface="Arial" pitchFamily="34" charset="0"/>
                <a:ea typeface="Arial" pitchFamily="34" charset="-122"/>
                <a:cs typeface="Arial" pitchFamily="34" charset="-120"/>
              </a:rPr>
              <a:t>Commercial positions are agreed in principle and remain subject to the live procurement.</a:t>
            </a:r>
            <a:endParaRPr lang="en-US" sz="800" dirty="0"/>
          </a:p>
        </p:txBody>
      </p:sp>
      <p:sp>
        <p:nvSpPr>
          <p:cNvPr id="16" name="Text 13"/>
          <p:cNvSpPr/>
          <p:nvPr/>
        </p:nvSpPr>
        <p:spPr>
          <a:xfrm>
            <a:off x="11368735" y="6473952"/>
            <a:ext cx="36576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Arial" pitchFamily="34" charset="0"/>
                <a:ea typeface="Arial" pitchFamily="34" charset="-122"/>
                <a:cs typeface="Arial" pitchFamily="34" charset="-120"/>
              </a:rPr>
              <a:t>9</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NHS England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Joe's story: HomeTest Hearts and Minds</dc:title>
  <dc:subject>PptxGenJS Presentation</dc:subject>
  <dc:creator>HomeTest Programme</dc:creator>
  <cp:lastModifiedBy>HomeTest Programme</cp:lastModifiedBy>
  <cp:revision>1</cp:revision>
  <dcterms:created xsi:type="dcterms:W3CDTF">2026-09-05T07:23:51Z</dcterms:created>
  <dcterms:modified xsi:type="dcterms:W3CDTF">2026-09-05T07:23:51Z</dcterms:modified>
</cp:coreProperties>
</file>