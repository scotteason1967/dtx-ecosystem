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Sean's story, told through the operating model. Open on the person, not the pathway.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Stratification: the cohort the system identifies but doesn't reach. 79.9% of people on the learning disability register had an annual health check (March 2025). The Reasonable Adjustment Digital Flag is a national NHS record flag. The Accessible Information Standard has been a legal requirement since 2016. None of the identification infrastructure needs to be built. It has existed for years. What hasn't worked is the chain that turns identification into a finished test, a delivered result, and a treatment that actually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2: Identification: the offer that reaches the people who can act on it. Easy-read materials. Alternative-format letters. Support-network engagement designed into the platform from the start. The reasonable-adjustment flag triggers the alternative communication route. The offer travels through the people who can support him, not through an unopened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3: Diagnosis: a test on his terms. Home venue moves the appointment off the clinic clock. Sean does the sample himself, not is done to. The kit is the appointment. No bus. No waiting room. No nine-in-the-morning alarm. The clinical pathway is unchanged. The biochemical result is the same. What changes is the venue, the timing, and the design recognition that Sean's engagement profile is the constraint to design around, not the problem to blame.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4: Treatment: the result lands with the people who can act on it. The clinical treatment pathway is unchanged. The authorisation model is the change. Sean's nominated next-of-kin (his brother) is registered on the HomeTest system as his authorised representative. Notify rails carry the result to two places: Sean's record at the practice, and his family. The reasonable-adjustment flag stays live through every handover, but the new mechanic underneath it is the notification to the people who can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5: Long-term optimisation: the cohort the system actually holds. 39% of reviewed deaths of people with a learning disability were assessed as avoidable (LeDeR annual report 2023, published 2025). Persistence is what closes that gap: persistence of the authorisation, persistence of the flag, persistence of the support-network notification. The home pathway holds the cohort the system identifies. That is the response that turns identification into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jp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087"/>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crops/sean-interlude-0.787.jpg">    </p:cNvPr>
          <p:cNvPicPr>
            <a:picLocks noChangeAspect="1"/>
          </p:cNvPicPr>
          <p:nvPr/>
        </p:nvPicPr>
        <p:blipFill>
          <a:blip r:embed="rId1"/>
          <a:stretch>
            <a:fillRect/>
          </a:stretch>
        </p:blipFill>
        <p:spPr>
          <a:xfrm>
            <a:off x="6796735" y="0"/>
            <a:ext cx="5394960" cy="6858000"/>
          </a:xfrm>
          <a:prstGeom prst="rect">
            <a:avLst/>
          </a:prstGeom>
        </p:spPr>
      </p:pic>
      <p:sp>
        <p:nvSpPr>
          <p:cNvPr id="3" name="Shape 0"/>
          <p:cNvSpPr/>
          <p:nvPr/>
        </p:nvSpPr>
        <p:spPr>
          <a:xfrm>
            <a:off x="6632143" y="0"/>
            <a:ext cx="164592" cy="6858000"/>
          </a:xfrm>
          <a:prstGeom prst="rect">
            <a:avLst/>
          </a:prstGeom>
          <a:solidFill>
            <a:srgbClr val="FFB91D"/>
          </a:solidFill>
          <a:ln w="12700">
            <a:solidFill>
              <a:srgbClr val="FFB91D"/>
            </a:solidFill>
            <a:prstDash val="solid"/>
          </a:ln>
        </p:spPr>
      </p:sp>
      <p:sp>
        <p:nvSpPr>
          <p:cNvPr id="4" name="Shape 1"/>
          <p:cNvSpPr/>
          <p:nvPr/>
        </p:nvSpPr>
        <p:spPr>
          <a:xfrm>
            <a:off x="548640" y="457200"/>
            <a:ext cx="860532" cy="658368"/>
          </a:xfrm>
          <a:prstGeom prst="roundRect">
            <a:avLst>
              <a:gd name="adj" fmla="val 11111"/>
            </a:avLst>
          </a:prstGeom>
          <a:solidFill>
            <a:srgbClr val="FFFFFF"/>
          </a:solidFill>
          <a:ln w="12700">
            <a:solidFill>
              <a:srgbClr val="FFFFFF"/>
            </a:solidFill>
            <a:prstDash val="solid"/>
          </a:ln>
        </p:spPr>
      </p:sp>
      <p:pic>
        <p:nvPicPr>
          <p:cNvPr id="5" name="Image 1" descr="/sessions/quirky-zen-galileo/mnt/NHS/07 Sites &amp; Repos/dtx-ecosystem/hearts-and-minds/_generators/assets/nhs-logo.png">    </p:cNvPr>
          <p:cNvPicPr>
            <a:picLocks noChangeAspect="1"/>
          </p:cNvPicPr>
          <p:nvPr/>
        </p:nvPicPr>
        <p:blipFill>
          <a:blip r:embed="rId2"/>
          <a:stretch>
            <a:fillRect/>
          </a:stretch>
        </p:blipFill>
        <p:spPr>
          <a:xfrm>
            <a:off x="685800" y="557784"/>
            <a:ext cx="586212" cy="457200"/>
          </a:xfrm>
          <a:prstGeom prst="rect">
            <a:avLst/>
          </a:prstGeom>
        </p:spPr>
      </p:pic>
      <p:sp>
        <p:nvSpPr>
          <p:cNvPr id="6" name="Text 2"/>
          <p:cNvSpPr/>
          <p:nvPr/>
        </p:nvSpPr>
        <p:spPr>
          <a:xfrm>
            <a:off x="548640" y="1371600"/>
            <a:ext cx="5852160" cy="274320"/>
          </a:xfrm>
          <a:prstGeom prst="rect">
            <a:avLst/>
          </a:prstGeom>
          <a:noFill/>
          <a:ln/>
        </p:spPr>
        <p:txBody>
          <a:bodyPr wrap="square" lIns="0" tIns="0" rIns="0" bIns="0" rtlCol="0" anchor="ctr"/>
          <a:lstStyle/>
          <a:p>
            <a:pPr indent="0" marL="0">
              <a:buNone/>
            </a:pPr>
            <a:r>
              <a:rPr lang="en-US" sz="1000" b="1" spc="260" kern="0" dirty="0">
                <a:solidFill>
                  <a:srgbClr val="FFB91D"/>
                </a:solidFill>
                <a:latin typeface="Segoe UI" pitchFamily="34" charset="0"/>
                <a:ea typeface="Segoe UI" pitchFamily="34" charset="-122"/>
                <a:cs typeface="Segoe UI" pitchFamily="34" charset="-120"/>
              </a:rPr>
              <a:t>HEARTS AND MINDS · A PATIENT'S STORY THROUGH THE OPERATING MODEL</a:t>
            </a:r>
            <a:endParaRPr lang="en-US" sz="1000" dirty="0"/>
          </a:p>
        </p:txBody>
      </p:sp>
      <p:sp>
        <p:nvSpPr>
          <p:cNvPr id="7" name="Text 3"/>
          <p:cNvSpPr/>
          <p:nvPr/>
        </p:nvSpPr>
        <p:spPr>
          <a:xfrm>
            <a:off x="548640" y="1691640"/>
            <a:ext cx="5760720" cy="822960"/>
          </a:xfrm>
          <a:prstGeom prst="rect">
            <a:avLst/>
          </a:prstGeom>
          <a:noFill/>
          <a:ln/>
        </p:spPr>
        <p:txBody>
          <a:bodyPr wrap="square" lIns="0" tIns="0" rIns="0" bIns="0" rtlCol="0" anchor="ctr"/>
          <a:lstStyle/>
          <a:p>
            <a:pPr indent="0" marL="0">
              <a:buNone/>
            </a:pPr>
            <a:r>
              <a:rPr lang="en-US" sz="4800" b="1" dirty="0">
                <a:solidFill>
                  <a:srgbClr val="FFFFFF"/>
                </a:solidFill>
                <a:latin typeface="Segoe UI" pitchFamily="34" charset="0"/>
                <a:ea typeface="Segoe UI" pitchFamily="34" charset="-122"/>
                <a:cs typeface="Segoe UI" pitchFamily="34" charset="-120"/>
              </a:rPr>
              <a:t>Sean.</a:t>
            </a:r>
            <a:endParaRPr lang="en-US" sz="4800" dirty="0"/>
          </a:p>
        </p:txBody>
      </p:sp>
      <p:sp>
        <p:nvSpPr>
          <p:cNvPr id="8" name="Text 4"/>
          <p:cNvSpPr/>
          <p:nvPr/>
        </p:nvSpPr>
        <p:spPr>
          <a:xfrm>
            <a:off x="548640" y="2560320"/>
            <a:ext cx="5760720" cy="607060"/>
          </a:xfrm>
          <a:prstGeom prst="rect">
            <a:avLst/>
          </a:prstGeom>
          <a:noFill/>
          <a:ln/>
        </p:spPr>
        <p:txBody>
          <a:bodyPr wrap="square" lIns="0" tIns="0" rIns="0" bIns="0" rtlCol="0" anchor="t"/>
          <a:lstStyle/>
          <a:p>
            <a:pPr indent="0" marL="0">
              <a:buNone/>
            </a:pPr>
            <a:r>
              <a:rPr lang="en-US" sz="3400" b="1" dirty="0">
                <a:solidFill>
                  <a:srgbClr val="FFD66B"/>
                </a:solidFill>
                <a:latin typeface="Segoe UI" pitchFamily="34" charset="0"/>
                <a:ea typeface="Segoe UI" pitchFamily="34" charset="-122"/>
                <a:cs typeface="Segoe UI" pitchFamily="34" charset="-120"/>
              </a:rPr>
              <a:t>Reaching him.</a:t>
            </a:r>
            <a:endParaRPr lang="en-US" sz="3400" dirty="0"/>
          </a:p>
        </p:txBody>
      </p:sp>
      <p:sp>
        <p:nvSpPr>
          <p:cNvPr id="9" name="Text 5"/>
          <p:cNvSpPr/>
          <p:nvPr/>
        </p:nvSpPr>
        <p:spPr>
          <a:xfrm>
            <a:off x="548640" y="3350260"/>
            <a:ext cx="5669280" cy="1152779"/>
          </a:xfrm>
          <a:prstGeom prst="rect">
            <a:avLst/>
          </a:prstGeom>
          <a:noFill/>
          <a:ln/>
        </p:spPr>
        <p:txBody>
          <a:bodyPr wrap="square" lIns="0" tIns="0" rIns="0" bIns="0" rtlCol="0" anchor="t">
            <a:normAutofit/>
          </a:bodyPr>
          <a:lstStyle/>
          <a:p>
            <a:pPr indent="0" marL="0">
              <a:buNone/>
            </a:pPr>
            <a:r>
              <a:rPr lang="en-US" sz="950" dirty="0">
                <a:solidFill>
                  <a:srgbClr val="CFE0F5"/>
                </a:solidFill>
                <a:latin typeface="Segoe UI" pitchFamily="34" charset="0"/>
                <a:ea typeface="Segoe UI" pitchFamily="34" charset="-122"/>
                <a:cs typeface="Segoe UI" pitchFamily="34" charset="-120"/>
              </a:rPr>
              <a:t>Sean has been on every NHS list since he was a child. Being on the lists has never been the hard part. The path from being identified, to getting the test done on time, to the result reaching the family who can act on it. That is where it falls down. The clinic venue assumes a prepared adult arriving on time. Sean is not that adult, for reasons that are neither his fault nor solvable by a flag on his record. </a:t>
            </a:r>
            <a:pPr indent="0" marL="0">
              <a:buNone/>
            </a:pPr>
            <a:r>
              <a:rPr lang="en-US" sz="950" b="1" dirty="0">
                <a:solidFill>
                  <a:srgbClr val="CFE0F5"/>
                </a:solidFill>
                <a:latin typeface="Segoe UI" pitchFamily="34" charset="0"/>
                <a:ea typeface="Segoe UI" pitchFamily="34" charset="-122"/>
                <a:cs typeface="Segoe UI" pitchFamily="34" charset="-120"/>
              </a:rPr>
              <a:t>This is the story of what changes when the test comes to him.</a:t>
            </a:r>
            <a:endParaRPr lang="en-US" sz="950" dirty="0"/>
          </a:p>
        </p:txBody>
      </p:sp>
      <p:pic>
        <p:nvPicPr>
          <p:cNvPr id="10" name="Image 2" descr="/sessions/quirky-zen-galileo/mnt/outputs/jd/img/sean-portrait.jpg">    </p:cNvPr>
          <p:cNvPicPr>
            <a:picLocks noChangeAspect="1"/>
          </p:cNvPicPr>
          <p:nvPr/>
        </p:nvPicPr>
        <p:blipFill>
          <a:blip r:embed="rId3"/>
          <a:stretch>
            <a:fillRect/>
          </a:stretch>
        </p:blipFill>
        <p:spPr>
          <a:xfrm>
            <a:off x="548640" y="5074920"/>
            <a:ext cx="914400" cy="914400"/>
          </a:xfrm>
          <a:prstGeom prst="ellipse">
            <a:avLst/>
          </a:prstGeom>
        </p:spPr>
      </p:pic>
      <p:sp>
        <p:nvSpPr>
          <p:cNvPr id="11" name="Text 6"/>
          <p:cNvSpPr/>
          <p:nvPr/>
        </p:nvSpPr>
        <p:spPr>
          <a:xfrm>
            <a:off x="1645920" y="5148072"/>
            <a:ext cx="4114800" cy="365760"/>
          </a:xfrm>
          <a:prstGeom prst="rect">
            <a:avLst/>
          </a:prstGeom>
          <a:noFill/>
          <a:ln/>
        </p:spPr>
        <p:txBody>
          <a:bodyPr wrap="square" lIns="0" tIns="0" rIns="0" bIns="0"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Sean</a:t>
            </a:r>
            <a:endParaRPr lang="en-US" sz="1600" dirty="0"/>
          </a:p>
        </p:txBody>
      </p:sp>
      <p:sp>
        <p:nvSpPr>
          <p:cNvPr id="12" name="Text 7"/>
          <p:cNvSpPr/>
          <p:nvPr/>
        </p:nvSpPr>
        <p:spPr>
          <a:xfrm>
            <a:off x="1645920" y="5513832"/>
            <a:ext cx="4480560" cy="411480"/>
          </a:xfrm>
          <a:prstGeom prst="rect">
            <a:avLst/>
          </a:prstGeom>
          <a:noFill/>
          <a:ln/>
        </p:spPr>
        <p:txBody>
          <a:bodyPr wrap="square" lIns="0" tIns="0" rIns="0" bIns="0" rtlCol="0" anchor="ctr">
            <a:normAutofit/>
          </a:bodyPr>
          <a:lstStyle/>
          <a:p>
            <a:pPr indent="0" marL="0">
              <a:buNone/>
            </a:pPr>
            <a:r>
              <a:rPr lang="en-US" sz="1100" dirty="0">
                <a:solidFill>
                  <a:srgbClr val="CFE0F5"/>
                </a:solidFill>
                <a:latin typeface="Segoe UI" pitchFamily="34" charset="0"/>
                <a:ea typeface="Segoe UI" pitchFamily="34" charset="-122"/>
                <a:cs typeface="Segoe UI" pitchFamily="34" charset="-120"/>
              </a:rPr>
              <a:t>Horizontal cohort patient · The access story</a:t>
            </a:r>
            <a:endParaRPr lang="en-US" sz="1100" dirty="0"/>
          </a:p>
        </p:txBody>
      </p:sp>
      <p:sp>
        <p:nvSpPr>
          <p:cNvPr id="13" name="Text 8"/>
          <p:cNvSpPr/>
          <p:nvPr/>
        </p:nvSpPr>
        <p:spPr>
          <a:xfrm>
            <a:off x="548640" y="6473952"/>
            <a:ext cx="2858872" cy="274320"/>
          </a:xfrm>
          <a:prstGeom prst="rect">
            <a:avLst/>
          </a:prstGeom>
          <a:noFill/>
          <a:ln/>
        </p:spPr>
        <p:txBody>
          <a:bodyPr wrap="square" lIns="0" tIns="0" rIns="0" bIns="0" rtlCol="0" anchor="ctr">
            <a:normAutofit/>
          </a:bodyPr>
          <a:lstStyle/>
          <a:p>
            <a:pPr indent="0" marL="0">
              <a:buNone/>
            </a:pPr>
            <a:r>
              <a:rPr lang="en-US" sz="800" dirty="0">
                <a:solidFill>
                  <a:srgbClr val="9FB6D9"/>
                </a:solidFill>
                <a:latin typeface="Segoe UI" pitchFamily="34" charset="0"/>
                <a:ea typeface="Segoe UI" pitchFamily="34" charset="-122"/>
                <a:cs typeface="Segoe UI" pitchFamily="34" charset="-120"/>
              </a:rPr>
              <a:t>Hearts and Minds · Sean's journey · HomeTest operating model · September 2026</a:t>
            </a:r>
            <a:endParaRPr lang="en-US" sz="800" dirty="0"/>
          </a:p>
        </p:txBody>
      </p:sp>
      <p:sp>
        <p:nvSpPr>
          <p:cNvPr id="14" name="Text 9"/>
          <p:cNvSpPr/>
          <p:nvPr/>
        </p:nvSpPr>
        <p:spPr>
          <a:xfrm>
            <a:off x="3407512" y="6473952"/>
            <a:ext cx="2401672" cy="274320"/>
          </a:xfrm>
          <a:prstGeom prst="rect">
            <a:avLst/>
          </a:prstGeom>
          <a:noFill/>
          <a:ln/>
        </p:spPr>
        <p:txBody>
          <a:bodyPr wrap="square" lIns="0" tIns="0" rIns="0" bIns="0" rtlCol="0" anchor="ctr">
            <a:normAutofit/>
          </a:bodyPr>
          <a:lstStyle/>
          <a:p>
            <a:pPr algn="r" indent="0" marL="0">
              <a:buNone/>
            </a:pPr>
            <a:r>
              <a:rPr lang="en-US" sz="700" dirty="0">
                <a:solidFill>
                  <a:srgbClr val="9FB6D9"/>
                </a:solidFill>
                <a:latin typeface="Segoe UI" pitchFamily="34" charset="0"/>
                <a:ea typeface="Segoe UI" pitchFamily="34" charset="-122"/>
                <a:cs typeface="Segoe UI" pitchFamily="34" charset="-120"/>
              </a:rPr>
              <a:t>Commercial positions are agreed in principle and remain subject to the live procurement.</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000" b="1" spc="260" kern="0" dirty="0">
                <a:solidFill>
                  <a:srgbClr val="005EB8"/>
                </a:solidFill>
                <a:latin typeface="Segoe UI" pitchFamily="34" charset="0"/>
                <a:ea typeface="Segoe UI" pitchFamily="34" charset="-122"/>
                <a:cs typeface="Segoe UI" pitchFamily="34" charset="-120"/>
              </a:rPr>
              <a:t>SEAN'S JOURNEY AT A GLANCE</a:t>
            </a:r>
            <a:endParaRPr lang="en-US" sz="1000" dirty="0"/>
          </a:p>
        </p:txBody>
      </p:sp>
      <p:sp>
        <p:nvSpPr>
          <p:cNvPr id="3" name="Text 1"/>
          <p:cNvSpPr/>
          <p:nvPr/>
        </p:nvSpPr>
        <p:spPr>
          <a:xfrm>
            <a:off x="548640" y="731520"/>
            <a:ext cx="11064240" cy="904240"/>
          </a:xfrm>
          <a:prstGeom prst="rect">
            <a:avLst/>
          </a:prstGeom>
          <a:noFill/>
          <a:ln/>
        </p:spPr>
        <p:txBody>
          <a:bodyPr wrap="square" lIns="0" tIns="0" rIns="0" bIns="0" rtlCol="0" anchor="t">
            <a:normAutofit/>
          </a:bodyPr>
          <a:lstStyle/>
          <a:p>
            <a:pPr indent="0" marL="0">
              <a:buNone/>
            </a:pPr>
            <a:r>
              <a:rPr lang="en-US" sz="2600" b="1" dirty="0">
                <a:solidFill>
                  <a:srgbClr val="003087"/>
                </a:solidFill>
                <a:latin typeface="Segoe UI" pitchFamily="34" charset="0"/>
                <a:ea typeface="Segoe UI" pitchFamily="34" charset="-122"/>
                <a:cs typeface="Segoe UI" pitchFamily="34" charset="-120"/>
              </a:rPr>
              <a:t>Identification has never been the problem. The chain after it is.</a:t>
            </a:r>
            <a:endParaRPr lang="en-US" sz="2600" dirty="0"/>
          </a:p>
        </p:txBody>
      </p:sp>
      <p:sp>
        <p:nvSpPr>
          <p:cNvPr id="4" name="Shape 2"/>
          <p:cNvSpPr/>
          <p:nvPr/>
        </p:nvSpPr>
        <p:spPr>
          <a:xfrm>
            <a:off x="1335024" y="1955800"/>
            <a:ext cx="640080" cy="640080"/>
          </a:xfrm>
          <a:prstGeom prst="ellipse">
            <a:avLst/>
          </a:prstGeom>
          <a:solidFill>
            <a:srgbClr val="003087"/>
          </a:solidFill>
          <a:ln w="12700">
            <a:solidFill>
              <a:srgbClr val="003087"/>
            </a:solidFill>
            <a:prstDash val="solid"/>
          </a:ln>
        </p:spPr>
      </p:sp>
      <p:sp>
        <p:nvSpPr>
          <p:cNvPr id="5" name="Text 3"/>
          <p:cNvSpPr/>
          <p:nvPr/>
        </p:nvSpPr>
        <p:spPr>
          <a:xfrm>
            <a:off x="1335024" y="195580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1</a:t>
            </a:r>
            <a:endParaRPr lang="en-US" sz="2000" dirty="0"/>
          </a:p>
        </p:txBody>
      </p:sp>
      <p:sp>
        <p:nvSpPr>
          <p:cNvPr id="6" name="Text 4"/>
          <p:cNvSpPr/>
          <p:nvPr/>
        </p:nvSpPr>
        <p:spPr>
          <a:xfrm>
            <a:off x="2441448" y="2047240"/>
            <a:ext cx="640080" cy="548640"/>
          </a:xfrm>
          <a:prstGeom prst="rect">
            <a:avLst/>
          </a:prstGeom>
          <a:noFill/>
          <a:ln/>
        </p:spPr>
        <p:txBody>
          <a:bodyPr wrap="square" lIns="0" tIns="0" rIns="0" bIns="0" rtlCol="0" anchor="ctr"/>
          <a:lstStyle/>
          <a:p>
            <a:pPr algn="ctr" indent="0" marL="0">
              <a:buNone/>
            </a:pPr>
            <a:r>
              <a:rPr lang="en-US" sz="2200" b="1" dirty="0">
                <a:solidFill>
                  <a:srgbClr val="FFB91D"/>
                </a:solidFill>
                <a:latin typeface="Segoe UI" pitchFamily="34" charset="0"/>
                <a:ea typeface="Segoe UI" pitchFamily="34" charset="-122"/>
                <a:cs typeface="Segoe UI" pitchFamily="34" charset="-120"/>
              </a:rPr>
              <a:t>→</a:t>
            </a:r>
            <a:endParaRPr lang="en-US" sz="2200" dirty="0"/>
          </a:p>
        </p:txBody>
      </p:sp>
      <p:sp>
        <p:nvSpPr>
          <p:cNvPr id="7" name="Text 5"/>
          <p:cNvSpPr/>
          <p:nvPr/>
        </p:nvSpPr>
        <p:spPr>
          <a:xfrm>
            <a:off x="548640" y="2705608"/>
            <a:ext cx="2212848" cy="711708"/>
          </a:xfrm>
          <a:prstGeom prst="rect">
            <a:avLst/>
          </a:prstGeom>
          <a:noFill/>
          <a:ln/>
        </p:spPr>
        <p:txBody>
          <a:bodyPr wrap="square" lIns="0" tIns="0" rIns="0" bIns="0" rtlCol="0" anchor="t">
            <a:normAutofit/>
          </a:bodyPr>
          <a:lstStyle/>
          <a:p>
            <a:pPr algn="ctr" indent="0" marL="0">
              <a:buNone/>
            </a:pPr>
            <a:r>
              <a:rPr lang="en-US" sz="1050" b="1" dirty="0">
                <a:solidFill>
                  <a:srgbClr val="003087"/>
                </a:solidFill>
                <a:latin typeface="Segoe UI" pitchFamily="34" charset="0"/>
                <a:ea typeface="Segoe UI" pitchFamily="34" charset="-122"/>
                <a:cs typeface="Segoe UI" pitchFamily="34" charset="-120"/>
              </a:rPr>
              <a:t>Stratification: the cohort the system identifies but doesn't reach</a:t>
            </a:r>
            <a:endParaRPr lang="en-US" sz="1050" dirty="0"/>
          </a:p>
        </p:txBody>
      </p:sp>
      <p:sp>
        <p:nvSpPr>
          <p:cNvPr id="8" name="Text 6"/>
          <p:cNvSpPr/>
          <p:nvPr/>
        </p:nvSpPr>
        <p:spPr>
          <a:xfrm>
            <a:off x="640080" y="3444748"/>
            <a:ext cx="2029968" cy="385064"/>
          </a:xfrm>
          <a:prstGeom prst="rect">
            <a:avLst/>
          </a:prstGeom>
          <a:noFill/>
          <a:ln/>
        </p:spPr>
        <p:txBody>
          <a:bodyPr wrap="square" lIns="0" tIns="0" rIns="0" bIns="0" rtlCol="0" anchor="t">
            <a:normAutofit/>
          </a:bodyPr>
          <a:lstStyle/>
          <a:p>
            <a:pPr algn="ctr" indent="0" marL="0">
              <a:buNone/>
            </a:pPr>
            <a:r>
              <a:rPr lang="en-US" sz="1000" dirty="0">
                <a:solidFill>
                  <a:srgbClr val="4C6272"/>
                </a:solidFill>
                <a:latin typeface="Segoe UI" pitchFamily="34" charset="0"/>
                <a:ea typeface="Segoe UI" pitchFamily="34" charset="-122"/>
                <a:cs typeface="Segoe UI" pitchFamily="34" charset="-120"/>
              </a:rPr>
              <a:t>on every list, never quite reached</a:t>
            </a:r>
            <a:endParaRPr lang="en-US" sz="1000" dirty="0"/>
          </a:p>
        </p:txBody>
      </p:sp>
      <p:sp>
        <p:nvSpPr>
          <p:cNvPr id="9" name="Shape 7"/>
          <p:cNvSpPr/>
          <p:nvPr/>
        </p:nvSpPr>
        <p:spPr>
          <a:xfrm>
            <a:off x="3547872" y="1955800"/>
            <a:ext cx="640080" cy="640080"/>
          </a:xfrm>
          <a:prstGeom prst="ellipse">
            <a:avLst/>
          </a:prstGeom>
          <a:solidFill>
            <a:srgbClr val="003087"/>
          </a:solidFill>
          <a:ln w="12700">
            <a:solidFill>
              <a:srgbClr val="003087"/>
            </a:solidFill>
            <a:prstDash val="solid"/>
          </a:ln>
        </p:spPr>
      </p:sp>
      <p:sp>
        <p:nvSpPr>
          <p:cNvPr id="10" name="Text 8"/>
          <p:cNvSpPr/>
          <p:nvPr/>
        </p:nvSpPr>
        <p:spPr>
          <a:xfrm>
            <a:off x="3547872" y="195580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2</a:t>
            </a:r>
            <a:endParaRPr lang="en-US" sz="2000" dirty="0"/>
          </a:p>
        </p:txBody>
      </p:sp>
      <p:sp>
        <p:nvSpPr>
          <p:cNvPr id="11" name="Text 9"/>
          <p:cNvSpPr/>
          <p:nvPr/>
        </p:nvSpPr>
        <p:spPr>
          <a:xfrm>
            <a:off x="4654296" y="2047240"/>
            <a:ext cx="640080" cy="548640"/>
          </a:xfrm>
          <a:prstGeom prst="rect">
            <a:avLst/>
          </a:prstGeom>
          <a:noFill/>
          <a:ln/>
        </p:spPr>
        <p:txBody>
          <a:bodyPr wrap="square" lIns="0" tIns="0" rIns="0" bIns="0" rtlCol="0" anchor="ctr"/>
          <a:lstStyle/>
          <a:p>
            <a:pPr algn="ctr" indent="0" marL="0">
              <a:buNone/>
            </a:pPr>
            <a:r>
              <a:rPr lang="en-US" sz="2200" b="1" dirty="0">
                <a:solidFill>
                  <a:srgbClr val="FFB91D"/>
                </a:solidFill>
                <a:latin typeface="Segoe UI" pitchFamily="34" charset="0"/>
                <a:ea typeface="Segoe UI" pitchFamily="34" charset="-122"/>
                <a:cs typeface="Segoe UI" pitchFamily="34" charset="-120"/>
              </a:rPr>
              <a:t>→</a:t>
            </a:r>
            <a:endParaRPr lang="en-US" sz="2200" dirty="0"/>
          </a:p>
        </p:txBody>
      </p:sp>
      <p:sp>
        <p:nvSpPr>
          <p:cNvPr id="12" name="Text 10"/>
          <p:cNvSpPr/>
          <p:nvPr/>
        </p:nvSpPr>
        <p:spPr>
          <a:xfrm>
            <a:off x="2761488" y="2705608"/>
            <a:ext cx="2212848" cy="711708"/>
          </a:xfrm>
          <a:prstGeom prst="rect">
            <a:avLst/>
          </a:prstGeom>
          <a:noFill/>
          <a:ln/>
        </p:spPr>
        <p:txBody>
          <a:bodyPr wrap="square" lIns="0" tIns="0" rIns="0" bIns="0" rtlCol="0" anchor="t">
            <a:normAutofit/>
          </a:bodyPr>
          <a:lstStyle/>
          <a:p>
            <a:pPr algn="ctr" indent="0" marL="0">
              <a:buNone/>
            </a:pPr>
            <a:r>
              <a:rPr lang="en-US" sz="1050" b="1" dirty="0">
                <a:solidFill>
                  <a:srgbClr val="003087"/>
                </a:solidFill>
                <a:latin typeface="Segoe UI" pitchFamily="34" charset="0"/>
                <a:ea typeface="Segoe UI" pitchFamily="34" charset="-122"/>
                <a:cs typeface="Segoe UI" pitchFamily="34" charset="-120"/>
              </a:rPr>
              <a:t>Identification: the offer that reaches the people who can act on it</a:t>
            </a:r>
            <a:endParaRPr lang="en-US" sz="1050" dirty="0"/>
          </a:p>
        </p:txBody>
      </p:sp>
      <p:sp>
        <p:nvSpPr>
          <p:cNvPr id="13" name="Text 11"/>
          <p:cNvSpPr/>
          <p:nvPr/>
        </p:nvSpPr>
        <p:spPr>
          <a:xfrm>
            <a:off x="2852928" y="3444748"/>
            <a:ext cx="2029968" cy="385064"/>
          </a:xfrm>
          <a:prstGeom prst="rect">
            <a:avLst/>
          </a:prstGeom>
          <a:noFill/>
          <a:ln/>
        </p:spPr>
        <p:txBody>
          <a:bodyPr wrap="square" lIns="0" tIns="0" rIns="0" bIns="0" rtlCol="0" anchor="t">
            <a:normAutofit/>
          </a:bodyPr>
          <a:lstStyle/>
          <a:p>
            <a:pPr algn="ctr" indent="0" marL="0">
              <a:buNone/>
            </a:pPr>
            <a:r>
              <a:rPr lang="en-US" sz="1000" dirty="0">
                <a:solidFill>
                  <a:srgbClr val="4C6272"/>
                </a:solidFill>
                <a:latin typeface="Segoe UI" pitchFamily="34" charset="0"/>
                <a:ea typeface="Segoe UI" pitchFamily="34" charset="-122"/>
                <a:cs typeface="Segoe UI" pitchFamily="34" charset="-120"/>
              </a:rPr>
              <a:t>the offer reaches the people who can act on it</a:t>
            </a:r>
            <a:endParaRPr lang="en-US" sz="1000" dirty="0"/>
          </a:p>
        </p:txBody>
      </p:sp>
      <p:sp>
        <p:nvSpPr>
          <p:cNvPr id="14" name="Shape 12"/>
          <p:cNvSpPr/>
          <p:nvPr/>
        </p:nvSpPr>
        <p:spPr>
          <a:xfrm>
            <a:off x="5760720" y="1955800"/>
            <a:ext cx="640080" cy="640080"/>
          </a:xfrm>
          <a:prstGeom prst="ellipse">
            <a:avLst/>
          </a:prstGeom>
          <a:solidFill>
            <a:srgbClr val="003087"/>
          </a:solidFill>
          <a:ln w="12700">
            <a:solidFill>
              <a:srgbClr val="003087"/>
            </a:solidFill>
            <a:prstDash val="solid"/>
          </a:ln>
        </p:spPr>
      </p:sp>
      <p:sp>
        <p:nvSpPr>
          <p:cNvPr id="15" name="Text 13"/>
          <p:cNvSpPr/>
          <p:nvPr/>
        </p:nvSpPr>
        <p:spPr>
          <a:xfrm>
            <a:off x="5760720" y="195580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3</a:t>
            </a:r>
            <a:endParaRPr lang="en-US" sz="2000" dirty="0"/>
          </a:p>
        </p:txBody>
      </p:sp>
      <p:sp>
        <p:nvSpPr>
          <p:cNvPr id="16" name="Text 14"/>
          <p:cNvSpPr/>
          <p:nvPr/>
        </p:nvSpPr>
        <p:spPr>
          <a:xfrm>
            <a:off x="6867144" y="2047240"/>
            <a:ext cx="640080" cy="548640"/>
          </a:xfrm>
          <a:prstGeom prst="rect">
            <a:avLst/>
          </a:prstGeom>
          <a:noFill/>
          <a:ln/>
        </p:spPr>
        <p:txBody>
          <a:bodyPr wrap="square" lIns="0" tIns="0" rIns="0" bIns="0" rtlCol="0" anchor="ctr"/>
          <a:lstStyle/>
          <a:p>
            <a:pPr algn="ctr" indent="0" marL="0">
              <a:buNone/>
            </a:pPr>
            <a:r>
              <a:rPr lang="en-US" sz="2200" b="1" dirty="0">
                <a:solidFill>
                  <a:srgbClr val="FFB91D"/>
                </a:solidFill>
                <a:latin typeface="Segoe UI" pitchFamily="34" charset="0"/>
                <a:ea typeface="Segoe UI" pitchFamily="34" charset="-122"/>
                <a:cs typeface="Segoe UI" pitchFamily="34" charset="-120"/>
              </a:rPr>
              <a:t>→</a:t>
            </a:r>
            <a:endParaRPr lang="en-US" sz="2200" dirty="0"/>
          </a:p>
        </p:txBody>
      </p:sp>
      <p:sp>
        <p:nvSpPr>
          <p:cNvPr id="17" name="Text 15"/>
          <p:cNvSpPr/>
          <p:nvPr/>
        </p:nvSpPr>
        <p:spPr>
          <a:xfrm>
            <a:off x="4974336" y="2705608"/>
            <a:ext cx="2212848" cy="398018"/>
          </a:xfrm>
          <a:prstGeom prst="rect">
            <a:avLst/>
          </a:prstGeom>
          <a:noFill/>
          <a:ln/>
        </p:spPr>
        <p:txBody>
          <a:bodyPr wrap="square" lIns="0" tIns="0" rIns="0" bIns="0" rtlCol="0" anchor="t">
            <a:normAutofit/>
          </a:bodyPr>
          <a:lstStyle/>
          <a:p>
            <a:pPr algn="ctr" indent="0" marL="0">
              <a:buNone/>
            </a:pPr>
            <a:r>
              <a:rPr lang="en-US" sz="1150" b="1" dirty="0">
                <a:solidFill>
                  <a:srgbClr val="003087"/>
                </a:solidFill>
                <a:latin typeface="Segoe UI" pitchFamily="34" charset="0"/>
                <a:ea typeface="Segoe UI" pitchFamily="34" charset="-122"/>
                <a:cs typeface="Segoe UI" pitchFamily="34" charset="-120"/>
              </a:rPr>
              <a:t>Diagnosis: a test on his terms</a:t>
            </a:r>
            <a:endParaRPr lang="en-US" sz="1150" dirty="0"/>
          </a:p>
        </p:txBody>
      </p:sp>
      <p:sp>
        <p:nvSpPr>
          <p:cNvPr id="18" name="Text 16"/>
          <p:cNvSpPr/>
          <p:nvPr/>
        </p:nvSpPr>
        <p:spPr>
          <a:xfrm>
            <a:off x="5065776" y="3131058"/>
            <a:ext cx="2029968" cy="219964"/>
          </a:xfrm>
          <a:prstGeom prst="rect">
            <a:avLst/>
          </a:prstGeom>
          <a:noFill/>
          <a:ln/>
        </p:spPr>
        <p:txBody>
          <a:bodyPr wrap="square" lIns="0" tIns="0" rIns="0" bIns="0" rtlCol="0" anchor="t">
            <a:normAutofit/>
          </a:bodyPr>
          <a:lstStyle/>
          <a:p>
            <a:pPr algn="ctr" indent="0" marL="0">
              <a:buNone/>
            </a:pPr>
            <a:r>
              <a:rPr lang="en-US" sz="1000" dirty="0">
                <a:solidFill>
                  <a:srgbClr val="4C6272"/>
                </a:solidFill>
                <a:latin typeface="Segoe UI" pitchFamily="34" charset="0"/>
                <a:ea typeface="Segoe UI" pitchFamily="34" charset="-122"/>
                <a:cs typeface="Segoe UI" pitchFamily="34" charset="-120"/>
              </a:rPr>
              <a:t>in his own kitchen</a:t>
            </a:r>
            <a:endParaRPr lang="en-US" sz="1000" dirty="0"/>
          </a:p>
        </p:txBody>
      </p:sp>
      <p:sp>
        <p:nvSpPr>
          <p:cNvPr id="19" name="Shape 17"/>
          <p:cNvSpPr/>
          <p:nvPr/>
        </p:nvSpPr>
        <p:spPr>
          <a:xfrm>
            <a:off x="7973568" y="1955800"/>
            <a:ext cx="640080" cy="640080"/>
          </a:xfrm>
          <a:prstGeom prst="ellipse">
            <a:avLst/>
          </a:prstGeom>
          <a:solidFill>
            <a:srgbClr val="003087"/>
          </a:solidFill>
          <a:ln w="12700">
            <a:solidFill>
              <a:srgbClr val="003087"/>
            </a:solidFill>
            <a:prstDash val="solid"/>
          </a:ln>
        </p:spPr>
      </p:sp>
      <p:sp>
        <p:nvSpPr>
          <p:cNvPr id="20" name="Text 18"/>
          <p:cNvSpPr/>
          <p:nvPr/>
        </p:nvSpPr>
        <p:spPr>
          <a:xfrm>
            <a:off x="7973568" y="195580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4</a:t>
            </a:r>
            <a:endParaRPr lang="en-US" sz="2000" dirty="0"/>
          </a:p>
        </p:txBody>
      </p:sp>
      <p:sp>
        <p:nvSpPr>
          <p:cNvPr id="21" name="Text 19"/>
          <p:cNvSpPr/>
          <p:nvPr/>
        </p:nvSpPr>
        <p:spPr>
          <a:xfrm>
            <a:off x="9079992" y="2047240"/>
            <a:ext cx="640080" cy="548640"/>
          </a:xfrm>
          <a:prstGeom prst="rect">
            <a:avLst/>
          </a:prstGeom>
          <a:noFill/>
          <a:ln/>
        </p:spPr>
        <p:txBody>
          <a:bodyPr wrap="square" lIns="0" tIns="0" rIns="0" bIns="0" rtlCol="0" anchor="ctr"/>
          <a:lstStyle/>
          <a:p>
            <a:pPr algn="ctr" indent="0" marL="0">
              <a:buNone/>
            </a:pPr>
            <a:r>
              <a:rPr lang="en-US" sz="2200" b="1" dirty="0">
                <a:solidFill>
                  <a:srgbClr val="FFB91D"/>
                </a:solidFill>
                <a:latin typeface="Segoe UI" pitchFamily="34" charset="0"/>
                <a:ea typeface="Segoe UI" pitchFamily="34" charset="-122"/>
                <a:cs typeface="Segoe UI" pitchFamily="34" charset="-120"/>
              </a:rPr>
              <a:t>→</a:t>
            </a:r>
            <a:endParaRPr lang="en-US" sz="2200" dirty="0"/>
          </a:p>
        </p:txBody>
      </p:sp>
      <p:sp>
        <p:nvSpPr>
          <p:cNvPr id="22" name="Text 20"/>
          <p:cNvSpPr/>
          <p:nvPr/>
        </p:nvSpPr>
        <p:spPr>
          <a:xfrm>
            <a:off x="7187184" y="2705608"/>
            <a:ext cx="2212848" cy="711708"/>
          </a:xfrm>
          <a:prstGeom prst="rect">
            <a:avLst/>
          </a:prstGeom>
          <a:noFill/>
          <a:ln/>
        </p:spPr>
        <p:txBody>
          <a:bodyPr wrap="square" lIns="0" tIns="0" rIns="0" bIns="0" rtlCol="0" anchor="t">
            <a:normAutofit/>
          </a:bodyPr>
          <a:lstStyle/>
          <a:p>
            <a:pPr algn="ctr" indent="0" marL="0">
              <a:buNone/>
            </a:pPr>
            <a:r>
              <a:rPr lang="en-US" sz="1050" b="1" dirty="0">
                <a:solidFill>
                  <a:srgbClr val="003087"/>
                </a:solidFill>
                <a:latin typeface="Segoe UI" pitchFamily="34" charset="0"/>
                <a:ea typeface="Segoe UI" pitchFamily="34" charset="-122"/>
                <a:cs typeface="Segoe UI" pitchFamily="34" charset="-120"/>
              </a:rPr>
              <a:t>Treatment: the result lands with the people who can act on it</a:t>
            </a:r>
            <a:endParaRPr lang="en-US" sz="1050" dirty="0"/>
          </a:p>
        </p:txBody>
      </p:sp>
      <p:sp>
        <p:nvSpPr>
          <p:cNvPr id="23" name="Text 21"/>
          <p:cNvSpPr/>
          <p:nvPr/>
        </p:nvSpPr>
        <p:spPr>
          <a:xfrm>
            <a:off x="7278624" y="3444748"/>
            <a:ext cx="2029968" cy="385064"/>
          </a:xfrm>
          <a:prstGeom prst="rect">
            <a:avLst/>
          </a:prstGeom>
          <a:noFill/>
          <a:ln/>
        </p:spPr>
        <p:txBody>
          <a:bodyPr wrap="square" lIns="0" tIns="0" rIns="0" bIns="0" rtlCol="0" anchor="t">
            <a:normAutofit/>
          </a:bodyPr>
          <a:lstStyle/>
          <a:p>
            <a:pPr algn="ctr" indent="0" marL="0">
              <a:buNone/>
            </a:pPr>
            <a:r>
              <a:rPr lang="en-US" sz="1000" dirty="0">
                <a:solidFill>
                  <a:srgbClr val="4C6272"/>
                </a:solidFill>
                <a:latin typeface="Segoe UI" pitchFamily="34" charset="0"/>
                <a:ea typeface="Segoe UI" pitchFamily="34" charset="-122"/>
                <a:cs typeface="Segoe UI" pitchFamily="34" charset="-120"/>
              </a:rPr>
              <a:t>the result lands with people who can act</a:t>
            </a:r>
            <a:endParaRPr lang="en-US" sz="1000" dirty="0"/>
          </a:p>
        </p:txBody>
      </p:sp>
      <p:sp>
        <p:nvSpPr>
          <p:cNvPr id="24" name="Shape 22"/>
          <p:cNvSpPr/>
          <p:nvPr/>
        </p:nvSpPr>
        <p:spPr>
          <a:xfrm>
            <a:off x="10186416" y="1955800"/>
            <a:ext cx="640080" cy="640080"/>
          </a:xfrm>
          <a:prstGeom prst="ellipse">
            <a:avLst/>
          </a:prstGeom>
          <a:solidFill>
            <a:srgbClr val="003087"/>
          </a:solidFill>
          <a:ln w="12700">
            <a:solidFill>
              <a:srgbClr val="003087"/>
            </a:solidFill>
            <a:prstDash val="solid"/>
          </a:ln>
        </p:spPr>
      </p:sp>
      <p:sp>
        <p:nvSpPr>
          <p:cNvPr id="25" name="Text 23"/>
          <p:cNvSpPr/>
          <p:nvPr/>
        </p:nvSpPr>
        <p:spPr>
          <a:xfrm>
            <a:off x="10186416" y="195580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5</a:t>
            </a:r>
            <a:endParaRPr lang="en-US" sz="2000" dirty="0"/>
          </a:p>
        </p:txBody>
      </p:sp>
      <p:sp>
        <p:nvSpPr>
          <p:cNvPr id="26" name="Text 24"/>
          <p:cNvSpPr/>
          <p:nvPr/>
        </p:nvSpPr>
        <p:spPr>
          <a:xfrm>
            <a:off x="9400032" y="2705608"/>
            <a:ext cx="2212848" cy="538353"/>
          </a:xfrm>
          <a:prstGeom prst="rect">
            <a:avLst/>
          </a:prstGeom>
          <a:noFill/>
          <a:ln/>
        </p:spPr>
        <p:txBody>
          <a:bodyPr wrap="square" lIns="0" tIns="0" rIns="0" bIns="0" rtlCol="0" anchor="t">
            <a:normAutofit/>
          </a:bodyPr>
          <a:lstStyle/>
          <a:p>
            <a:pPr algn="ctr" indent="0" marL="0">
              <a:buNone/>
            </a:pPr>
            <a:r>
              <a:rPr lang="en-US" sz="1050" b="1" dirty="0">
                <a:solidFill>
                  <a:srgbClr val="003087"/>
                </a:solidFill>
                <a:latin typeface="Segoe UI" pitchFamily="34" charset="0"/>
                <a:ea typeface="Segoe UI" pitchFamily="34" charset="-122"/>
                <a:cs typeface="Segoe UI" pitchFamily="34" charset="-120"/>
              </a:rPr>
              <a:t>Long-term optimisation: the cohort the system actually holds</a:t>
            </a:r>
            <a:endParaRPr lang="en-US" sz="1050" dirty="0"/>
          </a:p>
        </p:txBody>
      </p:sp>
      <p:sp>
        <p:nvSpPr>
          <p:cNvPr id="27" name="Text 25"/>
          <p:cNvSpPr/>
          <p:nvPr/>
        </p:nvSpPr>
        <p:spPr>
          <a:xfrm>
            <a:off x="9491472" y="3271393"/>
            <a:ext cx="2029968" cy="385064"/>
          </a:xfrm>
          <a:prstGeom prst="rect">
            <a:avLst/>
          </a:prstGeom>
          <a:noFill/>
          <a:ln/>
        </p:spPr>
        <p:txBody>
          <a:bodyPr wrap="square" lIns="0" tIns="0" rIns="0" bIns="0" rtlCol="0" anchor="t">
            <a:normAutofit/>
          </a:bodyPr>
          <a:lstStyle/>
          <a:p>
            <a:pPr algn="ctr" indent="0" marL="0">
              <a:buNone/>
            </a:pPr>
            <a:r>
              <a:rPr lang="en-US" sz="1000" dirty="0">
                <a:solidFill>
                  <a:srgbClr val="4C6272"/>
                </a:solidFill>
                <a:latin typeface="Segoe UI" pitchFamily="34" charset="0"/>
                <a:ea typeface="Segoe UI" pitchFamily="34" charset="-122"/>
                <a:cs typeface="Segoe UI" pitchFamily="34" charset="-120"/>
              </a:rPr>
              <a:t>the chain that doesn't break</a:t>
            </a:r>
            <a:endParaRPr lang="en-US" sz="1000" dirty="0"/>
          </a:p>
        </p:txBody>
      </p:sp>
      <p:pic>
        <p:nvPicPr>
          <p:cNvPr id="28" name="Image 0" descr="/sessions/quirky-zen-galileo/mnt/outputs/jd/img/sean-portrait.jpg">    </p:cNvPr>
          <p:cNvPicPr>
            <a:picLocks noChangeAspect="1"/>
          </p:cNvPicPr>
          <p:nvPr/>
        </p:nvPicPr>
        <p:blipFill>
          <a:blip r:embed="rId1"/>
          <a:stretch>
            <a:fillRect/>
          </a:stretch>
        </p:blipFill>
        <p:spPr>
          <a:xfrm>
            <a:off x="548640" y="4058920"/>
            <a:ext cx="1371600" cy="1371600"/>
          </a:xfrm>
          <a:prstGeom prst="ellipse">
            <a:avLst/>
          </a:prstGeom>
        </p:spPr>
      </p:pic>
      <p:sp>
        <p:nvSpPr>
          <p:cNvPr id="29" name="Text 26"/>
          <p:cNvSpPr/>
          <p:nvPr/>
        </p:nvSpPr>
        <p:spPr>
          <a:xfrm>
            <a:off x="274320" y="5476240"/>
            <a:ext cx="1920240" cy="320040"/>
          </a:xfrm>
          <a:prstGeom prst="rect">
            <a:avLst/>
          </a:prstGeom>
          <a:noFill/>
          <a:ln/>
        </p:spPr>
        <p:txBody>
          <a:bodyPr wrap="square" lIns="0" tIns="0" rIns="0" bIns="0" rtlCol="0" anchor="ctr"/>
          <a:lstStyle/>
          <a:p>
            <a:pPr algn="ctr" indent="0" marL="0">
              <a:buNone/>
            </a:pPr>
            <a:r>
              <a:rPr lang="en-US" sz="1400" b="1" dirty="0">
                <a:solidFill>
                  <a:srgbClr val="003087"/>
                </a:solidFill>
                <a:latin typeface="Segoe UI" pitchFamily="34" charset="0"/>
                <a:ea typeface="Segoe UI" pitchFamily="34" charset="-122"/>
                <a:cs typeface="Segoe UI" pitchFamily="34" charset="-120"/>
              </a:rPr>
              <a:t>Sean</a:t>
            </a:r>
            <a:endParaRPr lang="en-US" sz="1400" dirty="0"/>
          </a:p>
        </p:txBody>
      </p:sp>
      <p:sp>
        <p:nvSpPr>
          <p:cNvPr id="30" name="Text 27"/>
          <p:cNvSpPr/>
          <p:nvPr/>
        </p:nvSpPr>
        <p:spPr>
          <a:xfrm>
            <a:off x="228600" y="5796280"/>
            <a:ext cx="2011680" cy="403352"/>
          </a:xfrm>
          <a:prstGeom prst="rect">
            <a:avLst/>
          </a:prstGeom>
          <a:noFill/>
          <a:ln/>
        </p:spPr>
        <p:txBody>
          <a:bodyPr wrap="square" lIns="0" tIns="0" rIns="0" bIns="0" rtlCol="0" anchor="t">
            <a:normAutofit/>
          </a:bodyPr>
          <a:lstStyle/>
          <a:p>
            <a:pPr algn="ctr" indent="0" marL="0">
              <a:buNone/>
            </a:pPr>
            <a:r>
              <a:rPr lang="en-US" sz="1000" dirty="0">
                <a:solidFill>
                  <a:srgbClr val="4C6272"/>
                </a:solidFill>
                <a:latin typeface="Segoe UI" pitchFamily="34" charset="0"/>
                <a:ea typeface="Segoe UI" pitchFamily="34" charset="-122"/>
                <a:cs typeface="Segoe UI" pitchFamily="34" charset="-120"/>
              </a:rPr>
              <a:t>Horizontal cohort patient · The access story</a:t>
            </a:r>
            <a:endParaRPr lang="en-US" sz="1000" dirty="0"/>
          </a:p>
        </p:txBody>
      </p:sp>
      <p:sp>
        <p:nvSpPr>
          <p:cNvPr id="31" name="Shape 28"/>
          <p:cNvSpPr/>
          <p:nvPr/>
        </p:nvSpPr>
        <p:spPr>
          <a:xfrm>
            <a:off x="2514600" y="3967480"/>
            <a:ext cx="4427068" cy="2277872"/>
          </a:xfrm>
          <a:prstGeom prst="rect">
            <a:avLst/>
          </a:prstGeom>
          <a:solidFill>
            <a:srgbClr val="FFF9EC"/>
          </a:solidFill>
          <a:ln w="15875">
            <a:solidFill>
              <a:srgbClr val="FFB91D"/>
            </a:solidFill>
            <a:prstDash val="solid"/>
          </a:ln>
          <a:effectLst>
            <a:outerShdw sx="100000" sy="100000" kx="0" ky="0" algn="bl" rotWithShape="0" blurRad="101600" dist="38100" dir="8100000">
              <a:srgbClr val="0A1F3C">
                <a:alpha val="16000"/>
              </a:srgbClr>
            </a:outerShdw>
          </a:effectLst>
        </p:spPr>
      </p:sp>
      <p:sp>
        <p:nvSpPr>
          <p:cNvPr id="32" name="Text 29"/>
          <p:cNvSpPr/>
          <p:nvPr/>
        </p:nvSpPr>
        <p:spPr>
          <a:xfrm>
            <a:off x="2788920" y="4150360"/>
            <a:ext cx="3878428" cy="274320"/>
          </a:xfrm>
          <a:prstGeom prst="rect">
            <a:avLst/>
          </a:prstGeom>
          <a:noFill/>
          <a:ln/>
        </p:spPr>
        <p:txBody>
          <a:bodyPr wrap="square" lIns="0" tIns="0" rIns="0" bIns="0" rtlCol="0" anchor="ctr"/>
          <a:lstStyle/>
          <a:p>
            <a:pPr indent="0" marL="0">
              <a:buNone/>
            </a:pPr>
            <a:r>
              <a:rPr lang="en-US" sz="1000" b="1" spc="260" kern="0" dirty="0">
                <a:solidFill>
                  <a:srgbClr val="8A6D1F"/>
                </a:solidFill>
                <a:latin typeface="Segoe UI" pitchFamily="34" charset="0"/>
                <a:ea typeface="Segoe UI" pitchFamily="34" charset="-122"/>
                <a:cs typeface="Segoe UI" pitchFamily="34" charset="-120"/>
              </a:rPr>
              <a:t>THE ACCESS NORTH STAR</a:t>
            </a:r>
            <a:endParaRPr lang="en-US" sz="1000" dirty="0"/>
          </a:p>
        </p:txBody>
      </p:sp>
      <p:sp>
        <p:nvSpPr>
          <p:cNvPr id="33" name="Text 30"/>
          <p:cNvSpPr/>
          <p:nvPr/>
        </p:nvSpPr>
        <p:spPr>
          <a:xfrm>
            <a:off x="2788920" y="4470400"/>
            <a:ext cx="3878428" cy="441960"/>
          </a:xfrm>
          <a:prstGeom prst="rect">
            <a:avLst/>
          </a:prstGeom>
          <a:noFill/>
          <a:ln/>
        </p:spPr>
        <p:txBody>
          <a:bodyPr wrap="square" lIns="0" tIns="0" rIns="0" bIns="0" rtlCol="0" anchor="t"/>
          <a:lstStyle/>
          <a:p>
            <a:pPr indent="0" marL="0">
              <a:buNone/>
            </a:pPr>
            <a:r>
              <a:rPr lang="en-US" sz="1200" b="1" dirty="0">
                <a:solidFill>
                  <a:srgbClr val="003087"/>
                </a:solidFill>
                <a:latin typeface="Segoe UI" pitchFamily="34" charset="0"/>
                <a:ea typeface="Segoe UI" pitchFamily="34" charset="-122"/>
                <a:cs typeface="Segoe UI" pitchFamily="34" charset="-120"/>
              </a:rPr>
              <a:t>Identification has never been the problem. The chain after it is.</a:t>
            </a:r>
            <a:endParaRPr lang="en-US" sz="1200" dirty="0"/>
          </a:p>
        </p:txBody>
      </p:sp>
      <p:sp>
        <p:nvSpPr>
          <p:cNvPr id="34" name="Text 31"/>
          <p:cNvSpPr/>
          <p:nvPr/>
        </p:nvSpPr>
        <p:spPr>
          <a:xfrm>
            <a:off x="2788920" y="5003800"/>
            <a:ext cx="3878428" cy="979424"/>
          </a:xfrm>
          <a:prstGeom prst="rect">
            <a:avLst/>
          </a:prstGeom>
          <a:noFill/>
          <a:ln/>
        </p:spPr>
        <p:txBody>
          <a:bodyPr wrap="square" lIns="0" tIns="0" rIns="0" bIns="0" rtlCol="0" anchor="t">
            <a:normAutofit/>
          </a:bodyPr>
          <a:lstStyle/>
          <a:p>
            <a:pPr indent="0" marL="0">
              <a:buNone/>
            </a:pPr>
            <a:r>
              <a:rPr lang="en-US" sz="800" dirty="0">
                <a:solidFill>
                  <a:srgbClr val="212B32"/>
                </a:solidFill>
                <a:latin typeface="Segoe UI" pitchFamily="34" charset="0"/>
                <a:ea typeface="Segoe UI" pitchFamily="34" charset="-122"/>
                <a:cs typeface="Segoe UI" pitchFamily="34" charset="-120"/>
              </a:rPr>
              <a:t>Sean's cohort lives 19.5 years shorter than the rest of the population. Thirty-nine per cent of those deaths are judged avoidable. The flags, the registers and the legal duty to provide accessible information have all been in place for years. </a:t>
            </a:r>
            <a:pPr indent="0" marL="0">
              <a:buNone/>
            </a:pPr>
            <a:r>
              <a:rPr lang="en-US" sz="800" b="1" dirty="0">
                <a:solidFill>
                  <a:srgbClr val="212B32"/>
                </a:solidFill>
                <a:latin typeface="Segoe UI" pitchFamily="34" charset="0"/>
                <a:ea typeface="Segoe UI" pitchFamily="34" charset="-122"/>
                <a:cs typeface="Segoe UI" pitchFamily="34" charset="-120"/>
              </a:rPr>
              <a:t>The home pathway is the first venue where the system finally reaches the person it has been carrying on a list.</a:t>
            </a:r>
            <a:endParaRPr lang="en-US" sz="800" dirty="0"/>
          </a:p>
        </p:txBody>
      </p:sp>
      <p:sp>
        <p:nvSpPr>
          <p:cNvPr id="35" name="Shape 32"/>
          <p:cNvSpPr/>
          <p:nvPr/>
        </p:nvSpPr>
        <p:spPr>
          <a:xfrm>
            <a:off x="7215988" y="3967480"/>
            <a:ext cx="4427068" cy="2277872"/>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36" name="Shape 33"/>
          <p:cNvSpPr/>
          <p:nvPr/>
        </p:nvSpPr>
        <p:spPr>
          <a:xfrm>
            <a:off x="7215988" y="3967480"/>
            <a:ext cx="73152" cy="2277872"/>
          </a:xfrm>
          <a:prstGeom prst="rect">
            <a:avLst/>
          </a:prstGeom>
          <a:solidFill>
            <a:srgbClr val="005EB8"/>
          </a:solidFill>
          <a:ln w="12700">
            <a:solidFill>
              <a:srgbClr val="005EB8"/>
            </a:solidFill>
            <a:prstDash val="solid"/>
          </a:ln>
        </p:spPr>
      </p:sp>
      <p:sp>
        <p:nvSpPr>
          <p:cNvPr id="37" name="Text 34"/>
          <p:cNvSpPr/>
          <p:nvPr/>
        </p:nvSpPr>
        <p:spPr>
          <a:xfrm>
            <a:off x="7490308" y="4150360"/>
            <a:ext cx="3878428" cy="274320"/>
          </a:xfrm>
          <a:prstGeom prst="rect">
            <a:avLst/>
          </a:prstGeom>
          <a:noFill/>
          <a:ln/>
        </p:spPr>
        <p:txBody>
          <a:bodyPr wrap="square" lIns="0" tIns="0" rIns="0" bIns="0" rtlCol="0" anchor="ctr"/>
          <a:lstStyle/>
          <a:p>
            <a:pPr indent="0" marL="0">
              <a:buNone/>
            </a:pPr>
            <a:r>
              <a:rPr lang="en-US" sz="1000" b="1" spc="260" kern="0" dirty="0">
                <a:solidFill>
                  <a:srgbClr val="005EB8"/>
                </a:solidFill>
                <a:latin typeface="Segoe UI" pitchFamily="34" charset="0"/>
                <a:ea typeface="Segoe UI" pitchFamily="34" charset="-122"/>
                <a:cs typeface="Segoe UI" pitchFamily="34" charset="-120"/>
              </a:rPr>
              <a:t>WHY THIS WORKS FOR HIM</a:t>
            </a:r>
            <a:endParaRPr lang="en-US" sz="1000" dirty="0"/>
          </a:p>
        </p:txBody>
      </p:sp>
      <p:sp>
        <p:nvSpPr>
          <p:cNvPr id="38" name="Text 35"/>
          <p:cNvSpPr/>
          <p:nvPr/>
        </p:nvSpPr>
        <p:spPr>
          <a:xfrm>
            <a:off x="7490308" y="4470400"/>
            <a:ext cx="3878428" cy="838200"/>
          </a:xfrm>
          <a:prstGeom prst="rect">
            <a:avLst/>
          </a:prstGeom>
          <a:noFill/>
          <a:ln/>
        </p:spPr>
        <p:txBody>
          <a:bodyPr wrap="square" lIns="0" tIns="0" rIns="0" bIns="0" rtlCol="0" anchor="t"/>
          <a:lstStyle/>
          <a:p>
            <a:pPr indent="0" marL="0">
              <a:buNone/>
            </a:pPr>
            <a:r>
              <a:rPr lang="en-US" sz="1200" b="1" dirty="0">
                <a:solidFill>
                  <a:srgbClr val="003087"/>
                </a:solidFill>
                <a:latin typeface="Segoe UI" pitchFamily="34" charset="0"/>
                <a:ea typeface="Segoe UI" pitchFamily="34" charset="-122"/>
                <a:cs typeface="Segoe UI" pitchFamily="34" charset="-120"/>
              </a:rPr>
              <a:t>A test at the kitchen table. A family member in the loop. An appointment that doesn't fight the rest of his life.</a:t>
            </a:r>
            <a:endParaRPr lang="en-US" sz="1200" dirty="0"/>
          </a:p>
        </p:txBody>
      </p:sp>
      <p:sp>
        <p:nvSpPr>
          <p:cNvPr id="39" name="Text 36"/>
          <p:cNvSpPr/>
          <p:nvPr/>
        </p:nvSpPr>
        <p:spPr>
          <a:xfrm>
            <a:off x="7490308" y="5400040"/>
            <a:ext cx="3878428" cy="616712"/>
          </a:xfrm>
          <a:prstGeom prst="rect">
            <a:avLst/>
          </a:prstGeom>
          <a:noFill/>
          <a:ln/>
        </p:spPr>
        <p:txBody>
          <a:bodyPr wrap="square" lIns="0" tIns="0" rIns="0" bIns="0" rtlCol="0" anchor="t">
            <a:normAutofit/>
          </a:bodyPr>
          <a:lstStyle/>
          <a:p>
            <a:pPr indent="0" marL="0">
              <a:buNone/>
            </a:pPr>
            <a:r>
              <a:rPr lang="en-US" sz="800" dirty="0">
                <a:solidFill>
                  <a:srgbClr val="212B32"/>
                </a:solidFill>
                <a:latin typeface="Segoe UI" pitchFamily="34" charset="0"/>
                <a:ea typeface="Segoe UI" pitchFamily="34" charset="-122"/>
                <a:cs typeface="Segoe UI" pitchFamily="34" charset="-120"/>
              </a:rPr>
              <a:t>The clinic appointment fights every other thing in Sean's day: the OCD-driven late nights, the handwashing routines, the missed bus, the lost letter, the family that doesn't know it was even happening. </a:t>
            </a:r>
            <a:pPr indent="0" marL="0">
              <a:buNone/>
            </a:pPr>
            <a:r>
              <a:rPr lang="en-US" sz="800" b="1" dirty="0">
                <a:solidFill>
                  <a:srgbClr val="212B32"/>
                </a:solidFill>
                <a:latin typeface="Segoe UI" pitchFamily="34" charset="0"/>
                <a:ea typeface="Segoe UI" pitchFamily="34" charset="-122"/>
                <a:cs typeface="Segoe UI" pitchFamily="34" charset="-120"/>
              </a:rPr>
              <a:t>Move the venue, register the family as authorised, and almost all of that friction disappears. The independence Sean fights for stays whole.</a:t>
            </a:r>
            <a:endParaRPr lang="en-US" sz="800" dirty="0"/>
          </a:p>
        </p:txBody>
      </p:sp>
      <p:sp>
        <p:nvSpPr>
          <p:cNvPr id="40" name="Text 37"/>
          <p:cNvSpPr/>
          <p:nvPr/>
        </p:nvSpPr>
        <p:spPr>
          <a:xfrm>
            <a:off x="548640" y="6473952"/>
            <a:ext cx="5943600" cy="274320"/>
          </a:xfrm>
          <a:prstGeom prst="rect">
            <a:avLst/>
          </a:prstGeom>
          <a:noFill/>
          <a:ln/>
        </p:spPr>
        <p:txBody>
          <a:bodyPr wrap="square" lIns="0" tIns="0" rIns="0" bIns="0" rtlCol="0" anchor="ctr">
            <a:normAutofit/>
          </a:bodyPr>
          <a:lstStyle/>
          <a:p>
            <a:pPr indent="0" marL="0">
              <a:buNone/>
            </a:pPr>
            <a:r>
              <a:rPr lang="en-US" sz="800" dirty="0">
                <a:solidFill>
                  <a:srgbClr val="7E8B97"/>
                </a:solidFill>
                <a:latin typeface="Segoe UI" pitchFamily="34" charset="0"/>
                <a:ea typeface="Segoe UI" pitchFamily="34" charset="-122"/>
                <a:cs typeface="Segoe UI" pitchFamily="34" charset="-120"/>
              </a:rPr>
              <a:t>Hearts and Minds · Sean's journey · HomeTest operating model · September 2026</a:t>
            </a:r>
            <a:endParaRPr lang="en-US" sz="800" dirty="0"/>
          </a:p>
        </p:txBody>
      </p:sp>
      <p:sp>
        <p:nvSpPr>
          <p:cNvPr id="41" name="Text 38"/>
          <p:cNvSpPr/>
          <p:nvPr/>
        </p:nvSpPr>
        <p:spPr>
          <a:xfrm>
            <a:off x="6309360" y="6473952"/>
            <a:ext cx="4876495" cy="274320"/>
          </a:xfrm>
          <a:prstGeom prst="rect">
            <a:avLst/>
          </a:prstGeom>
          <a:noFill/>
          <a:ln/>
        </p:spPr>
        <p:txBody>
          <a:bodyPr wrap="square" lIns="0" tIns="0" rIns="0" bIns="0" rtlCol="0" anchor="ctr">
            <a:normAutofit/>
          </a:bodyP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42" name="Text 39"/>
          <p:cNvSpPr/>
          <p:nvPr/>
        </p:nvSpPr>
        <p:spPr>
          <a:xfrm>
            <a:off x="11231575" y="6473952"/>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crops/sean-stage1-0.707.jpg">    </p:cNvPr>
          <p:cNvPicPr>
            <a:picLocks noChangeAspect="1"/>
          </p:cNvPicPr>
          <p:nvPr/>
        </p:nvPicPr>
        <p:blipFill>
          <a:blip r:embed="rId1"/>
          <a:stretch>
            <a:fillRect/>
          </a:stretch>
        </p:blipFill>
        <p:spPr>
          <a:xfrm>
            <a:off x="0" y="0"/>
            <a:ext cx="4846320" cy="6858000"/>
          </a:xfrm>
          <a:prstGeom prst="rect">
            <a:avLst/>
          </a:prstGeom>
        </p:spPr>
      </p:pic>
      <p:sp>
        <p:nvSpPr>
          <p:cNvPr id="3" name="Shape 0"/>
          <p:cNvSpPr/>
          <p:nvPr/>
        </p:nvSpPr>
        <p:spPr>
          <a:xfrm>
            <a:off x="4846320" y="0"/>
            <a:ext cx="164592" cy="6858000"/>
          </a:xfrm>
          <a:prstGeom prst="rect">
            <a:avLst/>
          </a:prstGeom>
          <a:solidFill>
            <a:srgbClr val="FFB91D"/>
          </a:solidFill>
          <a:ln w="12700">
            <a:solidFill>
              <a:srgbClr val="FFB91D"/>
            </a:solidFill>
            <a:prstDash val="solid"/>
          </a:ln>
        </p:spPr>
      </p:sp>
      <p:sp>
        <p:nvSpPr>
          <p:cNvPr id="4" name="Text 1"/>
          <p:cNvSpPr/>
          <p:nvPr/>
        </p:nvSpPr>
        <p:spPr>
          <a:xfrm>
            <a:off x="5440680" y="411480"/>
            <a:ext cx="6202375" cy="274320"/>
          </a:xfrm>
          <a:prstGeom prst="rect">
            <a:avLst/>
          </a:prstGeom>
          <a:noFill/>
          <a:ln/>
        </p:spPr>
        <p:txBody>
          <a:bodyPr wrap="square" lIns="0" tIns="0" rIns="0" bIns="0" rtlCol="0" anchor="ctr"/>
          <a:lstStyle/>
          <a:p>
            <a:pPr indent="0" marL="0">
              <a:buNone/>
            </a:pPr>
            <a:r>
              <a:rPr lang="en-US" sz="1000" b="1" spc="260" kern="0" dirty="0">
                <a:solidFill>
                  <a:srgbClr val="005EB8"/>
                </a:solidFill>
                <a:latin typeface="Segoe UI" pitchFamily="34" charset="0"/>
                <a:ea typeface="Segoe UI" pitchFamily="34" charset="-122"/>
                <a:cs typeface="Segoe UI" pitchFamily="34" charset="-120"/>
              </a:rPr>
              <a:t>SEAN'S JOURNEY · STAGE 1 OF 5</a:t>
            </a:r>
            <a:endParaRPr lang="en-US" sz="1000" dirty="0"/>
          </a:p>
        </p:txBody>
      </p:sp>
      <p:sp>
        <p:nvSpPr>
          <p:cNvPr id="5" name="Text 2"/>
          <p:cNvSpPr/>
          <p:nvPr/>
        </p:nvSpPr>
        <p:spPr>
          <a:xfrm>
            <a:off x="5440680" y="685800"/>
            <a:ext cx="1051560" cy="868680"/>
          </a:xfrm>
          <a:prstGeom prst="rect">
            <a:avLst/>
          </a:prstGeom>
          <a:noFill/>
          <a:ln/>
        </p:spPr>
        <p:txBody>
          <a:bodyPr wrap="square" lIns="0" tIns="0" rIns="0" bIns="0" rtlCol="0" anchor="t"/>
          <a:lstStyle/>
          <a:p>
            <a:pPr indent="0" marL="0">
              <a:buNone/>
            </a:pPr>
            <a:r>
              <a:rPr lang="en-US" sz="5400" b="1" dirty="0">
                <a:solidFill>
                  <a:srgbClr val="FFB91D"/>
                </a:solidFill>
                <a:latin typeface="Segoe UI" pitchFamily="34" charset="0"/>
                <a:ea typeface="Segoe UI" pitchFamily="34" charset="-122"/>
                <a:cs typeface="Segoe UI" pitchFamily="34" charset="-120"/>
              </a:rPr>
              <a:t>01</a:t>
            </a:r>
            <a:endParaRPr lang="en-US" sz="5400" dirty="0"/>
          </a:p>
        </p:txBody>
      </p:sp>
      <p:sp>
        <p:nvSpPr>
          <p:cNvPr id="6" name="Text 3"/>
          <p:cNvSpPr/>
          <p:nvPr/>
        </p:nvSpPr>
        <p:spPr>
          <a:xfrm>
            <a:off x="6537960" y="731520"/>
            <a:ext cx="5105095" cy="574040"/>
          </a:xfrm>
          <a:prstGeom prst="rect">
            <a:avLst/>
          </a:prstGeom>
          <a:noFill/>
          <a:ln/>
        </p:spPr>
        <p:txBody>
          <a:bodyPr wrap="square" lIns="0" tIns="0" rIns="0" bIns="0" rtlCol="0" anchor="t">
            <a:normAutofit/>
          </a:bodyPr>
          <a:lstStyle/>
          <a:p>
            <a:pPr indent="0" marL="0">
              <a:buNone/>
            </a:pPr>
            <a:r>
              <a:rPr lang="en-US" sz="1600" b="1" dirty="0">
                <a:solidFill>
                  <a:srgbClr val="003087"/>
                </a:solidFill>
                <a:latin typeface="Segoe UI" pitchFamily="34" charset="0"/>
                <a:ea typeface="Segoe UI" pitchFamily="34" charset="-122"/>
                <a:cs typeface="Segoe UI" pitchFamily="34" charset="-120"/>
              </a:rPr>
              <a:t>Stratification: the cohort the system identifies but doesn't reach</a:t>
            </a:r>
            <a:endParaRPr lang="en-US" sz="1600" dirty="0"/>
          </a:p>
        </p:txBody>
      </p:sp>
      <p:sp>
        <p:nvSpPr>
          <p:cNvPr id="7" name="Text 4"/>
          <p:cNvSpPr/>
          <p:nvPr/>
        </p:nvSpPr>
        <p:spPr>
          <a:xfrm>
            <a:off x="6537960" y="1323848"/>
            <a:ext cx="5105095" cy="274320"/>
          </a:xfrm>
          <a:prstGeom prst="rect">
            <a:avLst/>
          </a:prstGeom>
          <a:noFill/>
          <a:ln/>
        </p:spPr>
        <p:txBody>
          <a:bodyPr wrap="square" lIns="0" tIns="0" rIns="0" bIns="0" rtlCol="0" anchor="ctr">
            <a:normAutofit/>
          </a:bodyPr>
          <a:lstStyle/>
          <a:p>
            <a:pPr indent="0" marL="0">
              <a:buNone/>
            </a:pPr>
            <a:r>
              <a:rPr lang="en-US" sz="1150" i="1" dirty="0">
                <a:solidFill>
                  <a:srgbClr val="4C6272"/>
                </a:solidFill>
                <a:latin typeface="Segoe UI" pitchFamily="34" charset="0"/>
                <a:ea typeface="Segoe UI" pitchFamily="34" charset="-122"/>
                <a:cs typeface="Segoe UI" pitchFamily="34" charset="-120"/>
              </a:rPr>
              <a:t>on every list, never quite reached</a:t>
            </a:r>
            <a:endParaRPr lang="en-US" sz="1150" dirty="0"/>
          </a:p>
        </p:txBody>
      </p:sp>
      <p:sp>
        <p:nvSpPr>
          <p:cNvPr id="8" name="Text 5"/>
          <p:cNvSpPr/>
          <p:nvPr/>
        </p:nvSpPr>
        <p:spPr>
          <a:xfrm>
            <a:off x="5440680" y="1828800"/>
            <a:ext cx="6202375" cy="589788"/>
          </a:xfrm>
          <a:prstGeom prst="rect">
            <a:avLst/>
          </a:prstGeom>
          <a:noFill/>
          <a:ln/>
        </p:spPr>
        <p:txBody>
          <a:bodyPr wrap="square" lIns="0" tIns="0" rIns="0" bIns="0" rtlCol="0" anchor="t">
            <a:normAutofit/>
          </a:bodyPr>
          <a:lstStyle/>
          <a:p>
            <a:pPr indent="0" marL="0">
              <a:buNone/>
            </a:pPr>
            <a:r>
              <a:rPr lang="en-US" sz="810" dirty="0">
                <a:solidFill>
                  <a:srgbClr val="212B32"/>
                </a:solidFill>
                <a:latin typeface="Segoe UI" pitchFamily="34" charset="0"/>
                <a:ea typeface="Segoe UI" pitchFamily="34" charset="-122"/>
                <a:cs typeface="Segoe UI" pitchFamily="34" charset="-120"/>
              </a:rPr>
              <a:t>Sean has been on the learning disability register since he was a child. The annual-health-check uptake across the cohort sits at 79.9 per cent. The reasonable-adjustment flag has sat on his record since the Accessible Information Standard became a legal duty in 2016. Identification has never been the problem. The system has always known he exists.</a:t>
            </a:r>
            <a:endParaRPr lang="en-US" sz="810" dirty="0"/>
          </a:p>
        </p:txBody>
      </p:sp>
      <p:sp>
        <p:nvSpPr>
          <p:cNvPr id="9" name="Shape 6"/>
          <p:cNvSpPr/>
          <p:nvPr/>
        </p:nvSpPr>
        <p:spPr>
          <a:xfrm>
            <a:off x="5440680" y="2555748"/>
            <a:ext cx="6202375" cy="604266"/>
          </a:xfrm>
          <a:prstGeom prst="rect">
            <a:avLst/>
          </a:prstGeom>
          <a:solidFill>
            <a:srgbClr val="FFF9EC"/>
          </a:solidFill>
          <a:ln w="15875">
            <a:solidFill>
              <a:srgbClr val="FFB91D"/>
            </a:solidFill>
            <a:prstDash val="solid"/>
          </a:ln>
          <a:effectLst>
            <a:outerShdw sx="100000" sy="100000" kx="0" ky="0" algn="bl" rotWithShape="0" blurRad="101600" dist="38100" dir="8100000">
              <a:srgbClr val="0A1F3C">
                <a:alpha val="16000"/>
              </a:srgbClr>
            </a:outerShdw>
          </a:effectLst>
        </p:spPr>
      </p:sp>
      <p:sp>
        <p:nvSpPr>
          <p:cNvPr id="10" name="Text 7"/>
          <p:cNvSpPr/>
          <p:nvPr/>
        </p:nvSpPr>
        <p:spPr>
          <a:xfrm>
            <a:off x="5669280" y="2665476"/>
            <a:ext cx="5745175" cy="384810"/>
          </a:xfrm>
          <a:prstGeom prst="rect">
            <a:avLst/>
          </a:prstGeom>
          <a:noFill/>
          <a:ln/>
        </p:spPr>
        <p:txBody>
          <a:bodyPr wrap="square" lIns="0" tIns="0" rIns="0" bIns="0" rtlCol="0" anchor="ctr">
            <a:normAutofit/>
          </a:bodyPr>
          <a:lstStyle/>
          <a:p>
            <a:pPr indent="0" marL="0">
              <a:buNone/>
            </a:pPr>
            <a:r>
              <a:rPr lang="en-US" sz="750" i="1" dirty="0">
                <a:solidFill>
                  <a:srgbClr val="212B32"/>
                </a:solidFill>
                <a:latin typeface="Segoe UI" pitchFamily="34" charset="0"/>
                <a:ea typeface="Segoe UI" pitchFamily="34" charset="-122"/>
                <a:cs typeface="Segoe UI" pitchFamily="34" charset="-120"/>
              </a:rPr>
              <a:t>“Being on the register has never been the problem. There are too many steps between the register and the result for him not to slip somewhere along the chain.”</a:t>
            </a:r>
            <a:pPr indent="0" marL="0">
              <a:buNone/>
            </a:pPr>
            <a:r>
              <a:rPr lang="en-US" sz="750" b="1" i="1" dirty="0">
                <a:solidFill>
                  <a:srgbClr val="212B32"/>
                </a:solidFill>
                <a:latin typeface="Segoe UI" pitchFamily="34" charset="0"/>
                <a:ea typeface="Segoe UI" pitchFamily="34" charset="-122"/>
                <a:cs typeface="Segoe UI" pitchFamily="34" charset="-120"/>
              </a:rPr>
              <a:t>  Sean's brother</a:t>
            </a:r>
            <a:endParaRPr lang="en-US" sz="750" dirty="0"/>
          </a:p>
        </p:txBody>
      </p:sp>
      <p:sp>
        <p:nvSpPr>
          <p:cNvPr id="11" name="Shape 8"/>
          <p:cNvSpPr/>
          <p:nvPr/>
        </p:nvSpPr>
        <p:spPr>
          <a:xfrm>
            <a:off x="5440680" y="3297174"/>
            <a:ext cx="2986888" cy="292608"/>
          </a:xfrm>
          <a:prstGeom prst="rect">
            <a:avLst/>
          </a:prstGeom>
          <a:solidFill>
            <a:srgbClr val="003087"/>
          </a:solidFill>
          <a:ln w="12700">
            <a:solidFill>
              <a:srgbClr val="003087"/>
            </a:solidFill>
            <a:prstDash val="solid"/>
          </a:ln>
        </p:spPr>
      </p:sp>
      <p:sp>
        <p:nvSpPr>
          <p:cNvPr id="12" name="Text 9"/>
          <p:cNvSpPr/>
          <p:nvPr/>
        </p:nvSpPr>
        <p:spPr>
          <a:xfrm>
            <a:off x="5550408" y="3297174"/>
            <a:ext cx="2767432" cy="292608"/>
          </a:xfrm>
          <a:prstGeom prst="rect">
            <a:avLst/>
          </a:prstGeom>
          <a:noFill/>
          <a:ln/>
        </p:spPr>
        <p:txBody>
          <a:bodyPr wrap="square" lIns="0" tIns="0" rIns="0" bIns="0" rtlCol="0" anchor="ctr"/>
          <a:lstStyle/>
          <a:p>
            <a:pPr indent="0" marL="0">
              <a:buNone/>
            </a:pPr>
            <a:r>
              <a:rPr lang="en-US" sz="850" b="1" spc="140" kern="0" dirty="0">
                <a:solidFill>
                  <a:srgbClr val="FFFFFF"/>
                </a:solidFill>
                <a:latin typeface="Segoe UI" pitchFamily="34" charset="0"/>
                <a:ea typeface="Segoe UI" pitchFamily="34" charset="-122"/>
                <a:cs typeface="Segoe UI" pitchFamily="34" charset="-120"/>
              </a:rPr>
              <a:t>WHAT THE MODEL IS DOING UNDERNEATH</a:t>
            </a:r>
            <a:endParaRPr lang="en-US" sz="850" dirty="0"/>
          </a:p>
        </p:txBody>
      </p:sp>
      <p:sp>
        <p:nvSpPr>
          <p:cNvPr id="13" name="Shape 10"/>
          <p:cNvSpPr/>
          <p:nvPr/>
        </p:nvSpPr>
        <p:spPr>
          <a:xfrm>
            <a:off x="5440680" y="3589782"/>
            <a:ext cx="2986888" cy="2015490"/>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4" name="Text 11"/>
          <p:cNvSpPr/>
          <p:nvPr/>
        </p:nvSpPr>
        <p:spPr>
          <a:xfrm>
            <a:off x="5568696" y="3681222"/>
            <a:ext cx="2730856" cy="1362456"/>
          </a:xfrm>
          <a:prstGeom prst="rect">
            <a:avLst/>
          </a:prstGeom>
          <a:noFill/>
          <a:ln/>
        </p:spPr>
        <p:txBody>
          <a:bodyPr wrap="square" lIns="0" tIns="0" rIns="0" bIns="0" rtlCol="0" anchor="t">
            <a:normAutofit/>
          </a:bodyPr>
          <a:lstStyle/>
          <a:p>
            <a:pPr indent="0" marL="0">
              <a:buNone/>
            </a:pPr>
            <a:r>
              <a:rPr lang="en-US" sz="720" dirty="0">
                <a:solidFill>
                  <a:srgbClr val="212B32"/>
                </a:solidFill>
                <a:latin typeface="Segoe UI" pitchFamily="34" charset="0"/>
                <a:ea typeface="Segoe UI" pitchFamily="34" charset="-122"/>
                <a:cs typeface="Segoe UI" pitchFamily="34" charset="-120"/>
              </a:rPr>
              <a:t>79.9% of people on the learning disability register had an annual health check (March 2025). The Reasonable Adjustment Digital Flag is a national NHS record flag. The Accessible Information Standard has been a legal requirement since 2016. None of the identification infrastructure needs to be built. It has existed for years. </a:t>
            </a:r>
            <a:pPr indent="0" marL="0">
              <a:buNone/>
            </a:pPr>
            <a:r>
              <a:rPr lang="en-US" sz="720" b="1" dirty="0">
                <a:solidFill>
                  <a:srgbClr val="212B32"/>
                </a:solidFill>
                <a:latin typeface="Segoe UI" pitchFamily="34" charset="0"/>
                <a:ea typeface="Segoe UI" pitchFamily="34" charset="-122"/>
                <a:cs typeface="Segoe UI" pitchFamily="34" charset="-120"/>
              </a:rPr>
              <a:t>What hasn't worked is the chain that turns identification into a finished test, a delivered result, and a treatment that actually lands.</a:t>
            </a:r>
            <a:endParaRPr lang="en-US" sz="720" dirty="0"/>
          </a:p>
        </p:txBody>
      </p:sp>
      <p:sp>
        <p:nvSpPr>
          <p:cNvPr id="15" name="Shape 12"/>
          <p:cNvSpPr/>
          <p:nvPr/>
        </p:nvSpPr>
        <p:spPr>
          <a:xfrm>
            <a:off x="8656168" y="3297174"/>
            <a:ext cx="2986888" cy="292608"/>
          </a:xfrm>
          <a:prstGeom prst="rect">
            <a:avLst/>
          </a:prstGeom>
          <a:solidFill>
            <a:srgbClr val="5B6770"/>
          </a:solidFill>
          <a:ln w="12700">
            <a:solidFill>
              <a:srgbClr val="5B6770"/>
            </a:solidFill>
            <a:prstDash val="solid"/>
          </a:ln>
        </p:spPr>
      </p:sp>
      <p:sp>
        <p:nvSpPr>
          <p:cNvPr id="16" name="Text 13"/>
          <p:cNvSpPr/>
          <p:nvPr/>
        </p:nvSpPr>
        <p:spPr>
          <a:xfrm>
            <a:off x="8765896" y="3297174"/>
            <a:ext cx="2767432" cy="292608"/>
          </a:xfrm>
          <a:prstGeom prst="rect">
            <a:avLst/>
          </a:prstGeom>
          <a:noFill/>
          <a:ln/>
        </p:spPr>
        <p:txBody>
          <a:bodyPr wrap="square" lIns="0" tIns="0" rIns="0" bIns="0" rtlCol="0" anchor="ctr"/>
          <a:lstStyle/>
          <a:p>
            <a:pPr indent="0" marL="0">
              <a:buNone/>
            </a:pPr>
            <a:r>
              <a:rPr lang="en-US" sz="850" b="1" spc="140" kern="0" dirty="0">
                <a:solidFill>
                  <a:srgbClr val="FFFFFF"/>
                </a:solidFill>
                <a:latin typeface="Segoe UI" pitchFamily="34" charset="0"/>
                <a:ea typeface="Segoe UI" pitchFamily="34" charset="-122"/>
                <a:cs typeface="Segoe UI" pitchFamily="34" charset="-120"/>
              </a:rPr>
              <a:t>THE OLD WAY</a:t>
            </a:r>
            <a:endParaRPr lang="en-US" sz="850" dirty="0"/>
          </a:p>
        </p:txBody>
      </p:sp>
      <p:sp>
        <p:nvSpPr>
          <p:cNvPr id="17" name="Shape 14"/>
          <p:cNvSpPr/>
          <p:nvPr/>
        </p:nvSpPr>
        <p:spPr>
          <a:xfrm>
            <a:off x="8656168" y="3589782"/>
            <a:ext cx="2986888" cy="2015490"/>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8" name="Text 15"/>
          <p:cNvSpPr/>
          <p:nvPr/>
        </p:nvSpPr>
        <p:spPr>
          <a:xfrm>
            <a:off x="8784184" y="3681222"/>
            <a:ext cx="2730856" cy="768096"/>
          </a:xfrm>
          <a:prstGeom prst="rect">
            <a:avLst/>
          </a:prstGeom>
          <a:noFill/>
          <a:ln/>
        </p:spPr>
        <p:txBody>
          <a:bodyPr wrap="square" lIns="0" tIns="0" rIns="0" bIns="0" rtlCol="0" anchor="t">
            <a:normAutofit/>
          </a:bodyPr>
          <a:lstStyle/>
          <a:p>
            <a:pPr indent="0" marL="0">
              <a:buNone/>
            </a:pPr>
            <a:r>
              <a:rPr lang="en-US" sz="720" dirty="0">
                <a:solidFill>
                  <a:srgbClr val="212B32"/>
                </a:solidFill>
                <a:latin typeface="Segoe UI" pitchFamily="34" charset="0"/>
                <a:ea typeface="Segoe UI" pitchFamily="34" charset="-122"/>
                <a:cs typeface="Segoe UI" pitchFamily="34" charset="-120"/>
              </a:rPr>
              <a:t>Identify the cohort. File the flag. Send the standard letter. Run the standard appointment. Record the DNA when it doesn't happen. Send the next reminder a year later. The cycle holds the identification step. It has never held the engagement step.</a:t>
            </a:r>
            <a:endParaRPr lang="en-US" sz="720" dirty="0"/>
          </a:p>
        </p:txBody>
      </p:sp>
      <p:sp>
        <p:nvSpPr>
          <p:cNvPr id="19" name="Shape 16"/>
          <p:cNvSpPr/>
          <p:nvPr/>
        </p:nvSpPr>
        <p:spPr>
          <a:xfrm>
            <a:off x="5440680" y="5742432"/>
            <a:ext cx="6202375" cy="457200"/>
          </a:xfrm>
          <a:prstGeom prst="rect">
            <a:avLst/>
          </a:prstGeom>
          <a:solidFill>
            <a:srgbClr val="E8F3EE"/>
          </a:solidFill>
          <a:ln w="12700">
            <a:solidFill>
              <a:srgbClr val="E8F3EE"/>
            </a:solidFill>
            <a:prstDash val="solid"/>
          </a:ln>
        </p:spPr>
      </p:sp>
      <p:sp>
        <p:nvSpPr>
          <p:cNvPr id="20" name="Text 17"/>
          <p:cNvSpPr/>
          <p:nvPr/>
        </p:nvSpPr>
        <p:spPr>
          <a:xfrm>
            <a:off x="5577840" y="5742432"/>
            <a:ext cx="5928055" cy="457200"/>
          </a:xfrm>
          <a:prstGeom prst="rect">
            <a:avLst/>
          </a:prstGeom>
          <a:noFill/>
          <a:ln/>
        </p:spPr>
        <p:txBody>
          <a:bodyPr wrap="square" lIns="0" tIns="0" rIns="0" bIns="0" rtlCol="0" anchor="ctr">
            <a:normAutofit/>
          </a:bodyPr>
          <a:lstStyle/>
          <a:p>
            <a:pPr indent="0" marL="0">
              <a:buNone/>
            </a:pPr>
            <a:r>
              <a:rPr lang="en-US" sz="850" b="1" spc="120" kern="0" dirty="0">
                <a:solidFill>
                  <a:srgbClr val="006747"/>
                </a:solidFill>
                <a:latin typeface="Segoe UI" pitchFamily="34" charset="0"/>
                <a:ea typeface="Segoe UI" pitchFamily="34" charset="-122"/>
                <a:cs typeface="Segoe UI" pitchFamily="34" charset="-120"/>
              </a:rPr>
              <a:t>WHO SEAN'S CARE TEAM SEES  </a:t>
            </a:r>
            <a:pPr indent="0" marL="0">
              <a:buNone/>
            </a:pPr>
            <a:r>
              <a:rPr lang="en-US" sz="800" dirty="0">
                <a:solidFill>
                  <a:srgbClr val="212B32"/>
                </a:solidFill>
                <a:latin typeface="Segoe UI" pitchFamily="34" charset="0"/>
                <a:ea typeface="Segoe UI" pitchFamily="34" charset="-122"/>
                <a:cs typeface="Segoe UI" pitchFamily="34" charset="-120"/>
              </a:rPr>
              <a:t>Sean's GP. The annual health check team. The learning disability liaison nurse. Sean's brother and his overnight carers.</a:t>
            </a:r>
            <a:endParaRPr lang="en-US" sz="850" dirty="0"/>
          </a:p>
        </p:txBody>
      </p:sp>
      <p:sp>
        <p:nvSpPr>
          <p:cNvPr id="21" name="Text 18"/>
          <p:cNvSpPr/>
          <p:nvPr/>
        </p:nvSpPr>
        <p:spPr>
          <a:xfrm>
            <a:off x="5440680" y="6473952"/>
            <a:ext cx="3101188" cy="274320"/>
          </a:xfrm>
          <a:prstGeom prst="rect">
            <a:avLst/>
          </a:prstGeom>
          <a:noFill/>
          <a:ln/>
        </p:spPr>
        <p:txBody>
          <a:bodyPr wrap="square" lIns="0" tIns="0" rIns="0" bIns="0" rtlCol="0" anchor="ctr">
            <a:normAutofit/>
          </a:bodyPr>
          <a:lstStyle/>
          <a:p>
            <a:pPr indent="0" marL="0">
              <a:buNone/>
            </a:pPr>
            <a:r>
              <a:rPr lang="en-US" sz="800" dirty="0">
                <a:solidFill>
                  <a:srgbClr val="7E8B97"/>
                </a:solidFill>
                <a:latin typeface="Segoe UI" pitchFamily="34" charset="0"/>
                <a:ea typeface="Segoe UI" pitchFamily="34" charset="-122"/>
                <a:cs typeface="Segoe UI" pitchFamily="34" charset="-120"/>
              </a:rPr>
              <a:t>Hearts and Minds · Sean's journey · HomeTest operating model · September 2026</a:t>
            </a:r>
            <a:endParaRPr lang="en-US" sz="800" dirty="0"/>
          </a:p>
        </p:txBody>
      </p:sp>
      <p:sp>
        <p:nvSpPr>
          <p:cNvPr id="22" name="Text 19"/>
          <p:cNvSpPr/>
          <p:nvPr/>
        </p:nvSpPr>
        <p:spPr>
          <a:xfrm>
            <a:off x="8541868" y="6473952"/>
            <a:ext cx="2643988" cy="274320"/>
          </a:xfrm>
          <a:prstGeom prst="rect">
            <a:avLst/>
          </a:prstGeom>
          <a:noFill/>
          <a:ln/>
        </p:spPr>
        <p:txBody>
          <a:bodyPr wrap="square" lIns="0" tIns="0" rIns="0" bIns="0" rtlCol="0" anchor="ctr">
            <a:normAutofit/>
          </a:bodyPr>
          <a:lstStyle/>
          <a:p>
            <a:pPr algn="r" indent="0" marL="0">
              <a:buNone/>
            </a:pPr>
            <a:r>
              <a:rPr lang="en-US" sz="7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700" dirty="0"/>
          </a:p>
        </p:txBody>
      </p:sp>
      <p:sp>
        <p:nvSpPr>
          <p:cNvPr id="23" name="Text 20"/>
          <p:cNvSpPr/>
          <p:nvPr/>
        </p:nvSpPr>
        <p:spPr>
          <a:xfrm>
            <a:off x="11231575" y="6473952"/>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crops/sean-stage2-0.613.jpg">    </p:cNvPr>
          <p:cNvPicPr>
            <a:picLocks noChangeAspect="1"/>
          </p:cNvPicPr>
          <p:nvPr/>
        </p:nvPicPr>
        <p:blipFill>
          <a:blip r:embed="rId1"/>
          <a:stretch>
            <a:fillRect/>
          </a:stretch>
        </p:blipFill>
        <p:spPr>
          <a:xfrm>
            <a:off x="7985455" y="0"/>
            <a:ext cx="4206240" cy="6858000"/>
          </a:xfrm>
          <a:prstGeom prst="rect">
            <a:avLst/>
          </a:prstGeom>
        </p:spPr>
      </p:pic>
      <p:sp>
        <p:nvSpPr>
          <p:cNvPr id="3" name="Shape 0"/>
          <p:cNvSpPr/>
          <p:nvPr/>
        </p:nvSpPr>
        <p:spPr>
          <a:xfrm>
            <a:off x="7820863" y="0"/>
            <a:ext cx="164592" cy="6858000"/>
          </a:xfrm>
          <a:prstGeom prst="rect">
            <a:avLst/>
          </a:prstGeom>
          <a:solidFill>
            <a:srgbClr val="FFB91D"/>
          </a:solidFill>
          <a:ln w="12700">
            <a:solidFill>
              <a:srgbClr val="FFB91D"/>
            </a:solidFill>
            <a:prstDash val="solid"/>
          </a:ln>
        </p:spPr>
      </p:sp>
      <p:sp>
        <p:nvSpPr>
          <p:cNvPr id="4" name="Text 1"/>
          <p:cNvSpPr/>
          <p:nvPr/>
        </p:nvSpPr>
        <p:spPr>
          <a:xfrm>
            <a:off x="548640" y="411480"/>
            <a:ext cx="6860743" cy="274320"/>
          </a:xfrm>
          <a:prstGeom prst="rect">
            <a:avLst/>
          </a:prstGeom>
          <a:noFill/>
          <a:ln/>
        </p:spPr>
        <p:txBody>
          <a:bodyPr wrap="square" lIns="0" tIns="0" rIns="0" bIns="0" rtlCol="0" anchor="ctr"/>
          <a:lstStyle/>
          <a:p>
            <a:pPr indent="0" marL="0">
              <a:buNone/>
            </a:pPr>
            <a:r>
              <a:rPr lang="en-US" sz="1000" b="1" spc="260" kern="0" dirty="0">
                <a:solidFill>
                  <a:srgbClr val="005EB8"/>
                </a:solidFill>
                <a:latin typeface="Segoe UI" pitchFamily="34" charset="0"/>
                <a:ea typeface="Segoe UI" pitchFamily="34" charset="-122"/>
                <a:cs typeface="Segoe UI" pitchFamily="34" charset="-120"/>
              </a:rPr>
              <a:t>SEAN'S JOURNEY · STAGE 2 OF 5</a:t>
            </a:r>
            <a:endParaRPr lang="en-US" sz="1000" dirty="0"/>
          </a:p>
        </p:txBody>
      </p:sp>
      <p:sp>
        <p:nvSpPr>
          <p:cNvPr id="5" name="Text 2"/>
          <p:cNvSpPr/>
          <p:nvPr/>
        </p:nvSpPr>
        <p:spPr>
          <a:xfrm>
            <a:off x="548640" y="685800"/>
            <a:ext cx="1051560" cy="868680"/>
          </a:xfrm>
          <a:prstGeom prst="rect">
            <a:avLst/>
          </a:prstGeom>
          <a:noFill/>
          <a:ln/>
        </p:spPr>
        <p:txBody>
          <a:bodyPr wrap="square" lIns="0" tIns="0" rIns="0" bIns="0" rtlCol="0" anchor="t"/>
          <a:lstStyle/>
          <a:p>
            <a:pPr indent="0" marL="0">
              <a:buNone/>
            </a:pPr>
            <a:r>
              <a:rPr lang="en-US" sz="5400" b="1" dirty="0">
                <a:solidFill>
                  <a:srgbClr val="FFB91D"/>
                </a:solidFill>
                <a:latin typeface="Segoe UI" pitchFamily="34" charset="0"/>
                <a:ea typeface="Segoe UI" pitchFamily="34" charset="-122"/>
                <a:cs typeface="Segoe UI" pitchFamily="34" charset="-120"/>
              </a:rPr>
              <a:t>02</a:t>
            </a:r>
            <a:endParaRPr lang="en-US" sz="5400" dirty="0"/>
          </a:p>
        </p:txBody>
      </p:sp>
      <p:sp>
        <p:nvSpPr>
          <p:cNvPr id="6" name="Text 3"/>
          <p:cNvSpPr/>
          <p:nvPr/>
        </p:nvSpPr>
        <p:spPr>
          <a:xfrm>
            <a:off x="1645920" y="731520"/>
            <a:ext cx="5763463" cy="623570"/>
          </a:xfrm>
          <a:prstGeom prst="rect">
            <a:avLst/>
          </a:prstGeom>
          <a:noFill/>
          <a:ln/>
        </p:spPr>
        <p:txBody>
          <a:bodyPr wrap="square" lIns="0" tIns="0" rIns="0" bIns="0" rtlCol="0" anchor="t">
            <a:normAutofit/>
          </a:bodyPr>
          <a:lstStyle/>
          <a:p>
            <a:pPr indent="0" marL="0">
              <a:buNone/>
            </a:pPr>
            <a:r>
              <a:rPr lang="en-US" sz="1750" b="1" dirty="0">
                <a:solidFill>
                  <a:srgbClr val="003087"/>
                </a:solidFill>
                <a:latin typeface="Segoe UI" pitchFamily="34" charset="0"/>
                <a:ea typeface="Segoe UI" pitchFamily="34" charset="-122"/>
                <a:cs typeface="Segoe UI" pitchFamily="34" charset="-120"/>
              </a:rPr>
              <a:t>Identification: the offer that reaches the people who can act on it</a:t>
            </a:r>
            <a:endParaRPr lang="en-US" sz="1750" dirty="0"/>
          </a:p>
        </p:txBody>
      </p:sp>
      <p:sp>
        <p:nvSpPr>
          <p:cNvPr id="7" name="Text 4"/>
          <p:cNvSpPr/>
          <p:nvPr/>
        </p:nvSpPr>
        <p:spPr>
          <a:xfrm>
            <a:off x="1645920" y="1373378"/>
            <a:ext cx="5763463" cy="274320"/>
          </a:xfrm>
          <a:prstGeom prst="rect">
            <a:avLst/>
          </a:prstGeom>
          <a:noFill/>
          <a:ln/>
        </p:spPr>
        <p:txBody>
          <a:bodyPr wrap="square" lIns="0" tIns="0" rIns="0" bIns="0" rtlCol="0" anchor="ctr">
            <a:normAutofit/>
          </a:bodyPr>
          <a:lstStyle/>
          <a:p>
            <a:pPr indent="0" marL="0">
              <a:buNone/>
            </a:pPr>
            <a:r>
              <a:rPr lang="en-US" sz="1150" i="1" dirty="0">
                <a:solidFill>
                  <a:srgbClr val="4C6272"/>
                </a:solidFill>
                <a:latin typeface="Segoe UI" pitchFamily="34" charset="0"/>
                <a:ea typeface="Segoe UI" pitchFamily="34" charset="-122"/>
                <a:cs typeface="Segoe UI" pitchFamily="34" charset="-120"/>
              </a:rPr>
              <a:t>the offer reaches the people who can act on it</a:t>
            </a:r>
            <a:endParaRPr lang="en-US" sz="1150" dirty="0"/>
          </a:p>
        </p:txBody>
      </p:sp>
      <p:sp>
        <p:nvSpPr>
          <p:cNvPr id="8" name="Text 5"/>
          <p:cNvSpPr/>
          <p:nvPr/>
        </p:nvSpPr>
        <p:spPr>
          <a:xfrm>
            <a:off x="548640" y="1828800"/>
            <a:ext cx="6860743" cy="589788"/>
          </a:xfrm>
          <a:prstGeom prst="rect">
            <a:avLst/>
          </a:prstGeom>
          <a:noFill/>
          <a:ln/>
        </p:spPr>
        <p:txBody>
          <a:bodyPr wrap="square" lIns="0" tIns="0" rIns="0" bIns="0" rtlCol="0" anchor="t">
            <a:normAutofit/>
          </a:bodyPr>
          <a:lstStyle/>
          <a:p>
            <a:pPr indent="0" marL="0">
              <a:buNone/>
            </a:pPr>
            <a:r>
              <a:rPr lang="en-US" sz="810" dirty="0">
                <a:solidFill>
                  <a:srgbClr val="212B32"/>
                </a:solidFill>
                <a:latin typeface="Segoe UI" pitchFamily="34" charset="0"/>
                <a:ea typeface="Segoe UI" pitchFamily="34" charset="-122"/>
                <a:cs typeface="Segoe UI" pitchFamily="34" charset="-120"/>
              </a:rPr>
              <a:t>The home-test offer travels through the people who can actually translate it for Sean. His brother. The carers who stay with him overnight. The materials are easy-read and arrive in a format he can engage with at his own pace, when he's ready. The offer no longer depends on a letter surviving the journey from the doormat to anyone who can act on it.</a:t>
            </a:r>
            <a:endParaRPr lang="en-US" sz="810" dirty="0"/>
          </a:p>
        </p:txBody>
      </p:sp>
      <p:sp>
        <p:nvSpPr>
          <p:cNvPr id="9" name="Shape 6"/>
          <p:cNvSpPr/>
          <p:nvPr/>
        </p:nvSpPr>
        <p:spPr>
          <a:xfrm>
            <a:off x="548640" y="2555748"/>
            <a:ext cx="6860743" cy="480441"/>
          </a:xfrm>
          <a:prstGeom prst="rect">
            <a:avLst/>
          </a:prstGeom>
          <a:solidFill>
            <a:srgbClr val="FFF9EC"/>
          </a:solidFill>
          <a:ln w="15875">
            <a:solidFill>
              <a:srgbClr val="FFB91D"/>
            </a:solidFill>
            <a:prstDash val="solid"/>
          </a:ln>
          <a:effectLst>
            <a:outerShdw sx="100000" sy="100000" kx="0" ky="0" algn="bl" rotWithShape="0" blurRad="101600" dist="38100" dir="8100000">
              <a:srgbClr val="0A1F3C">
                <a:alpha val="16000"/>
              </a:srgbClr>
            </a:outerShdw>
          </a:effectLst>
        </p:spPr>
      </p:sp>
      <p:sp>
        <p:nvSpPr>
          <p:cNvPr id="10" name="Text 7"/>
          <p:cNvSpPr/>
          <p:nvPr/>
        </p:nvSpPr>
        <p:spPr>
          <a:xfrm>
            <a:off x="777240" y="2665476"/>
            <a:ext cx="6403543" cy="260985"/>
          </a:xfrm>
          <a:prstGeom prst="rect">
            <a:avLst/>
          </a:prstGeom>
          <a:noFill/>
          <a:ln/>
        </p:spPr>
        <p:txBody>
          <a:bodyPr wrap="square" lIns="0" tIns="0" rIns="0" bIns="0" rtlCol="0" anchor="ctr">
            <a:normAutofit/>
          </a:bodyPr>
          <a:lstStyle/>
          <a:p>
            <a:pPr indent="0" marL="0">
              <a:buNone/>
            </a:pPr>
            <a:r>
              <a:rPr lang="en-US" sz="750" i="1" dirty="0">
                <a:solidFill>
                  <a:srgbClr val="212B32"/>
                </a:solidFill>
                <a:latin typeface="Segoe UI" pitchFamily="34" charset="0"/>
                <a:ea typeface="Segoe UI" pitchFamily="34" charset="-122"/>
                <a:cs typeface="Segoe UI" pitchFamily="34" charset="-120"/>
              </a:rPr>
              <a:t>“I want to do this. I just need to know when.”</a:t>
            </a:r>
            <a:pPr indent="0" marL="0">
              <a:buNone/>
            </a:pPr>
            <a:r>
              <a:rPr lang="en-US" sz="750" b="1" i="1" dirty="0">
                <a:solidFill>
                  <a:srgbClr val="212B32"/>
                </a:solidFill>
                <a:latin typeface="Segoe UI" pitchFamily="34" charset="0"/>
                <a:ea typeface="Segoe UI" pitchFamily="34" charset="-122"/>
                <a:cs typeface="Segoe UI" pitchFamily="34" charset="-120"/>
              </a:rPr>
              <a:t>  Sean</a:t>
            </a:r>
            <a:endParaRPr lang="en-US" sz="750" dirty="0"/>
          </a:p>
        </p:txBody>
      </p:sp>
      <p:sp>
        <p:nvSpPr>
          <p:cNvPr id="11" name="Shape 8"/>
          <p:cNvSpPr/>
          <p:nvPr/>
        </p:nvSpPr>
        <p:spPr>
          <a:xfrm>
            <a:off x="548640" y="3173349"/>
            <a:ext cx="3316072" cy="292608"/>
          </a:xfrm>
          <a:prstGeom prst="rect">
            <a:avLst/>
          </a:prstGeom>
          <a:solidFill>
            <a:srgbClr val="003087"/>
          </a:solidFill>
          <a:ln w="12700">
            <a:solidFill>
              <a:srgbClr val="003087"/>
            </a:solidFill>
            <a:prstDash val="solid"/>
          </a:ln>
        </p:spPr>
      </p:sp>
      <p:sp>
        <p:nvSpPr>
          <p:cNvPr id="12" name="Text 9"/>
          <p:cNvSpPr/>
          <p:nvPr/>
        </p:nvSpPr>
        <p:spPr>
          <a:xfrm>
            <a:off x="658368" y="3173349"/>
            <a:ext cx="3096616" cy="292608"/>
          </a:xfrm>
          <a:prstGeom prst="rect">
            <a:avLst/>
          </a:prstGeom>
          <a:noFill/>
          <a:ln/>
        </p:spPr>
        <p:txBody>
          <a:bodyPr wrap="square" lIns="0" tIns="0" rIns="0" bIns="0" rtlCol="0" anchor="ctr"/>
          <a:lstStyle/>
          <a:p>
            <a:pPr indent="0" marL="0">
              <a:buNone/>
            </a:pPr>
            <a:r>
              <a:rPr lang="en-US" sz="850" b="1" spc="140" kern="0" dirty="0">
                <a:solidFill>
                  <a:srgbClr val="FFFFFF"/>
                </a:solidFill>
                <a:latin typeface="Segoe UI" pitchFamily="34" charset="0"/>
                <a:ea typeface="Segoe UI" pitchFamily="34" charset="-122"/>
                <a:cs typeface="Segoe UI" pitchFamily="34" charset="-120"/>
              </a:rPr>
              <a:t>WHAT THE MODEL IS DOING UNDERNEATH</a:t>
            </a:r>
            <a:endParaRPr lang="en-US" sz="850" dirty="0"/>
          </a:p>
        </p:txBody>
      </p:sp>
      <p:sp>
        <p:nvSpPr>
          <p:cNvPr id="13" name="Shape 10"/>
          <p:cNvSpPr/>
          <p:nvPr/>
        </p:nvSpPr>
        <p:spPr>
          <a:xfrm>
            <a:off x="548640" y="3465957"/>
            <a:ext cx="3316072" cy="2139315"/>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4" name="Text 11"/>
          <p:cNvSpPr/>
          <p:nvPr/>
        </p:nvSpPr>
        <p:spPr>
          <a:xfrm>
            <a:off x="676656" y="3557397"/>
            <a:ext cx="3060040" cy="768096"/>
          </a:xfrm>
          <a:prstGeom prst="rect">
            <a:avLst/>
          </a:prstGeom>
          <a:noFill/>
          <a:ln/>
        </p:spPr>
        <p:txBody>
          <a:bodyPr wrap="square" lIns="0" tIns="0" rIns="0" bIns="0" rtlCol="0" anchor="t">
            <a:normAutofit/>
          </a:bodyPr>
          <a:lstStyle/>
          <a:p>
            <a:pPr indent="0" marL="0">
              <a:buNone/>
            </a:pPr>
            <a:r>
              <a:rPr lang="en-US" sz="720" dirty="0">
                <a:solidFill>
                  <a:srgbClr val="212B32"/>
                </a:solidFill>
                <a:latin typeface="Segoe UI" pitchFamily="34" charset="0"/>
                <a:ea typeface="Segoe UI" pitchFamily="34" charset="-122"/>
                <a:cs typeface="Segoe UI" pitchFamily="34" charset="-120"/>
              </a:rPr>
              <a:t>Easy-read materials. Alternative-format letters. Support-network engagement designed into the platform from the start. The reasonable-adjustment flag triggers the alternative communication route. </a:t>
            </a:r>
            <a:pPr indent="0" marL="0">
              <a:buNone/>
            </a:pPr>
            <a:r>
              <a:rPr lang="en-US" sz="720" b="1" dirty="0">
                <a:solidFill>
                  <a:srgbClr val="212B32"/>
                </a:solidFill>
                <a:latin typeface="Segoe UI" pitchFamily="34" charset="0"/>
                <a:ea typeface="Segoe UI" pitchFamily="34" charset="-122"/>
                <a:cs typeface="Segoe UI" pitchFamily="34" charset="-120"/>
              </a:rPr>
              <a:t>The offer travels through the people who can support him, not through an unopened letter.</a:t>
            </a:r>
            <a:endParaRPr lang="en-US" sz="720" dirty="0"/>
          </a:p>
        </p:txBody>
      </p:sp>
      <p:sp>
        <p:nvSpPr>
          <p:cNvPr id="15" name="Shape 12"/>
          <p:cNvSpPr/>
          <p:nvPr/>
        </p:nvSpPr>
        <p:spPr>
          <a:xfrm>
            <a:off x="4093312" y="3173349"/>
            <a:ext cx="3316072" cy="292608"/>
          </a:xfrm>
          <a:prstGeom prst="rect">
            <a:avLst/>
          </a:prstGeom>
          <a:solidFill>
            <a:srgbClr val="5B6770"/>
          </a:solidFill>
          <a:ln w="12700">
            <a:solidFill>
              <a:srgbClr val="5B6770"/>
            </a:solidFill>
            <a:prstDash val="solid"/>
          </a:ln>
        </p:spPr>
      </p:sp>
      <p:sp>
        <p:nvSpPr>
          <p:cNvPr id="16" name="Text 13"/>
          <p:cNvSpPr/>
          <p:nvPr/>
        </p:nvSpPr>
        <p:spPr>
          <a:xfrm>
            <a:off x="4203040" y="3173349"/>
            <a:ext cx="3096616" cy="292608"/>
          </a:xfrm>
          <a:prstGeom prst="rect">
            <a:avLst/>
          </a:prstGeom>
          <a:noFill/>
          <a:ln/>
        </p:spPr>
        <p:txBody>
          <a:bodyPr wrap="square" lIns="0" tIns="0" rIns="0" bIns="0" rtlCol="0" anchor="ctr"/>
          <a:lstStyle/>
          <a:p>
            <a:pPr indent="0" marL="0">
              <a:buNone/>
            </a:pPr>
            <a:r>
              <a:rPr lang="en-US" sz="850" b="1" spc="140" kern="0" dirty="0">
                <a:solidFill>
                  <a:srgbClr val="FFFFFF"/>
                </a:solidFill>
                <a:latin typeface="Segoe UI" pitchFamily="34" charset="0"/>
                <a:ea typeface="Segoe UI" pitchFamily="34" charset="-122"/>
                <a:cs typeface="Segoe UI" pitchFamily="34" charset="-120"/>
              </a:rPr>
              <a:t>THE OLD WAY</a:t>
            </a:r>
            <a:endParaRPr lang="en-US" sz="850" dirty="0"/>
          </a:p>
        </p:txBody>
      </p:sp>
      <p:sp>
        <p:nvSpPr>
          <p:cNvPr id="17" name="Shape 14"/>
          <p:cNvSpPr/>
          <p:nvPr/>
        </p:nvSpPr>
        <p:spPr>
          <a:xfrm>
            <a:off x="4093312" y="3465957"/>
            <a:ext cx="3316072" cy="2139315"/>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8" name="Text 15"/>
          <p:cNvSpPr/>
          <p:nvPr/>
        </p:nvSpPr>
        <p:spPr>
          <a:xfrm>
            <a:off x="4221328" y="3557397"/>
            <a:ext cx="3060040" cy="1719072"/>
          </a:xfrm>
          <a:prstGeom prst="rect">
            <a:avLst/>
          </a:prstGeom>
          <a:noFill/>
          <a:ln/>
        </p:spPr>
        <p:txBody>
          <a:bodyPr wrap="square" lIns="0" tIns="0" rIns="0" bIns="0" rtlCol="0" anchor="t">
            <a:normAutofit/>
          </a:bodyPr>
          <a:lstStyle/>
          <a:p>
            <a:pPr indent="0" marL="0">
              <a:buNone/>
            </a:pPr>
            <a:r>
              <a:rPr lang="en-US" sz="720" dirty="0">
                <a:solidFill>
                  <a:srgbClr val="212B32"/>
                </a:solidFill>
                <a:latin typeface="Segoe UI" pitchFamily="34" charset="0"/>
                <a:ea typeface="Segoe UI" pitchFamily="34" charset="-122"/>
                <a:cs typeface="Segoe UI" pitchFamily="34" charset="-120"/>
              </a:rPr>
              <a:t>A letter arrives at the front door. Sometimes Sean doesn't pick it up. Sometimes it goes in the bin. Sometimes it arrives when no carer is there. Even when it's read, the appointment that follows wants him out of the door at nine in the morning. His OCD-driven sleep cycle puts him to bed at three or four in the morning. The handwashing routines take real time before he can leave the house. The bus has already gone. The family often doesn't know the appointment was even happening, because Sean doesn't always tell them and the care team doesn't always tell them either. The DNA gets recorded. The bloods don't get done. The next reminder lands at the same front door.</a:t>
            </a:r>
            <a:endParaRPr lang="en-US" sz="720" dirty="0"/>
          </a:p>
        </p:txBody>
      </p:sp>
      <p:sp>
        <p:nvSpPr>
          <p:cNvPr id="19" name="Shape 16"/>
          <p:cNvSpPr/>
          <p:nvPr/>
        </p:nvSpPr>
        <p:spPr>
          <a:xfrm>
            <a:off x="548640" y="5742432"/>
            <a:ext cx="6860743" cy="457200"/>
          </a:xfrm>
          <a:prstGeom prst="rect">
            <a:avLst/>
          </a:prstGeom>
          <a:solidFill>
            <a:srgbClr val="E8F3EE"/>
          </a:solidFill>
          <a:ln w="12700">
            <a:solidFill>
              <a:srgbClr val="E8F3EE"/>
            </a:solidFill>
            <a:prstDash val="solid"/>
          </a:ln>
        </p:spPr>
      </p:sp>
      <p:sp>
        <p:nvSpPr>
          <p:cNvPr id="20" name="Text 17"/>
          <p:cNvSpPr/>
          <p:nvPr/>
        </p:nvSpPr>
        <p:spPr>
          <a:xfrm>
            <a:off x="685800" y="5742432"/>
            <a:ext cx="6586423" cy="457200"/>
          </a:xfrm>
          <a:prstGeom prst="rect">
            <a:avLst/>
          </a:prstGeom>
          <a:noFill/>
          <a:ln/>
        </p:spPr>
        <p:txBody>
          <a:bodyPr wrap="square" lIns="0" tIns="0" rIns="0" bIns="0" rtlCol="0" anchor="ctr">
            <a:normAutofit/>
          </a:bodyPr>
          <a:lstStyle/>
          <a:p>
            <a:pPr indent="0" marL="0">
              <a:buNone/>
            </a:pPr>
            <a:r>
              <a:rPr lang="en-US" sz="850" b="1" spc="120" kern="0" dirty="0">
                <a:solidFill>
                  <a:srgbClr val="006747"/>
                </a:solidFill>
                <a:latin typeface="Segoe UI" pitchFamily="34" charset="0"/>
                <a:ea typeface="Segoe UI" pitchFamily="34" charset="-122"/>
                <a:cs typeface="Segoe UI" pitchFamily="34" charset="-120"/>
              </a:rPr>
              <a:t>WHO SEAN'S CARE TEAM SEES  </a:t>
            </a:r>
            <a:pPr indent="0" marL="0">
              <a:buNone/>
            </a:pPr>
            <a:r>
              <a:rPr lang="en-US" sz="800" dirty="0">
                <a:solidFill>
                  <a:srgbClr val="212B32"/>
                </a:solidFill>
                <a:latin typeface="Segoe UI" pitchFamily="34" charset="0"/>
                <a:ea typeface="Segoe UI" pitchFamily="34" charset="-122"/>
                <a:cs typeface="Segoe UI" pitchFamily="34" charset="-120"/>
              </a:rPr>
              <a:t>Sean's brother. The overnight carers. The learning disability liaison nurse. The easy-read materials team.</a:t>
            </a:r>
            <a:endParaRPr lang="en-US" sz="850" dirty="0"/>
          </a:p>
        </p:txBody>
      </p:sp>
      <p:sp>
        <p:nvSpPr>
          <p:cNvPr id="21" name="Text 18"/>
          <p:cNvSpPr/>
          <p:nvPr/>
        </p:nvSpPr>
        <p:spPr>
          <a:xfrm>
            <a:off x="548640" y="6473952"/>
            <a:ext cx="3430372" cy="274320"/>
          </a:xfrm>
          <a:prstGeom prst="rect">
            <a:avLst/>
          </a:prstGeom>
          <a:noFill/>
          <a:ln/>
        </p:spPr>
        <p:txBody>
          <a:bodyPr wrap="square" lIns="0" tIns="0" rIns="0" bIns="0" rtlCol="0" anchor="ctr">
            <a:normAutofit/>
          </a:bodyPr>
          <a:lstStyle/>
          <a:p>
            <a:pPr indent="0" marL="0">
              <a:buNone/>
            </a:pPr>
            <a:r>
              <a:rPr lang="en-US" sz="800" dirty="0">
                <a:solidFill>
                  <a:srgbClr val="7E8B97"/>
                </a:solidFill>
                <a:latin typeface="Segoe UI" pitchFamily="34" charset="0"/>
                <a:ea typeface="Segoe UI" pitchFamily="34" charset="-122"/>
                <a:cs typeface="Segoe UI" pitchFamily="34" charset="-120"/>
              </a:rPr>
              <a:t>Hearts and Minds · Sean's journey · HomeTest operating model · September 2026</a:t>
            </a:r>
            <a:endParaRPr lang="en-US" sz="800" dirty="0"/>
          </a:p>
        </p:txBody>
      </p:sp>
      <p:sp>
        <p:nvSpPr>
          <p:cNvPr id="22" name="Text 19"/>
          <p:cNvSpPr/>
          <p:nvPr/>
        </p:nvSpPr>
        <p:spPr>
          <a:xfrm>
            <a:off x="3979012" y="6473952"/>
            <a:ext cx="2973172" cy="274320"/>
          </a:xfrm>
          <a:prstGeom prst="rect">
            <a:avLst/>
          </a:prstGeom>
          <a:noFill/>
          <a:ln/>
        </p:spPr>
        <p:txBody>
          <a:bodyPr wrap="square" lIns="0" tIns="0" rIns="0" bIns="0" rtlCol="0" anchor="ctr">
            <a:normAutofit/>
          </a:bodyPr>
          <a:lstStyle/>
          <a:p>
            <a:pPr algn="r" indent="0" marL="0">
              <a:buNone/>
            </a:pPr>
            <a:r>
              <a:rPr lang="en-US" sz="7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700" dirty="0"/>
          </a:p>
        </p:txBody>
      </p:sp>
      <p:sp>
        <p:nvSpPr>
          <p:cNvPr id="23" name="Text 20"/>
          <p:cNvSpPr/>
          <p:nvPr/>
        </p:nvSpPr>
        <p:spPr>
          <a:xfrm>
            <a:off x="6997903" y="6473952"/>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crops/sean-stage3-0.707.jpg">    </p:cNvPr>
          <p:cNvPicPr>
            <a:picLocks noChangeAspect="1"/>
          </p:cNvPicPr>
          <p:nvPr/>
        </p:nvPicPr>
        <p:blipFill>
          <a:blip r:embed="rId1"/>
          <a:stretch>
            <a:fillRect/>
          </a:stretch>
        </p:blipFill>
        <p:spPr>
          <a:xfrm>
            <a:off x="0" y="0"/>
            <a:ext cx="4846320" cy="6858000"/>
          </a:xfrm>
          <a:prstGeom prst="rect">
            <a:avLst/>
          </a:prstGeom>
        </p:spPr>
      </p:pic>
      <p:sp>
        <p:nvSpPr>
          <p:cNvPr id="3" name="Shape 0"/>
          <p:cNvSpPr/>
          <p:nvPr/>
        </p:nvSpPr>
        <p:spPr>
          <a:xfrm>
            <a:off x="4846320" y="0"/>
            <a:ext cx="164592" cy="6858000"/>
          </a:xfrm>
          <a:prstGeom prst="rect">
            <a:avLst/>
          </a:prstGeom>
          <a:solidFill>
            <a:srgbClr val="FFB91D"/>
          </a:solidFill>
          <a:ln w="12700">
            <a:solidFill>
              <a:srgbClr val="FFB91D"/>
            </a:solidFill>
            <a:prstDash val="solid"/>
          </a:ln>
        </p:spPr>
      </p:sp>
      <p:sp>
        <p:nvSpPr>
          <p:cNvPr id="4" name="Text 1"/>
          <p:cNvSpPr/>
          <p:nvPr/>
        </p:nvSpPr>
        <p:spPr>
          <a:xfrm>
            <a:off x="5440680" y="411480"/>
            <a:ext cx="6202375" cy="274320"/>
          </a:xfrm>
          <a:prstGeom prst="rect">
            <a:avLst/>
          </a:prstGeom>
          <a:noFill/>
          <a:ln/>
        </p:spPr>
        <p:txBody>
          <a:bodyPr wrap="square" lIns="0" tIns="0" rIns="0" bIns="0" rtlCol="0" anchor="ctr"/>
          <a:lstStyle/>
          <a:p>
            <a:pPr indent="0" marL="0">
              <a:buNone/>
            </a:pPr>
            <a:r>
              <a:rPr lang="en-US" sz="1000" b="1" spc="260" kern="0" dirty="0">
                <a:solidFill>
                  <a:srgbClr val="005EB8"/>
                </a:solidFill>
                <a:latin typeface="Segoe UI" pitchFamily="34" charset="0"/>
                <a:ea typeface="Segoe UI" pitchFamily="34" charset="-122"/>
                <a:cs typeface="Segoe UI" pitchFamily="34" charset="-120"/>
              </a:rPr>
              <a:t>SEAN'S JOURNEY · STAGE 3 OF 5</a:t>
            </a:r>
            <a:endParaRPr lang="en-US" sz="1000" dirty="0"/>
          </a:p>
        </p:txBody>
      </p:sp>
      <p:sp>
        <p:nvSpPr>
          <p:cNvPr id="5" name="Text 2"/>
          <p:cNvSpPr/>
          <p:nvPr/>
        </p:nvSpPr>
        <p:spPr>
          <a:xfrm>
            <a:off x="5440680" y="685800"/>
            <a:ext cx="1051560" cy="868680"/>
          </a:xfrm>
          <a:prstGeom prst="rect">
            <a:avLst/>
          </a:prstGeom>
          <a:noFill/>
          <a:ln/>
        </p:spPr>
        <p:txBody>
          <a:bodyPr wrap="square" lIns="0" tIns="0" rIns="0" bIns="0" rtlCol="0" anchor="t"/>
          <a:lstStyle/>
          <a:p>
            <a:pPr indent="0" marL="0">
              <a:buNone/>
            </a:pPr>
            <a:r>
              <a:rPr lang="en-US" sz="5400" b="1" dirty="0">
                <a:solidFill>
                  <a:srgbClr val="FFB91D"/>
                </a:solidFill>
                <a:latin typeface="Segoe UI" pitchFamily="34" charset="0"/>
                <a:ea typeface="Segoe UI" pitchFamily="34" charset="-122"/>
                <a:cs typeface="Segoe UI" pitchFamily="34" charset="-120"/>
              </a:rPr>
              <a:t>03</a:t>
            </a:r>
            <a:endParaRPr lang="en-US" sz="5400" dirty="0"/>
          </a:p>
        </p:txBody>
      </p:sp>
      <p:sp>
        <p:nvSpPr>
          <p:cNvPr id="6" name="Text 3"/>
          <p:cNvSpPr/>
          <p:nvPr/>
        </p:nvSpPr>
        <p:spPr>
          <a:xfrm>
            <a:off x="6537960" y="731520"/>
            <a:ext cx="5105095" cy="821690"/>
          </a:xfrm>
          <a:prstGeom prst="rect">
            <a:avLst/>
          </a:prstGeom>
          <a:noFill/>
          <a:ln/>
        </p:spPr>
        <p:txBody>
          <a:bodyPr wrap="square" lIns="0" tIns="0" rIns="0" bIns="0" rtlCol="0" anchor="t">
            <a:normAutofit/>
          </a:bodyPr>
          <a:lstStyle/>
          <a:p>
            <a:pPr indent="0" marL="0">
              <a:buNone/>
            </a:pPr>
            <a:r>
              <a:rPr lang="en-US" sz="2350" b="1" dirty="0">
                <a:solidFill>
                  <a:srgbClr val="003087"/>
                </a:solidFill>
                <a:latin typeface="Segoe UI" pitchFamily="34" charset="0"/>
                <a:ea typeface="Segoe UI" pitchFamily="34" charset="-122"/>
                <a:cs typeface="Segoe UI" pitchFamily="34" charset="-120"/>
              </a:rPr>
              <a:t>Diagnosis: a test on his terms</a:t>
            </a:r>
            <a:endParaRPr lang="en-US" sz="2350" dirty="0"/>
          </a:p>
        </p:txBody>
      </p:sp>
      <p:sp>
        <p:nvSpPr>
          <p:cNvPr id="7" name="Text 4"/>
          <p:cNvSpPr/>
          <p:nvPr/>
        </p:nvSpPr>
        <p:spPr>
          <a:xfrm>
            <a:off x="6537960" y="1571498"/>
            <a:ext cx="5105095" cy="274320"/>
          </a:xfrm>
          <a:prstGeom prst="rect">
            <a:avLst/>
          </a:prstGeom>
          <a:noFill/>
          <a:ln/>
        </p:spPr>
        <p:txBody>
          <a:bodyPr wrap="square" lIns="0" tIns="0" rIns="0" bIns="0" rtlCol="0" anchor="ctr">
            <a:normAutofit/>
          </a:bodyPr>
          <a:lstStyle/>
          <a:p>
            <a:pPr indent="0" marL="0">
              <a:buNone/>
            </a:pPr>
            <a:r>
              <a:rPr lang="en-US" sz="1150" i="1" dirty="0">
                <a:solidFill>
                  <a:srgbClr val="4C6272"/>
                </a:solidFill>
                <a:latin typeface="Segoe UI" pitchFamily="34" charset="0"/>
                <a:ea typeface="Segoe UI" pitchFamily="34" charset="-122"/>
                <a:cs typeface="Segoe UI" pitchFamily="34" charset="-120"/>
              </a:rPr>
              <a:t>in his own kitchen</a:t>
            </a:r>
            <a:endParaRPr lang="en-US" sz="1150" dirty="0"/>
          </a:p>
        </p:txBody>
      </p:sp>
      <p:sp>
        <p:nvSpPr>
          <p:cNvPr id="8" name="Text 5"/>
          <p:cNvSpPr/>
          <p:nvPr/>
        </p:nvSpPr>
        <p:spPr>
          <a:xfrm>
            <a:off x="5440680" y="2001266"/>
            <a:ext cx="6202375" cy="812673"/>
          </a:xfrm>
          <a:prstGeom prst="rect">
            <a:avLst/>
          </a:prstGeom>
          <a:noFill/>
          <a:ln/>
        </p:spPr>
        <p:txBody>
          <a:bodyPr wrap="square" lIns="0" tIns="0" rIns="0" bIns="0" rtlCol="0" anchor="t">
            <a:normAutofit/>
          </a:bodyPr>
          <a:lstStyle/>
          <a:p>
            <a:pPr indent="0" marL="0">
              <a:buNone/>
            </a:pPr>
            <a:r>
              <a:rPr lang="en-US" sz="918" dirty="0">
                <a:solidFill>
                  <a:srgbClr val="212B32"/>
                </a:solidFill>
                <a:latin typeface="Segoe UI" pitchFamily="34" charset="0"/>
                <a:ea typeface="Segoe UI" pitchFamily="34" charset="-122"/>
                <a:cs typeface="Segoe UI" pitchFamily="34" charset="-120"/>
              </a:rPr>
              <a:t>The kit arrives. The test happens on Sean's terms, on a day when he's calm, after a night he actually slept, with his brother in the room. He takes the sample himself. The independence he fights for stays whole. The test he's missed too many times actually happens, and the result goes straight to the people who need to see it.</a:t>
            </a:r>
            <a:endParaRPr lang="en-US" sz="918" dirty="0"/>
          </a:p>
        </p:txBody>
      </p:sp>
      <p:sp>
        <p:nvSpPr>
          <p:cNvPr id="9" name="Shape 6"/>
          <p:cNvSpPr/>
          <p:nvPr/>
        </p:nvSpPr>
        <p:spPr>
          <a:xfrm>
            <a:off x="5440680" y="2951099"/>
            <a:ext cx="6202375" cy="496951"/>
          </a:xfrm>
          <a:prstGeom prst="rect">
            <a:avLst/>
          </a:prstGeom>
          <a:solidFill>
            <a:srgbClr val="FFF9EC"/>
          </a:solidFill>
          <a:ln w="15875">
            <a:solidFill>
              <a:srgbClr val="FFB91D"/>
            </a:solidFill>
            <a:prstDash val="solid"/>
          </a:ln>
          <a:effectLst>
            <a:outerShdw sx="100000" sy="100000" kx="0" ky="0" algn="bl" rotWithShape="0" blurRad="101600" dist="38100" dir="8100000">
              <a:srgbClr val="0A1F3C">
                <a:alpha val="16000"/>
              </a:srgbClr>
            </a:outerShdw>
          </a:effectLst>
        </p:spPr>
      </p:sp>
      <p:sp>
        <p:nvSpPr>
          <p:cNvPr id="10" name="Text 7"/>
          <p:cNvSpPr/>
          <p:nvPr/>
        </p:nvSpPr>
        <p:spPr>
          <a:xfrm>
            <a:off x="5669280" y="3060827"/>
            <a:ext cx="5745175" cy="277495"/>
          </a:xfrm>
          <a:prstGeom prst="rect">
            <a:avLst/>
          </a:prstGeom>
          <a:noFill/>
          <a:ln/>
        </p:spPr>
        <p:txBody>
          <a:bodyPr wrap="square" lIns="0" tIns="0" rIns="0" bIns="0" rtlCol="0" anchor="ctr">
            <a:normAutofit/>
          </a:bodyPr>
          <a:lstStyle/>
          <a:p>
            <a:pPr indent="0" marL="0">
              <a:buNone/>
            </a:pPr>
            <a:r>
              <a:rPr lang="en-US" sz="850" i="1" dirty="0">
                <a:solidFill>
                  <a:srgbClr val="212B32"/>
                </a:solidFill>
                <a:latin typeface="Segoe UI" pitchFamily="34" charset="0"/>
                <a:ea typeface="Segoe UI" pitchFamily="34" charset="-122"/>
                <a:cs typeface="Segoe UI" pitchFamily="34" charset="-120"/>
              </a:rPr>
              <a:t>“I don't mind the needle. I needed it to come to my house.”</a:t>
            </a:r>
            <a:pPr indent="0" marL="0">
              <a:buNone/>
            </a:pPr>
            <a:r>
              <a:rPr lang="en-US" sz="850" b="1" i="1" dirty="0">
                <a:solidFill>
                  <a:srgbClr val="212B32"/>
                </a:solidFill>
                <a:latin typeface="Segoe UI" pitchFamily="34" charset="0"/>
                <a:ea typeface="Segoe UI" pitchFamily="34" charset="-122"/>
                <a:cs typeface="Segoe UI" pitchFamily="34" charset="-120"/>
              </a:rPr>
              <a:t>  Sean</a:t>
            </a:r>
            <a:endParaRPr lang="en-US" sz="850" dirty="0"/>
          </a:p>
        </p:txBody>
      </p:sp>
      <p:sp>
        <p:nvSpPr>
          <p:cNvPr id="11" name="Shape 8"/>
          <p:cNvSpPr/>
          <p:nvPr/>
        </p:nvSpPr>
        <p:spPr>
          <a:xfrm>
            <a:off x="5440680" y="3585210"/>
            <a:ext cx="2986888" cy="292608"/>
          </a:xfrm>
          <a:prstGeom prst="rect">
            <a:avLst/>
          </a:prstGeom>
          <a:solidFill>
            <a:srgbClr val="003087"/>
          </a:solidFill>
          <a:ln w="12700">
            <a:solidFill>
              <a:srgbClr val="003087"/>
            </a:solidFill>
            <a:prstDash val="solid"/>
          </a:ln>
        </p:spPr>
      </p:sp>
      <p:sp>
        <p:nvSpPr>
          <p:cNvPr id="12" name="Text 9"/>
          <p:cNvSpPr/>
          <p:nvPr/>
        </p:nvSpPr>
        <p:spPr>
          <a:xfrm>
            <a:off x="5550408" y="3585210"/>
            <a:ext cx="2767432" cy="292608"/>
          </a:xfrm>
          <a:prstGeom prst="rect">
            <a:avLst/>
          </a:prstGeom>
          <a:noFill/>
          <a:ln/>
        </p:spPr>
        <p:txBody>
          <a:bodyPr wrap="square" lIns="0" tIns="0" rIns="0" bIns="0" rtlCol="0" anchor="ctr"/>
          <a:lstStyle/>
          <a:p>
            <a:pPr indent="0" marL="0">
              <a:buNone/>
            </a:pPr>
            <a:r>
              <a:rPr lang="en-US" sz="850" b="1" spc="140" kern="0" dirty="0">
                <a:solidFill>
                  <a:srgbClr val="FFFFFF"/>
                </a:solidFill>
                <a:latin typeface="Segoe UI" pitchFamily="34" charset="0"/>
                <a:ea typeface="Segoe UI" pitchFamily="34" charset="-122"/>
                <a:cs typeface="Segoe UI" pitchFamily="34" charset="-120"/>
              </a:rPr>
              <a:t>WHAT THE MODEL IS DOING UNDERNEATH</a:t>
            </a:r>
            <a:endParaRPr lang="en-US" sz="850" dirty="0"/>
          </a:p>
        </p:txBody>
      </p:sp>
      <p:sp>
        <p:nvSpPr>
          <p:cNvPr id="13" name="Shape 10"/>
          <p:cNvSpPr/>
          <p:nvPr/>
        </p:nvSpPr>
        <p:spPr>
          <a:xfrm>
            <a:off x="5440680" y="3877818"/>
            <a:ext cx="2986888" cy="1727454"/>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4" name="Text 11"/>
          <p:cNvSpPr/>
          <p:nvPr/>
        </p:nvSpPr>
        <p:spPr>
          <a:xfrm>
            <a:off x="5568696" y="3969258"/>
            <a:ext cx="2730856" cy="1445997"/>
          </a:xfrm>
          <a:prstGeom prst="rect">
            <a:avLst/>
          </a:prstGeom>
          <a:noFill/>
          <a:ln/>
        </p:spPr>
        <p:txBody>
          <a:bodyPr wrap="square" lIns="0" tIns="0" rIns="0" bIns="0" rtlCol="0" anchor="t">
            <a:normAutofit/>
          </a:bodyPr>
          <a:lstStyle/>
          <a:p>
            <a:pPr indent="0" marL="0">
              <a:buNone/>
            </a:pPr>
            <a:r>
              <a:rPr lang="en-US" sz="766" dirty="0">
                <a:solidFill>
                  <a:srgbClr val="212B32"/>
                </a:solidFill>
                <a:latin typeface="Segoe UI" pitchFamily="34" charset="0"/>
                <a:ea typeface="Segoe UI" pitchFamily="34" charset="-122"/>
                <a:cs typeface="Segoe UI" pitchFamily="34" charset="-120"/>
              </a:rPr>
              <a:t>Home venue moves the appointment off the clinic clock. Sean does the sample himself, not is done to. The kit is the appointment. No bus. No waiting room. No nine-in-the-morning alarm. The clinical pathway is unchanged. The biochemical result is the same. </a:t>
            </a:r>
            <a:pPr indent="0" marL="0">
              <a:buNone/>
            </a:pPr>
            <a:r>
              <a:rPr lang="en-US" sz="766" b="1" dirty="0">
                <a:solidFill>
                  <a:srgbClr val="212B32"/>
                </a:solidFill>
                <a:latin typeface="Segoe UI" pitchFamily="34" charset="0"/>
                <a:ea typeface="Segoe UI" pitchFamily="34" charset="-122"/>
                <a:cs typeface="Segoe UI" pitchFamily="34" charset="-120"/>
              </a:rPr>
              <a:t>What changes is the venue, the timing, and the design recognition that Sean's engagement profile is the constraint to design around, not the problem to blame.</a:t>
            </a:r>
            <a:endParaRPr lang="en-US" sz="766" dirty="0"/>
          </a:p>
        </p:txBody>
      </p:sp>
      <p:sp>
        <p:nvSpPr>
          <p:cNvPr id="15" name="Shape 12"/>
          <p:cNvSpPr/>
          <p:nvPr/>
        </p:nvSpPr>
        <p:spPr>
          <a:xfrm>
            <a:off x="8656168" y="3585210"/>
            <a:ext cx="2986888" cy="292608"/>
          </a:xfrm>
          <a:prstGeom prst="rect">
            <a:avLst/>
          </a:prstGeom>
          <a:solidFill>
            <a:srgbClr val="5B6770"/>
          </a:solidFill>
          <a:ln w="12700">
            <a:solidFill>
              <a:srgbClr val="5B6770"/>
            </a:solidFill>
            <a:prstDash val="solid"/>
          </a:ln>
        </p:spPr>
      </p:sp>
      <p:sp>
        <p:nvSpPr>
          <p:cNvPr id="16" name="Text 13"/>
          <p:cNvSpPr/>
          <p:nvPr/>
        </p:nvSpPr>
        <p:spPr>
          <a:xfrm>
            <a:off x="8765896" y="3585210"/>
            <a:ext cx="2767432" cy="292608"/>
          </a:xfrm>
          <a:prstGeom prst="rect">
            <a:avLst/>
          </a:prstGeom>
          <a:noFill/>
          <a:ln/>
        </p:spPr>
        <p:txBody>
          <a:bodyPr wrap="square" lIns="0" tIns="0" rIns="0" bIns="0" rtlCol="0" anchor="ctr"/>
          <a:lstStyle/>
          <a:p>
            <a:pPr indent="0" marL="0">
              <a:buNone/>
            </a:pPr>
            <a:r>
              <a:rPr lang="en-US" sz="850" b="1" spc="140" kern="0" dirty="0">
                <a:solidFill>
                  <a:srgbClr val="FFFFFF"/>
                </a:solidFill>
                <a:latin typeface="Segoe UI" pitchFamily="34" charset="0"/>
                <a:ea typeface="Segoe UI" pitchFamily="34" charset="-122"/>
                <a:cs typeface="Segoe UI" pitchFamily="34" charset="-120"/>
              </a:rPr>
              <a:t>THE OLD WAY</a:t>
            </a:r>
            <a:endParaRPr lang="en-US" sz="850" dirty="0"/>
          </a:p>
        </p:txBody>
      </p:sp>
      <p:sp>
        <p:nvSpPr>
          <p:cNvPr id="17" name="Shape 14"/>
          <p:cNvSpPr/>
          <p:nvPr/>
        </p:nvSpPr>
        <p:spPr>
          <a:xfrm>
            <a:off x="8656168" y="3877818"/>
            <a:ext cx="2986888" cy="1727454"/>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8" name="Text 15"/>
          <p:cNvSpPr/>
          <p:nvPr/>
        </p:nvSpPr>
        <p:spPr>
          <a:xfrm>
            <a:off x="8784184" y="3969258"/>
            <a:ext cx="2730856" cy="728472"/>
          </a:xfrm>
          <a:prstGeom prst="rect">
            <a:avLst/>
          </a:prstGeom>
          <a:noFill/>
          <a:ln/>
        </p:spPr>
        <p:txBody>
          <a:bodyPr wrap="square" lIns="0" tIns="0" rIns="0" bIns="0" rtlCol="0" anchor="t">
            <a:normAutofit/>
          </a:bodyPr>
          <a:lstStyle/>
          <a:p>
            <a:pPr indent="0" marL="0">
              <a:buNone/>
            </a:pPr>
            <a:r>
              <a:rPr lang="en-US" sz="816" dirty="0">
                <a:solidFill>
                  <a:srgbClr val="212B32"/>
                </a:solidFill>
                <a:latin typeface="Segoe UI" pitchFamily="34" charset="0"/>
                <a:ea typeface="Segoe UI" pitchFamily="34" charset="-122"/>
                <a:cs typeface="Segoe UI" pitchFamily="34" charset="-120"/>
              </a:rPr>
              <a:t>Refer for a clinic slot. Watch the appointment fight Sean's sleep cycle, his OCD-driven routines, the lost letter, the missed bus. Record the DNA. Refer again. Cycle.</a:t>
            </a:r>
            <a:endParaRPr lang="en-US" sz="816" dirty="0"/>
          </a:p>
        </p:txBody>
      </p:sp>
      <p:sp>
        <p:nvSpPr>
          <p:cNvPr id="19" name="Shape 16"/>
          <p:cNvSpPr/>
          <p:nvPr/>
        </p:nvSpPr>
        <p:spPr>
          <a:xfrm>
            <a:off x="5440680" y="5742432"/>
            <a:ext cx="6202375" cy="457200"/>
          </a:xfrm>
          <a:prstGeom prst="rect">
            <a:avLst/>
          </a:prstGeom>
          <a:solidFill>
            <a:srgbClr val="E8F3EE"/>
          </a:solidFill>
          <a:ln w="12700">
            <a:solidFill>
              <a:srgbClr val="E8F3EE"/>
            </a:solidFill>
            <a:prstDash val="solid"/>
          </a:ln>
        </p:spPr>
      </p:sp>
      <p:sp>
        <p:nvSpPr>
          <p:cNvPr id="20" name="Text 17"/>
          <p:cNvSpPr/>
          <p:nvPr/>
        </p:nvSpPr>
        <p:spPr>
          <a:xfrm>
            <a:off x="5577840" y="5742432"/>
            <a:ext cx="5928055" cy="457200"/>
          </a:xfrm>
          <a:prstGeom prst="rect">
            <a:avLst/>
          </a:prstGeom>
          <a:noFill/>
          <a:ln/>
        </p:spPr>
        <p:txBody>
          <a:bodyPr wrap="square" lIns="0" tIns="0" rIns="0" bIns="0" rtlCol="0" anchor="ctr">
            <a:normAutofit/>
          </a:bodyPr>
          <a:lstStyle/>
          <a:p>
            <a:pPr indent="0" marL="0">
              <a:buNone/>
            </a:pPr>
            <a:r>
              <a:rPr lang="en-US" sz="850" b="1" spc="120" kern="0" dirty="0">
                <a:solidFill>
                  <a:srgbClr val="006747"/>
                </a:solidFill>
                <a:latin typeface="Segoe UI" pitchFamily="34" charset="0"/>
                <a:ea typeface="Segoe UI" pitchFamily="34" charset="-122"/>
                <a:cs typeface="Segoe UI" pitchFamily="34" charset="-120"/>
              </a:rPr>
              <a:t>WHO SEAN'S CARE TEAM SEES  </a:t>
            </a:r>
            <a:pPr indent="0" marL="0">
              <a:buNone/>
            </a:pPr>
            <a:r>
              <a:rPr lang="en-US" sz="800" dirty="0">
                <a:solidFill>
                  <a:srgbClr val="212B32"/>
                </a:solidFill>
                <a:latin typeface="Segoe UI" pitchFamily="34" charset="0"/>
                <a:ea typeface="Segoe UI" pitchFamily="34" charset="-122"/>
                <a:cs typeface="Segoe UI" pitchFamily="34" charset="-120"/>
              </a:rPr>
              <a:t>Sean. His brother. The overnight carers. The home-test kit supplier. The GP holding the clinical pathway.</a:t>
            </a:r>
            <a:endParaRPr lang="en-US" sz="850" dirty="0"/>
          </a:p>
        </p:txBody>
      </p:sp>
      <p:sp>
        <p:nvSpPr>
          <p:cNvPr id="21" name="Text 18"/>
          <p:cNvSpPr/>
          <p:nvPr/>
        </p:nvSpPr>
        <p:spPr>
          <a:xfrm>
            <a:off x="5440680" y="6473952"/>
            <a:ext cx="3101188" cy="274320"/>
          </a:xfrm>
          <a:prstGeom prst="rect">
            <a:avLst/>
          </a:prstGeom>
          <a:noFill/>
          <a:ln/>
        </p:spPr>
        <p:txBody>
          <a:bodyPr wrap="square" lIns="0" tIns="0" rIns="0" bIns="0" rtlCol="0" anchor="ctr">
            <a:normAutofit/>
          </a:bodyPr>
          <a:lstStyle/>
          <a:p>
            <a:pPr indent="0" marL="0">
              <a:buNone/>
            </a:pPr>
            <a:r>
              <a:rPr lang="en-US" sz="800" dirty="0">
                <a:solidFill>
                  <a:srgbClr val="7E8B97"/>
                </a:solidFill>
                <a:latin typeface="Segoe UI" pitchFamily="34" charset="0"/>
                <a:ea typeface="Segoe UI" pitchFamily="34" charset="-122"/>
                <a:cs typeface="Segoe UI" pitchFamily="34" charset="-120"/>
              </a:rPr>
              <a:t>Hearts and Minds · Sean's journey · HomeTest operating model · September 2026</a:t>
            </a:r>
            <a:endParaRPr lang="en-US" sz="800" dirty="0"/>
          </a:p>
        </p:txBody>
      </p:sp>
      <p:sp>
        <p:nvSpPr>
          <p:cNvPr id="22" name="Text 19"/>
          <p:cNvSpPr/>
          <p:nvPr/>
        </p:nvSpPr>
        <p:spPr>
          <a:xfrm>
            <a:off x="8541868" y="6473952"/>
            <a:ext cx="2643988" cy="274320"/>
          </a:xfrm>
          <a:prstGeom prst="rect">
            <a:avLst/>
          </a:prstGeom>
          <a:noFill/>
          <a:ln/>
        </p:spPr>
        <p:txBody>
          <a:bodyPr wrap="square" lIns="0" tIns="0" rIns="0" bIns="0" rtlCol="0" anchor="ctr">
            <a:normAutofit/>
          </a:bodyPr>
          <a:lstStyle/>
          <a:p>
            <a:pPr algn="r" indent="0" marL="0">
              <a:buNone/>
            </a:pPr>
            <a:r>
              <a:rPr lang="en-US" sz="7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700" dirty="0"/>
          </a:p>
        </p:txBody>
      </p:sp>
      <p:sp>
        <p:nvSpPr>
          <p:cNvPr id="23" name="Text 20"/>
          <p:cNvSpPr/>
          <p:nvPr/>
        </p:nvSpPr>
        <p:spPr>
          <a:xfrm>
            <a:off x="11231575" y="6473952"/>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crops/sean-stage4-0.707.jpg">    </p:cNvPr>
          <p:cNvPicPr>
            <a:picLocks noChangeAspect="1"/>
          </p:cNvPicPr>
          <p:nvPr/>
        </p:nvPicPr>
        <p:blipFill>
          <a:blip r:embed="rId1"/>
          <a:stretch>
            <a:fillRect/>
          </a:stretch>
        </p:blipFill>
        <p:spPr>
          <a:xfrm>
            <a:off x="7345375" y="0"/>
            <a:ext cx="4846320" cy="6858000"/>
          </a:xfrm>
          <a:prstGeom prst="rect">
            <a:avLst/>
          </a:prstGeom>
        </p:spPr>
      </p:pic>
      <p:sp>
        <p:nvSpPr>
          <p:cNvPr id="3" name="Shape 0"/>
          <p:cNvSpPr/>
          <p:nvPr/>
        </p:nvSpPr>
        <p:spPr>
          <a:xfrm>
            <a:off x="7180783" y="0"/>
            <a:ext cx="164592" cy="6858000"/>
          </a:xfrm>
          <a:prstGeom prst="rect">
            <a:avLst/>
          </a:prstGeom>
          <a:solidFill>
            <a:srgbClr val="FFB91D"/>
          </a:solidFill>
          <a:ln w="12700">
            <a:solidFill>
              <a:srgbClr val="FFB91D"/>
            </a:solidFill>
            <a:prstDash val="solid"/>
          </a:ln>
        </p:spPr>
      </p:sp>
      <p:sp>
        <p:nvSpPr>
          <p:cNvPr id="4" name="Text 1"/>
          <p:cNvSpPr/>
          <p:nvPr/>
        </p:nvSpPr>
        <p:spPr>
          <a:xfrm>
            <a:off x="548640" y="411480"/>
            <a:ext cx="6220663" cy="274320"/>
          </a:xfrm>
          <a:prstGeom prst="rect">
            <a:avLst/>
          </a:prstGeom>
          <a:noFill/>
          <a:ln/>
        </p:spPr>
        <p:txBody>
          <a:bodyPr wrap="square" lIns="0" tIns="0" rIns="0" bIns="0" rtlCol="0" anchor="ctr"/>
          <a:lstStyle/>
          <a:p>
            <a:pPr indent="0" marL="0">
              <a:buNone/>
            </a:pPr>
            <a:r>
              <a:rPr lang="en-US" sz="1000" b="1" spc="260" kern="0" dirty="0">
                <a:solidFill>
                  <a:srgbClr val="005EB8"/>
                </a:solidFill>
                <a:latin typeface="Segoe UI" pitchFamily="34" charset="0"/>
                <a:ea typeface="Segoe UI" pitchFamily="34" charset="-122"/>
                <a:cs typeface="Segoe UI" pitchFamily="34" charset="-120"/>
              </a:rPr>
              <a:t>SEAN'S JOURNEY · STAGE 4 OF 5</a:t>
            </a:r>
            <a:endParaRPr lang="en-US" sz="1000" dirty="0"/>
          </a:p>
        </p:txBody>
      </p:sp>
      <p:sp>
        <p:nvSpPr>
          <p:cNvPr id="5" name="Text 2"/>
          <p:cNvSpPr/>
          <p:nvPr/>
        </p:nvSpPr>
        <p:spPr>
          <a:xfrm>
            <a:off x="548640" y="685800"/>
            <a:ext cx="1051560" cy="868680"/>
          </a:xfrm>
          <a:prstGeom prst="rect">
            <a:avLst/>
          </a:prstGeom>
          <a:noFill/>
          <a:ln/>
        </p:spPr>
        <p:txBody>
          <a:bodyPr wrap="square" lIns="0" tIns="0" rIns="0" bIns="0" rtlCol="0" anchor="t"/>
          <a:lstStyle/>
          <a:p>
            <a:pPr indent="0" marL="0">
              <a:buNone/>
            </a:pPr>
            <a:r>
              <a:rPr lang="en-US" sz="5400" b="1" dirty="0">
                <a:solidFill>
                  <a:srgbClr val="FFB91D"/>
                </a:solidFill>
                <a:latin typeface="Segoe UI" pitchFamily="34" charset="0"/>
                <a:ea typeface="Segoe UI" pitchFamily="34" charset="-122"/>
                <a:cs typeface="Segoe UI" pitchFamily="34" charset="-120"/>
              </a:rPr>
              <a:t>04</a:t>
            </a:r>
            <a:endParaRPr lang="en-US" sz="5400" dirty="0"/>
          </a:p>
        </p:txBody>
      </p:sp>
      <p:sp>
        <p:nvSpPr>
          <p:cNvPr id="6" name="Text 3"/>
          <p:cNvSpPr/>
          <p:nvPr/>
        </p:nvSpPr>
        <p:spPr>
          <a:xfrm>
            <a:off x="1645920" y="731520"/>
            <a:ext cx="5123383" cy="607060"/>
          </a:xfrm>
          <a:prstGeom prst="rect">
            <a:avLst/>
          </a:prstGeom>
          <a:noFill/>
          <a:ln/>
        </p:spPr>
        <p:txBody>
          <a:bodyPr wrap="square" lIns="0" tIns="0" rIns="0" bIns="0" rtlCol="0" anchor="t">
            <a:normAutofit/>
          </a:bodyPr>
          <a:lstStyle/>
          <a:p>
            <a:pPr indent="0" marL="0">
              <a:buNone/>
            </a:pPr>
            <a:r>
              <a:rPr lang="en-US" sz="1700" b="1" dirty="0">
                <a:solidFill>
                  <a:srgbClr val="003087"/>
                </a:solidFill>
                <a:latin typeface="Segoe UI" pitchFamily="34" charset="0"/>
                <a:ea typeface="Segoe UI" pitchFamily="34" charset="-122"/>
                <a:cs typeface="Segoe UI" pitchFamily="34" charset="-120"/>
              </a:rPr>
              <a:t>Treatment: the result lands with the people who can act on it</a:t>
            </a:r>
            <a:endParaRPr lang="en-US" sz="1700" dirty="0"/>
          </a:p>
        </p:txBody>
      </p:sp>
      <p:sp>
        <p:nvSpPr>
          <p:cNvPr id="7" name="Text 4"/>
          <p:cNvSpPr/>
          <p:nvPr/>
        </p:nvSpPr>
        <p:spPr>
          <a:xfrm>
            <a:off x="1645920" y="1356868"/>
            <a:ext cx="5123383" cy="274320"/>
          </a:xfrm>
          <a:prstGeom prst="rect">
            <a:avLst/>
          </a:prstGeom>
          <a:noFill/>
          <a:ln/>
        </p:spPr>
        <p:txBody>
          <a:bodyPr wrap="square" lIns="0" tIns="0" rIns="0" bIns="0" rtlCol="0" anchor="ctr">
            <a:normAutofit/>
          </a:bodyPr>
          <a:lstStyle/>
          <a:p>
            <a:pPr indent="0" marL="0">
              <a:buNone/>
            </a:pPr>
            <a:r>
              <a:rPr lang="en-US" sz="1150" i="1" dirty="0">
                <a:solidFill>
                  <a:srgbClr val="4C6272"/>
                </a:solidFill>
                <a:latin typeface="Segoe UI" pitchFamily="34" charset="0"/>
                <a:ea typeface="Segoe UI" pitchFamily="34" charset="-122"/>
                <a:cs typeface="Segoe UI" pitchFamily="34" charset="-120"/>
              </a:rPr>
              <a:t>the result lands with people who can act</a:t>
            </a:r>
            <a:endParaRPr lang="en-US" sz="1150" dirty="0"/>
          </a:p>
        </p:txBody>
      </p:sp>
      <p:sp>
        <p:nvSpPr>
          <p:cNvPr id="8" name="Text 5"/>
          <p:cNvSpPr/>
          <p:nvPr/>
        </p:nvSpPr>
        <p:spPr>
          <a:xfrm>
            <a:off x="548640" y="1828800"/>
            <a:ext cx="6220663" cy="910742"/>
          </a:xfrm>
          <a:prstGeom prst="rect">
            <a:avLst/>
          </a:prstGeom>
          <a:noFill/>
          <a:ln/>
        </p:spPr>
        <p:txBody>
          <a:bodyPr wrap="square" lIns="0" tIns="0" rIns="0" bIns="0" rtlCol="0" anchor="t">
            <a:normAutofit/>
          </a:bodyPr>
          <a:lstStyle/>
          <a:p>
            <a:pPr indent="0" marL="0">
              <a:buNone/>
            </a:pPr>
            <a:r>
              <a:rPr lang="en-US" sz="864" dirty="0">
                <a:solidFill>
                  <a:srgbClr val="212B32"/>
                </a:solidFill>
                <a:latin typeface="Segoe UI" pitchFamily="34" charset="0"/>
                <a:ea typeface="Segoe UI" pitchFamily="34" charset="-122"/>
                <a:cs typeface="Segoe UI" pitchFamily="34" charset="-120"/>
              </a:rPr>
              <a:t>The result goes to two places at once: Sean's GP record, and the family member he's nominated as his authorised representative. The clinical conversation that follows happens in a format Sean can engage with, and his brother is in the loop from the moment the result lands. The “we didn't know it was happening” gap closes. The medication, the follow-up, the next step. All of them have someone close to Sean who can support them.</a:t>
            </a:r>
            <a:endParaRPr lang="en-US" sz="864" dirty="0"/>
          </a:p>
        </p:txBody>
      </p:sp>
      <p:sp>
        <p:nvSpPr>
          <p:cNvPr id="9" name="Shape 6"/>
          <p:cNvSpPr/>
          <p:nvPr/>
        </p:nvSpPr>
        <p:spPr>
          <a:xfrm>
            <a:off x="548640" y="2876702"/>
            <a:ext cx="6220663" cy="620776"/>
          </a:xfrm>
          <a:prstGeom prst="rect">
            <a:avLst/>
          </a:prstGeom>
          <a:solidFill>
            <a:srgbClr val="FFF9EC"/>
          </a:solidFill>
          <a:ln w="15875">
            <a:solidFill>
              <a:srgbClr val="FFB91D"/>
            </a:solidFill>
            <a:prstDash val="solid"/>
          </a:ln>
          <a:effectLst>
            <a:outerShdw sx="100000" sy="100000" kx="0" ky="0" algn="bl" rotWithShape="0" blurRad="101600" dist="38100" dir="8100000">
              <a:srgbClr val="0A1F3C">
                <a:alpha val="16000"/>
              </a:srgbClr>
            </a:outerShdw>
          </a:effectLst>
        </p:spPr>
      </p:sp>
      <p:sp>
        <p:nvSpPr>
          <p:cNvPr id="10" name="Text 7"/>
          <p:cNvSpPr/>
          <p:nvPr/>
        </p:nvSpPr>
        <p:spPr>
          <a:xfrm>
            <a:off x="777240" y="2986430"/>
            <a:ext cx="5763463" cy="401320"/>
          </a:xfrm>
          <a:prstGeom prst="rect">
            <a:avLst/>
          </a:prstGeom>
          <a:noFill/>
          <a:ln/>
        </p:spPr>
        <p:txBody>
          <a:bodyPr wrap="square" lIns="0" tIns="0" rIns="0" bIns="0" rtlCol="0" anchor="ctr">
            <a:normAutofit/>
          </a:bodyPr>
          <a:lstStyle/>
          <a:p>
            <a:pPr indent="0" marL="0">
              <a:buNone/>
            </a:pPr>
            <a:r>
              <a:rPr lang="en-US" sz="800" i="1" dirty="0">
                <a:solidFill>
                  <a:srgbClr val="212B32"/>
                </a:solidFill>
                <a:latin typeface="Segoe UI" pitchFamily="34" charset="0"/>
                <a:ea typeface="Segoe UI" pitchFamily="34" charset="-122"/>
                <a:cs typeface="Segoe UI" pitchFamily="34" charset="-120"/>
              </a:rPr>
              <a:t>“I don't want to take this off him. I want to know it isn't falling through.”</a:t>
            </a:r>
            <a:pPr indent="0" marL="0">
              <a:buNone/>
            </a:pPr>
            <a:r>
              <a:rPr lang="en-US" sz="800" b="1" i="1" dirty="0">
                <a:solidFill>
                  <a:srgbClr val="212B32"/>
                </a:solidFill>
                <a:latin typeface="Segoe UI" pitchFamily="34" charset="0"/>
                <a:ea typeface="Segoe UI" pitchFamily="34" charset="-122"/>
                <a:cs typeface="Segoe UI" pitchFamily="34" charset="-120"/>
              </a:rPr>
              <a:t>  Sean's brother</a:t>
            </a:r>
            <a:endParaRPr lang="en-US" sz="800" dirty="0"/>
          </a:p>
        </p:txBody>
      </p:sp>
      <p:sp>
        <p:nvSpPr>
          <p:cNvPr id="11" name="Shape 8"/>
          <p:cNvSpPr/>
          <p:nvPr/>
        </p:nvSpPr>
        <p:spPr>
          <a:xfrm>
            <a:off x="548640" y="3634638"/>
            <a:ext cx="2996032" cy="292608"/>
          </a:xfrm>
          <a:prstGeom prst="rect">
            <a:avLst/>
          </a:prstGeom>
          <a:solidFill>
            <a:srgbClr val="003087"/>
          </a:solidFill>
          <a:ln w="12700">
            <a:solidFill>
              <a:srgbClr val="003087"/>
            </a:solidFill>
            <a:prstDash val="solid"/>
          </a:ln>
        </p:spPr>
      </p:sp>
      <p:sp>
        <p:nvSpPr>
          <p:cNvPr id="12" name="Text 9"/>
          <p:cNvSpPr/>
          <p:nvPr/>
        </p:nvSpPr>
        <p:spPr>
          <a:xfrm>
            <a:off x="658368" y="3634638"/>
            <a:ext cx="2776576" cy="292608"/>
          </a:xfrm>
          <a:prstGeom prst="rect">
            <a:avLst/>
          </a:prstGeom>
          <a:noFill/>
          <a:ln/>
        </p:spPr>
        <p:txBody>
          <a:bodyPr wrap="square" lIns="0" tIns="0" rIns="0" bIns="0" rtlCol="0" anchor="ctr"/>
          <a:lstStyle/>
          <a:p>
            <a:pPr indent="0" marL="0">
              <a:buNone/>
            </a:pPr>
            <a:r>
              <a:rPr lang="en-US" sz="850" b="1" spc="140" kern="0" dirty="0">
                <a:solidFill>
                  <a:srgbClr val="FFFFFF"/>
                </a:solidFill>
                <a:latin typeface="Segoe UI" pitchFamily="34" charset="0"/>
                <a:ea typeface="Segoe UI" pitchFamily="34" charset="-122"/>
                <a:cs typeface="Segoe UI" pitchFamily="34" charset="-120"/>
              </a:rPr>
              <a:t>WHAT THE MODEL IS DOING UNDERNEATH</a:t>
            </a:r>
            <a:endParaRPr lang="en-US" sz="850" dirty="0"/>
          </a:p>
        </p:txBody>
      </p:sp>
      <p:sp>
        <p:nvSpPr>
          <p:cNvPr id="13" name="Shape 10"/>
          <p:cNvSpPr/>
          <p:nvPr/>
        </p:nvSpPr>
        <p:spPr>
          <a:xfrm>
            <a:off x="548640" y="3927246"/>
            <a:ext cx="2996032" cy="1678026"/>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4" name="Text 11"/>
          <p:cNvSpPr/>
          <p:nvPr/>
        </p:nvSpPr>
        <p:spPr>
          <a:xfrm>
            <a:off x="676656" y="4018686"/>
            <a:ext cx="2740000" cy="1449629"/>
          </a:xfrm>
          <a:prstGeom prst="rect">
            <a:avLst/>
          </a:prstGeom>
          <a:noFill/>
          <a:ln/>
        </p:spPr>
        <p:txBody>
          <a:bodyPr wrap="square" lIns="0" tIns="0" rIns="0" bIns="0" rtlCol="0" anchor="t">
            <a:normAutofit/>
          </a:bodyPr>
          <a:lstStyle/>
          <a:p>
            <a:pPr indent="0" marL="0">
              <a:buNone/>
            </a:pPr>
            <a:r>
              <a:rPr lang="en-US" sz="768" dirty="0">
                <a:solidFill>
                  <a:srgbClr val="212B32"/>
                </a:solidFill>
                <a:latin typeface="Segoe UI" pitchFamily="34" charset="0"/>
                <a:ea typeface="Segoe UI" pitchFamily="34" charset="-122"/>
                <a:cs typeface="Segoe UI" pitchFamily="34" charset="-120"/>
              </a:rPr>
              <a:t>The clinical treatment pathway is unchanged. The authorisation model is the change. Sean's nominated next-of-kin (his brother) is registered on the HomeTest system as his authorised representative. Notify rails carry the result to two places: Sean's record at the practice, and his family. </a:t>
            </a:r>
            <a:pPr indent="0" marL="0">
              <a:buNone/>
            </a:pPr>
            <a:r>
              <a:rPr lang="en-US" sz="768" b="1" dirty="0">
                <a:solidFill>
                  <a:srgbClr val="212B32"/>
                </a:solidFill>
                <a:latin typeface="Segoe UI" pitchFamily="34" charset="0"/>
                <a:ea typeface="Segoe UI" pitchFamily="34" charset="-122"/>
                <a:cs typeface="Segoe UI" pitchFamily="34" charset="-120"/>
              </a:rPr>
              <a:t>The reasonable-adjustment flag stays live through every handover, but the new mechanic underneath it is the notification to the people who can act.</a:t>
            </a:r>
            <a:endParaRPr lang="en-US" sz="768" dirty="0"/>
          </a:p>
        </p:txBody>
      </p:sp>
      <p:sp>
        <p:nvSpPr>
          <p:cNvPr id="15" name="Shape 12"/>
          <p:cNvSpPr/>
          <p:nvPr/>
        </p:nvSpPr>
        <p:spPr>
          <a:xfrm>
            <a:off x="3773272" y="3634638"/>
            <a:ext cx="2996032" cy="292608"/>
          </a:xfrm>
          <a:prstGeom prst="rect">
            <a:avLst/>
          </a:prstGeom>
          <a:solidFill>
            <a:srgbClr val="5B6770"/>
          </a:solidFill>
          <a:ln w="12700">
            <a:solidFill>
              <a:srgbClr val="5B6770"/>
            </a:solidFill>
            <a:prstDash val="solid"/>
          </a:ln>
        </p:spPr>
      </p:sp>
      <p:sp>
        <p:nvSpPr>
          <p:cNvPr id="16" name="Text 13"/>
          <p:cNvSpPr/>
          <p:nvPr/>
        </p:nvSpPr>
        <p:spPr>
          <a:xfrm>
            <a:off x="3883000" y="3634638"/>
            <a:ext cx="2776576" cy="292608"/>
          </a:xfrm>
          <a:prstGeom prst="rect">
            <a:avLst/>
          </a:prstGeom>
          <a:noFill/>
          <a:ln/>
        </p:spPr>
        <p:txBody>
          <a:bodyPr wrap="square" lIns="0" tIns="0" rIns="0" bIns="0" rtlCol="0" anchor="ctr"/>
          <a:lstStyle/>
          <a:p>
            <a:pPr indent="0" marL="0">
              <a:buNone/>
            </a:pPr>
            <a:r>
              <a:rPr lang="en-US" sz="850" b="1" spc="140" kern="0" dirty="0">
                <a:solidFill>
                  <a:srgbClr val="FFFFFF"/>
                </a:solidFill>
                <a:latin typeface="Segoe UI" pitchFamily="34" charset="0"/>
                <a:ea typeface="Segoe UI" pitchFamily="34" charset="-122"/>
                <a:cs typeface="Segoe UI" pitchFamily="34" charset="-120"/>
              </a:rPr>
              <a:t>THE OLD WAY</a:t>
            </a:r>
            <a:endParaRPr lang="en-US" sz="850" dirty="0"/>
          </a:p>
        </p:txBody>
      </p:sp>
      <p:sp>
        <p:nvSpPr>
          <p:cNvPr id="17" name="Shape 14"/>
          <p:cNvSpPr/>
          <p:nvPr/>
        </p:nvSpPr>
        <p:spPr>
          <a:xfrm>
            <a:off x="3773272" y="3927246"/>
            <a:ext cx="2996032" cy="1678026"/>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8" name="Text 15"/>
          <p:cNvSpPr/>
          <p:nvPr/>
        </p:nvSpPr>
        <p:spPr>
          <a:xfrm>
            <a:off x="3901288" y="4018686"/>
            <a:ext cx="2740000" cy="1069238"/>
          </a:xfrm>
          <a:prstGeom prst="rect">
            <a:avLst/>
          </a:prstGeom>
          <a:noFill/>
          <a:ln/>
        </p:spPr>
        <p:txBody>
          <a:bodyPr wrap="square" lIns="0" tIns="0" rIns="0" bIns="0" rtlCol="0" anchor="t">
            <a:normAutofit/>
          </a:bodyPr>
          <a:lstStyle/>
          <a:p>
            <a:pPr indent="0" marL="0">
              <a:buNone/>
            </a:pPr>
            <a:r>
              <a:rPr lang="en-US" sz="768" dirty="0">
                <a:solidFill>
                  <a:srgbClr val="212B32"/>
                </a:solidFill>
                <a:latin typeface="Segoe UI" pitchFamily="34" charset="0"/>
                <a:ea typeface="Segoe UI" pitchFamily="34" charset="-122"/>
                <a:cs typeface="Segoe UI" pitchFamily="34" charset="-120"/>
              </a:rPr>
              <a:t>Result lands at the practice. Maybe it's flagged. Maybe a letter goes out. Maybe Sean opens it. Maybe he doesn't. Maybe the family find out months later, when something has already gone wrong. The medication never gets taken consistently because nobody close to him knows it was prescribed.</a:t>
            </a:r>
            <a:endParaRPr lang="en-US" sz="768" dirty="0"/>
          </a:p>
        </p:txBody>
      </p:sp>
      <p:sp>
        <p:nvSpPr>
          <p:cNvPr id="19" name="Shape 16"/>
          <p:cNvSpPr/>
          <p:nvPr/>
        </p:nvSpPr>
        <p:spPr>
          <a:xfrm>
            <a:off x="548640" y="5742432"/>
            <a:ext cx="6220663" cy="457200"/>
          </a:xfrm>
          <a:prstGeom prst="rect">
            <a:avLst/>
          </a:prstGeom>
          <a:solidFill>
            <a:srgbClr val="E8F3EE"/>
          </a:solidFill>
          <a:ln w="12700">
            <a:solidFill>
              <a:srgbClr val="E8F3EE"/>
            </a:solidFill>
            <a:prstDash val="solid"/>
          </a:ln>
        </p:spPr>
      </p:sp>
      <p:sp>
        <p:nvSpPr>
          <p:cNvPr id="20" name="Text 17"/>
          <p:cNvSpPr/>
          <p:nvPr/>
        </p:nvSpPr>
        <p:spPr>
          <a:xfrm>
            <a:off x="685800" y="5742432"/>
            <a:ext cx="5946343" cy="457200"/>
          </a:xfrm>
          <a:prstGeom prst="rect">
            <a:avLst/>
          </a:prstGeom>
          <a:noFill/>
          <a:ln/>
        </p:spPr>
        <p:txBody>
          <a:bodyPr wrap="square" lIns="0" tIns="0" rIns="0" bIns="0" rtlCol="0" anchor="ctr">
            <a:normAutofit/>
          </a:bodyPr>
          <a:lstStyle/>
          <a:p>
            <a:pPr indent="0" marL="0">
              <a:buNone/>
            </a:pPr>
            <a:r>
              <a:rPr lang="en-US" sz="850" b="1" spc="120" kern="0" dirty="0">
                <a:solidFill>
                  <a:srgbClr val="006747"/>
                </a:solidFill>
                <a:latin typeface="Segoe UI" pitchFamily="34" charset="0"/>
                <a:ea typeface="Segoe UI" pitchFamily="34" charset="-122"/>
                <a:cs typeface="Segoe UI" pitchFamily="34" charset="-120"/>
              </a:rPr>
              <a:t>WHO SEAN'S CARE TEAM SEES  </a:t>
            </a:r>
            <a:pPr indent="0" marL="0">
              <a:buNone/>
            </a:pPr>
            <a:r>
              <a:rPr lang="en-US" sz="800" dirty="0">
                <a:solidFill>
                  <a:srgbClr val="212B32"/>
                </a:solidFill>
                <a:latin typeface="Segoe UI" pitchFamily="34" charset="0"/>
                <a:ea typeface="Segoe UI" pitchFamily="34" charset="-122"/>
                <a:cs typeface="Segoe UI" pitchFamily="34" charset="-120"/>
              </a:rPr>
              <a:t>Sean's GP. Practice pharmacist. The learning disability liaison nurse. Sean's brother as authorised representative. The overnight carers.</a:t>
            </a:r>
            <a:endParaRPr lang="en-US" sz="850" dirty="0"/>
          </a:p>
        </p:txBody>
      </p:sp>
      <p:sp>
        <p:nvSpPr>
          <p:cNvPr id="21" name="Text 18"/>
          <p:cNvSpPr/>
          <p:nvPr/>
        </p:nvSpPr>
        <p:spPr>
          <a:xfrm>
            <a:off x="548640" y="6473952"/>
            <a:ext cx="3110332" cy="274320"/>
          </a:xfrm>
          <a:prstGeom prst="rect">
            <a:avLst/>
          </a:prstGeom>
          <a:noFill/>
          <a:ln/>
        </p:spPr>
        <p:txBody>
          <a:bodyPr wrap="square" lIns="0" tIns="0" rIns="0" bIns="0" rtlCol="0" anchor="ctr">
            <a:normAutofit/>
          </a:bodyPr>
          <a:lstStyle/>
          <a:p>
            <a:pPr indent="0" marL="0">
              <a:buNone/>
            </a:pPr>
            <a:r>
              <a:rPr lang="en-US" sz="800" dirty="0">
                <a:solidFill>
                  <a:srgbClr val="7E8B97"/>
                </a:solidFill>
                <a:latin typeface="Segoe UI" pitchFamily="34" charset="0"/>
                <a:ea typeface="Segoe UI" pitchFamily="34" charset="-122"/>
                <a:cs typeface="Segoe UI" pitchFamily="34" charset="-120"/>
              </a:rPr>
              <a:t>Hearts and Minds · Sean's journey · HomeTest operating model · September 2026</a:t>
            </a:r>
            <a:endParaRPr lang="en-US" sz="800" dirty="0"/>
          </a:p>
        </p:txBody>
      </p:sp>
      <p:sp>
        <p:nvSpPr>
          <p:cNvPr id="22" name="Text 19"/>
          <p:cNvSpPr/>
          <p:nvPr/>
        </p:nvSpPr>
        <p:spPr>
          <a:xfrm>
            <a:off x="3658972" y="6473952"/>
            <a:ext cx="2653132" cy="274320"/>
          </a:xfrm>
          <a:prstGeom prst="rect">
            <a:avLst/>
          </a:prstGeom>
          <a:noFill/>
          <a:ln/>
        </p:spPr>
        <p:txBody>
          <a:bodyPr wrap="square" lIns="0" tIns="0" rIns="0" bIns="0" rtlCol="0" anchor="ctr">
            <a:normAutofit/>
          </a:bodyPr>
          <a:lstStyle/>
          <a:p>
            <a:pPr algn="r" indent="0" marL="0">
              <a:buNone/>
            </a:pPr>
            <a:r>
              <a:rPr lang="en-US" sz="7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700" dirty="0"/>
          </a:p>
        </p:txBody>
      </p:sp>
      <p:sp>
        <p:nvSpPr>
          <p:cNvPr id="23" name="Text 20"/>
          <p:cNvSpPr/>
          <p:nvPr/>
        </p:nvSpPr>
        <p:spPr>
          <a:xfrm>
            <a:off x="6357823" y="6473952"/>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pic>
        <p:nvPicPr>
          <p:cNvPr id="2" name="Image 0" descr="/sessions/quirky-zen-galileo/mnt/NHS/07 Sites &amp; Repos/dtx-ecosystem/hearts-and-minds/_generators/assets/crops/sean-stage5-0.707.jpg">    </p:cNvPr>
          <p:cNvPicPr>
            <a:picLocks noChangeAspect="1"/>
          </p:cNvPicPr>
          <p:nvPr/>
        </p:nvPicPr>
        <p:blipFill>
          <a:blip r:embed="rId1"/>
          <a:stretch>
            <a:fillRect/>
          </a:stretch>
        </p:blipFill>
        <p:spPr>
          <a:xfrm>
            <a:off x="0" y="0"/>
            <a:ext cx="4846320" cy="6858000"/>
          </a:xfrm>
          <a:prstGeom prst="rect">
            <a:avLst/>
          </a:prstGeom>
        </p:spPr>
      </p:pic>
      <p:sp>
        <p:nvSpPr>
          <p:cNvPr id="3" name="Shape 0"/>
          <p:cNvSpPr/>
          <p:nvPr/>
        </p:nvSpPr>
        <p:spPr>
          <a:xfrm>
            <a:off x="4846320" y="0"/>
            <a:ext cx="164592" cy="6858000"/>
          </a:xfrm>
          <a:prstGeom prst="rect">
            <a:avLst/>
          </a:prstGeom>
          <a:solidFill>
            <a:srgbClr val="FFB91D"/>
          </a:solidFill>
          <a:ln w="12700">
            <a:solidFill>
              <a:srgbClr val="FFB91D"/>
            </a:solidFill>
            <a:prstDash val="solid"/>
          </a:ln>
        </p:spPr>
      </p:sp>
      <p:sp>
        <p:nvSpPr>
          <p:cNvPr id="4" name="Text 1"/>
          <p:cNvSpPr/>
          <p:nvPr/>
        </p:nvSpPr>
        <p:spPr>
          <a:xfrm>
            <a:off x="5440680" y="411480"/>
            <a:ext cx="6202375" cy="274320"/>
          </a:xfrm>
          <a:prstGeom prst="rect">
            <a:avLst/>
          </a:prstGeom>
          <a:noFill/>
          <a:ln/>
        </p:spPr>
        <p:txBody>
          <a:bodyPr wrap="square" lIns="0" tIns="0" rIns="0" bIns="0" rtlCol="0" anchor="ctr"/>
          <a:lstStyle/>
          <a:p>
            <a:pPr indent="0" marL="0">
              <a:buNone/>
            </a:pPr>
            <a:r>
              <a:rPr lang="en-US" sz="1000" b="1" spc="260" kern="0" dirty="0">
                <a:solidFill>
                  <a:srgbClr val="005EB8"/>
                </a:solidFill>
                <a:latin typeface="Segoe UI" pitchFamily="34" charset="0"/>
                <a:ea typeface="Segoe UI" pitchFamily="34" charset="-122"/>
                <a:cs typeface="Segoe UI" pitchFamily="34" charset="-120"/>
              </a:rPr>
              <a:t>SEAN'S JOURNEY · STAGE 5 OF 5</a:t>
            </a:r>
            <a:endParaRPr lang="en-US" sz="1000" dirty="0"/>
          </a:p>
        </p:txBody>
      </p:sp>
      <p:sp>
        <p:nvSpPr>
          <p:cNvPr id="5" name="Text 2"/>
          <p:cNvSpPr/>
          <p:nvPr/>
        </p:nvSpPr>
        <p:spPr>
          <a:xfrm>
            <a:off x="5440680" y="685800"/>
            <a:ext cx="1051560" cy="868680"/>
          </a:xfrm>
          <a:prstGeom prst="rect">
            <a:avLst/>
          </a:prstGeom>
          <a:noFill/>
          <a:ln/>
        </p:spPr>
        <p:txBody>
          <a:bodyPr wrap="square" lIns="0" tIns="0" rIns="0" bIns="0" rtlCol="0" anchor="t"/>
          <a:lstStyle/>
          <a:p>
            <a:pPr indent="0" marL="0">
              <a:buNone/>
            </a:pPr>
            <a:r>
              <a:rPr lang="en-US" sz="5400" b="1" dirty="0">
                <a:solidFill>
                  <a:srgbClr val="FFB91D"/>
                </a:solidFill>
                <a:latin typeface="Segoe UI" pitchFamily="34" charset="0"/>
                <a:ea typeface="Segoe UI" pitchFamily="34" charset="-122"/>
                <a:cs typeface="Segoe UI" pitchFamily="34" charset="-120"/>
              </a:rPr>
              <a:t>05</a:t>
            </a:r>
            <a:endParaRPr lang="en-US" sz="5400" dirty="0"/>
          </a:p>
        </p:txBody>
      </p:sp>
      <p:sp>
        <p:nvSpPr>
          <p:cNvPr id="6" name="Text 3"/>
          <p:cNvSpPr/>
          <p:nvPr/>
        </p:nvSpPr>
        <p:spPr>
          <a:xfrm>
            <a:off x="6537960" y="731520"/>
            <a:ext cx="5105095" cy="623570"/>
          </a:xfrm>
          <a:prstGeom prst="rect">
            <a:avLst/>
          </a:prstGeom>
          <a:noFill/>
          <a:ln/>
        </p:spPr>
        <p:txBody>
          <a:bodyPr wrap="square" lIns="0" tIns="0" rIns="0" bIns="0" rtlCol="0" anchor="t">
            <a:normAutofit/>
          </a:bodyPr>
          <a:lstStyle/>
          <a:p>
            <a:pPr indent="0" marL="0">
              <a:buNone/>
            </a:pPr>
            <a:r>
              <a:rPr lang="en-US" sz="1750" b="1" dirty="0">
                <a:solidFill>
                  <a:srgbClr val="003087"/>
                </a:solidFill>
                <a:latin typeface="Segoe UI" pitchFamily="34" charset="0"/>
                <a:ea typeface="Segoe UI" pitchFamily="34" charset="-122"/>
                <a:cs typeface="Segoe UI" pitchFamily="34" charset="-120"/>
              </a:rPr>
              <a:t>Long-term optimisation: the cohort the system actually holds</a:t>
            </a:r>
            <a:endParaRPr lang="en-US" sz="1750" dirty="0"/>
          </a:p>
        </p:txBody>
      </p:sp>
      <p:sp>
        <p:nvSpPr>
          <p:cNvPr id="7" name="Text 4"/>
          <p:cNvSpPr/>
          <p:nvPr/>
        </p:nvSpPr>
        <p:spPr>
          <a:xfrm>
            <a:off x="6537960" y="1373378"/>
            <a:ext cx="5105095" cy="274320"/>
          </a:xfrm>
          <a:prstGeom prst="rect">
            <a:avLst/>
          </a:prstGeom>
          <a:noFill/>
          <a:ln/>
        </p:spPr>
        <p:txBody>
          <a:bodyPr wrap="square" lIns="0" tIns="0" rIns="0" bIns="0" rtlCol="0" anchor="ctr">
            <a:normAutofit/>
          </a:bodyPr>
          <a:lstStyle/>
          <a:p>
            <a:pPr indent="0" marL="0">
              <a:buNone/>
            </a:pPr>
            <a:r>
              <a:rPr lang="en-US" sz="1150" i="1" dirty="0">
                <a:solidFill>
                  <a:srgbClr val="4C6272"/>
                </a:solidFill>
                <a:latin typeface="Segoe UI" pitchFamily="34" charset="0"/>
                <a:ea typeface="Segoe UI" pitchFamily="34" charset="-122"/>
                <a:cs typeface="Segoe UI" pitchFamily="34" charset="-120"/>
              </a:rPr>
              <a:t>the chain that doesn't break</a:t>
            </a:r>
            <a:endParaRPr lang="en-US" sz="1150" dirty="0"/>
          </a:p>
        </p:txBody>
      </p:sp>
      <p:sp>
        <p:nvSpPr>
          <p:cNvPr id="8" name="Text 5"/>
          <p:cNvSpPr/>
          <p:nvPr/>
        </p:nvSpPr>
        <p:spPr>
          <a:xfrm>
            <a:off x="5440680" y="1828800"/>
            <a:ext cx="6202375" cy="768096"/>
          </a:xfrm>
          <a:prstGeom prst="rect">
            <a:avLst/>
          </a:prstGeom>
          <a:noFill/>
          <a:ln/>
        </p:spPr>
        <p:txBody>
          <a:bodyPr wrap="square" lIns="0" tIns="0" rIns="0" bIns="0" rtlCol="0" anchor="t">
            <a:normAutofit/>
          </a:bodyPr>
          <a:lstStyle/>
          <a:p>
            <a:pPr indent="0" marL="0">
              <a:buNone/>
            </a:pPr>
            <a:r>
              <a:rPr lang="en-US" sz="864" dirty="0">
                <a:solidFill>
                  <a:srgbClr val="212B32"/>
                </a:solidFill>
                <a:latin typeface="Segoe UI" pitchFamily="34" charset="0"/>
                <a:ea typeface="Segoe UI" pitchFamily="34" charset="-122"/>
                <a:cs typeface="Segoe UI" pitchFamily="34" charset="-120"/>
              </a:rPr>
              <a:t>The next test is on a calendar Sean's brother can see. The flags stay live. The materials stay accessible. Sean's parents are in their seventies, and the day responsibility shifts to his brother is the day the model proves whether it's a system or just a policy. The 19.5-year mortality gap for people with a learning disability is not Sean's problem. Closing it is what holding him properly is made of.</a:t>
            </a:r>
            <a:endParaRPr lang="en-US" sz="864" dirty="0"/>
          </a:p>
        </p:txBody>
      </p:sp>
      <p:sp>
        <p:nvSpPr>
          <p:cNvPr id="9" name="Shape 6"/>
          <p:cNvSpPr/>
          <p:nvPr/>
        </p:nvSpPr>
        <p:spPr>
          <a:xfrm>
            <a:off x="5440680" y="2734056"/>
            <a:ext cx="6202375" cy="620776"/>
          </a:xfrm>
          <a:prstGeom prst="rect">
            <a:avLst/>
          </a:prstGeom>
          <a:solidFill>
            <a:srgbClr val="FFF9EC"/>
          </a:solidFill>
          <a:ln w="15875">
            <a:solidFill>
              <a:srgbClr val="FFB91D"/>
            </a:solidFill>
            <a:prstDash val="solid"/>
          </a:ln>
          <a:effectLst>
            <a:outerShdw sx="100000" sy="100000" kx="0" ky="0" algn="bl" rotWithShape="0" blurRad="101600" dist="38100" dir="8100000">
              <a:srgbClr val="0A1F3C">
                <a:alpha val="16000"/>
              </a:srgbClr>
            </a:outerShdw>
          </a:effectLst>
        </p:spPr>
      </p:sp>
      <p:sp>
        <p:nvSpPr>
          <p:cNvPr id="10" name="Text 7"/>
          <p:cNvSpPr/>
          <p:nvPr/>
        </p:nvSpPr>
        <p:spPr>
          <a:xfrm>
            <a:off x="5669280" y="2843784"/>
            <a:ext cx="5745175" cy="401320"/>
          </a:xfrm>
          <a:prstGeom prst="rect">
            <a:avLst/>
          </a:prstGeom>
          <a:noFill/>
          <a:ln/>
        </p:spPr>
        <p:txBody>
          <a:bodyPr wrap="square" lIns="0" tIns="0" rIns="0" bIns="0" rtlCol="0" anchor="ctr">
            <a:normAutofit/>
          </a:bodyPr>
          <a:lstStyle/>
          <a:p>
            <a:pPr indent="0" marL="0">
              <a:buNone/>
            </a:pPr>
            <a:r>
              <a:rPr lang="en-US" sz="800" i="1" dirty="0">
                <a:solidFill>
                  <a:srgbClr val="212B32"/>
                </a:solidFill>
                <a:latin typeface="Segoe UI" pitchFamily="34" charset="0"/>
                <a:ea typeface="Segoe UI" pitchFamily="34" charset="-122"/>
                <a:cs typeface="Segoe UI" pitchFamily="34" charset="-120"/>
              </a:rPr>
              <a:t>“My parents are in their seventies. Soon this is on me. The model is what stops me failing him.”</a:t>
            </a:r>
            <a:pPr indent="0" marL="0">
              <a:buNone/>
            </a:pPr>
            <a:r>
              <a:rPr lang="en-US" sz="800" b="1" i="1" dirty="0">
                <a:solidFill>
                  <a:srgbClr val="212B32"/>
                </a:solidFill>
                <a:latin typeface="Segoe UI" pitchFamily="34" charset="0"/>
                <a:ea typeface="Segoe UI" pitchFamily="34" charset="-122"/>
                <a:cs typeface="Segoe UI" pitchFamily="34" charset="-120"/>
              </a:rPr>
              <a:t>  Sean's brother</a:t>
            </a:r>
            <a:endParaRPr lang="en-US" sz="800" dirty="0"/>
          </a:p>
        </p:txBody>
      </p:sp>
      <p:sp>
        <p:nvSpPr>
          <p:cNvPr id="11" name="Shape 8"/>
          <p:cNvSpPr/>
          <p:nvPr/>
        </p:nvSpPr>
        <p:spPr>
          <a:xfrm>
            <a:off x="5440680" y="3491992"/>
            <a:ext cx="2986888" cy="292608"/>
          </a:xfrm>
          <a:prstGeom prst="rect">
            <a:avLst/>
          </a:prstGeom>
          <a:solidFill>
            <a:srgbClr val="003087"/>
          </a:solidFill>
          <a:ln w="12700">
            <a:solidFill>
              <a:srgbClr val="003087"/>
            </a:solidFill>
            <a:prstDash val="solid"/>
          </a:ln>
        </p:spPr>
      </p:sp>
      <p:sp>
        <p:nvSpPr>
          <p:cNvPr id="12" name="Text 9"/>
          <p:cNvSpPr/>
          <p:nvPr/>
        </p:nvSpPr>
        <p:spPr>
          <a:xfrm>
            <a:off x="5550408" y="3491992"/>
            <a:ext cx="2767432" cy="292608"/>
          </a:xfrm>
          <a:prstGeom prst="rect">
            <a:avLst/>
          </a:prstGeom>
          <a:noFill/>
          <a:ln/>
        </p:spPr>
        <p:txBody>
          <a:bodyPr wrap="square" lIns="0" tIns="0" rIns="0" bIns="0" rtlCol="0" anchor="ctr"/>
          <a:lstStyle/>
          <a:p>
            <a:pPr indent="0" marL="0">
              <a:buNone/>
            </a:pPr>
            <a:r>
              <a:rPr lang="en-US" sz="850" b="1" spc="140" kern="0" dirty="0">
                <a:solidFill>
                  <a:srgbClr val="FFFFFF"/>
                </a:solidFill>
                <a:latin typeface="Segoe UI" pitchFamily="34" charset="0"/>
                <a:ea typeface="Segoe UI" pitchFamily="34" charset="-122"/>
                <a:cs typeface="Segoe UI" pitchFamily="34" charset="-120"/>
              </a:rPr>
              <a:t>WHAT THE MODEL IS DOING UNDERNEATH</a:t>
            </a:r>
            <a:endParaRPr lang="en-US" sz="850" dirty="0"/>
          </a:p>
        </p:txBody>
      </p:sp>
      <p:sp>
        <p:nvSpPr>
          <p:cNvPr id="13" name="Shape 10"/>
          <p:cNvSpPr/>
          <p:nvPr/>
        </p:nvSpPr>
        <p:spPr>
          <a:xfrm>
            <a:off x="5440680" y="3784600"/>
            <a:ext cx="2986888" cy="1735328"/>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4" name="Text 11"/>
          <p:cNvSpPr/>
          <p:nvPr/>
        </p:nvSpPr>
        <p:spPr>
          <a:xfrm>
            <a:off x="5568696" y="3876040"/>
            <a:ext cx="2730856" cy="1322832"/>
          </a:xfrm>
          <a:prstGeom prst="rect">
            <a:avLst/>
          </a:prstGeom>
          <a:noFill/>
          <a:ln/>
        </p:spPr>
        <p:txBody>
          <a:bodyPr wrap="square" lIns="0" tIns="0" rIns="0" bIns="0" rtlCol="0" anchor="t">
            <a:normAutofit/>
          </a:bodyPr>
          <a:lstStyle/>
          <a:p>
            <a:pPr indent="0" marL="0">
              <a:buNone/>
            </a:pPr>
            <a:r>
              <a:rPr lang="en-US" sz="768" dirty="0">
                <a:solidFill>
                  <a:srgbClr val="212B32"/>
                </a:solidFill>
                <a:latin typeface="Segoe UI" pitchFamily="34" charset="0"/>
                <a:ea typeface="Segoe UI" pitchFamily="34" charset="-122"/>
                <a:cs typeface="Segoe UI" pitchFamily="34" charset="-120"/>
              </a:rPr>
              <a:t>39% of reviewed deaths of people with a learning disability were assessed as avoidable (LeDeR annual report 2023, published 2025). Persistence is what closes that gap: persistence of the authorisation, persistence of the flag, persistence of the support-network notification. </a:t>
            </a:r>
            <a:pPr indent="0" marL="0">
              <a:buNone/>
            </a:pPr>
            <a:r>
              <a:rPr lang="en-US" sz="768" b="1" dirty="0">
                <a:solidFill>
                  <a:srgbClr val="212B32"/>
                </a:solidFill>
                <a:latin typeface="Segoe UI" pitchFamily="34" charset="0"/>
                <a:ea typeface="Segoe UI" pitchFamily="34" charset="-122"/>
                <a:cs typeface="Segoe UI" pitchFamily="34" charset="-120"/>
              </a:rPr>
              <a:t>The home pathway holds the cohort the system identifies. That is the response that turns identification into care.</a:t>
            </a:r>
            <a:endParaRPr lang="en-US" sz="768" dirty="0"/>
          </a:p>
        </p:txBody>
      </p:sp>
      <p:sp>
        <p:nvSpPr>
          <p:cNvPr id="15" name="Shape 12"/>
          <p:cNvSpPr/>
          <p:nvPr/>
        </p:nvSpPr>
        <p:spPr>
          <a:xfrm>
            <a:off x="8656168" y="3491992"/>
            <a:ext cx="2986888" cy="292608"/>
          </a:xfrm>
          <a:prstGeom prst="rect">
            <a:avLst/>
          </a:prstGeom>
          <a:solidFill>
            <a:srgbClr val="5B6770"/>
          </a:solidFill>
          <a:ln w="12700">
            <a:solidFill>
              <a:srgbClr val="5B6770"/>
            </a:solidFill>
            <a:prstDash val="solid"/>
          </a:ln>
        </p:spPr>
      </p:sp>
      <p:sp>
        <p:nvSpPr>
          <p:cNvPr id="16" name="Text 13"/>
          <p:cNvSpPr/>
          <p:nvPr/>
        </p:nvSpPr>
        <p:spPr>
          <a:xfrm>
            <a:off x="8765896" y="3491992"/>
            <a:ext cx="2767432" cy="292608"/>
          </a:xfrm>
          <a:prstGeom prst="rect">
            <a:avLst/>
          </a:prstGeom>
          <a:noFill/>
          <a:ln/>
        </p:spPr>
        <p:txBody>
          <a:bodyPr wrap="square" lIns="0" tIns="0" rIns="0" bIns="0" rtlCol="0" anchor="ctr"/>
          <a:lstStyle/>
          <a:p>
            <a:pPr indent="0" marL="0">
              <a:buNone/>
            </a:pPr>
            <a:r>
              <a:rPr lang="en-US" sz="850" b="1" spc="140" kern="0" dirty="0">
                <a:solidFill>
                  <a:srgbClr val="FFFFFF"/>
                </a:solidFill>
                <a:latin typeface="Segoe UI" pitchFamily="34" charset="0"/>
                <a:ea typeface="Segoe UI" pitchFamily="34" charset="-122"/>
                <a:cs typeface="Segoe UI" pitchFamily="34" charset="-120"/>
              </a:rPr>
              <a:t>THE OLD WAY</a:t>
            </a:r>
            <a:endParaRPr lang="en-US" sz="850" dirty="0"/>
          </a:p>
        </p:txBody>
      </p:sp>
      <p:sp>
        <p:nvSpPr>
          <p:cNvPr id="17" name="Shape 14"/>
          <p:cNvSpPr/>
          <p:nvPr/>
        </p:nvSpPr>
        <p:spPr>
          <a:xfrm>
            <a:off x="8656168" y="3784600"/>
            <a:ext cx="2986888" cy="1735328"/>
          </a:xfrm>
          <a:prstGeom prst="rect">
            <a:avLst/>
          </a:prstGeom>
          <a:solidFill>
            <a:srgbClr val="FFFFFF"/>
          </a:solidFill>
          <a:ln w="9525">
            <a:solidFill>
              <a:srgbClr val="E3E9F0"/>
            </a:solidFill>
            <a:prstDash val="solid"/>
          </a:ln>
          <a:effectLst>
            <a:outerShdw sx="100000" sy="100000" kx="0" ky="0" algn="bl" rotWithShape="0" blurRad="101600" dist="38100" dir="8100000">
              <a:srgbClr val="0A1F3C">
                <a:alpha val="16000"/>
              </a:srgbClr>
            </a:outerShdw>
          </a:effectLst>
        </p:spPr>
      </p:sp>
      <p:sp>
        <p:nvSpPr>
          <p:cNvPr id="18" name="Text 15"/>
          <p:cNvSpPr/>
          <p:nvPr/>
        </p:nvSpPr>
        <p:spPr>
          <a:xfrm>
            <a:off x="8784184" y="3876040"/>
            <a:ext cx="2730856" cy="942442"/>
          </a:xfrm>
          <a:prstGeom prst="rect">
            <a:avLst/>
          </a:prstGeom>
          <a:noFill/>
          <a:ln/>
        </p:spPr>
        <p:txBody>
          <a:bodyPr wrap="square" lIns="0" tIns="0" rIns="0" bIns="0" rtlCol="0" anchor="t">
            <a:normAutofit/>
          </a:bodyPr>
          <a:lstStyle/>
          <a:p>
            <a:pPr indent="0" marL="0">
              <a:buNone/>
            </a:pPr>
            <a:r>
              <a:rPr lang="en-US" sz="768" dirty="0">
                <a:solidFill>
                  <a:srgbClr val="212B32"/>
                </a:solidFill>
                <a:latin typeface="Segoe UI" pitchFamily="34" charset="0"/>
                <a:ea typeface="Segoe UI" pitchFamily="34" charset="-122"/>
                <a:cs typeface="Segoe UI" pitchFamily="34" charset="-120"/>
              </a:rPr>
              <a:t>Health needs surface as emergencies because routine monitoring lapsed. For Sean's cohort, the median age of death is 62.3 years. That is 19.5 years younger than the general population. That gap is what happens when the system stops at identification.</a:t>
            </a:r>
            <a:endParaRPr lang="en-US" sz="768" dirty="0"/>
          </a:p>
        </p:txBody>
      </p:sp>
      <p:sp>
        <p:nvSpPr>
          <p:cNvPr id="19" name="Shape 16"/>
          <p:cNvSpPr/>
          <p:nvPr/>
        </p:nvSpPr>
        <p:spPr>
          <a:xfrm>
            <a:off x="5440680" y="5657088"/>
            <a:ext cx="6202375" cy="542544"/>
          </a:xfrm>
          <a:prstGeom prst="rect">
            <a:avLst/>
          </a:prstGeom>
          <a:solidFill>
            <a:srgbClr val="E8F3EE"/>
          </a:solidFill>
          <a:ln w="12700">
            <a:solidFill>
              <a:srgbClr val="E8F3EE"/>
            </a:solidFill>
            <a:prstDash val="solid"/>
          </a:ln>
        </p:spPr>
      </p:sp>
      <p:sp>
        <p:nvSpPr>
          <p:cNvPr id="20" name="Text 17"/>
          <p:cNvSpPr/>
          <p:nvPr/>
        </p:nvSpPr>
        <p:spPr>
          <a:xfrm>
            <a:off x="5577840" y="5657088"/>
            <a:ext cx="5928055" cy="542544"/>
          </a:xfrm>
          <a:prstGeom prst="rect">
            <a:avLst/>
          </a:prstGeom>
          <a:noFill/>
          <a:ln/>
        </p:spPr>
        <p:txBody>
          <a:bodyPr wrap="square" lIns="0" tIns="0" rIns="0" bIns="0" rtlCol="0" anchor="ctr">
            <a:normAutofit/>
          </a:bodyPr>
          <a:lstStyle/>
          <a:p>
            <a:pPr indent="0" marL="0">
              <a:buNone/>
            </a:pPr>
            <a:r>
              <a:rPr lang="en-US" sz="850" b="1" spc="120" kern="0" dirty="0">
                <a:solidFill>
                  <a:srgbClr val="006747"/>
                </a:solidFill>
                <a:latin typeface="Segoe UI" pitchFamily="34" charset="0"/>
                <a:ea typeface="Segoe UI" pitchFamily="34" charset="-122"/>
                <a:cs typeface="Segoe UI" pitchFamily="34" charset="-120"/>
              </a:rPr>
              <a:t>WHO SEAN'S CARE TEAM SEES  </a:t>
            </a:r>
            <a:pPr indent="0" marL="0">
              <a:buNone/>
            </a:pPr>
            <a:r>
              <a:rPr lang="en-US" sz="800" dirty="0">
                <a:solidFill>
                  <a:srgbClr val="212B32"/>
                </a:solidFill>
                <a:latin typeface="Segoe UI" pitchFamily="34" charset="0"/>
                <a:ea typeface="Segoe UI" pitchFamily="34" charset="-122"/>
                <a:cs typeface="Segoe UI" pitchFamily="34" charset="-120"/>
              </a:rPr>
              <a:t>Sean. His brother as authorised representative. The overnight carers. Sean's GP. The learning disability liaison nurse. The commissioner looking at the cohort-level numbers.</a:t>
            </a:r>
            <a:endParaRPr lang="en-US" sz="850" dirty="0"/>
          </a:p>
        </p:txBody>
      </p:sp>
      <p:sp>
        <p:nvSpPr>
          <p:cNvPr id="21" name="Text 18"/>
          <p:cNvSpPr/>
          <p:nvPr/>
        </p:nvSpPr>
        <p:spPr>
          <a:xfrm>
            <a:off x="5440680" y="6473952"/>
            <a:ext cx="3101188" cy="274320"/>
          </a:xfrm>
          <a:prstGeom prst="rect">
            <a:avLst/>
          </a:prstGeom>
          <a:noFill/>
          <a:ln/>
        </p:spPr>
        <p:txBody>
          <a:bodyPr wrap="square" lIns="0" tIns="0" rIns="0" bIns="0" rtlCol="0" anchor="ctr">
            <a:normAutofit/>
          </a:bodyPr>
          <a:lstStyle/>
          <a:p>
            <a:pPr indent="0" marL="0">
              <a:buNone/>
            </a:pPr>
            <a:r>
              <a:rPr lang="en-US" sz="800" dirty="0">
                <a:solidFill>
                  <a:srgbClr val="7E8B97"/>
                </a:solidFill>
                <a:latin typeface="Segoe UI" pitchFamily="34" charset="0"/>
                <a:ea typeface="Segoe UI" pitchFamily="34" charset="-122"/>
                <a:cs typeface="Segoe UI" pitchFamily="34" charset="-120"/>
              </a:rPr>
              <a:t>Hearts and Minds · Sean's journey · HomeTest operating model · September 2026</a:t>
            </a:r>
            <a:endParaRPr lang="en-US" sz="800" dirty="0"/>
          </a:p>
        </p:txBody>
      </p:sp>
      <p:sp>
        <p:nvSpPr>
          <p:cNvPr id="22" name="Text 19"/>
          <p:cNvSpPr/>
          <p:nvPr/>
        </p:nvSpPr>
        <p:spPr>
          <a:xfrm>
            <a:off x="8541868" y="6473952"/>
            <a:ext cx="2643988" cy="274320"/>
          </a:xfrm>
          <a:prstGeom prst="rect">
            <a:avLst/>
          </a:prstGeom>
          <a:noFill/>
          <a:ln/>
        </p:spPr>
        <p:txBody>
          <a:bodyPr wrap="square" lIns="0" tIns="0" rIns="0" bIns="0" rtlCol="0" anchor="ctr">
            <a:normAutofit/>
          </a:bodyPr>
          <a:lstStyle/>
          <a:p>
            <a:pPr algn="r" indent="0" marL="0">
              <a:buNone/>
            </a:pPr>
            <a:r>
              <a:rPr lang="en-US" sz="7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700" dirty="0"/>
          </a:p>
        </p:txBody>
      </p:sp>
      <p:sp>
        <p:nvSpPr>
          <p:cNvPr id="23" name="Text 20"/>
          <p:cNvSpPr/>
          <p:nvPr/>
        </p:nvSpPr>
        <p:spPr>
          <a:xfrm>
            <a:off x="11231575" y="6473952"/>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411480"/>
            <a:ext cx="10972800" cy="274320"/>
          </a:xfrm>
          <a:prstGeom prst="rect">
            <a:avLst/>
          </a:prstGeom>
          <a:noFill/>
          <a:ln/>
        </p:spPr>
        <p:txBody>
          <a:bodyPr wrap="square" lIns="0" tIns="0" rIns="0" bIns="0" rtlCol="0" anchor="ctr"/>
          <a:lstStyle/>
          <a:p>
            <a:pPr indent="0" marL="0">
              <a:buNone/>
            </a:pPr>
            <a:r>
              <a:rPr lang="en-US" sz="1000" b="1" spc="260" kern="0" dirty="0">
                <a:solidFill>
                  <a:srgbClr val="005EB8"/>
                </a:solidFill>
                <a:latin typeface="Segoe UI" pitchFamily="34" charset="0"/>
                <a:ea typeface="Segoe UI" pitchFamily="34" charset="-122"/>
                <a:cs typeface="Segoe UI" pitchFamily="34" charset="-120"/>
              </a:rPr>
              <a:t>SEAN'S WIN</a:t>
            </a:r>
            <a:endParaRPr lang="en-US" sz="1000" dirty="0"/>
          </a:p>
        </p:txBody>
      </p:sp>
      <p:sp>
        <p:nvSpPr>
          <p:cNvPr id="3" name="Text 1"/>
          <p:cNvSpPr/>
          <p:nvPr/>
        </p:nvSpPr>
        <p:spPr>
          <a:xfrm>
            <a:off x="548640" y="731520"/>
            <a:ext cx="6933895" cy="1036320"/>
          </a:xfrm>
          <a:prstGeom prst="rect">
            <a:avLst/>
          </a:prstGeom>
          <a:noFill/>
          <a:ln/>
        </p:spPr>
        <p:txBody>
          <a:bodyPr wrap="square" lIns="0" tIns="0" rIns="0" bIns="0" rtlCol="0" anchor="t">
            <a:normAutofit/>
          </a:bodyPr>
          <a:lstStyle/>
          <a:p>
            <a:pPr indent="0" marL="0">
              <a:buNone/>
            </a:pPr>
            <a:r>
              <a:rPr lang="en-US" sz="3000" b="1" dirty="0">
                <a:solidFill>
                  <a:srgbClr val="003087"/>
                </a:solidFill>
                <a:latin typeface="Segoe UI" pitchFamily="34" charset="0"/>
                <a:ea typeface="Segoe UI" pitchFamily="34" charset="-122"/>
                <a:cs typeface="Segoe UI" pitchFamily="34" charset="-120"/>
              </a:rPr>
              <a:t>Identified. And finally reached.</a:t>
            </a:r>
            <a:endParaRPr lang="en-US" sz="3000" dirty="0"/>
          </a:p>
        </p:txBody>
      </p:sp>
      <p:sp>
        <p:nvSpPr>
          <p:cNvPr id="4" name="Text 2"/>
          <p:cNvSpPr/>
          <p:nvPr/>
        </p:nvSpPr>
        <p:spPr>
          <a:xfrm>
            <a:off x="548640" y="1996440"/>
            <a:ext cx="6933895" cy="1441704"/>
          </a:xfrm>
          <a:prstGeom prst="rect">
            <a:avLst/>
          </a:prstGeom>
          <a:noFill/>
          <a:ln/>
        </p:spPr>
        <p:txBody>
          <a:bodyPr wrap="square" lIns="0" tIns="0" rIns="0" bIns="0" rtlCol="0" anchor="t">
            <a:normAutofit/>
          </a:bodyPr>
          <a:lstStyle/>
          <a:p>
            <a:pPr indent="0" marL="0">
              <a:buNone/>
            </a:pPr>
            <a:r>
              <a:rPr lang="en-US" sz="1200" dirty="0">
                <a:solidFill>
                  <a:srgbClr val="212B32"/>
                </a:solidFill>
                <a:latin typeface="Segoe UI" pitchFamily="34" charset="0"/>
                <a:ea typeface="Segoe UI" pitchFamily="34" charset="-122"/>
                <a:cs typeface="Segoe UI" pitchFamily="34" charset="-120"/>
              </a:rPr>
              <a:t>For Sean, and the cohort whose health depends on the system reaching them rather than the other way round, the model isn't about replacing the clinic. It's about closing the gap between knowing his name and actually doing the bloods. The test gets done. The result lands with the people who can act on it. The independence he fights for stays intact. </a:t>
            </a:r>
            <a:pPr indent="0" marL="0">
              <a:buNone/>
            </a:pPr>
            <a:r>
              <a:rPr lang="en-US" sz="1200" b="1" dirty="0">
                <a:solidFill>
                  <a:srgbClr val="212B32"/>
                </a:solidFill>
                <a:latin typeface="Segoe UI" pitchFamily="34" charset="0"/>
                <a:ea typeface="Segoe UI" pitchFamily="34" charset="-122"/>
                <a:cs typeface="Segoe UI" pitchFamily="34" charset="-120"/>
              </a:rPr>
              <a:t>The avoidable death that doesn't happen is the one the system finally chose not to allow.</a:t>
            </a:r>
            <a:endParaRPr lang="en-US" sz="1200" dirty="0"/>
          </a:p>
        </p:txBody>
      </p:sp>
      <p:pic>
        <p:nvPicPr>
          <p:cNvPr id="5" name="Image 0" descr="/sessions/quirky-zen-galileo/mnt/NHS/07 Sites &amp; Repos/dtx-ecosystem/hearts-and-minds/_generators/assets/crops/sean-stage5-1.780.jpg">    </p:cNvPr>
          <p:cNvPicPr>
            <a:picLocks noChangeAspect="1"/>
          </p:cNvPicPr>
          <p:nvPr/>
        </p:nvPicPr>
        <p:blipFill>
          <a:blip r:embed="rId1"/>
          <a:stretch>
            <a:fillRect/>
          </a:stretch>
        </p:blipFill>
        <p:spPr>
          <a:xfrm>
            <a:off x="548640" y="3712464"/>
            <a:ext cx="4508541" cy="2532888"/>
          </a:xfrm>
          <a:prstGeom prst="rect">
            <a:avLst/>
          </a:prstGeom>
        </p:spPr>
      </p:pic>
      <p:sp>
        <p:nvSpPr>
          <p:cNvPr id="6" name="Shape 3"/>
          <p:cNvSpPr/>
          <p:nvPr/>
        </p:nvSpPr>
        <p:spPr>
          <a:xfrm>
            <a:off x="5331501" y="3712464"/>
            <a:ext cx="2151035" cy="1842516"/>
          </a:xfrm>
          <a:prstGeom prst="rect">
            <a:avLst/>
          </a:prstGeom>
          <a:solidFill>
            <a:srgbClr val="FFF9EC"/>
          </a:solidFill>
          <a:ln w="15875">
            <a:solidFill>
              <a:srgbClr val="FFB91D"/>
            </a:solidFill>
            <a:prstDash val="solid"/>
          </a:ln>
          <a:effectLst>
            <a:outerShdw sx="100000" sy="100000" kx="0" ky="0" algn="bl" rotWithShape="0" blurRad="101600" dist="38100" dir="8100000">
              <a:srgbClr val="0A1F3C">
                <a:alpha val="16000"/>
              </a:srgbClr>
            </a:outerShdw>
          </a:effectLst>
        </p:spPr>
      </p:sp>
      <p:sp>
        <p:nvSpPr>
          <p:cNvPr id="7" name="Text 4"/>
          <p:cNvSpPr/>
          <p:nvPr/>
        </p:nvSpPr>
        <p:spPr>
          <a:xfrm>
            <a:off x="5560101" y="3822192"/>
            <a:ext cx="1693835" cy="1623060"/>
          </a:xfrm>
          <a:prstGeom prst="rect">
            <a:avLst/>
          </a:prstGeom>
          <a:noFill/>
          <a:ln/>
        </p:spPr>
        <p:txBody>
          <a:bodyPr wrap="square" lIns="0" tIns="0" rIns="0" bIns="0" rtlCol="0" anchor="ctr">
            <a:normAutofit/>
          </a:bodyPr>
          <a:lstStyle/>
          <a:p>
            <a:pPr indent="0" marL="0">
              <a:buNone/>
            </a:pPr>
            <a:r>
              <a:rPr lang="en-US" sz="1500" b="1" dirty="0">
                <a:solidFill>
                  <a:srgbClr val="212B32"/>
                </a:solidFill>
                <a:latin typeface="Segoe UI" pitchFamily="34" charset="0"/>
                <a:ea typeface="Segoe UI" pitchFamily="34" charset="-122"/>
                <a:cs typeface="Segoe UI" pitchFamily="34" charset="-120"/>
              </a:rPr>
              <a:t>Identification has never been the problem. The chain after it is.</a:t>
            </a:r>
            <a:endParaRPr lang="en-US" sz="1500" dirty="0"/>
          </a:p>
        </p:txBody>
      </p:sp>
      <p:sp>
        <p:nvSpPr>
          <p:cNvPr id="8" name="Shape 5"/>
          <p:cNvSpPr/>
          <p:nvPr/>
        </p:nvSpPr>
        <p:spPr>
          <a:xfrm>
            <a:off x="7802575" y="731520"/>
            <a:ext cx="3840480" cy="5513832"/>
          </a:xfrm>
          <a:prstGeom prst="rect">
            <a:avLst/>
          </a:prstGeom>
          <a:solidFill>
            <a:srgbClr val="006747"/>
          </a:solidFill>
          <a:ln w="12700">
            <a:solidFill>
              <a:srgbClr val="006747"/>
            </a:solidFill>
            <a:prstDash val="solid"/>
          </a:ln>
        </p:spPr>
      </p:sp>
      <p:sp>
        <p:nvSpPr>
          <p:cNvPr id="9" name="Text 6"/>
          <p:cNvSpPr/>
          <p:nvPr/>
        </p:nvSpPr>
        <p:spPr>
          <a:xfrm>
            <a:off x="8076895" y="914400"/>
            <a:ext cx="3291840" cy="274320"/>
          </a:xfrm>
          <a:prstGeom prst="rect">
            <a:avLst/>
          </a:prstGeom>
          <a:noFill/>
          <a:ln/>
        </p:spPr>
        <p:txBody>
          <a:bodyPr wrap="square" lIns="0" tIns="0" rIns="0" bIns="0" rtlCol="0" anchor="ctr"/>
          <a:lstStyle/>
          <a:p>
            <a:pPr indent="0" marL="0">
              <a:buNone/>
            </a:pPr>
            <a:r>
              <a:rPr lang="en-US" sz="1000" b="1" spc="260" kern="0" dirty="0">
                <a:solidFill>
                  <a:srgbClr val="CDE8D8"/>
                </a:solidFill>
                <a:latin typeface="Segoe UI" pitchFamily="34" charset="0"/>
                <a:ea typeface="Segoe UI" pitchFamily="34" charset="-122"/>
                <a:cs typeface="Segoe UI" pitchFamily="34" charset="-120"/>
              </a:rPr>
              <a:t>THE MONEY IN THIS STORY</a:t>
            </a:r>
            <a:endParaRPr lang="en-US" sz="1000" dirty="0"/>
          </a:p>
        </p:txBody>
      </p:sp>
      <p:sp>
        <p:nvSpPr>
          <p:cNvPr id="10" name="Text 7"/>
          <p:cNvSpPr/>
          <p:nvPr/>
        </p:nvSpPr>
        <p:spPr>
          <a:xfrm>
            <a:off x="8076895" y="1280160"/>
            <a:ext cx="3291840" cy="3224784"/>
          </a:xfrm>
          <a:prstGeom prst="rect">
            <a:avLst/>
          </a:prstGeom>
          <a:noFill/>
          <a:ln/>
        </p:spPr>
        <p:txBody>
          <a:bodyPr wrap="square" lIns="0" tIns="0" rIns="0" bIns="0" rtlCol="0" anchor="t">
            <a:normAutofit/>
          </a:bodyPr>
          <a:lstStyle/>
          <a:p>
            <a:pPr indent="0" marL="0">
              <a:buNone/>
            </a:pPr>
            <a:r>
              <a:rPr lang="en-US" sz="1200" dirty="0">
                <a:solidFill>
                  <a:srgbClr val="FFFFFF"/>
                </a:solidFill>
                <a:latin typeface="Segoe UI" pitchFamily="34" charset="0"/>
                <a:ea typeface="Segoe UI" pitchFamily="34" charset="-122"/>
                <a:cs typeface="Segoe UI" pitchFamily="34" charset="-120"/>
              </a:rPr>
              <a:t>Sean's story is not a cost case, and this panel does not pretend it is one. A kit that works for Sean costs the same to buy as one that does not. What the model prices is the difference between reaching him now and treating him late, and late presentation is the most expensive route through any pathway, in money as well as in everything that matters more. Reasonable adjustment is not a premium product; it is the same per-activity price doing its job for the people the appointment system failed.</a:t>
            </a:r>
            <a:endParaRPr lang="en-US" sz="1200" dirty="0"/>
          </a:p>
        </p:txBody>
      </p:sp>
      <p:pic>
        <p:nvPicPr>
          <p:cNvPr id="11" name="Image 1" descr="/sessions/quirky-zen-galileo/mnt/outputs/jd/img/sean-portrait.jpg">    </p:cNvPr>
          <p:cNvPicPr>
            <a:picLocks noChangeAspect="1"/>
          </p:cNvPicPr>
          <p:nvPr/>
        </p:nvPicPr>
        <p:blipFill>
          <a:blip r:embed="rId2"/>
          <a:stretch>
            <a:fillRect/>
          </a:stretch>
        </p:blipFill>
        <p:spPr>
          <a:xfrm>
            <a:off x="8076895" y="5148072"/>
            <a:ext cx="822960" cy="822960"/>
          </a:xfrm>
          <a:prstGeom prst="ellipse">
            <a:avLst/>
          </a:prstGeom>
        </p:spPr>
      </p:pic>
      <p:sp>
        <p:nvSpPr>
          <p:cNvPr id="12" name="Text 8"/>
          <p:cNvSpPr/>
          <p:nvPr/>
        </p:nvSpPr>
        <p:spPr>
          <a:xfrm>
            <a:off x="9037015" y="5239512"/>
            <a:ext cx="2377440" cy="32004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Sean</a:t>
            </a:r>
            <a:endParaRPr lang="en-US" sz="1400" dirty="0"/>
          </a:p>
        </p:txBody>
      </p:sp>
      <p:sp>
        <p:nvSpPr>
          <p:cNvPr id="13" name="Text 9"/>
          <p:cNvSpPr/>
          <p:nvPr/>
        </p:nvSpPr>
        <p:spPr>
          <a:xfrm>
            <a:off x="9037015" y="5559552"/>
            <a:ext cx="2377440" cy="365760"/>
          </a:xfrm>
          <a:prstGeom prst="rect">
            <a:avLst/>
          </a:prstGeom>
          <a:noFill/>
          <a:ln/>
        </p:spPr>
        <p:txBody>
          <a:bodyPr wrap="square" lIns="0" tIns="0" rIns="0" bIns="0" rtlCol="0" anchor="ctr">
            <a:normAutofit/>
          </a:bodyPr>
          <a:lstStyle/>
          <a:p>
            <a:pPr indent="0" marL="0">
              <a:buNone/>
            </a:pPr>
            <a:r>
              <a:rPr lang="en-US" sz="950" dirty="0">
                <a:solidFill>
                  <a:srgbClr val="CDE8D8"/>
                </a:solidFill>
                <a:latin typeface="Segoe UI" pitchFamily="34" charset="0"/>
                <a:ea typeface="Segoe UI" pitchFamily="34" charset="-122"/>
                <a:cs typeface="Segoe UI" pitchFamily="34" charset="-120"/>
              </a:rPr>
              <a:t>Horizontal cohort patient · The access story</a:t>
            </a:r>
            <a:endParaRPr lang="en-US" sz="950" dirty="0"/>
          </a:p>
        </p:txBody>
      </p:sp>
      <p:sp>
        <p:nvSpPr>
          <p:cNvPr id="14" name="Text 10"/>
          <p:cNvSpPr/>
          <p:nvPr/>
        </p:nvSpPr>
        <p:spPr>
          <a:xfrm>
            <a:off x="548640" y="6473952"/>
            <a:ext cx="5943600" cy="274320"/>
          </a:xfrm>
          <a:prstGeom prst="rect">
            <a:avLst/>
          </a:prstGeom>
          <a:noFill/>
          <a:ln/>
        </p:spPr>
        <p:txBody>
          <a:bodyPr wrap="square" lIns="0" tIns="0" rIns="0" bIns="0" rtlCol="0" anchor="ctr">
            <a:normAutofit/>
          </a:bodyPr>
          <a:lstStyle/>
          <a:p>
            <a:pPr indent="0" marL="0">
              <a:buNone/>
            </a:pPr>
            <a:r>
              <a:rPr lang="en-US" sz="800" dirty="0">
                <a:solidFill>
                  <a:srgbClr val="7E8B97"/>
                </a:solidFill>
                <a:latin typeface="Segoe UI" pitchFamily="34" charset="0"/>
                <a:ea typeface="Segoe UI" pitchFamily="34" charset="-122"/>
                <a:cs typeface="Segoe UI" pitchFamily="34" charset="-120"/>
              </a:rPr>
              <a:t>Hearts and Minds · Sean's journey · HomeTest operating model · September 2026</a:t>
            </a:r>
            <a:endParaRPr lang="en-US" sz="800" dirty="0"/>
          </a:p>
        </p:txBody>
      </p:sp>
      <p:sp>
        <p:nvSpPr>
          <p:cNvPr id="15" name="Text 11"/>
          <p:cNvSpPr/>
          <p:nvPr/>
        </p:nvSpPr>
        <p:spPr>
          <a:xfrm>
            <a:off x="6309360" y="6473952"/>
            <a:ext cx="4876495" cy="274320"/>
          </a:xfrm>
          <a:prstGeom prst="rect">
            <a:avLst/>
          </a:prstGeom>
          <a:noFill/>
          <a:ln/>
        </p:spPr>
        <p:txBody>
          <a:bodyPr wrap="square" lIns="0" tIns="0" rIns="0" bIns="0" rtlCol="0" anchor="ctr">
            <a:normAutofit/>
          </a:bodyPr>
          <a:lstStyle/>
          <a:p>
            <a:pPr algn="r" indent="0" marL="0">
              <a:buNone/>
            </a:pPr>
            <a:r>
              <a:rPr lang="en-US" sz="800" dirty="0">
                <a:solidFill>
                  <a:srgbClr val="7E8B97"/>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16" name="Text 12"/>
          <p:cNvSpPr/>
          <p:nvPr/>
        </p:nvSpPr>
        <p:spPr>
          <a:xfrm>
            <a:off x="11231575" y="6473952"/>
            <a:ext cx="41148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Segoe UI" pitchFamily="34" charset="0"/>
                <a:ea typeface="Segoe UI" pitchFamily="34" charset="-122"/>
                <a:cs typeface="Segoe UI"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3087"/>
        </a:solidFill>
      </p:bgPr>
    </p:bg>
    <p:spTree>
      <p:nvGrpSpPr>
        <p:cNvPr id="1" name=""/>
        <p:cNvGrpSpPr/>
        <p:nvPr/>
      </p:nvGrpSpPr>
      <p:grpSpPr>
        <a:xfrm>
          <a:off x="0" y="0"/>
          <a:ext cx="0" cy="0"/>
          <a:chOff x="0" y="0"/>
          <a:chExt cx="0" cy="0"/>
        </a:xfrm>
      </p:grpSpPr>
      <p:sp>
        <p:nvSpPr>
          <p:cNvPr id="2" name="Shape 0"/>
          <p:cNvSpPr/>
          <p:nvPr/>
        </p:nvSpPr>
        <p:spPr>
          <a:xfrm>
            <a:off x="10782523" y="457200"/>
            <a:ext cx="860532" cy="658368"/>
          </a:xfrm>
          <a:prstGeom prst="roundRect">
            <a:avLst>
              <a:gd name="adj" fmla="val 11111"/>
            </a:avLst>
          </a:prstGeom>
          <a:solidFill>
            <a:srgbClr val="FFFFFF"/>
          </a:solidFill>
          <a:ln w="12700">
            <a:solidFill>
              <a:srgbClr val="FFFFFF"/>
            </a:solidFill>
            <a:prstDash val="solid"/>
          </a:ln>
        </p:spPr>
      </p:sp>
      <p:pic>
        <p:nvPicPr>
          <p:cNvPr id="3" name="Image 0" descr="/sessions/quirky-zen-galileo/mnt/NHS/07 Sites &amp; Repos/dtx-ecosystem/hearts-and-minds/_generators/assets/nhs-logo.png">    </p:cNvPr>
          <p:cNvPicPr>
            <a:picLocks noChangeAspect="1"/>
          </p:cNvPicPr>
          <p:nvPr/>
        </p:nvPicPr>
        <p:blipFill>
          <a:blip r:embed="rId1"/>
          <a:stretch>
            <a:fillRect/>
          </a:stretch>
        </p:blipFill>
        <p:spPr>
          <a:xfrm>
            <a:off x="10919683" y="557784"/>
            <a:ext cx="586212" cy="457200"/>
          </a:xfrm>
          <a:prstGeom prst="rect">
            <a:avLst/>
          </a:prstGeom>
        </p:spPr>
      </p:pic>
      <p:sp>
        <p:nvSpPr>
          <p:cNvPr id="4" name="Shape 1"/>
          <p:cNvSpPr/>
          <p:nvPr/>
        </p:nvSpPr>
        <p:spPr>
          <a:xfrm>
            <a:off x="5044288" y="1371600"/>
            <a:ext cx="2103120" cy="2103120"/>
          </a:xfrm>
          <a:prstGeom prst="ellipse">
            <a:avLst/>
          </a:prstGeom>
          <a:solidFill>
            <a:srgbClr val="FFFFFF"/>
          </a:solidFill>
          <a:ln w="12700">
            <a:solidFill>
              <a:srgbClr val="FFFFFF"/>
            </a:solidFill>
            <a:prstDash val="solid"/>
          </a:ln>
        </p:spPr>
      </p:sp>
      <p:pic>
        <p:nvPicPr>
          <p:cNvPr id="5" name="Image 1" descr="/sessions/quirky-zen-galileo/mnt/outputs/jd/img/sean-portrait.jpg">    </p:cNvPr>
          <p:cNvPicPr>
            <a:picLocks noChangeAspect="1"/>
          </p:cNvPicPr>
          <p:nvPr/>
        </p:nvPicPr>
        <p:blipFill>
          <a:blip r:embed="rId2"/>
          <a:stretch>
            <a:fillRect/>
          </a:stretch>
        </p:blipFill>
        <p:spPr>
          <a:xfrm>
            <a:off x="5090008" y="1417320"/>
            <a:ext cx="2011680" cy="2011680"/>
          </a:xfrm>
          <a:prstGeom prst="ellipse">
            <a:avLst/>
          </a:prstGeom>
        </p:spPr>
      </p:pic>
      <p:sp>
        <p:nvSpPr>
          <p:cNvPr id="6" name="Text 2"/>
          <p:cNvSpPr/>
          <p:nvPr/>
        </p:nvSpPr>
        <p:spPr>
          <a:xfrm>
            <a:off x="548640" y="3611880"/>
            <a:ext cx="11094415"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Segoe UI" pitchFamily="34" charset="0"/>
                <a:ea typeface="Segoe UI" pitchFamily="34" charset="-122"/>
                <a:cs typeface="Segoe UI" pitchFamily="34" charset="-120"/>
              </a:rPr>
              <a:t>Sean</a:t>
            </a:r>
            <a:endParaRPr lang="en-US" sz="2400" dirty="0"/>
          </a:p>
        </p:txBody>
      </p:sp>
      <p:sp>
        <p:nvSpPr>
          <p:cNvPr id="7" name="Text 3"/>
          <p:cNvSpPr/>
          <p:nvPr/>
        </p:nvSpPr>
        <p:spPr>
          <a:xfrm>
            <a:off x="548640" y="4069080"/>
            <a:ext cx="11094415" cy="320040"/>
          </a:xfrm>
          <a:prstGeom prst="rect">
            <a:avLst/>
          </a:prstGeom>
          <a:noFill/>
          <a:ln/>
        </p:spPr>
        <p:txBody>
          <a:bodyPr wrap="square" lIns="0" tIns="0" rIns="0" bIns="0" rtlCol="0" anchor="ctr"/>
          <a:lstStyle/>
          <a:p>
            <a:pPr algn="ctr" indent="0" marL="0">
              <a:buNone/>
            </a:pPr>
            <a:r>
              <a:rPr lang="en-US" sz="1200" dirty="0">
                <a:solidFill>
                  <a:srgbClr val="CFE0F5"/>
                </a:solidFill>
                <a:latin typeface="Segoe UI" pitchFamily="34" charset="0"/>
                <a:ea typeface="Segoe UI" pitchFamily="34" charset="-122"/>
                <a:cs typeface="Segoe UI" pitchFamily="34" charset="-120"/>
              </a:rPr>
              <a:t>Horizontal cohort patient · The access story</a:t>
            </a:r>
            <a:endParaRPr lang="en-US" sz="1200" dirty="0"/>
          </a:p>
        </p:txBody>
      </p:sp>
      <p:sp>
        <p:nvSpPr>
          <p:cNvPr id="8" name="Text 4"/>
          <p:cNvSpPr/>
          <p:nvPr/>
        </p:nvSpPr>
        <p:spPr>
          <a:xfrm>
            <a:off x="1097280" y="4617720"/>
            <a:ext cx="9997135" cy="914400"/>
          </a:xfrm>
          <a:prstGeom prst="rect">
            <a:avLst/>
          </a:prstGeom>
          <a:noFill/>
          <a:ln/>
        </p:spPr>
        <p:txBody>
          <a:bodyPr wrap="square" lIns="0" tIns="0" rIns="0" bIns="0" rtlCol="0" anchor="ctr">
            <a:normAutofit/>
          </a:bodyPr>
          <a:lstStyle/>
          <a:p>
            <a:pPr algn="ctr" indent="0" marL="0">
              <a:buNone/>
            </a:pPr>
            <a:r>
              <a:rPr lang="en-US" sz="2600" b="1" dirty="0">
                <a:solidFill>
                  <a:srgbClr val="FFD66B"/>
                </a:solidFill>
                <a:latin typeface="Segoe UI" pitchFamily="34" charset="0"/>
                <a:ea typeface="Segoe UI" pitchFamily="34" charset="-122"/>
                <a:cs typeface="Segoe UI" pitchFamily="34" charset="-120"/>
              </a:rPr>
              <a:t>Identification has never been the problem. The chain after it is.</a:t>
            </a:r>
            <a:endParaRPr lang="en-US" sz="2600" dirty="0"/>
          </a:p>
        </p:txBody>
      </p:sp>
      <p:sp>
        <p:nvSpPr>
          <p:cNvPr id="9" name="Text 5"/>
          <p:cNvSpPr/>
          <p:nvPr/>
        </p:nvSpPr>
        <p:spPr>
          <a:xfrm>
            <a:off x="548640" y="6473952"/>
            <a:ext cx="5943600" cy="274320"/>
          </a:xfrm>
          <a:prstGeom prst="rect">
            <a:avLst/>
          </a:prstGeom>
          <a:noFill/>
          <a:ln/>
        </p:spPr>
        <p:txBody>
          <a:bodyPr wrap="square" lIns="0" tIns="0" rIns="0" bIns="0" rtlCol="0" anchor="ctr">
            <a:normAutofit/>
          </a:bodyPr>
          <a:lstStyle/>
          <a:p>
            <a:pPr indent="0" marL="0">
              <a:buNone/>
            </a:pPr>
            <a:r>
              <a:rPr lang="en-US" sz="800" dirty="0">
                <a:solidFill>
                  <a:srgbClr val="9FB6D9"/>
                </a:solidFill>
                <a:latin typeface="Segoe UI" pitchFamily="34" charset="0"/>
                <a:ea typeface="Segoe UI" pitchFamily="34" charset="-122"/>
                <a:cs typeface="Segoe UI" pitchFamily="34" charset="-120"/>
              </a:rPr>
              <a:t>Hearts and Minds · Sean's journey · HomeTest operating model · September 2026</a:t>
            </a:r>
            <a:endParaRPr lang="en-US" sz="800" dirty="0"/>
          </a:p>
        </p:txBody>
      </p:sp>
      <p:sp>
        <p:nvSpPr>
          <p:cNvPr id="10" name="Text 6"/>
          <p:cNvSpPr/>
          <p:nvPr/>
        </p:nvSpPr>
        <p:spPr>
          <a:xfrm>
            <a:off x="6309360" y="6473952"/>
            <a:ext cx="4876495" cy="274320"/>
          </a:xfrm>
          <a:prstGeom prst="rect">
            <a:avLst/>
          </a:prstGeom>
          <a:noFill/>
          <a:ln/>
        </p:spPr>
        <p:txBody>
          <a:bodyPr wrap="square" lIns="0" tIns="0" rIns="0" bIns="0" rtlCol="0" anchor="ctr">
            <a:normAutofit/>
          </a:bodyPr>
          <a:lstStyle/>
          <a:p>
            <a:pPr algn="r" indent="0" marL="0">
              <a:buNone/>
            </a:pPr>
            <a:r>
              <a:rPr lang="en-US" sz="800" dirty="0">
                <a:solidFill>
                  <a:srgbClr val="9FB6D9"/>
                </a:solidFill>
                <a:latin typeface="Segoe UI" pitchFamily="34" charset="0"/>
                <a:ea typeface="Segoe UI" pitchFamily="34" charset="-122"/>
                <a:cs typeface="Segoe UI" pitchFamily="34" charset="-120"/>
              </a:rPr>
              <a:t>Commercial positions are agreed in principle and remain subject to the live procurement.</a:t>
            </a:r>
            <a:endParaRPr lang="en-US" sz="800" dirty="0"/>
          </a:p>
        </p:txBody>
      </p:sp>
      <p:sp>
        <p:nvSpPr>
          <p:cNvPr id="11" name="Text 7"/>
          <p:cNvSpPr/>
          <p:nvPr/>
        </p:nvSpPr>
        <p:spPr>
          <a:xfrm>
            <a:off x="11231575" y="6473952"/>
            <a:ext cx="411480" cy="274320"/>
          </a:xfrm>
          <a:prstGeom prst="rect">
            <a:avLst/>
          </a:prstGeom>
          <a:noFill/>
          <a:ln/>
        </p:spPr>
        <p:txBody>
          <a:bodyPr wrap="square" lIns="0" tIns="0" rIns="0" bIns="0" rtlCol="0" anchor="ctr"/>
          <a:lstStyle/>
          <a:p>
            <a:pPr algn="r" indent="0" marL="0">
              <a:buNone/>
            </a:pPr>
            <a:r>
              <a:rPr lang="en-US" sz="850" b="1" dirty="0">
                <a:solidFill>
                  <a:srgbClr val="9FB6D9"/>
                </a:solidFill>
                <a:latin typeface="Segoe UI" pitchFamily="34" charset="0"/>
                <a:ea typeface="Segoe UI" pitchFamily="34" charset="-122"/>
                <a:cs typeface="Segoe UI" pitchFamily="34" charset="-120"/>
              </a:rPr>
              <a:t>9</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Hearts and Minds · Sean's journey</dc:title>
  <dc:subject>PptxGenJS Presentation</dc:subject>
  <dc:creator>HomeTest Commercial</dc:creator>
  <cp:lastModifiedBy>HomeTest Commercial</cp:lastModifiedBy>
  <cp:revision>1</cp:revision>
  <dcterms:created xsi:type="dcterms:W3CDTF">2026-09-05T10:53:00Z</dcterms:created>
  <dcterms:modified xsi:type="dcterms:W3CDTF">2026-09-05T10:53:00Z</dcterms:modified>
</cp:coreProperties>
</file>