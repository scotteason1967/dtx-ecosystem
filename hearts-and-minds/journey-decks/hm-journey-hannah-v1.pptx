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 the patients she keeps rebooking
Hannah's list shows a hundred-odd patients on the Iron deficiency anaemia review cycle. Several names have a familiar rhythm: booked, missed, rebooked, missed again. Layla is one of them. The clinical risk lives with the patients who fall out of the cycle, not the patients she sees.
Quote: The bloods are not the problem. The clinic was always the wrong venue for routine monitoring. The patients I lose are the patients who were never going to be able to come in at 11am on a Tuesday.
What the model is doing underneath: A practice list of patients on iron supplementation due 6-month FBC monitoring. A diary that books them in 10-minute slots. A practice-nurse rota that runs full. A familiar cluster of DNA-flagged names. The clinical question is: how do I hold these patients in the monitoring cycle without my clinic capacity being the bottleneck?
The old way: Book, miss, rebook, miss again. Or worse, drift out of monitoring entirely and re-present with deficiency anaemia symptoms months later. The cycle treats every patient as if they can come in on a Tuesday morning. Most can. Some can't. The ones who can't are the ones the cycle quietly drops.
What the care team sees: Her practice nurse. Her practice manager on diary capacity. Anita on the ICB / GP commissioner side.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missed appointment · the structural problem
Fifteen million general-practice appointments are missed in England every year. Two hundred and sixteen million pounds. The routine monitoring slot is precisely the kind of appointment that breaks first. The patient gets blamed for ‘not engaging’; the venue takes none of the responsibility.
Quote: Layla wasn't refusing care. She was keeping her job, getting her kids to school, looking after a parent. The clinic was always the wrong venue. The risk was always in the model, not in her.
What the model is doing underneath: Around 15 million general-practice appointments are missed each year, costing the NHS ~£216m. Routine monitoring appointments DNA at a higher rate than acute or complex visits. Around 307 million GP sessions are scheduled annually. The home-test cycle is the way to remove the venue cost from the bloods that never needed clinic in the first place.
The old way: Patients drop out of monitoring. Deficiency anaemia gets re-detected later, often via A&amp;E or an acute appointment. The cost lands on a different part of the system. The original missed appointment looks ‘just’ like £30. The downstream cost is much larger.
What the care team sees: Anita, on the ICB / GP commissioner side, paying for the access problem. The other GP partners running the same DNA curve. The practice nurses doing the rebooking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offer · kit out, result to her record
A home FBC kit ordered against Hannah's prescription. The sample comes back to the lab. The result lands in her GP system before the appointment that did not happen would have happened. The clinical role is preserved. The diary is not.
Quote: If the result lands in the record, with the trend, and the clinical interpretation is still mine, the kit is just a change of venue. The clinical accountability does not move. That is what I needed to know.
What the model is doing underneath: The result returns to Hannah's GP system via the framework's EPR write-back. The trend display is unchanged. The clinical review remains hers. Threshold alerts escalate to her in the same way an in-clinic FBC would. The patient experiences a kit. Hannah experiences the result on the same screen as always.
The old way: A model that sends FBC results directly to the patient as raw numbers, or sits the results in a parallel system her practice does not see. Either would have killed adoption. Hannah is not interested in a model that routes around her.
What the care team sees: Aisha, the Clinical Safety Group lead, owning the safety case for primary-care home testing. Ngozi, the Information Governance lead, on the EPR write-back DSA. The kit supplier on lab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home prescriptions · Layla and the early cohort
Hannah picks the first patients carefully. Stable iron status, comfortable with the kit, the patients whose missed-appointment record is a logistics problem and not a clinical one. Layla is one of the first. The kit goes home, the result comes back, the diary slot stays free.
Quote: Patients I would already trust to manage their own monitoring if the tooling existed. Stable trend, comfortable with the kit, family at home if needed. The model meets Layla where she already is.
What the model is doing underneath: A short conversation at the end of the in-clinic appointment: would you be comfortable doing the next FBC at home? Almost every patient says yes. The kit ships via the framework supplier. The patient takes the sample on the date the clinic would have happened. The lab processes it. The result lands in Hannah's system on time. The clinic visit that did not happen is one the practice did not have capacity for anyway.
The old way: Every patient comes in every six months. No tier of patients reading their own monitoring rhythm. No practice-nurse time freed for the patients who clinically need it. The clinic-only model treats every patient as if they need clinic time, regardless of whether they clinically do.
What the care team sees: The practice nurse coordinating onboarding. The supplier shipping the kit. The lab processing the sample. The framework platform writing the result back.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Routine monitoring in flight · FBCs in the record, not in the diary
The cohort settles. Routine FBCs arrive on time, in trend, in the record. Threshold breaches escalate to her in the same channel she already uses. The practice diary is no longer the limit on how many patients she can hold in the cycle.
Quote: The silence is the result. Most of these results are routine, and routine is the point. When something does change, it changes on my screen with everything else around it, not three months later in a missed-appointment letter.
What the model is doing underneath: Routine in-range FBCs are reviewed in trend by Hannah in the same rhythm she would use for in-clinic results. Threshold breaches (haemoglobin, ferritin) trigger an alert and a routine review. Patients who would benefit from clinic come in; patients on a stable trend stay home for the next cycle. The system surfaces clinical signal, not appointment volume.
The old way: Every six months, every patient, in clinic regardless of trend. Most appointments confirmed stability rather than detecting change. The clinically uneventful patients shared diary space with the patients who needed clinic, and the patients who needed clinic waited longer.
What the care team sees: Hannah, holding the trend review. The practice nurse, coordinating between routine and escalation. Priya on the platform data layer, ensuring the result writes back to the GP system cleanly.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shape now · slots for the patients who need clinic
More patients in monitoring. Fewer drop-outs. The practice nurse's diary now holds the appointments that actually need her. Routine FBCs run quietly through the home pathway and the practice access-target line goes the right way for the first time in a long time.
Quote: The patients I worried about are still in the cycle. The practice nurse is doing work she should always have been doing. The bloods are happening on time. That is the version of this that was worth doing.
What the model is doing underneath: Cohort size on routine monitoring up. DNA rate on the routine-monitoring slot sharply down. Practice-nurse time reallocated from FBC draws to acute and complex appointments. Access-target performance on routine appointments improving. The same practice team holds more patients in monitoring than the clinic-only model could, with no extra clinic capacity. The model passes the test that mattered to Hannah: clinical accountability preserved, reach extended, practice nurse capacity returned.
The old way: Cohort size capped by practice capacity. DNA rates flat or rising. Practice-nurse phlebotomy slots consuming the workforce time the practice most needed for acute care. Routine monitoring patients silently dropping out of the cycle.
What the care team sees: Hannah and the practice nurse, holding a larger cohort with no extra diary cost. Anita, the ICB / GP commissioner, seeing released capacity flow into access metrics. Layla and the other patients on the cohort, getting on with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CLINICIAN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Hannah.</a:t>
            </a:r>
            <a:endParaRPr lang="en-US" sz="6000" dirty="0"/>
          </a:p>
        </p:txBody>
      </p:sp>
      <p:sp>
        <p:nvSpPr>
          <p:cNvPr id="6" name="Text 3"/>
          <p:cNvSpPr/>
          <p:nvPr/>
        </p:nvSpPr>
        <p:spPr>
          <a:xfrm>
            <a:off x="640080" y="2148840"/>
            <a:ext cx="6949440" cy="1207008"/>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The bloods that</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never needed</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a clinic.</a:t>
            </a:r>
            <a:endParaRPr lang="en-US" sz="2400" dirty="0"/>
          </a:p>
        </p:txBody>
      </p:sp>
      <p:sp>
        <p:nvSpPr>
          <p:cNvPr id="7" name="Text 4"/>
          <p:cNvSpPr/>
          <p:nvPr/>
        </p:nvSpPr>
        <p:spPr>
          <a:xfrm>
            <a:off x="640080" y="3630168"/>
            <a:ext cx="6949440" cy="1021080"/>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Hannah is a GP partner. She runs the routine Iron deficiency anaemia review cycle for her practice. Layla is on her list. So are a hundred others. Every quarter she runs the same six-month FBC clinic, and every quarter the same patients miss the appointment, get rebooked, and miss again. The cycle has nothing to do with the bloods themselves. </a:t>
            </a:r>
            <a:pPr indent="0" marL="0">
              <a:buNone/>
            </a:pPr>
            <a:r>
              <a:rPr lang="en-US" sz="1200" b="1" dirty="0">
                <a:solidFill>
                  <a:srgbClr val="DCE7F0"/>
                </a:solidFill>
                <a:latin typeface="Arial" pitchFamily="34" charset="0"/>
                <a:ea typeface="Arial" pitchFamily="34" charset="-122"/>
                <a:cs typeface="Arial" pitchFamily="34" charset="-120"/>
              </a:rPr>
              <a:t>This is the story of how the model lets her hold the cohort without holding their diaries.</a:t>
            </a:r>
            <a:endParaRPr lang="en-US" sz="1200" dirty="0"/>
          </a:p>
        </p:txBody>
      </p:sp>
      <p:sp>
        <p:nvSpPr>
          <p:cNvPr id="8" name="Text 5"/>
          <p:cNvSpPr/>
          <p:nvPr/>
        </p:nvSpPr>
        <p:spPr>
          <a:xfrm>
            <a:off x="640080" y="4788408"/>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clinician's story through the operating model</a:t>
            </a:r>
            <a:endParaRPr lang="en-US" sz="1050" dirty="0"/>
          </a:p>
        </p:txBody>
      </p:sp>
      <p:sp>
        <p:nvSpPr>
          <p:cNvPr id="9" name="Shape 6"/>
          <p:cNvSpPr/>
          <p:nvPr/>
        </p:nvSpPr>
        <p:spPr>
          <a:xfrm>
            <a:off x="8476488" y="1344168"/>
            <a:ext cx="2889504" cy="2889504"/>
          </a:xfrm>
          <a:prstGeom prst="ellipse">
            <a:avLst/>
          </a:prstGeom>
          <a:solidFill>
            <a:srgbClr val="C9A0E3"/>
          </a:solidFill>
          <a:ln w="12700">
            <a:solidFill>
              <a:srgbClr val="C9A0E3"/>
            </a:solidFill>
            <a:prstDash val="solid"/>
          </a:ln>
        </p:spPr>
      </p:sp>
      <p:pic>
        <p:nvPicPr>
          <p:cNvPr id="10" name="Image 1" descr="/sessions/quirky-zen-galileo/mnt/outputs/hmdecks5/img/hannah-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Hannah</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GP partner · Primary-care monitoring</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CLINICIAN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Hannah's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1788109"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1788109" cy="54864"/>
          </a:xfrm>
          <a:prstGeom prst="rect">
            <a:avLst/>
          </a:prstGeom>
          <a:solidFill>
            <a:srgbClr val="C9A0E3"/>
          </a:solidFill>
          <a:ln w="12700">
            <a:solidFill>
              <a:srgbClr val="C9A0E3"/>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list</a:t>
            </a:r>
            <a:endParaRPr lang="en-US" sz="1100" dirty="0"/>
          </a:p>
        </p:txBody>
      </p:sp>
      <p:sp>
        <p:nvSpPr>
          <p:cNvPr id="12" name="Text 9"/>
          <p:cNvSpPr/>
          <p:nvPr/>
        </p:nvSpPr>
        <p:spPr>
          <a:xfrm>
            <a:off x="585216"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patients she keeps rebooking</a:t>
            </a:r>
            <a:endParaRPr lang="en-US" sz="900" dirty="0"/>
          </a:p>
        </p:txBody>
      </p:sp>
      <p:sp>
        <p:nvSpPr>
          <p:cNvPr id="13" name="Shape 10"/>
          <p:cNvSpPr/>
          <p:nvPr/>
        </p:nvSpPr>
        <p:spPr>
          <a:xfrm>
            <a:off x="2355037" y="1234440"/>
            <a:ext cx="1788109"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355037" y="1234440"/>
            <a:ext cx="1788109" cy="54864"/>
          </a:xfrm>
          <a:prstGeom prst="rect">
            <a:avLst/>
          </a:prstGeom>
          <a:solidFill>
            <a:srgbClr val="C9A0E3"/>
          </a:solidFill>
          <a:ln w="12700">
            <a:solidFill>
              <a:srgbClr val="C9A0E3"/>
            </a:solidFill>
            <a:prstDash val="solid"/>
          </a:ln>
        </p:spPr>
      </p:sp>
      <p:sp>
        <p:nvSpPr>
          <p:cNvPr id="15" name="Shape 12"/>
          <p:cNvSpPr/>
          <p:nvPr/>
        </p:nvSpPr>
        <p:spPr>
          <a:xfrm>
            <a:off x="2483053"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483053"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2903677"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missed appointment</a:t>
            </a:r>
            <a:endParaRPr lang="en-US" sz="1100" dirty="0"/>
          </a:p>
        </p:txBody>
      </p:sp>
      <p:sp>
        <p:nvSpPr>
          <p:cNvPr id="18" name="Text 15"/>
          <p:cNvSpPr/>
          <p:nvPr/>
        </p:nvSpPr>
        <p:spPr>
          <a:xfrm>
            <a:off x="2483053"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15m a year, £216m, every practice in England</a:t>
            </a:r>
            <a:endParaRPr lang="en-US" sz="900" dirty="0"/>
          </a:p>
        </p:txBody>
      </p:sp>
      <p:sp>
        <p:nvSpPr>
          <p:cNvPr id="19" name="Shape 16"/>
          <p:cNvSpPr/>
          <p:nvPr/>
        </p:nvSpPr>
        <p:spPr>
          <a:xfrm>
            <a:off x="4252874" y="1234440"/>
            <a:ext cx="1788109"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4252874" y="1234440"/>
            <a:ext cx="1788109" cy="54864"/>
          </a:xfrm>
          <a:prstGeom prst="rect">
            <a:avLst/>
          </a:prstGeom>
          <a:solidFill>
            <a:srgbClr val="C9A0E3"/>
          </a:solidFill>
          <a:ln w="12700">
            <a:solidFill>
              <a:srgbClr val="C9A0E3"/>
            </a:solidFill>
            <a:prstDash val="solid"/>
          </a:ln>
        </p:spPr>
      </p:sp>
      <p:sp>
        <p:nvSpPr>
          <p:cNvPr id="21" name="Shape 18"/>
          <p:cNvSpPr/>
          <p:nvPr/>
        </p:nvSpPr>
        <p:spPr>
          <a:xfrm>
            <a:off x="4380890"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438089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4801514"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model's offer</a:t>
            </a:r>
            <a:endParaRPr lang="en-US" sz="1100" dirty="0"/>
          </a:p>
        </p:txBody>
      </p:sp>
      <p:sp>
        <p:nvSpPr>
          <p:cNvPr id="24" name="Text 21"/>
          <p:cNvSpPr/>
          <p:nvPr/>
        </p:nvSpPr>
        <p:spPr>
          <a:xfrm>
            <a:off x="4380890"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Kit out, result back to her record</a:t>
            </a:r>
            <a:endParaRPr lang="en-US" sz="900" dirty="0"/>
          </a:p>
        </p:txBody>
      </p:sp>
      <p:sp>
        <p:nvSpPr>
          <p:cNvPr id="25" name="Shape 22"/>
          <p:cNvSpPr/>
          <p:nvPr/>
        </p:nvSpPr>
        <p:spPr>
          <a:xfrm>
            <a:off x="6150712" y="1234440"/>
            <a:ext cx="1788109"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6150712" y="1234440"/>
            <a:ext cx="1788109" cy="54864"/>
          </a:xfrm>
          <a:prstGeom prst="rect">
            <a:avLst/>
          </a:prstGeom>
          <a:solidFill>
            <a:srgbClr val="C9A0E3"/>
          </a:solidFill>
          <a:ln w="12700">
            <a:solidFill>
              <a:srgbClr val="C9A0E3"/>
            </a:solidFill>
            <a:prstDash val="solid"/>
          </a:ln>
        </p:spPr>
      </p:sp>
      <p:sp>
        <p:nvSpPr>
          <p:cNvPr id="27" name="Shape 24"/>
          <p:cNvSpPr/>
          <p:nvPr/>
        </p:nvSpPr>
        <p:spPr>
          <a:xfrm>
            <a:off x="6278728"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6278728"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6699352"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First home prescriptions</a:t>
            </a:r>
            <a:endParaRPr lang="en-US" sz="1100" dirty="0"/>
          </a:p>
        </p:txBody>
      </p:sp>
      <p:sp>
        <p:nvSpPr>
          <p:cNvPr id="30" name="Text 27"/>
          <p:cNvSpPr/>
          <p:nvPr/>
        </p:nvSpPr>
        <p:spPr>
          <a:xfrm>
            <a:off x="6278728"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Layla and the early cohort</a:t>
            </a:r>
            <a:endParaRPr lang="en-US" sz="900" dirty="0"/>
          </a:p>
        </p:txBody>
      </p:sp>
      <p:sp>
        <p:nvSpPr>
          <p:cNvPr id="31" name="Shape 28"/>
          <p:cNvSpPr/>
          <p:nvPr/>
        </p:nvSpPr>
        <p:spPr>
          <a:xfrm>
            <a:off x="8048549" y="1234440"/>
            <a:ext cx="1788109"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8048549" y="1234440"/>
            <a:ext cx="1788109" cy="54864"/>
          </a:xfrm>
          <a:prstGeom prst="rect">
            <a:avLst/>
          </a:prstGeom>
          <a:solidFill>
            <a:srgbClr val="C9A0E3"/>
          </a:solidFill>
          <a:ln w="12700">
            <a:solidFill>
              <a:srgbClr val="C9A0E3"/>
            </a:solidFill>
            <a:prstDash val="solid"/>
          </a:ln>
        </p:spPr>
      </p:sp>
      <p:sp>
        <p:nvSpPr>
          <p:cNvPr id="33" name="Shape 30"/>
          <p:cNvSpPr/>
          <p:nvPr/>
        </p:nvSpPr>
        <p:spPr>
          <a:xfrm>
            <a:off x="817656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817656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8597189"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Routine monitoring in flight</a:t>
            </a:r>
            <a:endParaRPr lang="en-US" sz="1100" dirty="0"/>
          </a:p>
        </p:txBody>
      </p:sp>
      <p:sp>
        <p:nvSpPr>
          <p:cNvPr id="36" name="Text 33"/>
          <p:cNvSpPr/>
          <p:nvPr/>
        </p:nvSpPr>
        <p:spPr>
          <a:xfrm>
            <a:off x="8176565"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FBCs in the record, not in the diary</a:t>
            </a:r>
            <a:endParaRPr lang="en-US" sz="900" dirty="0"/>
          </a:p>
        </p:txBody>
      </p:sp>
      <p:sp>
        <p:nvSpPr>
          <p:cNvPr id="37" name="Shape 34"/>
          <p:cNvSpPr/>
          <p:nvPr/>
        </p:nvSpPr>
        <p:spPr>
          <a:xfrm>
            <a:off x="9946386" y="1234440"/>
            <a:ext cx="1788109" cy="1234440"/>
          </a:xfrm>
          <a:prstGeom prst="roundRect">
            <a:avLst>
              <a:gd name="adj" fmla="val 5926"/>
            </a:avLst>
          </a:prstGeom>
          <a:solidFill>
            <a:srgbClr val="F0F4F5"/>
          </a:solidFill>
          <a:ln w="9525">
            <a:solidFill>
              <a:srgbClr val="DDE3E8"/>
            </a:solidFill>
            <a:prstDash val="solid"/>
          </a:ln>
        </p:spPr>
      </p:sp>
      <p:sp>
        <p:nvSpPr>
          <p:cNvPr id="38" name="Shape 35"/>
          <p:cNvSpPr/>
          <p:nvPr/>
        </p:nvSpPr>
        <p:spPr>
          <a:xfrm>
            <a:off x="9946386" y="1234440"/>
            <a:ext cx="1788109" cy="54864"/>
          </a:xfrm>
          <a:prstGeom prst="rect">
            <a:avLst/>
          </a:prstGeom>
          <a:solidFill>
            <a:srgbClr val="C9A0E3"/>
          </a:solidFill>
          <a:ln w="12700">
            <a:solidFill>
              <a:srgbClr val="C9A0E3"/>
            </a:solidFill>
            <a:prstDash val="solid"/>
          </a:ln>
        </p:spPr>
      </p:sp>
      <p:sp>
        <p:nvSpPr>
          <p:cNvPr id="39" name="Shape 36"/>
          <p:cNvSpPr/>
          <p:nvPr/>
        </p:nvSpPr>
        <p:spPr>
          <a:xfrm>
            <a:off x="10074402" y="1417320"/>
            <a:ext cx="347472" cy="347472"/>
          </a:xfrm>
          <a:prstGeom prst="ellipse">
            <a:avLst/>
          </a:prstGeom>
          <a:solidFill>
            <a:srgbClr val="003087"/>
          </a:solidFill>
          <a:ln w="12700">
            <a:solidFill>
              <a:srgbClr val="003087"/>
            </a:solidFill>
            <a:prstDash val="solid"/>
          </a:ln>
        </p:spPr>
      </p:sp>
      <p:sp>
        <p:nvSpPr>
          <p:cNvPr id="40" name="Text 37"/>
          <p:cNvSpPr/>
          <p:nvPr/>
        </p:nvSpPr>
        <p:spPr>
          <a:xfrm>
            <a:off x="10074402"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1" name="Text 38"/>
          <p:cNvSpPr/>
          <p:nvPr/>
        </p:nvSpPr>
        <p:spPr>
          <a:xfrm>
            <a:off x="10495026"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practice shape now</a:t>
            </a:r>
            <a:endParaRPr lang="en-US" sz="1100" dirty="0"/>
          </a:p>
        </p:txBody>
      </p:sp>
      <p:sp>
        <p:nvSpPr>
          <p:cNvPr id="42" name="Text 39"/>
          <p:cNvSpPr/>
          <p:nvPr/>
        </p:nvSpPr>
        <p:spPr>
          <a:xfrm>
            <a:off x="10074402"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Slots for the patients who need clinic</a:t>
            </a:r>
            <a:endParaRPr lang="en-US" sz="900" dirty="0"/>
          </a:p>
        </p:txBody>
      </p:sp>
      <p:sp>
        <p:nvSpPr>
          <p:cNvPr id="43" name="Shape 40"/>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44" name="Text 41"/>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THE CLINICAL NORTH STAR</a:t>
            </a:r>
            <a:endParaRPr lang="en-US" sz="900" dirty="0"/>
          </a:p>
        </p:txBody>
      </p:sp>
      <p:sp>
        <p:nvSpPr>
          <p:cNvPr id="45" name="Text 42"/>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The clinical accountability does not move. The venue does.</a:t>
            </a:r>
            <a:endParaRPr lang="en-US" sz="1500" dirty="0"/>
          </a:p>
        </p:txBody>
      </p:sp>
      <p:sp>
        <p:nvSpPr>
          <p:cNvPr id="46" name="Text 43"/>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Hannah is not interested in a model that bypasses her record or sends raw numbers to a patient. The FBC result lands in her GP system as if it had been drawn at the practice. </a:t>
            </a:r>
            <a:pPr indent="0" marL="0">
              <a:buNone/>
            </a:pPr>
            <a:r>
              <a:rPr lang="en-US" sz="1100" b="1" dirty="0">
                <a:solidFill>
                  <a:srgbClr val="231F20"/>
                </a:solidFill>
                <a:latin typeface="Arial" pitchFamily="34" charset="0"/>
                <a:ea typeface="Arial" pitchFamily="34" charset="-122"/>
                <a:cs typeface="Arial" pitchFamily="34" charset="-120"/>
              </a:rPr>
              <a:t>The kit changes where the blood is taken. It does not change who reads the trend or who decides what happens next.</a:t>
            </a:r>
            <a:endParaRPr lang="en-US" sz="1100" dirty="0"/>
          </a:p>
        </p:txBody>
      </p:sp>
      <p:sp>
        <p:nvSpPr>
          <p:cNvPr id="47" name="Shape 44"/>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8" name="Text 45"/>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WHY THIS WORKS FOR HER PRACTICE</a:t>
            </a:r>
            <a:endParaRPr lang="en-US" sz="900" dirty="0"/>
          </a:p>
        </p:txBody>
      </p:sp>
      <p:sp>
        <p:nvSpPr>
          <p:cNvPr id="49" name="Text 46"/>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Phlebotomy load lifted. DNA cycle broken. Capacity returned to the patients who need clinic.</a:t>
            </a:r>
            <a:endParaRPr lang="en-US" sz="1500" dirty="0"/>
          </a:p>
        </p:txBody>
      </p:sp>
      <p:sp>
        <p:nvSpPr>
          <p:cNvPr id="50" name="Text 47"/>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b="1" dirty="0">
                <a:solidFill>
                  <a:srgbClr val="231F20"/>
                </a:solidFill>
                <a:latin typeface="Arial" pitchFamily="34" charset="0"/>
                <a:ea typeface="Arial" pitchFamily="34" charset="-122"/>
                <a:cs typeface="Arial" pitchFamily="34" charset="-120"/>
              </a:rPr>
              <a:t>Practice-nurse phlebotomy</a:t>
            </a:r>
            <a:pPr indent="0" marL="0">
              <a:buNone/>
            </a:pPr>
            <a:r>
              <a:rPr lang="en-US" sz="1100" dirty="0">
                <a:solidFill>
                  <a:srgbClr val="231F20"/>
                </a:solidFill>
                <a:latin typeface="Arial" pitchFamily="34" charset="0"/>
                <a:ea typeface="Arial" pitchFamily="34" charset="-122"/>
                <a:cs typeface="Arial" pitchFamily="34" charset="-120"/>
              </a:rPr>
              <a:t> is a scarce resource, and the routine monitoring cycle consumes a lot of it. </a:t>
            </a:r>
            <a:pPr indent="0" marL="0">
              <a:buNone/>
            </a:pPr>
            <a:r>
              <a:rPr lang="en-US" sz="1100" b="1" dirty="0">
                <a:solidFill>
                  <a:srgbClr val="231F20"/>
                </a:solidFill>
                <a:latin typeface="Arial" pitchFamily="34" charset="0"/>
                <a:ea typeface="Arial" pitchFamily="34" charset="-122"/>
                <a:cs typeface="Arial" pitchFamily="34" charset="-120"/>
              </a:rPr>
              <a:t>DNA-driven rework</a:t>
            </a:r>
            <a:pPr indent="0" marL="0">
              <a:buNone/>
            </a:pPr>
            <a:r>
              <a:rPr lang="en-US" sz="1100" dirty="0">
                <a:solidFill>
                  <a:srgbClr val="231F20"/>
                </a:solidFill>
                <a:latin typeface="Arial" pitchFamily="34" charset="0"/>
                <a:ea typeface="Arial" pitchFamily="34" charset="-122"/>
                <a:cs typeface="Arial" pitchFamily="34" charset="-120"/>
              </a:rPr>
              <a:t> compounds the problem: missed appointment, rebook, miss again. </a:t>
            </a:r>
            <a:pPr indent="0" marL="0">
              <a:buNone/>
            </a:pPr>
            <a:r>
              <a:rPr lang="en-US" sz="1100" b="1" dirty="0">
                <a:solidFill>
                  <a:srgbClr val="231F20"/>
                </a:solidFill>
                <a:latin typeface="Arial" pitchFamily="34" charset="0"/>
                <a:ea typeface="Arial" pitchFamily="34" charset="-122"/>
                <a:cs typeface="Arial" pitchFamily="34" charset="-120"/>
              </a:rPr>
              <a:t>The home-test cycle</a:t>
            </a:r>
            <a:pPr indent="0" marL="0">
              <a:buNone/>
            </a:pPr>
            <a:r>
              <a:rPr lang="en-US" sz="1100" dirty="0">
                <a:solidFill>
                  <a:srgbClr val="231F20"/>
                </a:solidFill>
                <a:latin typeface="Arial" pitchFamily="34" charset="0"/>
                <a:ea typeface="Arial" pitchFamily="34" charset="-122"/>
                <a:cs typeface="Arial" pitchFamily="34" charset="-120"/>
              </a:rPr>
              <a:t> removes the venue constraint, returns the practice nurse slot to acute or complex patients, and surfaces the trend on Hannah's screen on time.</a:t>
            </a:r>
            <a:endParaRPr lang="en-US" sz="1100" dirty="0"/>
          </a:p>
        </p:txBody>
      </p:sp>
      <p:sp>
        <p:nvSpPr>
          <p:cNvPr id="51" name="Text 48"/>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52" name="Text 49"/>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53" name="Text 50"/>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1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list · the patients she keeps rebooking</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892040" cy="1059815"/>
          </a:xfrm>
          <a:prstGeom prst="rect">
            <a:avLst/>
          </a:prstGeom>
          <a:noFill/>
          <a:ln/>
        </p:spPr>
        <p:txBody>
          <a:bodyPr wrap="square" lIns="0" tIns="0" rIns="0" bIns="0" rtlCol="0" anchor="t">
            <a:normAutofit/>
          </a:bodyPr>
          <a:lstStyle/>
          <a:p>
            <a:pPr indent="0" marL="0">
              <a:buNone/>
            </a:pPr>
            <a:r>
              <a:rPr lang="en-US" sz="1250" b="1" dirty="0">
                <a:solidFill>
                  <a:srgbClr val="003087"/>
                </a:solidFill>
                <a:latin typeface="Arial" pitchFamily="34" charset="0"/>
                <a:ea typeface="Arial" pitchFamily="34" charset="-122"/>
                <a:cs typeface="Arial" pitchFamily="34" charset="-120"/>
              </a:rPr>
              <a:t>Hannah's list shows a hundred-odd patients on the Iron deficiency anaemia review cycle. Several names have a familiar rhythm: booked, missed, rebooked, missed again. Layla is one of them. The clinical risk lives with the patients who fall out of the cycle, not the patients she sees.</a:t>
            </a:r>
            <a:endParaRPr lang="en-US" sz="1250" dirty="0"/>
          </a:p>
        </p:txBody>
      </p:sp>
      <p:sp>
        <p:nvSpPr>
          <p:cNvPr id="9" name="Shape 6"/>
          <p:cNvSpPr/>
          <p:nvPr/>
        </p:nvSpPr>
        <p:spPr>
          <a:xfrm>
            <a:off x="457200" y="308978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089783"/>
            <a:ext cx="82296" cy="944499"/>
          </a:xfrm>
          <a:prstGeom prst="rect">
            <a:avLst/>
          </a:prstGeom>
          <a:solidFill>
            <a:srgbClr val="C9A0E3"/>
          </a:solidFill>
          <a:ln w="12700">
            <a:solidFill>
              <a:srgbClr val="C9A0E3"/>
            </a:solidFill>
            <a:prstDash val="solid"/>
          </a:ln>
        </p:spPr>
      </p:sp>
      <p:sp>
        <p:nvSpPr>
          <p:cNvPr id="11" name="Text 8"/>
          <p:cNvSpPr/>
          <p:nvPr/>
        </p:nvSpPr>
        <p:spPr>
          <a:xfrm>
            <a:off x="685800" y="314464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bloods are not the problem. The clinic was always the wrong venue for routine monitoring. The patients I lose are the patients who were never going to be able to come in at 11am on a Tuesday.”</a:t>
            </a:r>
            <a:endParaRPr lang="en-US" sz="950" dirty="0"/>
          </a:p>
        </p:txBody>
      </p:sp>
      <p:sp>
        <p:nvSpPr>
          <p:cNvPr id="12" name="Text 9"/>
          <p:cNvSpPr/>
          <p:nvPr/>
        </p:nvSpPr>
        <p:spPr>
          <a:xfrm>
            <a:off x="685800" y="372338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1.jpg">    </p:cNvPr>
          <p:cNvPicPr>
            <a:picLocks noChangeAspect="1"/>
          </p:cNvPicPr>
          <p:nvPr/>
        </p:nvPicPr>
        <p:blipFill>
          <a:blip r:embed="rId2"/>
          <a:stretch>
            <a:fillRect/>
          </a:stretch>
        </p:blipFill>
        <p:spPr>
          <a:xfrm>
            <a:off x="457200" y="4198874"/>
            <a:ext cx="3748521" cy="209219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882904"/>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practice list of patients on iron supplementation due 6-month FBC monitoring. A diary that books them in 10-minute slots. A practice-nurse rota that runs full. A familiar cluster of DNA-flagged names. </a:t>
            </a:r>
            <a:pPr indent="0" marL="0">
              <a:buNone/>
            </a:pPr>
            <a:r>
              <a:rPr lang="en-US" sz="1100" b="1" dirty="0">
                <a:solidFill>
                  <a:srgbClr val="231F20"/>
                </a:solidFill>
                <a:latin typeface="Arial" pitchFamily="34" charset="0"/>
                <a:ea typeface="Arial" pitchFamily="34" charset="-122"/>
                <a:cs typeface="Arial" pitchFamily="34" charset="-120"/>
              </a:rPr>
              <a:t>The clinical question is: how do I hold these patients in the monitoring cycle without my clinic capacity being the bottleneck?</a:t>
            </a:r>
            <a:endParaRPr lang="en-US" sz="1100" dirty="0"/>
          </a:p>
        </p:txBody>
      </p:sp>
      <p:sp>
        <p:nvSpPr>
          <p:cNvPr id="18" name="Shape 14"/>
          <p:cNvSpPr/>
          <p:nvPr/>
        </p:nvSpPr>
        <p:spPr>
          <a:xfrm>
            <a:off x="5669280" y="2382520"/>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38252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656840"/>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69341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Book, miss, rebook, miss again. Or worse, drift out of monitoring entirely and re-present with deficiency anaemia symptoms months later. The cycle treats every patient as if they can come in on a Tuesday morning. Most can. Some can't. The ones who can't are the ones the cycle quietly drops.</a:t>
            </a:r>
            <a:endParaRPr lang="en-US" sz="1100" dirty="0"/>
          </a:p>
        </p:txBody>
      </p:sp>
      <p:sp>
        <p:nvSpPr>
          <p:cNvPr id="22" name="Shape 18"/>
          <p:cNvSpPr/>
          <p:nvPr/>
        </p:nvSpPr>
        <p:spPr>
          <a:xfrm>
            <a:off x="5669280" y="366776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66776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942080"/>
            <a:ext cx="6065215" cy="542036"/>
          </a:xfrm>
          <a:prstGeom prst="rect">
            <a:avLst/>
          </a:prstGeom>
          <a:solidFill>
            <a:srgbClr val="E8F3EE"/>
          </a:solidFill>
          <a:ln w="12700">
            <a:solidFill>
              <a:srgbClr val="E8F3EE"/>
            </a:solidFill>
            <a:prstDash val="solid"/>
          </a:ln>
        </p:spPr>
      </p:sp>
      <p:sp>
        <p:nvSpPr>
          <p:cNvPr id="25" name="Text 21"/>
          <p:cNvSpPr/>
          <p:nvPr/>
        </p:nvSpPr>
        <p:spPr>
          <a:xfrm>
            <a:off x="5779008" y="3978656"/>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Her practice nurse. Her practice manager on diary capacity. Anita on the ICB / GP commissioner side. The patient.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2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missed appointment · the structural problem</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892040" cy="1021080"/>
          </a:xfrm>
          <a:prstGeom prst="rect">
            <a:avLst/>
          </a:prstGeom>
          <a:noFill/>
          <a:ln/>
        </p:spPr>
        <p:txBody>
          <a:bodyPr wrap="square" lIns="0" tIns="0" rIns="0" bIns="0" rtlCol="0" anchor="t">
            <a:normAutofit/>
          </a:bodyPr>
          <a:lstStyle/>
          <a:p>
            <a:pPr indent="0" marL="0">
              <a:buNone/>
            </a:pPr>
            <a:r>
              <a:rPr lang="en-US" sz="1200" b="1" dirty="0">
                <a:solidFill>
                  <a:srgbClr val="003087"/>
                </a:solidFill>
                <a:latin typeface="Arial" pitchFamily="34" charset="0"/>
                <a:ea typeface="Arial" pitchFamily="34" charset="-122"/>
                <a:cs typeface="Arial" pitchFamily="34" charset="-120"/>
              </a:rPr>
              <a:t>Fifteen million general-practice appointments are missed in England every year. Two hundred and sixteen million pounds. The routine monitoring slot is precisely the kind of appointment that breaks first. The patient gets blamed for ‘not engaging’; the venue takes none of the responsibility.</a:t>
            </a:r>
            <a:endParaRPr lang="en-US" sz="1200" dirty="0"/>
          </a:p>
        </p:txBody>
      </p:sp>
      <p:sp>
        <p:nvSpPr>
          <p:cNvPr id="9" name="Shape 6"/>
          <p:cNvSpPr/>
          <p:nvPr/>
        </p:nvSpPr>
        <p:spPr>
          <a:xfrm>
            <a:off x="457200" y="305104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051048"/>
            <a:ext cx="82296" cy="944499"/>
          </a:xfrm>
          <a:prstGeom prst="rect">
            <a:avLst/>
          </a:prstGeom>
          <a:solidFill>
            <a:srgbClr val="C9A0E3"/>
          </a:solidFill>
          <a:ln w="12700">
            <a:solidFill>
              <a:srgbClr val="C9A0E3"/>
            </a:solidFill>
            <a:prstDash val="solid"/>
          </a:ln>
        </p:spPr>
      </p:sp>
      <p:sp>
        <p:nvSpPr>
          <p:cNvPr id="11" name="Text 8"/>
          <p:cNvSpPr/>
          <p:nvPr/>
        </p:nvSpPr>
        <p:spPr>
          <a:xfrm>
            <a:off x="685800" y="310591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“Layla wasn't refusing care. She was keeping her job, getting her kids to school, looking after a parent. The clinic was always the wrong venue. The risk was always in the model, not in her.”</a:t>
            </a:r>
            <a:endParaRPr lang="en-US" sz="950" dirty="0"/>
          </a:p>
        </p:txBody>
      </p:sp>
      <p:sp>
        <p:nvSpPr>
          <p:cNvPr id="12" name="Text 9"/>
          <p:cNvSpPr/>
          <p:nvPr/>
        </p:nvSpPr>
        <p:spPr>
          <a:xfrm>
            <a:off x="685800" y="3684651"/>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2.jpg">    </p:cNvPr>
          <p:cNvPicPr>
            <a:picLocks noChangeAspect="1"/>
          </p:cNvPicPr>
          <p:nvPr/>
        </p:nvPicPr>
        <p:blipFill>
          <a:blip r:embed="rId2"/>
          <a:stretch>
            <a:fillRect/>
          </a:stretch>
        </p:blipFill>
        <p:spPr>
          <a:xfrm>
            <a:off x="457200" y="4160139"/>
            <a:ext cx="3817922" cy="213093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Around 15 million general-practice appointments are missed each year, costing the NHS ~£216m. Routine monitoring appointments DNA at a higher rate than acute or complex visits. Around 307 million GP sessions are scheduled annually. </a:t>
            </a:r>
            <a:pPr indent="0" marL="0">
              <a:buNone/>
            </a:pPr>
            <a:r>
              <a:rPr lang="en-US" sz="1100" b="1" dirty="0">
                <a:solidFill>
                  <a:srgbClr val="231F20"/>
                </a:solidFill>
                <a:latin typeface="Arial" pitchFamily="34" charset="0"/>
                <a:ea typeface="Arial" pitchFamily="34" charset="-122"/>
                <a:cs typeface="Arial" pitchFamily="34" charset="-120"/>
              </a:rPr>
              <a:t>The home-test cycle is the way to remove the venue cost from the bloods that never needed clinic in the first place.</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Patients drop out of monitoring. Deficiency anaemia gets re-detected later, often via A&amp;E or an acute appointment. The cost lands on a different part of the system. The original missed appointment looks ‘just’ like £30. The downstream cost is much larger.</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Anita, on the ICB / GP commissioner side, paying for the access problem. The other GP partners running the same DNA curve. The practice nurses doing the rebooking work.</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3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model's offer · kit out, result to her record</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A home FBC kit ordered against Hannah's prescription. The sample comes back to the lab. The result lands in her GP system before the appointment that did not happen would have happened. The clinical role is preserved. The diary is not.</a:t>
            </a:r>
            <a:endParaRPr lang="en-US" sz="1450" dirty="0"/>
          </a:p>
        </p:txBody>
      </p:sp>
      <p:sp>
        <p:nvSpPr>
          <p:cNvPr id="9" name="Shape 6"/>
          <p:cNvSpPr/>
          <p:nvPr/>
        </p:nvSpPr>
        <p:spPr>
          <a:xfrm>
            <a:off x="457200" y="324472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44723"/>
            <a:ext cx="82296" cy="944499"/>
          </a:xfrm>
          <a:prstGeom prst="rect">
            <a:avLst/>
          </a:prstGeom>
          <a:solidFill>
            <a:srgbClr val="C9A0E3"/>
          </a:solidFill>
          <a:ln w="12700">
            <a:solidFill>
              <a:srgbClr val="C9A0E3"/>
            </a:solidFill>
            <a:prstDash val="solid"/>
          </a:ln>
        </p:spPr>
      </p:sp>
      <p:sp>
        <p:nvSpPr>
          <p:cNvPr id="11" name="Text 8"/>
          <p:cNvSpPr/>
          <p:nvPr/>
        </p:nvSpPr>
        <p:spPr>
          <a:xfrm>
            <a:off x="685800" y="329958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“If the result lands in the record, with the trend, and the clinical interpretation is still mine, the kit is just a change of venue. The clinical accountability does not move. That is what I needed to know.”</a:t>
            </a:r>
            <a:endParaRPr lang="en-US" sz="950" dirty="0"/>
          </a:p>
        </p:txBody>
      </p:sp>
      <p:sp>
        <p:nvSpPr>
          <p:cNvPr id="12" name="Text 9"/>
          <p:cNvSpPr/>
          <p:nvPr/>
        </p:nvSpPr>
        <p:spPr>
          <a:xfrm>
            <a:off x="685800" y="387832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3.jpg">    </p:cNvPr>
          <p:cNvPicPr>
            <a:picLocks noChangeAspect="1"/>
          </p:cNvPicPr>
          <p:nvPr/>
        </p:nvPicPr>
        <p:blipFill>
          <a:blip r:embed="rId2"/>
          <a:stretch>
            <a:fillRect/>
          </a:stretch>
        </p:blipFill>
        <p:spPr>
          <a:xfrm>
            <a:off x="457200" y="4353814"/>
            <a:ext cx="3470921" cy="193725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882904"/>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result returns to Hannah's GP system via the framework's EPR write-back. The trend display is unchanged. The clinical review remains hers. Threshold alerts escalate to her in the same way an in-clinic FBC would. </a:t>
            </a:r>
            <a:pPr indent="0" marL="0">
              <a:buNone/>
            </a:pPr>
            <a:r>
              <a:rPr lang="en-US" sz="1100" b="1" dirty="0">
                <a:solidFill>
                  <a:srgbClr val="231F20"/>
                </a:solidFill>
                <a:latin typeface="Arial" pitchFamily="34" charset="0"/>
                <a:ea typeface="Arial" pitchFamily="34" charset="-122"/>
                <a:cs typeface="Arial" pitchFamily="34" charset="-120"/>
              </a:rPr>
              <a:t>The patient experiences a kit. Hannah experiences the result on the same screen as always.</a:t>
            </a:r>
            <a:endParaRPr lang="en-US" sz="1100" dirty="0"/>
          </a:p>
        </p:txBody>
      </p:sp>
      <p:sp>
        <p:nvSpPr>
          <p:cNvPr id="18" name="Shape 14"/>
          <p:cNvSpPr/>
          <p:nvPr/>
        </p:nvSpPr>
        <p:spPr>
          <a:xfrm>
            <a:off x="5669280" y="2382520"/>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38252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656840"/>
            <a:ext cx="6065215" cy="712470"/>
          </a:xfrm>
          <a:prstGeom prst="rect">
            <a:avLst/>
          </a:prstGeom>
          <a:solidFill>
            <a:srgbClr val="F0F4F5"/>
          </a:solidFill>
          <a:ln w="12700">
            <a:solidFill>
              <a:srgbClr val="F0F4F5"/>
            </a:solidFill>
            <a:prstDash val="solid"/>
          </a:ln>
        </p:spPr>
      </p:sp>
      <p:sp>
        <p:nvSpPr>
          <p:cNvPr id="21" name="Text 17"/>
          <p:cNvSpPr/>
          <p:nvPr/>
        </p:nvSpPr>
        <p:spPr>
          <a:xfrm>
            <a:off x="5779008" y="2693416"/>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model that sends FBC results directly to the patient as raw numbers, or sits the results in a parallel system her practice does not see. Either would have killed adoption. Hannah is not interested in a model that routes around her.</a:t>
            </a:r>
            <a:endParaRPr lang="en-US" sz="1100" dirty="0"/>
          </a:p>
        </p:txBody>
      </p:sp>
      <p:sp>
        <p:nvSpPr>
          <p:cNvPr id="22" name="Shape 18"/>
          <p:cNvSpPr/>
          <p:nvPr/>
        </p:nvSpPr>
        <p:spPr>
          <a:xfrm>
            <a:off x="5669280" y="3497326"/>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497326"/>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771646"/>
            <a:ext cx="6065215" cy="712470"/>
          </a:xfrm>
          <a:prstGeom prst="rect">
            <a:avLst/>
          </a:prstGeom>
          <a:solidFill>
            <a:srgbClr val="E8F3EE"/>
          </a:solidFill>
          <a:ln w="12700">
            <a:solidFill>
              <a:srgbClr val="E8F3EE"/>
            </a:solidFill>
            <a:prstDash val="solid"/>
          </a:ln>
        </p:spPr>
      </p:sp>
      <p:sp>
        <p:nvSpPr>
          <p:cNvPr id="25" name="Text 21"/>
          <p:cNvSpPr/>
          <p:nvPr/>
        </p:nvSpPr>
        <p:spPr>
          <a:xfrm>
            <a:off x="5779008" y="3808222"/>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Aisha, the Clinical Safety Group lead, owning the safety case for primary-care home testing. Ngozi, the Information Governance lead, on the EPR write-back DSA. The kit supplier on lab assurance.</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4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First home prescriptions · Layla and the early cohort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892040" cy="1098550"/>
          </a:xfrm>
          <a:prstGeom prst="rect">
            <a:avLst/>
          </a:prstGeom>
          <a:noFill/>
          <a:ln/>
        </p:spPr>
        <p:txBody>
          <a:bodyPr wrap="square" lIns="0" tIns="0" rIns="0" bIns="0" rtlCol="0" anchor="t">
            <a:normAutofit/>
          </a:bodyPr>
          <a:lstStyle/>
          <a:p>
            <a:pPr indent="0" marL="0">
              <a:buNone/>
            </a:pPr>
            <a:r>
              <a:rPr lang="en-US" sz="1300" b="1" dirty="0">
                <a:solidFill>
                  <a:srgbClr val="003087"/>
                </a:solidFill>
                <a:latin typeface="Arial" pitchFamily="34" charset="0"/>
                <a:ea typeface="Arial" pitchFamily="34" charset="-122"/>
                <a:cs typeface="Arial" pitchFamily="34" charset="-120"/>
              </a:rPr>
              <a:t>Hannah picks the first patients carefully. Stable iron status, comfortable with the kit, the patients whose missed-appointment record is a logistics problem and not a clinical one. Layla is one of the first. The kit goes home, the result comes back, the diary slot stays free.</a:t>
            </a:r>
            <a:endParaRPr lang="en-US" sz="1300" dirty="0"/>
          </a:p>
        </p:txBody>
      </p:sp>
      <p:sp>
        <p:nvSpPr>
          <p:cNvPr id="9" name="Shape 6"/>
          <p:cNvSpPr/>
          <p:nvPr/>
        </p:nvSpPr>
        <p:spPr>
          <a:xfrm>
            <a:off x="457200" y="3128518"/>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28518"/>
            <a:ext cx="82296" cy="944499"/>
          </a:xfrm>
          <a:prstGeom prst="rect">
            <a:avLst/>
          </a:prstGeom>
          <a:solidFill>
            <a:srgbClr val="C9A0E3"/>
          </a:solidFill>
          <a:ln w="12700">
            <a:solidFill>
              <a:srgbClr val="C9A0E3"/>
            </a:solidFill>
            <a:prstDash val="solid"/>
          </a:ln>
        </p:spPr>
      </p:sp>
      <p:sp>
        <p:nvSpPr>
          <p:cNvPr id="11" name="Text 8"/>
          <p:cNvSpPr/>
          <p:nvPr/>
        </p:nvSpPr>
        <p:spPr>
          <a:xfrm>
            <a:off x="685800" y="3183382"/>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“Patients I would already trust to manage their own monitoring if the tooling existed. Stable trend, comfortable with the kit, family at home if needed. The model meets Layla where she already is.”</a:t>
            </a:r>
            <a:endParaRPr lang="en-US" sz="950" dirty="0"/>
          </a:p>
        </p:txBody>
      </p:sp>
      <p:sp>
        <p:nvSpPr>
          <p:cNvPr id="12" name="Text 9"/>
          <p:cNvSpPr/>
          <p:nvPr/>
        </p:nvSpPr>
        <p:spPr>
          <a:xfrm>
            <a:off x="685800" y="3762121"/>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4.jpg">    </p:cNvPr>
          <p:cNvPicPr>
            <a:picLocks noChangeAspect="1"/>
          </p:cNvPicPr>
          <p:nvPr/>
        </p:nvPicPr>
        <p:blipFill>
          <a:blip r:embed="rId2"/>
          <a:stretch>
            <a:fillRect/>
          </a:stretch>
        </p:blipFill>
        <p:spPr>
          <a:xfrm>
            <a:off x="457200" y="4237609"/>
            <a:ext cx="3679121" cy="2053463"/>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short conversation at the end of the in-clinic appointment: would you be comfortable doing the next FBC at home? Almost every patient says yes. The kit ships via the framework supplier. The patient takes the sample on the date the clinic would have happened. The lab processes it. The result lands in Hannah's system on time. </a:t>
            </a:r>
            <a:pPr indent="0" marL="0">
              <a:buNone/>
            </a:pPr>
            <a:r>
              <a:rPr lang="en-US" sz="1100" b="1" dirty="0">
                <a:solidFill>
                  <a:srgbClr val="231F20"/>
                </a:solidFill>
                <a:latin typeface="Arial" pitchFamily="34" charset="0"/>
                <a:ea typeface="Arial" pitchFamily="34" charset="-122"/>
                <a:cs typeface="Arial" pitchFamily="34" charset="-120"/>
              </a:rPr>
              <a:t>The clinic visit that did not happen is one the practice did not have capacity for anyway.</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Every patient comes in every six months. No tier of patients reading their own monitoring rhythm. No practice-nurse time freed for the patients who clinically need it. The clinic-only model treats every patient as if they need clinic time, regardless of whether they clinically do.</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542036"/>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practice nurse coordinating onboarding. The supplier shipping the kit. The lab processing the sample. The framework platform writing the result back. The patient.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5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Routine monitoring in flight · FBCs in the record, not in the diary</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The cohort settles. Routine FBCs arrive on time, in trend, in the record. Threshold breaches escalate to her in the same channel she already uses. The practice diary is no longer the limit on how many patients she can hold in the cycle.</a:t>
            </a:r>
            <a:endParaRPr lang="en-US" sz="1450" dirty="0"/>
          </a:p>
        </p:txBody>
      </p:sp>
      <p:sp>
        <p:nvSpPr>
          <p:cNvPr id="9" name="Shape 6"/>
          <p:cNvSpPr/>
          <p:nvPr/>
        </p:nvSpPr>
        <p:spPr>
          <a:xfrm>
            <a:off x="457200" y="3244723"/>
            <a:ext cx="4892040" cy="960120"/>
          </a:xfrm>
          <a:prstGeom prst="rect">
            <a:avLst/>
          </a:prstGeom>
          <a:solidFill>
            <a:srgbClr val="F0F4F5"/>
          </a:solidFill>
          <a:ln w="12700">
            <a:solidFill>
              <a:srgbClr val="F0F4F5"/>
            </a:solidFill>
            <a:prstDash val="solid"/>
          </a:ln>
        </p:spPr>
      </p:sp>
      <p:sp>
        <p:nvSpPr>
          <p:cNvPr id="10" name="Shape 7"/>
          <p:cNvSpPr/>
          <p:nvPr/>
        </p:nvSpPr>
        <p:spPr>
          <a:xfrm>
            <a:off x="457200" y="3244723"/>
            <a:ext cx="82296" cy="960120"/>
          </a:xfrm>
          <a:prstGeom prst="rect">
            <a:avLst/>
          </a:prstGeom>
          <a:solidFill>
            <a:srgbClr val="C9A0E3"/>
          </a:solidFill>
          <a:ln w="12700">
            <a:solidFill>
              <a:srgbClr val="C9A0E3"/>
            </a:solidFill>
            <a:prstDash val="solid"/>
          </a:ln>
        </p:spPr>
      </p:sp>
      <p:sp>
        <p:nvSpPr>
          <p:cNvPr id="11" name="Text 8"/>
          <p:cNvSpPr/>
          <p:nvPr/>
        </p:nvSpPr>
        <p:spPr>
          <a:xfrm>
            <a:off x="685800" y="3299587"/>
            <a:ext cx="4526280" cy="594360"/>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“The silence is the result. Most of these results are routine, and routine is the point. When something does change, it changes on my screen with everything else around it, not three months later in a missed-appointment letter.”</a:t>
            </a:r>
            <a:endParaRPr lang="en-US" sz="900" dirty="0"/>
          </a:p>
        </p:txBody>
      </p:sp>
      <p:sp>
        <p:nvSpPr>
          <p:cNvPr id="12" name="Text 9"/>
          <p:cNvSpPr/>
          <p:nvPr/>
        </p:nvSpPr>
        <p:spPr>
          <a:xfrm>
            <a:off x="685800" y="3893947"/>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5.jpg">    </p:cNvPr>
          <p:cNvPicPr>
            <a:picLocks noChangeAspect="1"/>
          </p:cNvPicPr>
          <p:nvPr/>
        </p:nvPicPr>
        <p:blipFill>
          <a:blip r:embed="rId2"/>
          <a:stretch>
            <a:fillRect/>
          </a:stretch>
        </p:blipFill>
        <p:spPr>
          <a:xfrm>
            <a:off x="457200" y="4369435"/>
            <a:ext cx="3442933" cy="1921637"/>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Routine in-range FBCs are reviewed in trend by Hannah in the same rhythm she would use for in-clinic results. Threshold breaches (haemoglobin, ferritin) trigger an alert and a routine review. Patients who would benefit from clinic come in; patients on a stable trend stay home for the next cycle. </a:t>
            </a:r>
            <a:pPr indent="0" marL="0">
              <a:buNone/>
            </a:pPr>
            <a:r>
              <a:rPr lang="en-US" sz="1100" b="1" dirty="0">
                <a:solidFill>
                  <a:srgbClr val="231F20"/>
                </a:solidFill>
                <a:latin typeface="Arial" pitchFamily="34" charset="0"/>
                <a:ea typeface="Arial" pitchFamily="34" charset="-122"/>
                <a:cs typeface="Arial" pitchFamily="34" charset="-120"/>
              </a:rPr>
              <a:t>The system surfaces clinical signal, not appointment volume.</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Every six months, every patient, in clinic regardless of trend. Most appointments confirmed stability rather than detecting change. The clinically uneventful patients shared diary space with the patients who needed clinic, and the patients who needed clinic waited longer.</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Hannah, holding the trend review. The practice nurse, coordinating between routine and escalation. Priya on the platform data layer, ensuring the result writes back to the GP system cleanly. The patient.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STAGE 6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practice shape now · slots for the patients who need clinic</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06</a:t>
            </a:r>
            <a:endParaRPr lang="en-US" sz="5200" dirty="0"/>
          </a:p>
        </p:txBody>
      </p:sp>
      <p:sp>
        <p:nvSpPr>
          <p:cNvPr id="8" name="Text 5"/>
          <p:cNvSpPr/>
          <p:nvPr/>
        </p:nvSpPr>
        <p:spPr>
          <a:xfrm>
            <a:off x="457200" y="1920240"/>
            <a:ext cx="4892040" cy="1137285"/>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Arial" pitchFamily="34" charset="0"/>
                <a:ea typeface="Arial" pitchFamily="34" charset="-122"/>
                <a:cs typeface="Arial" pitchFamily="34" charset="-120"/>
              </a:rPr>
              <a:t>More patients in monitoring. Fewer drop-outs. The practice nurse's diary now holds the appointments that actually need her. Routine FBCs run quietly through the home pathway and the practice access-target line goes the right way for the first time in a long time.</a:t>
            </a:r>
            <a:endParaRPr lang="en-US" sz="1350" dirty="0"/>
          </a:p>
        </p:txBody>
      </p:sp>
      <p:sp>
        <p:nvSpPr>
          <p:cNvPr id="9" name="Shape 6"/>
          <p:cNvSpPr/>
          <p:nvPr/>
        </p:nvSpPr>
        <p:spPr>
          <a:xfrm>
            <a:off x="457200" y="316725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167253"/>
            <a:ext cx="82296" cy="944499"/>
          </a:xfrm>
          <a:prstGeom prst="rect">
            <a:avLst/>
          </a:prstGeom>
          <a:solidFill>
            <a:srgbClr val="C9A0E3"/>
          </a:solidFill>
          <a:ln w="12700">
            <a:solidFill>
              <a:srgbClr val="C9A0E3"/>
            </a:solidFill>
            <a:prstDash val="solid"/>
          </a:ln>
        </p:spPr>
      </p:sp>
      <p:sp>
        <p:nvSpPr>
          <p:cNvPr id="11" name="Text 8"/>
          <p:cNvSpPr/>
          <p:nvPr/>
        </p:nvSpPr>
        <p:spPr>
          <a:xfrm>
            <a:off x="685800" y="322211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patients I worried about are still in the cycle. The practice nurse is doing work she should always have been doing. The bloods are happening on time. That is the version of this that was worth doing.”</a:t>
            </a:r>
            <a:endParaRPr lang="en-US" sz="950" dirty="0"/>
          </a:p>
        </p:txBody>
      </p:sp>
      <p:sp>
        <p:nvSpPr>
          <p:cNvPr id="12" name="Text 9"/>
          <p:cNvSpPr/>
          <p:nvPr/>
        </p:nvSpPr>
        <p:spPr>
          <a:xfrm>
            <a:off x="685800" y="380085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Hannah</a:t>
            </a:r>
            <a:endParaRPr lang="en-US" sz="950" dirty="0"/>
          </a:p>
        </p:txBody>
      </p:sp>
      <p:pic>
        <p:nvPicPr>
          <p:cNvPr id="13" name="Image 1" descr="/sessions/quirky-zen-galileo/mnt/outputs/hmdecks5/img/hannah-stage6.jpg">    </p:cNvPr>
          <p:cNvPicPr>
            <a:picLocks noChangeAspect="1"/>
          </p:cNvPicPr>
          <p:nvPr/>
        </p:nvPicPr>
        <p:blipFill>
          <a:blip r:embed="rId2"/>
          <a:stretch>
            <a:fillRect/>
          </a:stretch>
        </p:blipFill>
        <p:spPr>
          <a:xfrm>
            <a:off x="457200" y="4276344"/>
            <a:ext cx="3609721" cy="201472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Cohort size on routine monitoring up. DNA rate on the routine-monitoring slot sharply down. Practice-nurse time reallocated from FBC draws to acute and complex appointments. Access-target performance on routine appointments improving. </a:t>
            </a:r>
            <a:pPr indent="0" marL="0">
              <a:buNone/>
            </a:pPr>
            <a:r>
              <a:rPr lang="en-US" sz="1100" b="1" dirty="0">
                <a:solidFill>
                  <a:srgbClr val="231F20"/>
                </a:solidFill>
                <a:latin typeface="Arial" pitchFamily="34" charset="0"/>
                <a:ea typeface="Arial" pitchFamily="34" charset="-122"/>
                <a:cs typeface="Arial" pitchFamily="34" charset="-120"/>
              </a:rPr>
              <a:t>The same practice team holds more patients in monitoring than the clinic-only model could, with no extra clinic capacity.</a:t>
            </a:r>
            <a:pPr indent="0" marL="0">
              <a:buNone/>
            </a:pPr>
            <a:r>
              <a:rPr lang="en-US" sz="1100" dirty="0">
                <a:solidFill>
                  <a:srgbClr val="231F20"/>
                </a:solidFill>
                <a:latin typeface="Arial" pitchFamily="34" charset="0"/>
                <a:ea typeface="Arial" pitchFamily="34" charset="-122"/>
                <a:cs typeface="Arial" pitchFamily="34" charset="-120"/>
              </a:rPr>
              <a:t> The model passes the test that mattered to Hannah: clinical accountability preserved, reach extended, practice nurse capacity returned.</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712470"/>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Cohort size capped by practice capacity. DNA rates flat or rising. Practice-nurse phlebotomy slots consuming the workforce time the practice most needed for acute care. Routine monitoring patients silently dropping out of the cycle.</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Hannah and the practice nurse, holding a larger cohort with no extra diary cost. Anita, the ICB / GP commissioner, seeing released capacity flow into access metrics. Layla and the other patients on the cohort, getting on with their lives.</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HANNAH'S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Hannah's win</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More patients in monitoring. Practice nurse time returned. Access targets moving in the right direction.</a:t>
            </a:r>
            <a:endParaRPr lang="en-US" sz="2200" dirty="0"/>
          </a:p>
        </p:txBody>
      </p:sp>
      <p:sp>
        <p:nvSpPr>
          <p:cNvPr id="8" name="Text 5"/>
          <p:cNvSpPr/>
          <p:nvPr/>
        </p:nvSpPr>
        <p:spPr>
          <a:xfrm>
            <a:off x="457200" y="2011680"/>
            <a:ext cx="11277295" cy="649224"/>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The patients did not see a model. They saw a kit through the post and a routine cycle that kept them in monitoring without keeping them out of work. </a:t>
            </a:r>
            <a:pPr indent="0" marL="0">
              <a:buNone/>
            </a:pPr>
            <a:r>
              <a:rPr lang="en-US" sz="1200" b="1" dirty="0">
                <a:solidFill>
                  <a:srgbClr val="231F20"/>
                </a:solidFill>
                <a:latin typeface="Arial" pitchFamily="34" charset="0"/>
                <a:ea typeface="Arial" pitchFamily="34" charset="-122"/>
                <a:cs typeface="Arial" pitchFamily="34" charset="-120"/>
              </a:rPr>
              <a:t>The appointments that did not happen are appointments the practice did not have capacity for anyway.</a:t>
            </a:r>
            <a:pPr indent="0" marL="0">
              <a:buNone/>
            </a:pPr>
            <a:r>
              <a:rPr lang="en-US" sz="1200" dirty="0">
                <a:solidFill>
                  <a:srgbClr val="231F20"/>
                </a:solidFill>
                <a:latin typeface="Arial" pitchFamily="34" charset="0"/>
                <a:ea typeface="Arial" pitchFamily="34" charset="-122"/>
                <a:cs typeface="Arial" pitchFamily="34" charset="-120"/>
              </a:rPr>
              <a:t> The patients who needed clinic time now find a slot when they need one.</a:t>
            </a:r>
            <a:endParaRPr lang="en-US" sz="1200" dirty="0"/>
          </a:p>
        </p:txBody>
      </p:sp>
      <p:sp>
        <p:nvSpPr>
          <p:cNvPr id="9" name="Shape 6"/>
          <p:cNvSpPr/>
          <p:nvPr/>
        </p:nvSpPr>
        <p:spPr>
          <a:xfrm>
            <a:off x="457200" y="2935224"/>
            <a:ext cx="11277295" cy="1737360"/>
          </a:xfrm>
          <a:prstGeom prst="roundRect">
            <a:avLst>
              <a:gd name="adj" fmla="val 5263"/>
            </a:avLst>
          </a:prstGeom>
          <a:solidFill>
            <a:srgbClr val="FFFFFF"/>
          </a:solidFill>
          <a:ln w="9525">
            <a:solidFill>
              <a:srgbClr val="DDE3E8"/>
            </a:solidFill>
            <a:prstDash val="solid"/>
          </a:ln>
        </p:spPr>
      </p:sp>
      <p:sp>
        <p:nvSpPr>
          <p:cNvPr id="10" name="Shape 7"/>
          <p:cNvSpPr/>
          <p:nvPr/>
        </p:nvSpPr>
        <p:spPr>
          <a:xfrm>
            <a:off x="457200" y="2935224"/>
            <a:ext cx="11277295" cy="73152"/>
          </a:xfrm>
          <a:prstGeom prst="rect">
            <a:avLst/>
          </a:prstGeom>
          <a:solidFill>
            <a:srgbClr val="006747"/>
          </a:solidFill>
          <a:ln w="12700">
            <a:solidFill>
              <a:srgbClr val="006747"/>
            </a:solidFill>
            <a:prstDash val="solid"/>
          </a:ln>
        </p:spPr>
      </p:sp>
      <p:sp>
        <p:nvSpPr>
          <p:cNvPr id="11" name="Text 8"/>
          <p:cNvSpPr/>
          <p:nvPr/>
        </p:nvSpPr>
        <p:spPr>
          <a:xfrm>
            <a:off x="731520" y="3118104"/>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438144"/>
            <a:ext cx="10728655" cy="777240"/>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Hannah's practice stops paying for absence. The review cycle is funded per completed test, so the no-show that used to waste a booked slot and a recall letter now costs little more than a reminder. The kit changes the venue; the funding follows the result into her workflow. Her time goes on the conversations that need a GP, which is what the practice was always actually buying.</a:t>
            </a:r>
            <a:endParaRPr lang="en-US" sz="1150" dirty="0"/>
          </a:p>
        </p:txBody>
      </p:sp>
      <p:sp>
        <p:nvSpPr>
          <p:cNvPr id="13" name="Text 10"/>
          <p:cNvSpPr/>
          <p:nvPr/>
        </p:nvSpPr>
        <p:spPr>
          <a:xfrm>
            <a:off x="731520" y="4261104"/>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Hannah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Hannah's story: HomeTest Hearts and Minds</dc:title>
  <dc:subject>PptxGenJS Presentation</dc:subject>
  <dc:creator>HomeTest Programme</dc:creator>
  <cp:lastModifiedBy>HomeTest Programme</cp:lastModifiedBy>
  <cp:revision>1</cp:revision>
  <dcterms:created xsi:type="dcterms:W3CDTF">2026-09-05T08:28:25Z</dcterms:created>
  <dcterms:modified xsi:type="dcterms:W3CDTF">2026-09-05T08:28:25Z</dcterms:modified>
</cp:coreProperties>
</file>