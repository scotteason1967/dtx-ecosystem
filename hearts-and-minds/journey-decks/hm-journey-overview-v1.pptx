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image" Target="../media/image-1-6.jpg"/><Relationship Id="rId7" Type="http://schemas.openxmlformats.org/officeDocument/2006/relationships/image" Target="../media/image-1-7.jpg"/><Relationship Id="rId8" Type="http://schemas.openxmlformats.org/officeDocument/2006/relationships/image" Target="../media/image-1-8.jpg"/><Relationship Id="rId9" Type="http://schemas.openxmlformats.org/officeDocument/2006/relationships/image" Target="../media/image-1-9.jpg"/><Relationship Id="rId10" Type="http://schemas.openxmlformats.org/officeDocument/2006/relationships/image" Target="../media/image-1-10.jpg"/><Relationship Id="rId11" Type="http://schemas.openxmlformats.org/officeDocument/2006/relationships/image" Target="../media/image-1-11.jpg"/><Relationship Id="rId12" Type="http://schemas.openxmlformats.org/officeDocument/2006/relationships/image" Target="../media/image-1-12.jpg"/><Relationship Id="rId13" Type="http://schemas.openxmlformats.org/officeDocument/2006/relationships/image" Target="../media/image-1-13.jpg"/><Relationship Id="rId14" Type="http://schemas.openxmlformats.org/officeDocument/2006/relationships/slideLayout" Target="../slideLayouts/slideLayout1.xml"/><Relationship Id="rId1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jpg"/><Relationship Id="rId5" Type="http://schemas.openxmlformats.org/officeDocument/2006/relationships/image" Target="../media/image-2-5.jpg"/><Relationship Id="rId6" Type="http://schemas.openxmlformats.org/officeDocument/2006/relationships/image" Target="../media/image-2-6.jpg"/><Relationship Id="rId7" Type="http://schemas.openxmlformats.org/officeDocument/2006/relationships/image" Target="../media/image-2-7.jp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image" Target="../media/image-3-5.jpg"/><Relationship Id="rId6" Type="http://schemas.openxmlformats.org/officeDocument/2006/relationships/image" Target="../media/image-3-6.jpg"/><Relationship Id="rId7" Type="http://schemas.openxmlformats.org/officeDocument/2006/relationships/image" Target="../media/image-3-7.jp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quirky-zen-galileo/mnt/outputs/deckbuild/nhs_logo.png">    </p:cNvPr>
          <p:cNvPicPr>
            <a:picLocks noChangeAspect="1"/>
          </p:cNvPicPr>
          <p:nvPr/>
        </p:nvPicPr>
        <p:blipFill>
          <a:blip r:embed="rId1"/>
          <a:stretch>
            <a:fillRect/>
          </a:stretch>
        </p:blipFill>
        <p:spPr>
          <a:xfrm>
            <a:off x="10591495" y="365760"/>
            <a:ext cx="1143000" cy="466344"/>
          </a:xfrm>
          <a:prstGeom prst="rect">
            <a:avLst/>
          </a:prstGeom>
        </p:spPr>
      </p:pic>
      <p:sp>
        <p:nvSpPr>
          <p:cNvPr id="3" name="Text 0"/>
          <p:cNvSpPr/>
          <p:nvPr/>
        </p:nvSpPr>
        <p:spPr>
          <a:xfrm>
            <a:off x="640080" y="502920"/>
            <a:ext cx="8229600" cy="274320"/>
          </a:xfrm>
          <a:prstGeom prst="rect">
            <a:avLst/>
          </a:prstGeom>
          <a:noFill/>
          <a:ln/>
        </p:spPr>
        <p:txBody>
          <a:bodyPr wrap="square" lIns="0" tIns="0" rIns="0" bIns="0" rtlCol="0" anchor="ctr"/>
          <a:lstStyle/>
          <a:p>
            <a:pPr indent="0" marL="0">
              <a:buNone/>
            </a:pPr>
            <a:r>
              <a:rPr lang="en-US" sz="1050" b="1" spc="300" kern="0" dirty="0">
                <a:solidFill>
                  <a:srgbClr val="7EC8E3"/>
                </a:solidFill>
                <a:latin typeface="Arial" pitchFamily="34" charset="0"/>
                <a:ea typeface="Arial" pitchFamily="34" charset="-122"/>
                <a:cs typeface="Arial" pitchFamily="34" charset="-120"/>
              </a:rPr>
              <a:t>HEARTS AND MINDS  ·  HOMETEST OPERATING MODEL</a:t>
            </a:r>
            <a:endParaRPr lang="en-US" sz="1050" dirty="0"/>
          </a:p>
        </p:txBody>
      </p:sp>
      <p:sp>
        <p:nvSpPr>
          <p:cNvPr id="4" name="Shape 1"/>
          <p:cNvSpPr/>
          <p:nvPr/>
        </p:nvSpPr>
        <p:spPr>
          <a:xfrm>
            <a:off x="640080" y="914400"/>
            <a:ext cx="822960" cy="54864"/>
          </a:xfrm>
          <a:prstGeom prst="rect">
            <a:avLst/>
          </a:prstGeom>
          <a:solidFill>
            <a:srgbClr val="FFB91D"/>
          </a:solidFill>
          <a:ln w="12700">
            <a:solidFill>
              <a:srgbClr val="FFB91D"/>
            </a:solidFill>
            <a:prstDash val="solid"/>
          </a:ln>
        </p:spPr>
      </p:sp>
      <p:sp>
        <p:nvSpPr>
          <p:cNvPr id="5" name="Text 2"/>
          <p:cNvSpPr/>
          <p:nvPr/>
        </p:nvSpPr>
        <p:spPr>
          <a:xfrm>
            <a:off x="640080" y="1097280"/>
            <a:ext cx="8229600" cy="201168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Twelve people.</a:t>
            </a:r>
            <a:endParaRPr lang="en-US" sz="4800" dirty="0"/>
          </a:p>
          <a:p>
            <a:pPr indent="0" marL="0">
              <a:buNone/>
            </a:pPr>
            <a:r>
              <a:rPr lang="en-US" sz="4800" b="1" dirty="0">
                <a:solidFill>
                  <a:srgbClr val="FFFFFF"/>
                </a:solidFill>
                <a:latin typeface="Arial" pitchFamily="34" charset="0"/>
                <a:ea typeface="Arial" pitchFamily="34" charset="-122"/>
                <a:cs typeface="Arial" pitchFamily="34" charset="-120"/>
              </a:rPr>
              <a:t>One operating model.</a:t>
            </a:r>
            <a:endParaRPr lang="en-US" sz="4800" dirty="0"/>
          </a:p>
        </p:txBody>
      </p:sp>
      <p:sp>
        <p:nvSpPr>
          <p:cNvPr id="6" name="Text 3"/>
          <p:cNvSpPr/>
          <p:nvPr/>
        </p:nvSpPr>
        <p:spPr>
          <a:xfrm>
            <a:off x="640080" y="3291840"/>
            <a:ext cx="7863840" cy="1463040"/>
          </a:xfrm>
          <a:prstGeom prst="rect">
            <a:avLst/>
          </a:prstGeom>
          <a:noFill/>
          <a:ln/>
        </p:spPr>
        <p:txBody>
          <a:bodyPr wrap="square" lIns="0" tIns="0" rIns="0" bIns="0" rtlCol="0" anchor="t"/>
          <a:lstStyle/>
          <a:p>
            <a:pPr indent="0" marL="0">
              <a:buNone/>
            </a:pPr>
            <a:r>
              <a:rPr lang="en-US" sz="1300" dirty="0">
                <a:solidFill>
                  <a:srgbClr val="DCE7F0"/>
                </a:solidFill>
                <a:latin typeface="Arial" pitchFamily="34" charset="0"/>
                <a:ea typeface="Arial" pitchFamily="34" charset="-122"/>
                <a:cs typeface="Arial" pitchFamily="34" charset="-120"/>
              </a:rPr>
              <a:t>Each journey tells the story of one person the HomeTest operating model has to work for: five patients, four commissioners, two clinicians and one supplier. The same platform, the same accredited register and the same commercial mechanics, seen from twelve seats. Every journey has its own deck; this one introduces the cast and gives each journey at a glance.</a:t>
            </a:r>
            <a:endParaRPr lang="en-US" sz="1300" dirty="0"/>
          </a:p>
        </p:txBody>
      </p:sp>
      <p:sp>
        <p:nvSpPr>
          <p:cNvPr id="7" name="Shape 4"/>
          <p:cNvSpPr/>
          <p:nvPr/>
        </p:nvSpPr>
        <p:spPr>
          <a:xfrm>
            <a:off x="566928" y="4818888"/>
            <a:ext cx="859536" cy="859536"/>
          </a:xfrm>
          <a:prstGeom prst="ellipse">
            <a:avLst/>
          </a:prstGeom>
          <a:solidFill>
            <a:srgbClr val="FFB91D"/>
          </a:solidFill>
          <a:ln w="12700">
            <a:solidFill>
              <a:srgbClr val="FFB91D"/>
            </a:solidFill>
            <a:prstDash val="solid"/>
          </a:ln>
        </p:spPr>
      </p:sp>
      <p:pic>
        <p:nvPicPr>
          <p:cNvPr id="8" name="Image 1" descr="/sessions/quirky-zen-galileo/mnt/outputs/hmdecks/img/abdul-portrait.jpg">    </p:cNvPr>
          <p:cNvPicPr>
            <a:picLocks noChangeAspect="1"/>
          </p:cNvPicPr>
          <p:nvPr/>
        </p:nvPicPr>
        <p:blipFill>
          <a:blip r:embed="rId2"/>
          <a:srcRect l="0" r="0" t="0" b="0"/>
          <a:stretch/>
        </p:blipFill>
        <p:spPr>
          <a:xfrm>
            <a:off x="640080" y="4892040"/>
            <a:ext cx="713232" cy="713232"/>
          </a:xfrm>
          <a:prstGeom prst="ellipse">
            <a:avLst/>
          </a:prstGeom>
        </p:spPr>
      </p:pic>
      <p:sp>
        <p:nvSpPr>
          <p:cNvPr id="9" name="Text 5"/>
          <p:cNvSpPr/>
          <p:nvPr/>
        </p:nvSpPr>
        <p:spPr>
          <a:xfrm>
            <a:off x="502920" y="5669280"/>
            <a:ext cx="987552"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Abdul</a:t>
            </a:r>
            <a:endParaRPr lang="en-US" sz="850" dirty="0"/>
          </a:p>
        </p:txBody>
      </p:sp>
      <p:sp>
        <p:nvSpPr>
          <p:cNvPr id="10" name="Shape 6"/>
          <p:cNvSpPr/>
          <p:nvPr/>
        </p:nvSpPr>
        <p:spPr>
          <a:xfrm>
            <a:off x="1481328" y="4818888"/>
            <a:ext cx="859536" cy="859536"/>
          </a:xfrm>
          <a:prstGeom prst="ellipse">
            <a:avLst/>
          </a:prstGeom>
          <a:solidFill>
            <a:srgbClr val="C9A0E3"/>
          </a:solidFill>
          <a:ln w="12700">
            <a:solidFill>
              <a:srgbClr val="C9A0E3"/>
            </a:solidFill>
            <a:prstDash val="solid"/>
          </a:ln>
        </p:spPr>
      </p:sp>
      <p:pic>
        <p:nvPicPr>
          <p:cNvPr id="11" name="Image 2" descr="/sessions/quirky-zen-galileo/mnt/outputs/hmdecks/img/adam-portrait.jpg">    </p:cNvPr>
          <p:cNvPicPr>
            <a:picLocks noChangeAspect="1"/>
          </p:cNvPicPr>
          <p:nvPr/>
        </p:nvPicPr>
        <p:blipFill>
          <a:blip r:embed="rId3"/>
          <a:srcRect l="0" r="0" t="0" b="0"/>
          <a:stretch/>
        </p:blipFill>
        <p:spPr>
          <a:xfrm>
            <a:off x="1554480" y="4892040"/>
            <a:ext cx="713232" cy="713232"/>
          </a:xfrm>
          <a:prstGeom prst="ellipse">
            <a:avLst/>
          </a:prstGeom>
        </p:spPr>
      </p:pic>
      <p:sp>
        <p:nvSpPr>
          <p:cNvPr id="12" name="Text 7"/>
          <p:cNvSpPr/>
          <p:nvPr/>
        </p:nvSpPr>
        <p:spPr>
          <a:xfrm>
            <a:off x="1417320" y="5669280"/>
            <a:ext cx="987552"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Adam</a:t>
            </a:r>
            <a:endParaRPr lang="en-US" sz="850" dirty="0"/>
          </a:p>
        </p:txBody>
      </p:sp>
      <p:sp>
        <p:nvSpPr>
          <p:cNvPr id="13" name="Shape 8"/>
          <p:cNvSpPr/>
          <p:nvPr/>
        </p:nvSpPr>
        <p:spPr>
          <a:xfrm>
            <a:off x="2395728" y="4818888"/>
            <a:ext cx="859536" cy="859536"/>
          </a:xfrm>
          <a:prstGeom prst="ellipse">
            <a:avLst/>
          </a:prstGeom>
          <a:solidFill>
            <a:srgbClr val="7EC8E3"/>
          </a:solidFill>
          <a:ln w="12700">
            <a:solidFill>
              <a:srgbClr val="7EC8E3"/>
            </a:solidFill>
            <a:prstDash val="solid"/>
          </a:ln>
        </p:spPr>
      </p:sp>
      <p:pic>
        <p:nvPicPr>
          <p:cNvPr id="14" name="Image 3" descr="/sessions/quirky-zen-galileo/mnt/outputs/hmdecks/img/anita-portrait.jpg">    </p:cNvPr>
          <p:cNvPicPr>
            <a:picLocks noChangeAspect="1"/>
          </p:cNvPicPr>
          <p:nvPr/>
        </p:nvPicPr>
        <p:blipFill>
          <a:blip r:embed="rId4"/>
          <a:srcRect l="0" r="0" t="0" b="0"/>
          <a:stretch/>
        </p:blipFill>
        <p:spPr>
          <a:xfrm>
            <a:off x="2468880" y="4892040"/>
            <a:ext cx="713232" cy="713232"/>
          </a:xfrm>
          <a:prstGeom prst="ellipse">
            <a:avLst/>
          </a:prstGeom>
        </p:spPr>
      </p:pic>
      <p:sp>
        <p:nvSpPr>
          <p:cNvPr id="15" name="Text 9"/>
          <p:cNvSpPr/>
          <p:nvPr/>
        </p:nvSpPr>
        <p:spPr>
          <a:xfrm>
            <a:off x="2331720" y="5669280"/>
            <a:ext cx="987552"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Anita</a:t>
            </a:r>
            <a:endParaRPr lang="en-US" sz="850" dirty="0"/>
          </a:p>
        </p:txBody>
      </p:sp>
      <p:sp>
        <p:nvSpPr>
          <p:cNvPr id="16" name="Shape 10"/>
          <p:cNvSpPr/>
          <p:nvPr/>
        </p:nvSpPr>
        <p:spPr>
          <a:xfrm>
            <a:off x="3310128" y="4818888"/>
            <a:ext cx="859536" cy="859536"/>
          </a:xfrm>
          <a:prstGeom prst="ellipse">
            <a:avLst/>
          </a:prstGeom>
          <a:solidFill>
            <a:srgbClr val="7EC8E3"/>
          </a:solidFill>
          <a:ln w="12700">
            <a:solidFill>
              <a:srgbClr val="7EC8E3"/>
            </a:solidFill>
            <a:prstDash val="solid"/>
          </a:ln>
        </p:spPr>
      </p:sp>
      <p:pic>
        <p:nvPicPr>
          <p:cNvPr id="17" name="Image 4" descr="/sessions/quirky-zen-galileo/mnt/outputs/hmdecks/img/catherine-portrait.jpg">    </p:cNvPr>
          <p:cNvPicPr>
            <a:picLocks noChangeAspect="1"/>
          </p:cNvPicPr>
          <p:nvPr/>
        </p:nvPicPr>
        <p:blipFill>
          <a:blip r:embed="rId5"/>
          <a:srcRect l="0" r="0" t="0" b="0"/>
          <a:stretch/>
        </p:blipFill>
        <p:spPr>
          <a:xfrm>
            <a:off x="3383280" y="4892040"/>
            <a:ext cx="713232" cy="713232"/>
          </a:xfrm>
          <a:prstGeom prst="ellipse">
            <a:avLst/>
          </a:prstGeom>
        </p:spPr>
      </p:pic>
      <p:sp>
        <p:nvSpPr>
          <p:cNvPr id="18" name="Text 11"/>
          <p:cNvSpPr/>
          <p:nvPr/>
        </p:nvSpPr>
        <p:spPr>
          <a:xfrm>
            <a:off x="3246120" y="5669280"/>
            <a:ext cx="987552"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Catherine</a:t>
            </a:r>
            <a:endParaRPr lang="en-US" sz="850" dirty="0"/>
          </a:p>
        </p:txBody>
      </p:sp>
      <p:sp>
        <p:nvSpPr>
          <p:cNvPr id="19" name="Shape 12"/>
          <p:cNvSpPr/>
          <p:nvPr/>
        </p:nvSpPr>
        <p:spPr>
          <a:xfrm>
            <a:off x="4224528" y="4818888"/>
            <a:ext cx="859536" cy="859536"/>
          </a:xfrm>
          <a:prstGeom prst="ellipse">
            <a:avLst/>
          </a:prstGeom>
          <a:solidFill>
            <a:srgbClr val="FFB91D"/>
          </a:solidFill>
          <a:ln w="12700">
            <a:solidFill>
              <a:srgbClr val="FFB91D"/>
            </a:solidFill>
            <a:prstDash val="solid"/>
          </a:ln>
        </p:spPr>
      </p:sp>
      <p:pic>
        <p:nvPicPr>
          <p:cNvPr id="20" name="Image 5" descr="/sessions/quirky-zen-galileo/mnt/outputs/hmdecks/img/devi-portrait.jpg">    </p:cNvPr>
          <p:cNvPicPr>
            <a:picLocks noChangeAspect="1"/>
          </p:cNvPicPr>
          <p:nvPr/>
        </p:nvPicPr>
        <p:blipFill>
          <a:blip r:embed="rId6"/>
          <a:srcRect l="0" r="0" t="0" b="0"/>
          <a:stretch/>
        </p:blipFill>
        <p:spPr>
          <a:xfrm>
            <a:off x="4297680" y="4892040"/>
            <a:ext cx="713232" cy="713232"/>
          </a:xfrm>
          <a:prstGeom prst="ellipse">
            <a:avLst/>
          </a:prstGeom>
        </p:spPr>
      </p:pic>
      <p:sp>
        <p:nvSpPr>
          <p:cNvPr id="21" name="Text 13"/>
          <p:cNvSpPr/>
          <p:nvPr/>
        </p:nvSpPr>
        <p:spPr>
          <a:xfrm>
            <a:off x="4160520" y="5669280"/>
            <a:ext cx="987552"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Devi</a:t>
            </a:r>
            <a:endParaRPr lang="en-US" sz="850" dirty="0"/>
          </a:p>
        </p:txBody>
      </p:sp>
      <p:sp>
        <p:nvSpPr>
          <p:cNvPr id="22" name="Shape 14"/>
          <p:cNvSpPr/>
          <p:nvPr/>
        </p:nvSpPr>
        <p:spPr>
          <a:xfrm>
            <a:off x="5138928" y="4818888"/>
            <a:ext cx="859536" cy="859536"/>
          </a:xfrm>
          <a:prstGeom prst="ellipse">
            <a:avLst/>
          </a:prstGeom>
          <a:solidFill>
            <a:srgbClr val="C9A0E3"/>
          </a:solidFill>
          <a:ln w="12700">
            <a:solidFill>
              <a:srgbClr val="C9A0E3"/>
            </a:solidFill>
            <a:prstDash val="solid"/>
          </a:ln>
        </p:spPr>
      </p:sp>
      <p:pic>
        <p:nvPicPr>
          <p:cNvPr id="23" name="Image 6" descr="/sessions/quirky-zen-galileo/mnt/outputs/hmdecks/img/hannah-portrait.jpg">    </p:cNvPr>
          <p:cNvPicPr>
            <a:picLocks noChangeAspect="1"/>
          </p:cNvPicPr>
          <p:nvPr/>
        </p:nvPicPr>
        <p:blipFill>
          <a:blip r:embed="rId7"/>
          <a:srcRect l="0" r="0" t="0" b="0"/>
          <a:stretch/>
        </p:blipFill>
        <p:spPr>
          <a:xfrm>
            <a:off x="5212080" y="4892040"/>
            <a:ext cx="713232" cy="713232"/>
          </a:xfrm>
          <a:prstGeom prst="ellipse">
            <a:avLst/>
          </a:prstGeom>
        </p:spPr>
      </p:pic>
      <p:sp>
        <p:nvSpPr>
          <p:cNvPr id="24" name="Text 15"/>
          <p:cNvSpPr/>
          <p:nvPr/>
        </p:nvSpPr>
        <p:spPr>
          <a:xfrm>
            <a:off x="5074920" y="5669280"/>
            <a:ext cx="987552"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Hannah</a:t>
            </a:r>
            <a:endParaRPr lang="en-US" sz="850" dirty="0"/>
          </a:p>
        </p:txBody>
      </p:sp>
      <p:sp>
        <p:nvSpPr>
          <p:cNvPr id="25" name="Shape 16"/>
          <p:cNvSpPr/>
          <p:nvPr/>
        </p:nvSpPr>
        <p:spPr>
          <a:xfrm>
            <a:off x="6053328" y="4818888"/>
            <a:ext cx="859536" cy="859536"/>
          </a:xfrm>
          <a:prstGeom prst="ellipse">
            <a:avLst/>
          </a:prstGeom>
          <a:solidFill>
            <a:srgbClr val="5BC093"/>
          </a:solidFill>
          <a:ln w="12700">
            <a:solidFill>
              <a:srgbClr val="5BC093"/>
            </a:solidFill>
            <a:prstDash val="solid"/>
          </a:ln>
        </p:spPr>
      </p:sp>
      <p:pic>
        <p:nvPicPr>
          <p:cNvPr id="26" name="Image 7" descr="/sessions/quirky-zen-galileo/mnt/outputs/hmdecks/img/joe-portrait.jpg">    </p:cNvPr>
          <p:cNvPicPr>
            <a:picLocks noChangeAspect="1"/>
          </p:cNvPicPr>
          <p:nvPr/>
        </p:nvPicPr>
        <p:blipFill>
          <a:blip r:embed="rId8"/>
          <a:srcRect l="0" r="0" t="0" b="0"/>
          <a:stretch/>
        </p:blipFill>
        <p:spPr>
          <a:xfrm>
            <a:off x="6126480" y="4892040"/>
            <a:ext cx="713232" cy="713232"/>
          </a:xfrm>
          <a:prstGeom prst="ellipse">
            <a:avLst/>
          </a:prstGeom>
        </p:spPr>
      </p:pic>
      <p:sp>
        <p:nvSpPr>
          <p:cNvPr id="27" name="Text 17"/>
          <p:cNvSpPr/>
          <p:nvPr/>
        </p:nvSpPr>
        <p:spPr>
          <a:xfrm>
            <a:off x="5989320" y="5669280"/>
            <a:ext cx="987552"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Joe</a:t>
            </a:r>
            <a:endParaRPr lang="en-US" sz="850" dirty="0"/>
          </a:p>
        </p:txBody>
      </p:sp>
      <p:sp>
        <p:nvSpPr>
          <p:cNvPr id="28" name="Shape 18"/>
          <p:cNvSpPr/>
          <p:nvPr/>
        </p:nvSpPr>
        <p:spPr>
          <a:xfrm>
            <a:off x="6967728" y="4818888"/>
            <a:ext cx="859536" cy="859536"/>
          </a:xfrm>
          <a:prstGeom prst="ellipse">
            <a:avLst/>
          </a:prstGeom>
          <a:solidFill>
            <a:srgbClr val="FFB91D"/>
          </a:solidFill>
          <a:ln w="12700">
            <a:solidFill>
              <a:srgbClr val="FFB91D"/>
            </a:solidFill>
            <a:prstDash val="solid"/>
          </a:ln>
        </p:spPr>
      </p:sp>
      <p:pic>
        <p:nvPicPr>
          <p:cNvPr id="29" name="Image 8" descr="/sessions/quirky-zen-galileo/mnt/outputs/hmdecks/img/layla-portrait.jpg">    </p:cNvPr>
          <p:cNvPicPr>
            <a:picLocks noChangeAspect="1"/>
          </p:cNvPicPr>
          <p:nvPr/>
        </p:nvPicPr>
        <p:blipFill>
          <a:blip r:embed="rId9"/>
          <a:srcRect l="0" r="0" t="0" b="0"/>
          <a:stretch/>
        </p:blipFill>
        <p:spPr>
          <a:xfrm>
            <a:off x="7040880" y="4892040"/>
            <a:ext cx="713232" cy="713232"/>
          </a:xfrm>
          <a:prstGeom prst="ellipse">
            <a:avLst/>
          </a:prstGeom>
        </p:spPr>
      </p:pic>
      <p:sp>
        <p:nvSpPr>
          <p:cNvPr id="30" name="Text 19"/>
          <p:cNvSpPr/>
          <p:nvPr/>
        </p:nvSpPr>
        <p:spPr>
          <a:xfrm>
            <a:off x="6903720" y="5669280"/>
            <a:ext cx="987552"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Layla</a:t>
            </a:r>
            <a:endParaRPr lang="en-US" sz="850" dirty="0"/>
          </a:p>
        </p:txBody>
      </p:sp>
      <p:sp>
        <p:nvSpPr>
          <p:cNvPr id="31" name="Shape 20"/>
          <p:cNvSpPr/>
          <p:nvPr/>
        </p:nvSpPr>
        <p:spPr>
          <a:xfrm>
            <a:off x="7882128" y="4818888"/>
            <a:ext cx="859536" cy="859536"/>
          </a:xfrm>
          <a:prstGeom prst="ellipse">
            <a:avLst/>
          </a:prstGeom>
          <a:solidFill>
            <a:srgbClr val="FFB91D"/>
          </a:solidFill>
          <a:ln w="12700">
            <a:solidFill>
              <a:srgbClr val="FFB91D"/>
            </a:solidFill>
            <a:prstDash val="solid"/>
          </a:ln>
        </p:spPr>
      </p:sp>
      <p:pic>
        <p:nvPicPr>
          <p:cNvPr id="32" name="Image 9" descr="/sessions/quirky-zen-galileo/mnt/outputs/hmdecks/img/mark-portrait.jpg">    </p:cNvPr>
          <p:cNvPicPr>
            <a:picLocks noChangeAspect="1"/>
          </p:cNvPicPr>
          <p:nvPr/>
        </p:nvPicPr>
        <p:blipFill>
          <a:blip r:embed="rId10"/>
          <a:srcRect l="0" r="0" t="0" b="0"/>
          <a:stretch/>
        </p:blipFill>
        <p:spPr>
          <a:xfrm>
            <a:off x="7955280" y="4892040"/>
            <a:ext cx="713232" cy="713232"/>
          </a:xfrm>
          <a:prstGeom prst="ellipse">
            <a:avLst/>
          </a:prstGeom>
        </p:spPr>
      </p:pic>
      <p:sp>
        <p:nvSpPr>
          <p:cNvPr id="33" name="Text 21"/>
          <p:cNvSpPr/>
          <p:nvPr/>
        </p:nvSpPr>
        <p:spPr>
          <a:xfrm>
            <a:off x="7818120" y="5669280"/>
            <a:ext cx="987552"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Mark</a:t>
            </a:r>
            <a:endParaRPr lang="en-US" sz="850" dirty="0"/>
          </a:p>
        </p:txBody>
      </p:sp>
      <p:sp>
        <p:nvSpPr>
          <p:cNvPr id="34" name="Shape 22"/>
          <p:cNvSpPr/>
          <p:nvPr/>
        </p:nvSpPr>
        <p:spPr>
          <a:xfrm>
            <a:off x="8796528" y="4818888"/>
            <a:ext cx="859536" cy="859536"/>
          </a:xfrm>
          <a:prstGeom prst="ellipse">
            <a:avLst/>
          </a:prstGeom>
          <a:solidFill>
            <a:srgbClr val="7EC8E3"/>
          </a:solidFill>
          <a:ln w="12700">
            <a:solidFill>
              <a:srgbClr val="7EC8E3"/>
            </a:solidFill>
            <a:prstDash val="solid"/>
          </a:ln>
        </p:spPr>
      </p:sp>
      <p:pic>
        <p:nvPicPr>
          <p:cNvPr id="35" name="Image 10" descr="/sessions/quirky-zen-galileo/mnt/outputs/hmdecks/img/ruth-portrait.jpg">    </p:cNvPr>
          <p:cNvPicPr>
            <a:picLocks noChangeAspect="1"/>
          </p:cNvPicPr>
          <p:nvPr/>
        </p:nvPicPr>
        <p:blipFill>
          <a:blip r:embed="rId11"/>
          <a:srcRect l="0" r="0" t="0" b="0"/>
          <a:stretch/>
        </p:blipFill>
        <p:spPr>
          <a:xfrm>
            <a:off x="8869680" y="4892040"/>
            <a:ext cx="713232" cy="713232"/>
          </a:xfrm>
          <a:prstGeom prst="ellipse">
            <a:avLst/>
          </a:prstGeom>
        </p:spPr>
      </p:pic>
      <p:sp>
        <p:nvSpPr>
          <p:cNvPr id="36" name="Text 23"/>
          <p:cNvSpPr/>
          <p:nvPr/>
        </p:nvSpPr>
        <p:spPr>
          <a:xfrm>
            <a:off x="8732520" y="5669280"/>
            <a:ext cx="987552"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Ruth</a:t>
            </a:r>
            <a:endParaRPr lang="en-US" sz="850" dirty="0"/>
          </a:p>
        </p:txBody>
      </p:sp>
      <p:sp>
        <p:nvSpPr>
          <p:cNvPr id="37" name="Shape 24"/>
          <p:cNvSpPr/>
          <p:nvPr/>
        </p:nvSpPr>
        <p:spPr>
          <a:xfrm>
            <a:off x="9710928" y="4818888"/>
            <a:ext cx="859536" cy="859536"/>
          </a:xfrm>
          <a:prstGeom prst="ellipse">
            <a:avLst/>
          </a:prstGeom>
          <a:solidFill>
            <a:srgbClr val="7EC8E3"/>
          </a:solidFill>
          <a:ln w="12700">
            <a:solidFill>
              <a:srgbClr val="7EC8E3"/>
            </a:solidFill>
            <a:prstDash val="solid"/>
          </a:ln>
        </p:spPr>
      </p:sp>
      <p:pic>
        <p:nvPicPr>
          <p:cNvPr id="38" name="Image 11" descr="/sessions/quirky-zen-galileo/mnt/outputs/hmdecks/img/sarah-portrait.jpg">    </p:cNvPr>
          <p:cNvPicPr>
            <a:picLocks noChangeAspect="1"/>
          </p:cNvPicPr>
          <p:nvPr/>
        </p:nvPicPr>
        <p:blipFill>
          <a:blip r:embed="rId12"/>
          <a:srcRect l="0" r="0" t="0" b="0"/>
          <a:stretch/>
        </p:blipFill>
        <p:spPr>
          <a:xfrm>
            <a:off x="9784080" y="4892040"/>
            <a:ext cx="713232" cy="713232"/>
          </a:xfrm>
          <a:prstGeom prst="ellipse">
            <a:avLst/>
          </a:prstGeom>
        </p:spPr>
      </p:pic>
      <p:sp>
        <p:nvSpPr>
          <p:cNvPr id="39" name="Text 25"/>
          <p:cNvSpPr/>
          <p:nvPr/>
        </p:nvSpPr>
        <p:spPr>
          <a:xfrm>
            <a:off x="9646920" y="5669280"/>
            <a:ext cx="987552"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Sarah</a:t>
            </a:r>
            <a:endParaRPr lang="en-US" sz="850" dirty="0"/>
          </a:p>
        </p:txBody>
      </p:sp>
      <p:sp>
        <p:nvSpPr>
          <p:cNvPr id="40" name="Shape 26"/>
          <p:cNvSpPr/>
          <p:nvPr/>
        </p:nvSpPr>
        <p:spPr>
          <a:xfrm>
            <a:off x="10625328" y="4818888"/>
            <a:ext cx="859536" cy="859536"/>
          </a:xfrm>
          <a:prstGeom prst="ellipse">
            <a:avLst/>
          </a:prstGeom>
          <a:solidFill>
            <a:srgbClr val="4527A0"/>
          </a:solidFill>
          <a:ln w="12700">
            <a:solidFill>
              <a:srgbClr val="4527A0"/>
            </a:solidFill>
            <a:prstDash val="solid"/>
          </a:ln>
        </p:spPr>
      </p:sp>
      <p:pic>
        <p:nvPicPr>
          <p:cNvPr id="41" name="Image 12" descr="/sessions/quirky-zen-galileo/mnt/outputs/hmdecks/img/sean-portrait.jpg">    </p:cNvPr>
          <p:cNvPicPr>
            <a:picLocks noChangeAspect="1"/>
          </p:cNvPicPr>
          <p:nvPr/>
        </p:nvPicPr>
        <p:blipFill>
          <a:blip r:embed="rId13"/>
          <a:srcRect l="0" r="0" t="0" b="0"/>
          <a:stretch/>
        </p:blipFill>
        <p:spPr>
          <a:xfrm>
            <a:off x="10698480" y="4892040"/>
            <a:ext cx="713232" cy="713232"/>
          </a:xfrm>
          <a:prstGeom prst="ellipse">
            <a:avLst/>
          </a:prstGeom>
        </p:spPr>
      </p:pic>
      <p:sp>
        <p:nvSpPr>
          <p:cNvPr id="42" name="Text 27"/>
          <p:cNvSpPr/>
          <p:nvPr/>
        </p:nvSpPr>
        <p:spPr>
          <a:xfrm>
            <a:off x="10561320" y="5669280"/>
            <a:ext cx="987552"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Sean</a:t>
            </a:r>
            <a:endParaRPr lang="en-US" sz="850" dirty="0"/>
          </a:p>
        </p:txBody>
      </p:sp>
      <p:sp>
        <p:nvSpPr>
          <p:cNvPr id="43" name="Text 28"/>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C8E3"/>
                </a:solidFill>
                <a:latin typeface="Arial" pitchFamily="34" charset="0"/>
                <a:ea typeface="Arial" pitchFamily="34" charset="-122"/>
                <a:cs typeface="Arial" pitchFamily="34" charset="-120"/>
              </a:rPr>
              <a:t>HomeTest Operating Model  ·  Hearts and Minds</a:t>
            </a:r>
            <a:endParaRPr lang="en-US" sz="850" dirty="0"/>
          </a:p>
        </p:txBody>
      </p:sp>
      <p:sp>
        <p:nvSpPr>
          <p:cNvPr id="44" name="Text 29"/>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C8E3"/>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THE CAST</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patients and the first commissioners</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188720"/>
            <a:ext cx="3606698" cy="2331720"/>
          </a:xfrm>
          <a:prstGeom prst="roundRect">
            <a:avLst>
              <a:gd name="adj" fmla="val 3922"/>
            </a:avLst>
          </a:prstGeom>
          <a:solidFill>
            <a:srgbClr val="F0F4F5"/>
          </a:solidFill>
          <a:ln w="9525">
            <a:solidFill>
              <a:srgbClr val="DDE3E8"/>
            </a:solidFill>
            <a:prstDash val="solid"/>
          </a:ln>
        </p:spPr>
      </p:sp>
      <p:sp>
        <p:nvSpPr>
          <p:cNvPr id="8" name="Shape 5"/>
          <p:cNvSpPr/>
          <p:nvPr/>
        </p:nvSpPr>
        <p:spPr>
          <a:xfrm>
            <a:off x="457200" y="1188720"/>
            <a:ext cx="3606698" cy="64008"/>
          </a:xfrm>
          <a:prstGeom prst="rect">
            <a:avLst/>
          </a:prstGeom>
          <a:solidFill>
            <a:srgbClr val="FFB91D"/>
          </a:solidFill>
          <a:ln w="12700">
            <a:solidFill>
              <a:srgbClr val="FFB91D"/>
            </a:solidFill>
            <a:prstDash val="solid"/>
          </a:ln>
        </p:spPr>
      </p:sp>
      <p:sp>
        <p:nvSpPr>
          <p:cNvPr id="9" name="Shape 6"/>
          <p:cNvSpPr/>
          <p:nvPr/>
        </p:nvSpPr>
        <p:spPr>
          <a:xfrm>
            <a:off x="566928" y="1389888"/>
            <a:ext cx="1060704" cy="1060704"/>
          </a:xfrm>
          <a:prstGeom prst="ellipse">
            <a:avLst/>
          </a:prstGeom>
          <a:solidFill>
            <a:srgbClr val="FFB91D"/>
          </a:solidFill>
          <a:ln w="12700">
            <a:solidFill>
              <a:srgbClr val="FFB91D"/>
            </a:solidFill>
            <a:prstDash val="solid"/>
          </a:ln>
        </p:spPr>
      </p:sp>
      <p:pic>
        <p:nvPicPr>
          <p:cNvPr id="10" name="Image 1" descr="/sessions/quirky-zen-galileo/mnt/outputs/hmdecks/img/abdul-portrait.jpg">    </p:cNvPr>
          <p:cNvPicPr>
            <a:picLocks noChangeAspect="1"/>
          </p:cNvPicPr>
          <p:nvPr/>
        </p:nvPicPr>
        <p:blipFill>
          <a:blip r:embed="rId2"/>
          <a:srcRect l="0" r="0" t="0" b="0"/>
          <a:stretch/>
        </p:blipFill>
        <p:spPr>
          <a:xfrm>
            <a:off x="640080" y="1463040"/>
            <a:ext cx="914400" cy="914400"/>
          </a:xfrm>
          <a:prstGeom prst="ellipse">
            <a:avLst/>
          </a:prstGeom>
        </p:spPr>
      </p:pic>
      <p:sp>
        <p:nvSpPr>
          <p:cNvPr id="11" name="Text 7"/>
          <p:cNvSpPr/>
          <p:nvPr/>
        </p:nvSpPr>
        <p:spPr>
          <a:xfrm>
            <a:off x="1737360" y="1417320"/>
            <a:ext cx="2143658" cy="365760"/>
          </a:xfrm>
          <a:prstGeom prst="rect">
            <a:avLst/>
          </a:prstGeom>
          <a:noFill/>
          <a:ln/>
        </p:spPr>
        <p:txBody>
          <a:bodyPr wrap="square" lIns="0" tIns="0" rIns="0" bIns="0" rtlCol="0" anchor="ctr"/>
          <a:lstStyle/>
          <a:p>
            <a:pPr indent="0" marL="0">
              <a:buNone/>
            </a:pPr>
            <a:r>
              <a:rPr lang="en-US" sz="1600" b="1" dirty="0">
                <a:solidFill>
                  <a:srgbClr val="003087"/>
                </a:solidFill>
                <a:latin typeface="Arial" pitchFamily="34" charset="0"/>
                <a:ea typeface="Arial" pitchFamily="34" charset="-122"/>
                <a:cs typeface="Arial" pitchFamily="34" charset="-120"/>
              </a:rPr>
              <a:t>Abdul</a:t>
            </a:r>
            <a:endParaRPr lang="en-US" sz="1600" dirty="0"/>
          </a:p>
        </p:txBody>
      </p:sp>
      <p:sp>
        <p:nvSpPr>
          <p:cNvPr id="12" name="Text 8"/>
          <p:cNvSpPr/>
          <p:nvPr/>
        </p:nvSpPr>
        <p:spPr>
          <a:xfrm>
            <a:off x="1737360" y="1783080"/>
            <a:ext cx="2143658" cy="502920"/>
          </a:xfrm>
          <a:prstGeom prst="rect">
            <a:avLst/>
          </a:prstGeom>
          <a:noFill/>
          <a:ln/>
        </p:spPr>
        <p:txBody>
          <a:bodyPr wrap="square" lIns="0" tIns="0" rIns="0" bIns="0" rtlCol="0" anchor="t">
            <a:normAutofit/>
          </a:bodyPr>
          <a:lstStyle/>
          <a:p>
            <a:pPr indent="0" marL="0">
              <a:buNone/>
            </a:pPr>
            <a:r>
              <a:rPr lang="en-US" sz="950" b="1" dirty="0">
                <a:solidFill>
                  <a:srgbClr val="8A6D1F"/>
                </a:solidFill>
                <a:latin typeface="Arial" pitchFamily="34" charset="0"/>
                <a:ea typeface="Arial" pitchFamily="34" charset="-122"/>
                <a:cs typeface="Arial" pitchFamily="34" charset="-120"/>
              </a:rPr>
              <a:t>Self-initiated patient · CVKM cohort</a:t>
            </a:r>
            <a:endParaRPr lang="en-US" sz="950" dirty="0"/>
          </a:p>
        </p:txBody>
      </p:sp>
      <p:sp>
        <p:nvSpPr>
          <p:cNvPr id="13" name="Text 9"/>
          <p:cNvSpPr/>
          <p:nvPr/>
        </p:nvSpPr>
        <p:spPr>
          <a:xfrm>
            <a:off x="640080" y="2468880"/>
            <a:ext cx="3240938" cy="45720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Hidden risk, found by his app.</a:t>
            </a:r>
            <a:endParaRPr lang="en-US" sz="1100" dirty="0"/>
          </a:p>
        </p:txBody>
      </p:sp>
      <p:sp>
        <p:nvSpPr>
          <p:cNvPr id="14" name="Text 10"/>
          <p:cNvSpPr/>
          <p:nvPr/>
        </p:nvSpPr>
        <p:spPr>
          <a:xfrm>
            <a:off x="640080" y="2926080"/>
            <a:ext cx="3240938" cy="502920"/>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patient's story through the operating model</a:t>
            </a:r>
            <a:endParaRPr lang="en-US" sz="900" dirty="0"/>
          </a:p>
        </p:txBody>
      </p:sp>
      <p:sp>
        <p:nvSpPr>
          <p:cNvPr id="15" name="Shape 11"/>
          <p:cNvSpPr/>
          <p:nvPr/>
        </p:nvSpPr>
        <p:spPr>
          <a:xfrm>
            <a:off x="4292498" y="1188720"/>
            <a:ext cx="3606698" cy="2331720"/>
          </a:xfrm>
          <a:prstGeom prst="roundRect">
            <a:avLst>
              <a:gd name="adj" fmla="val 3922"/>
            </a:avLst>
          </a:prstGeom>
          <a:solidFill>
            <a:srgbClr val="F0F4F5"/>
          </a:solidFill>
          <a:ln w="9525">
            <a:solidFill>
              <a:srgbClr val="DDE3E8"/>
            </a:solidFill>
            <a:prstDash val="solid"/>
          </a:ln>
        </p:spPr>
      </p:sp>
      <p:sp>
        <p:nvSpPr>
          <p:cNvPr id="16" name="Shape 12"/>
          <p:cNvSpPr/>
          <p:nvPr/>
        </p:nvSpPr>
        <p:spPr>
          <a:xfrm>
            <a:off x="4292498" y="1188720"/>
            <a:ext cx="3606698" cy="64008"/>
          </a:xfrm>
          <a:prstGeom prst="rect">
            <a:avLst/>
          </a:prstGeom>
          <a:solidFill>
            <a:srgbClr val="FFB91D"/>
          </a:solidFill>
          <a:ln w="12700">
            <a:solidFill>
              <a:srgbClr val="FFB91D"/>
            </a:solidFill>
            <a:prstDash val="solid"/>
          </a:ln>
        </p:spPr>
      </p:sp>
      <p:sp>
        <p:nvSpPr>
          <p:cNvPr id="17" name="Shape 13"/>
          <p:cNvSpPr/>
          <p:nvPr/>
        </p:nvSpPr>
        <p:spPr>
          <a:xfrm>
            <a:off x="4402226" y="1389888"/>
            <a:ext cx="1060704" cy="1060704"/>
          </a:xfrm>
          <a:prstGeom prst="ellipse">
            <a:avLst/>
          </a:prstGeom>
          <a:solidFill>
            <a:srgbClr val="FFB91D"/>
          </a:solidFill>
          <a:ln w="12700">
            <a:solidFill>
              <a:srgbClr val="FFB91D"/>
            </a:solidFill>
            <a:prstDash val="solid"/>
          </a:ln>
        </p:spPr>
      </p:sp>
      <p:pic>
        <p:nvPicPr>
          <p:cNvPr id="18" name="Image 2" descr="/sessions/quirky-zen-galileo/mnt/outputs/hmdecks/img/devi-portrait.jpg">    </p:cNvPr>
          <p:cNvPicPr>
            <a:picLocks noChangeAspect="1"/>
          </p:cNvPicPr>
          <p:nvPr/>
        </p:nvPicPr>
        <p:blipFill>
          <a:blip r:embed="rId3"/>
          <a:srcRect l="0" r="0" t="0" b="0"/>
          <a:stretch/>
        </p:blipFill>
        <p:spPr>
          <a:xfrm>
            <a:off x="4475378" y="1463040"/>
            <a:ext cx="914400" cy="914400"/>
          </a:xfrm>
          <a:prstGeom prst="ellipse">
            <a:avLst/>
          </a:prstGeom>
        </p:spPr>
      </p:pic>
      <p:sp>
        <p:nvSpPr>
          <p:cNvPr id="19" name="Text 14"/>
          <p:cNvSpPr/>
          <p:nvPr/>
        </p:nvSpPr>
        <p:spPr>
          <a:xfrm>
            <a:off x="5572658" y="1417320"/>
            <a:ext cx="2143658" cy="365760"/>
          </a:xfrm>
          <a:prstGeom prst="rect">
            <a:avLst/>
          </a:prstGeom>
          <a:noFill/>
          <a:ln/>
        </p:spPr>
        <p:txBody>
          <a:bodyPr wrap="square" lIns="0" tIns="0" rIns="0" bIns="0" rtlCol="0" anchor="ctr"/>
          <a:lstStyle/>
          <a:p>
            <a:pPr indent="0" marL="0">
              <a:buNone/>
            </a:pPr>
            <a:r>
              <a:rPr lang="en-US" sz="1600" b="1" dirty="0">
                <a:solidFill>
                  <a:srgbClr val="003087"/>
                </a:solidFill>
                <a:latin typeface="Arial" pitchFamily="34" charset="0"/>
                <a:ea typeface="Arial" pitchFamily="34" charset="-122"/>
                <a:cs typeface="Arial" pitchFamily="34" charset="-120"/>
              </a:rPr>
              <a:t>Devi</a:t>
            </a:r>
            <a:endParaRPr lang="en-US" sz="1600" dirty="0"/>
          </a:p>
        </p:txBody>
      </p:sp>
      <p:sp>
        <p:nvSpPr>
          <p:cNvPr id="20" name="Text 15"/>
          <p:cNvSpPr/>
          <p:nvPr/>
        </p:nvSpPr>
        <p:spPr>
          <a:xfrm>
            <a:off x="5572658" y="1783080"/>
            <a:ext cx="2143658" cy="502920"/>
          </a:xfrm>
          <a:prstGeom prst="rect">
            <a:avLst/>
          </a:prstGeom>
          <a:noFill/>
          <a:ln/>
        </p:spPr>
        <p:txBody>
          <a:bodyPr wrap="square" lIns="0" tIns="0" rIns="0" bIns="0" rtlCol="0" anchor="t">
            <a:normAutofit/>
          </a:bodyPr>
          <a:lstStyle/>
          <a:p>
            <a:pPr indent="0" marL="0">
              <a:buNone/>
            </a:pPr>
            <a:r>
              <a:rPr lang="en-US" sz="950" b="1" dirty="0">
                <a:solidFill>
                  <a:srgbClr val="8A6D1F"/>
                </a:solidFill>
                <a:latin typeface="Arial" pitchFamily="34" charset="0"/>
                <a:ea typeface="Arial" pitchFamily="34" charset="-122"/>
                <a:cs typeface="Arial" pitchFamily="34" charset="-120"/>
              </a:rPr>
              <a:t>At-risk register · HbA1c annual review · Primary-care surveillance cohort</a:t>
            </a:r>
            <a:endParaRPr lang="en-US" sz="950" dirty="0"/>
          </a:p>
        </p:txBody>
      </p:sp>
      <p:sp>
        <p:nvSpPr>
          <p:cNvPr id="21" name="Text 16"/>
          <p:cNvSpPr/>
          <p:nvPr/>
        </p:nvSpPr>
        <p:spPr>
          <a:xfrm>
            <a:off x="4475378" y="2468880"/>
            <a:ext cx="3240938" cy="45720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A Saturday, not a sick day.</a:t>
            </a:r>
            <a:endParaRPr lang="en-US" sz="1100" dirty="0"/>
          </a:p>
        </p:txBody>
      </p:sp>
      <p:sp>
        <p:nvSpPr>
          <p:cNvPr id="22" name="Text 17"/>
          <p:cNvSpPr/>
          <p:nvPr/>
        </p:nvSpPr>
        <p:spPr>
          <a:xfrm>
            <a:off x="4475378" y="2926080"/>
            <a:ext cx="3240938" cy="502920"/>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patient's story through the operating model</a:t>
            </a:r>
            <a:endParaRPr lang="en-US" sz="900" dirty="0"/>
          </a:p>
        </p:txBody>
      </p:sp>
      <p:sp>
        <p:nvSpPr>
          <p:cNvPr id="23" name="Shape 18"/>
          <p:cNvSpPr/>
          <p:nvPr/>
        </p:nvSpPr>
        <p:spPr>
          <a:xfrm>
            <a:off x="8127797" y="1188720"/>
            <a:ext cx="3606698" cy="2331720"/>
          </a:xfrm>
          <a:prstGeom prst="roundRect">
            <a:avLst>
              <a:gd name="adj" fmla="val 3922"/>
            </a:avLst>
          </a:prstGeom>
          <a:solidFill>
            <a:srgbClr val="F0F4F5"/>
          </a:solidFill>
          <a:ln w="9525">
            <a:solidFill>
              <a:srgbClr val="DDE3E8"/>
            </a:solidFill>
            <a:prstDash val="solid"/>
          </a:ln>
        </p:spPr>
      </p:sp>
      <p:sp>
        <p:nvSpPr>
          <p:cNvPr id="24" name="Shape 19"/>
          <p:cNvSpPr/>
          <p:nvPr/>
        </p:nvSpPr>
        <p:spPr>
          <a:xfrm>
            <a:off x="8127797" y="1188720"/>
            <a:ext cx="3606698" cy="64008"/>
          </a:xfrm>
          <a:prstGeom prst="rect">
            <a:avLst/>
          </a:prstGeom>
          <a:solidFill>
            <a:srgbClr val="FFB91D"/>
          </a:solidFill>
          <a:ln w="12700">
            <a:solidFill>
              <a:srgbClr val="FFB91D"/>
            </a:solidFill>
            <a:prstDash val="solid"/>
          </a:ln>
        </p:spPr>
      </p:sp>
      <p:sp>
        <p:nvSpPr>
          <p:cNvPr id="25" name="Shape 20"/>
          <p:cNvSpPr/>
          <p:nvPr/>
        </p:nvSpPr>
        <p:spPr>
          <a:xfrm>
            <a:off x="8237525" y="1389888"/>
            <a:ext cx="1060704" cy="1060704"/>
          </a:xfrm>
          <a:prstGeom prst="ellipse">
            <a:avLst/>
          </a:prstGeom>
          <a:solidFill>
            <a:srgbClr val="FFB91D"/>
          </a:solidFill>
          <a:ln w="12700">
            <a:solidFill>
              <a:srgbClr val="FFB91D"/>
            </a:solidFill>
            <a:prstDash val="solid"/>
          </a:ln>
        </p:spPr>
      </p:sp>
      <p:pic>
        <p:nvPicPr>
          <p:cNvPr id="26" name="Image 3" descr="/sessions/quirky-zen-galileo/mnt/outputs/hmdecks/img/layla-portrait.jpg">    </p:cNvPr>
          <p:cNvPicPr>
            <a:picLocks noChangeAspect="1"/>
          </p:cNvPicPr>
          <p:nvPr/>
        </p:nvPicPr>
        <p:blipFill>
          <a:blip r:embed="rId4"/>
          <a:srcRect l="0" r="0" t="0" b="0"/>
          <a:stretch/>
        </p:blipFill>
        <p:spPr>
          <a:xfrm>
            <a:off x="8310677" y="1463040"/>
            <a:ext cx="914400" cy="914400"/>
          </a:xfrm>
          <a:prstGeom prst="ellipse">
            <a:avLst/>
          </a:prstGeom>
        </p:spPr>
      </p:pic>
      <p:sp>
        <p:nvSpPr>
          <p:cNvPr id="27" name="Text 21"/>
          <p:cNvSpPr/>
          <p:nvPr/>
        </p:nvSpPr>
        <p:spPr>
          <a:xfrm>
            <a:off x="9407957" y="1417320"/>
            <a:ext cx="2143658" cy="365760"/>
          </a:xfrm>
          <a:prstGeom prst="rect">
            <a:avLst/>
          </a:prstGeom>
          <a:noFill/>
          <a:ln/>
        </p:spPr>
        <p:txBody>
          <a:bodyPr wrap="square" lIns="0" tIns="0" rIns="0" bIns="0" rtlCol="0" anchor="ctr"/>
          <a:lstStyle/>
          <a:p>
            <a:pPr indent="0" marL="0">
              <a:buNone/>
            </a:pPr>
            <a:r>
              <a:rPr lang="en-US" sz="1600" b="1" dirty="0">
                <a:solidFill>
                  <a:srgbClr val="003087"/>
                </a:solidFill>
                <a:latin typeface="Arial" pitchFamily="34" charset="0"/>
                <a:ea typeface="Arial" pitchFamily="34" charset="-122"/>
                <a:cs typeface="Arial" pitchFamily="34" charset="-120"/>
              </a:rPr>
              <a:t>Layla</a:t>
            </a:r>
            <a:endParaRPr lang="en-US" sz="1600" dirty="0"/>
          </a:p>
        </p:txBody>
      </p:sp>
      <p:sp>
        <p:nvSpPr>
          <p:cNvPr id="28" name="Text 22"/>
          <p:cNvSpPr/>
          <p:nvPr/>
        </p:nvSpPr>
        <p:spPr>
          <a:xfrm>
            <a:off x="9407957" y="1783080"/>
            <a:ext cx="2143658" cy="502920"/>
          </a:xfrm>
          <a:prstGeom prst="rect">
            <a:avLst/>
          </a:prstGeom>
          <a:noFill/>
          <a:ln/>
        </p:spPr>
        <p:txBody>
          <a:bodyPr wrap="square" lIns="0" tIns="0" rIns="0" bIns="0" rtlCol="0" anchor="t">
            <a:normAutofit/>
          </a:bodyPr>
          <a:lstStyle/>
          <a:p>
            <a:pPr indent="0" marL="0">
              <a:buNone/>
            </a:pPr>
            <a:r>
              <a:rPr lang="en-US" sz="950" b="1" dirty="0">
                <a:solidFill>
                  <a:srgbClr val="8A6D1F"/>
                </a:solidFill>
                <a:latin typeface="Arial" pitchFamily="34" charset="0"/>
                <a:ea typeface="Arial" pitchFamily="34" charset="-122"/>
                <a:cs typeface="Arial" pitchFamily="34" charset="-120"/>
              </a:rPr>
              <a:t>Patient on iron supplementation · Primary-care monitoring cohort</a:t>
            </a:r>
            <a:endParaRPr lang="en-US" sz="950" dirty="0"/>
          </a:p>
        </p:txBody>
      </p:sp>
      <p:sp>
        <p:nvSpPr>
          <p:cNvPr id="29" name="Text 23"/>
          <p:cNvSpPr/>
          <p:nvPr/>
        </p:nvSpPr>
        <p:spPr>
          <a:xfrm>
            <a:off x="8310677" y="2468880"/>
            <a:ext cx="3240938" cy="45720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A Saturday, not a sick day.</a:t>
            </a:r>
            <a:endParaRPr lang="en-US" sz="1100" dirty="0"/>
          </a:p>
        </p:txBody>
      </p:sp>
      <p:sp>
        <p:nvSpPr>
          <p:cNvPr id="30" name="Text 24"/>
          <p:cNvSpPr/>
          <p:nvPr/>
        </p:nvSpPr>
        <p:spPr>
          <a:xfrm>
            <a:off x="8310677" y="2926080"/>
            <a:ext cx="3240938" cy="502920"/>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patient's story through the operating model</a:t>
            </a:r>
            <a:endParaRPr lang="en-US" sz="900" dirty="0"/>
          </a:p>
        </p:txBody>
      </p:sp>
      <p:sp>
        <p:nvSpPr>
          <p:cNvPr id="31" name="Shape 25"/>
          <p:cNvSpPr/>
          <p:nvPr/>
        </p:nvSpPr>
        <p:spPr>
          <a:xfrm>
            <a:off x="457200" y="3749040"/>
            <a:ext cx="3606698" cy="2331720"/>
          </a:xfrm>
          <a:prstGeom prst="roundRect">
            <a:avLst>
              <a:gd name="adj" fmla="val 3922"/>
            </a:avLst>
          </a:prstGeom>
          <a:solidFill>
            <a:srgbClr val="F0F4F5"/>
          </a:solidFill>
          <a:ln w="9525">
            <a:solidFill>
              <a:srgbClr val="DDE3E8"/>
            </a:solidFill>
            <a:prstDash val="solid"/>
          </a:ln>
        </p:spPr>
      </p:sp>
      <p:sp>
        <p:nvSpPr>
          <p:cNvPr id="32" name="Shape 26"/>
          <p:cNvSpPr/>
          <p:nvPr/>
        </p:nvSpPr>
        <p:spPr>
          <a:xfrm>
            <a:off x="457200" y="3749040"/>
            <a:ext cx="3606698" cy="64008"/>
          </a:xfrm>
          <a:prstGeom prst="rect">
            <a:avLst/>
          </a:prstGeom>
          <a:solidFill>
            <a:srgbClr val="FFB91D"/>
          </a:solidFill>
          <a:ln w="12700">
            <a:solidFill>
              <a:srgbClr val="FFB91D"/>
            </a:solidFill>
            <a:prstDash val="solid"/>
          </a:ln>
        </p:spPr>
      </p:sp>
      <p:sp>
        <p:nvSpPr>
          <p:cNvPr id="33" name="Shape 27"/>
          <p:cNvSpPr/>
          <p:nvPr/>
        </p:nvSpPr>
        <p:spPr>
          <a:xfrm>
            <a:off x="566928" y="3950208"/>
            <a:ext cx="1060704" cy="1060704"/>
          </a:xfrm>
          <a:prstGeom prst="ellipse">
            <a:avLst/>
          </a:prstGeom>
          <a:solidFill>
            <a:srgbClr val="FFB91D"/>
          </a:solidFill>
          <a:ln w="12700">
            <a:solidFill>
              <a:srgbClr val="FFB91D"/>
            </a:solidFill>
            <a:prstDash val="solid"/>
          </a:ln>
        </p:spPr>
      </p:sp>
      <p:pic>
        <p:nvPicPr>
          <p:cNvPr id="34" name="Image 4" descr="/sessions/quirky-zen-galileo/mnt/outputs/hmdecks/img/mark-portrait.jpg">    </p:cNvPr>
          <p:cNvPicPr>
            <a:picLocks noChangeAspect="1"/>
          </p:cNvPicPr>
          <p:nvPr/>
        </p:nvPicPr>
        <p:blipFill>
          <a:blip r:embed="rId5"/>
          <a:srcRect l="0" r="0" t="0" b="0"/>
          <a:stretch/>
        </p:blipFill>
        <p:spPr>
          <a:xfrm>
            <a:off x="640080" y="4023360"/>
            <a:ext cx="914400" cy="914400"/>
          </a:xfrm>
          <a:prstGeom prst="ellipse">
            <a:avLst/>
          </a:prstGeom>
        </p:spPr>
      </p:pic>
      <p:sp>
        <p:nvSpPr>
          <p:cNvPr id="35" name="Text 28"/>
          <p:cNvSpPr/>
          <p:nvPr/>
        </p:nvSpPr>
        <p:spPr>
          <a:xfrm>
            <a:off x="1737360" y="3977640"/>
            <a:ext cx="2143658" cy="365760"/>
          </a:xfrm>
          <a:prstGeom prst="rect">
            <a:avLst/>
          </a:prstGeom>
          <a:noFill/>
          <a:ln/>
        </p:spPr>
        <p:txBody>
          <a:bodyPr wrap="square" lIns="0" tIns="0" rIns="0" bIns="0" rtlCol="0" anchor="ctr"/>
          <a:lstStyle/>
          <a:p>
            <a:pPr indent="0" marL="0">
              <a:buNone/>
            </a:pPr>
            <a:r>
              <a:rPr lang="en-US" sz="1600" b="1" dirty="0">
                <a:solidFill>
                  <a:srgbClr val="003087"/>
                </a:solidFill>
                <a:latin typeface="Arial" pitchFamily="34" charset="0"/>
                <a:ea typeface="Arial" pitchFamily="34" charset="-122"/>
                <a:cs typeface="Arial" pitchFamily="34" charset="-120"/>
              </a:rPr>
              <a:t>Mark</a:t>
            </a:r>
            <a:endParaRPr lang="en-US" sz="1600" dirty="0"/>
          </a:p>
        </p:txBody>
      </p:sp>
      <p:sp>
        <p:nvSpPr>
          <p:cNvPr id="36" name="Text 29"/>
          <p:cNvSpPr/>
          <p:nvPr/>
        </p:nvSpPr>
        <p:spPr>
          <a:xfrm>
            <a:off x="1737360" y="4343400"/>
            <a:ext cx="2143658" cy="502920"/>
          </a:xfrm>
          <a:prstGeom prst="rect">
            <a:avLst/>
          </a:prstGeom>
          <a:noFill/>
          <a:ln/>
        </p:spPr>
        <p:txBody>
          <a:bodyPr wrap="square" lIns="0" tIns="0" rIns="0" bIns="0" rtlCol="0" anchor="t">
            <a:normAutofit/>
          </a:bodyPr>
          <a:lstStyle/>
          <a:p>
            <a:pPr indent="0" marL="0">
              <a:buNone/>
            </a:pPr>
            <a:r>
              <a:rPr lang="en-US" sz="950" b="1" dirty="0">
                <a:solidFill>
                  <a:srgbClr val="8A6D1F"/>
                </a:solidFill>
                <a:latin typeface="Arial" pitchFamily="34" charset="0"/>
                <a:ea typeface="Arial" pitchFamily="34" charset="-122"/>
                <a:cs typeface="Arial" pitchFamily="34" charset="-120"/>
              </a:rPr>
              <a:t>Patient on active surveillance · PSA-AS cohort</a:t>
            </a:r>
            <a:endParaRPr lang="en-US" sz="950" dirty="0"/>
          </a:p>
        </p:txBody>
      </p:sp>
      <p:sp>
        <p:nvSpPr>
          <p:cNvPr id="37" name="Text 30"/>
          <p:cNvSpPr/>
          <p:nvPr/>
        </p:nvSpPr>
        <p:spPr>
          <a:xfrm>
            <a:off x="640080" y="5029200"/>
            <a:ext cx="3240938" cy="45720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His consultant still reads the trend.</a:t>
            </a:r>
            <a:endParaRPr lang="en-US" sz="1100" dirty="0"/>
          </a:p>
        </p:txBody>
      </p:sp>
      <p:sp>
        <p:nvSpPr>
          <p:cNvPr id="38" name="Text 31"/>
          <p:cNvSpPr/>
          <p:nvPr/>
        </p:nvSpPr>
        <p:spPr>
          <a:xfrm>
            <a:off x="640080" y="5486400"/>
            <a:ext cx="3240938" cy="502920"/>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patient's story through the operating model</a:t>
            </a:r>
            <a:endParaRPr lang="en-US" sz="900" dirty="0"/>
          </a:p>
        </p:txBody>
      </p:sp>
      <p:sp>
        <p:nvSpPr>
          <p:cNvPr id="39" name="Shape 32"/>
          <p:cNvSpPr/>
          <p:nvPr/>
        </p:nvSpPr>
        <p:spPr>
          <a:xfrm>
            <a:off x="4292498" y="3749040"/>
            <a:ext cx="3606698" cy="2331720"/>
          </a:xfrm>
          <a:prstGeom prst="roundRect">
            <a:avLst>
              <a:gd name="adj" fmla="val 3922"/>
            </a:avLst>
          </a:prstGeom>
          <a:solidFill>
            <a:srgbClr val="F0F4F5"/>
          </a:solidFill>
          <a:ln w="9525">
            <a:solidFill>
              <a:srgbClr val="DDE3E8"/>
            </a:solidFill>
            <a:prstDash val="solid"/>
          </a:ln>
        </p:spPr>
      </p:sp>
      <p:sp>
        <p:nvSpPr>
          <p:cNvPr id="40" name="Shape 33"/>
          <p:cNvSpPr/>
          <p:nvPr/>
        </p:nvSpPr>
        <p:spPr>
          <a:xfrm>
            <a:off x="4292498" y="3749040"/>
            <a:ext cx="3606698" cy="64008"/>
          </a:xfrm>
          <a:prstGeom prst="rect">
            <a:avLst/>
          </a:prstGeom>
          <a:solidFill>
            <a:srgbClr val="4527A0"/>
          </a:solidFill>
          <a:ln w="12700">
            <a:solidFill>
              <a:srgbClr val="4527A0"/>
            </a:solidFill>
            <a:prstDash val="solid"/>
          </a:ln>
        </p:spPr>
      </p:sp>
      <p:sp>
        <p:nvSpPr>
          <p:cNvPr id="41" name="Shape 34"/>
          <p:cNvSpPr/>
          <p:nvPr/>
        </p:nvSpPr>
        <p:spPr>
          <a:xfrm>
            <a:off x="4402226" y="3950208"/>
            <a:ext cx="1060704" cy="1060704"/>
          </a:xfrm>
          <a:prstGeom prst="ellipse">
            <a:avLst/>
          </a:prstGeom>
          <a:solidFill>
            <a:srgbClr val="4527A0"/>
          </a:solidFill>
          <a:ln w="12700">
            <a:solidFill>
              <a:srgbClr val="4527A0"/>
            </a:solidFill>
            <a:prstDash val="solid"/>
          </a:ln>
        </p:spPr>
      </p:sp>
      <p:pic>
        <p:nvPicPr>
          <p:cNvPr id="42" name="Image 5" descr="/sessions/quirky-zen-galileo/mnt/outputs/hmdecks/img/sean-portrait.jpg">    </p:cNvPr>
          <p:cNvPicPr>
            <a:picLocks noChangeAspect="1"/>
          </p:cNvPicPr>
          <p:nvPr/>
        </p:nvPicPr>
        <p:blipFill>
          <a:blip r:embed="rId6"/>
          <a:srcRect l="0" r="0" t="0" b="0"/>
          <a:stretch/>
        </p:blipFill>
        <p:spPr>
          <a:xfrm>
            <a:off x="4475378" y="4023360"/>
            <a:ext cx="914400" cy="914400"/>
          </a:xfrm>
          <a:prstGeom prst="ellipse">
            <a:avLst/>
          </a:prstGeom>
        </p:spPr>
      </p:pic>
      <p:sp>
        <p:nvSpPr>
          <p:cNvPr id="43" name="Text 35"/>
          <p:cNvSpPr/>
          <p:nvPr/>
        </p:nvSpPr>
        <p:spPr>
          <a:xfrm>
            <a:off x="5572658" y="3977640"/>
            <a:ext cx="2143658" cy="365760"/>
          </a:xfrm>
          <a:prstGeom prst="rect">
            <a:avLst/>
          </a:prstGeom>
          <a:noFill/>
          <a:ln/>
        </p:spPr>
        <p:txBody>
          <a:bodyPr wrap="square" lIns="0" tIns="0" rIns="0" bIns="0" rtlCol="0" anchor="ctr"/>
          <a:lstStyle/>
          <a:p>
            <a:pPr indent="0" marL="0">
              <a:buNone/>
            </a:pPr>
            <a:r>
              <a:rPr lang="en-US" sz="1600" b="1" dirty="0">
                <a:solidFill>
                  <a:srgbClr val="003087"/>
                </a:solidFill>
                <a:latin typeface="Arial" pitchFamily="34" charset="0"/>
                <a:ea typeface="Arial" pitchFamily="34" charset="-122"/>
                <a:cs typeface="Arial" pitchFamily="34" charset="-120"/>
              </a:rPr>
              <a:t>Sean</a:t>
            </a:r>
            <a:endParaRPr lang="en-US" sz="1600" dirty="0"/>
          </a:p>
        </p:txBody>
      </p:sp>
      <p:sp>
        <p:nvSpPr>
          <p:cNvPr id="44" name="Text 36"/>
          <p:cNvSpPr/>
          <p:nvPr/>
        </p:nvSpPr>
        <p:spPr>
          <a:xfrm>
            <a:off x="5572658" y="4343400"/>
            <a:ext cx="2143658" cy="502920"/>
          </a:xfrm>
          <a:prstGeom prst="rect">
            <a:avLst/>
          </a:prstGeom>
          <a:noFill/>
          <a:ln/>
        </p:spPr>
        <p:txBody>
          <a:bodyPr wrap="square" lIns="0" tIns="0" rIns="0" bIns="0" rtlCol="0" anchor="t">
            <a:normAutofit/>
          </a:bodyPr>
          <a:lstStyle/>
          <a:p>
            <a:pPr indent="0" marL="0">
              <a:buNone/>
            </a:pPr>
            <a:r>
              <a:rPr lang="en-US" sz="950" b="1" dirty="0">
                <a:solidFill>
                  <a:srgbClr val="4527A0"/>
                </a:solidFill>
                <a:latin typeface="Arial" pitchFamily="34" charset="0"/>
                <a:ea typeface="Arial" pitchFamily="34" charset="-122"/>
                <a:cs typeface="Arial" pitchFamily="34" charset="-120"/>
              </a:rPr>
              <a:t>Horizontal cohort patient · The access story</a:t>
            </a:r>
            <a:endParaRPr lang="en-US" sz="950" dirty="0"/>
          </a:p>
        </p:txBody>
      </p:sp>
      <p:sp>
        <p:nvSpPr>
          <p:cNvPr id="45" name="Text 37"/>
          <p:cNvSpPr/>
          <p:nvPr/>
        </p:nvSpPr>
        <p:spPr>
          <a:xfrm>
            <a:off x="4475378" y="5029200"/>
            <a:ext cx="3240938" cy="45720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Reaching him.</a:t>
            </a:r>
            <a:endParaRPr lang="en-US" sz="1100" dirty="0"/>
          </a:p>
        </p:txBody>
      </p:sp>
      <p:sp>
        <p:nvSpPr>
          <p:cNvPr id="46" name="Text 38"/>
          <p:cNvSpPr/>
          <p:nvPr/>
        </p:nvSpPr>
        <p:spPr>
          <a:xfrm>
            <a:off x="4475378" y="5486400"/>
            <a:ext cx="3240938" cy="502920"/>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patient's story through the operating model</a:t>
            </a:r>
            <a:endParaRPr lang="en-US" sz="900" dirty="0"/>
          </a:p>
        </p:txBody>
      </p:sp>
      <p:sp>
        <p:nvSpPr>
          <p:cNvPr id="47" name="Shape 39"/>
          <p:cNvSpPr/>
          <p:nvPr/>
        </p:nvSpPr>
        <p:spPr>
          <a:xfrm>
            <a:off x="8127797" y="3749040"/>
            <a:ext cx="3606698" cy="2331720"/>
          </a:xfrm>
          <a:prstGeom prst="roundRect">
            <a:avLst>
              <a:gd name="adj" fmla="val 3922"/>
            </a:avLst>
          </a:prstGeom>
          <a:solidFill>
            <a:srgbClr val="F0F4F5"/>
          </a:solidFill>
          <a:ln w="9525">
            <a:solidFill>
              <a:srgbClr val="DDE3E8"/>
            </a:solidFill>
            <a:prstDash val="solid"/>
          </a:ln>
        </p:spPr>
      </p:sp>
      <p:sp>
        <p:nvSpPr>
          <p:cNvPr id="48" name="Shape 40"/>
          <p:cNvSpPr/>
          <p:nvPr/>
        </p:nvSpPr>
        <p:spPr>
          <a:xfrm>
            <a:off x="8127797" y="3749040"/>
            <a:ext cx="3606698" cy="64008"/>
          </a:xfrm>
          <a:prstGeom prst="rect">
            <a:avLst/>
          </a:prstGeom>
          <a:solidFill>
            <a:srgbClr val="005EB8"/>
          </a:solidFill>
          <a:ln w="12700">
            <a:solidFill>
              <a:srgbClr val="005EB8"/>
            </a:solidFill>
            <a:prstDash val="solid"/>
          </a:ln>
        </p:spPr>
      </p:sp>
      <p:sp>
        <p:nvSpPr>
          <p:cNvPr id="49" name="Shape 41"/>
          <p:cNvSpPr/>
          <p:nvPr/>
        </p:nvSpPr>
        <p:spPr>
          <a:xfrm>
            <a:off x="8237525" y="3950208"/>
            <a:ext cx="1060704" cy="1060704"/>
          </a:xfrm>
          <a:prstGeom prst="ellipse">
            <a:avLst/>
          </a:prstGeom>
          <a:solidFill>
            <a:srgbClr val="7EC8E3"/>
          </a:solidFill>
          <a:ln w="12700">
            <a:solidFill>
              <a:srgbClr val="7EC8E3"/>
            </a:solidFill>
            <a:prstDash val="solid"/>
          </a:ln>
        </p:spPr>
      </p:sp>
      <p:pic>
        <p:nvPicPr>
          <p:cNvPr id="50" name="Image 6" descr="/sessions/quirky-zen-galileo/mnt/outputs/hmdecks/img/anita-portrait.jpg">    </p:cNvPr>
          <p:cNvPicPr>
            <a:picLocks noChangeAspect="1"/>
          </p:cNvPicPr>
          <p:nvPr/>
        </p:nvPicPr>
        <p:blipFill>
          <a:blip r:embed="rId7"/>
          <a:srcRect l="0" r="0" t="0" b="0"/>
          <a:stretch/>
        </p:blipFill>
        <p:spPr>
          <a:xfrm>
            <a:off x="8310677" y="4023360"/>
            <a:ext cx="914400" cy="914400"/>
          </a:xfrm>
          <a:prstGeom prst="ellipse">
            <a:avLst/>
          </a:prstGeom>
        </p:spPr>
      </p:pic>
      <p:sp>
        <p:nvSpPr>
          <p:cNvPr id="51" name="Text 42"/>
          <p:cNvSpPr/>
          <p:nvPr/>
        </p:nvSpPr>
        <p:spPr>
          <a:xfrm>
            <a:off x="9407957" y="3977640"/>
            <a:ext cx="2143658" cy="365760"/>
          </a:xfrm>
          <a:prstGeom prst="rect">
            <a:avLst/>
          </a:prstGeom>
          <a:noFill/>
          <a:ln/>
        </p:spPr>
        <p:txBody>
          <a:bodyPr wrap="square" lIns="0" tIns="0" rIns="0" bIns="0" rtlCol="0" anchor="ctr"/>
          <a:lstStyle/>
          <a:p>
            <a:pPr indent="0" marL="0">
              <a:buNone/>
            </a:pPr>
            <a:r>
              <a:rPr lang="en-US" sz="1600" b="1" dirty="0">
                <a:solidFill>
                  <a:srgbClr val="003087"/>
                </a:solidFill>
                <a:latin typeface="Arial" pitchFamily="34" charset="0"/>
                <a:ea typeface="Arial" pitchFamily="34" charset="-122"/>
                <a:cs typeface="Arial" pitchFamily="34" charset="-120"/>
              </a:rPr>
              <a:t>Anita</a:t>
            </a:r>
            <a:endParaRPr lang="en-US" sz="1600" dirty="0"/>
          </a:p>
        </p:txBody>
      </p:sp>
      <p:sp>
        <p:nvSpPr>
          <p:cNvPr id="52" name="Text 43"/>
          <p:cNvSpPr/>
          <p:nvPr/>
        </p:nvSpPr>
        <p:spPr>
          <a:xfrm>
            <a:off x="9407957" y="4343400"/>
            <a:ext cx="2143658" cy="502920"/>
          </a:xfrm>
          <a:prstGeom prst="rect">
            <a:avLst/>
          </a:prstGeom>
          <a:noFill/>
          <a:ln/>
        </p:spPr>
        <p:txBody>
          <a:bodyPr wrap="square" lIns="0" tIns="0" rIns="0" bIns="0" rtlCol="0" anchor="t">
            <a:normAutofit/>
          </a:bodyPr>
          <a:lstStyle/>
          <a:p>
            <a:pPr indent="0" marL="0">
              <a:buNone/>
            </a:pPr>
            <a:r>
              <a:rPr lang="en-US" sz="950" b="1" dirty="0">
                <a:solidFill>
                  <a:srgbClr val="005EB8"/>
                </a:solidFill>
                <a:latin typeface="Arial" pitchFamily="34" charset="0"/>
                <a:ea typeface="Arial" pitchFamily="34" charset="-122"/>
                <a:cs typeface="Arial" pitchFamily="34" charset="-120"/>
              </a:rPr>
              <a:t>ICB / GP commissioner · HomeTest HbA1c</a:t>
            </a:r>
            <a:endParaRPr lang="en-US" sz="950" dirty="0"/>
          </a:p>
        </p:txBody>
      </p:sp>
      <p:sp>
        <p:nvSpPr>
          <p:cNvPr id="53" name="Text 44"/>
          <p:cNvSpPr/>
          <p:nvPr/>
        </p:nvSpPr>
        <p:spPr>
          <a:xfrm>
            <a:off x="8310677" y="5029200"/>
            <a:ext cx="3240938" cy="45720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Anita commissions the register. Not each appointment.</a:t>
            </a:r>
            <a:endParaRPr lang="en-US" sz="1100" dirty="0"/>
          </a:p>
        </p:txBody>
      </p:sp>
      <p:sp>
        <p:nvSpPr>
          <p:cNvPr id="54" name="Text 45"/>
          <p:cNvSpPr/>
          <p:nvPr/>
        </p:nvSpPr>
        <p:spPr>
          <a:xfrm>
            <a:off x="8310677" y="5486400"/>
            <a:ext cx="3240938" cy="502920"/>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An ICB/GP commissioner's story through the operating model</a:t>
            </a:r>
            <a:endParaRPr lang="en-US" sz="900" dirty="0"/>
          </a:p>
        </p:txBody>
      </p:sp>
      <p:sp>
        <p:nvSpPr>
          <p:cNvPr id="55" name="Text 46"/>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The cast  ·  Hearts and Minds</a:t>
            </a:r>
            <a:endParaRPr lang="en-US" sz="850" dirty="0"/>
          </a:p>
        </p:txBody>
      </p:sp>
      <p:sp>
        <p:nvSpPr>
          <p:cNvPr id="56" name="Text 47"/>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7" name="Text 48"/>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THE CAST</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commissioners, the clinicians and the supplier</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188720"/>
            <a:ext cx="3606698" cy="2331720"/>
          </a:xfrm>
          <a:prstGeom prst="roundRect">
            <a:avLst>
              <a:gd name="adj" fmla="val 3922"/>
            </a:avLst>
          </a:prstGeom>
          <a:solidFill>
            <a:srgbClr val="F0F4F5"/>
          </a:solidFill>
          <a:ln w="9525">
            <a:solidFill>
              <a:srgbClr val="DDE3E8"/>
            </a:solidFill>
            <a:prstDash val="solid"/>
          </a:ln>
        </p:spPr>
      </p:sp>
      <p:sp>
        <p:nvSpPr>
          <p:cNvPr id="8" name="Shape 5"/>
          <p:cNvSpPr/>
          <p:nvPr/>
        </p:nvSpPr>
        <p:spPr>
          <a:xfrm>
            <a:off x="457200" y="1188720"/>
            <a:ext cx="3606698" cy="64008"/>
          </a:xfrm>
          <a:prstGeom prst="rect">
            <a:avLst/>
          </a:prstGeom>
          <a:solidFill>
            <a:srgbClr val="005EB8"/>
          </a:solidFill>
          <a:ln w="12700">
            <a:solidFill>
              <a:srgbClr val="005EB8"/>
            </a:solidFill>
            <a:prstDash val="solid"/>
          </a:ln>
        </p:spPr>
      </p:sp>
      <p:sp>
        <p:nvSpPr>
          <p:cNvPr id="9" name="Shape 6"/>
          <p:cNvSpPr/>
          <p:nvPr/>
        </p:nvSpPr>
        <p:spPr>
          <a:xfrm>
            <a:off x="566928" y="1389888"/>
            <a:ext cx="1060704" cy="1060704"/>
          </a:xfrm>
          <a:prstGeom prst="ellipse">
            <a:avLst/>
          </a:prstGeom>
          <a:solidFill>
            <a:srgbClr val="7EC8E3"/>
          </a:solidFill>
          <a:ln w="12700">
            <a:solidFill>
              <a:srgbClr val="7EC8E3"/>
            </a:solidFill>
            <a:prstDash val="solid"/>
          </a:ln>
        </p:spPr>
      </p:sp>
      <p:pic>
        <p:nvPicPr>
          <p:cNvPr id="10" name="Image 1" descr="/sessions/quirky-zen-galileo/mnt/outputs/hmdecks/img/catherine-portrait.jpg">    </p:cNvPr>
          <p:cNvPicPr>
            <a:picLocks noChangeAspect="1"/>
          </p:cNvPicPr>
          <p:nvPr/>
        </p:nvPicPr>
        <p:blipFill>
          <a:blip r:embed="rId2"/>
          <a:srcRect l="0" r="0" t="0" b="0"/>
          <a:stretch/>
        </p:blipFill>
        <p:spPr>
          <a:xfrm>
            <a:off x="640080" y="1463040"/>
            <a:ext cx="914400" cy="914400"/>
          </a:xfrm>
          <a:prstGeom prst="ellipse">
            <a:avLst/>
          </a:prstGeom>
        </p:spPr>
      </p:pic>
      <p:sp>
        <p:nvSpPr>
          <p:cNvPr id="11" name="Text 7"/>
          <p:cNvSpPr/>
          <p:nvPr/>
        </p:nvSpPr>
        <p:spPr>
          <a:xfrm>
            <a:off x="1737360" y="1417320"/>
            <a:ext cx="2143658" cy="365760"/>
          </a:xfrm>
          <a:prstGeom prst="rect">
            <a:avLst/>
          </a:prstGeom>
          <a:noFill/>
          <a:ln/>
        </p:spPr>
        <p:txBody>
          <a:bodyPr wrap="square" lIns="0" tIns="0" rIns="0" bIns="0" rtlCol="0" anchor="ctr"/>
          <a:lstStyle/>
          <a:p>
            <a:pPr indent="0" marL="0">
              <a:buNone/>
            </a:pPr>
            <a:r>
              <a:rPr lang="en-US" sz="1600" b="1" dirty="0">
                <a:solidFill>
                  <a:srgbClr val="003087"/>
                </a:solidFill>
                <a:latin typeface="Arial" pitchFamily="34" charset="0"/>
                <a:ea typeface="Arial" pitchFamily="34" charset="-122"/>
                <a:cs typeface="Arial" pitchFamily="34" charset="-120"/>
              </a:rPr>
              <a:t>Catherine</a:t>
            </a:r>
            <a:endParaRPr lang="en-US" sz="1600" dirty="0"/>
          </a:p>
        </p:txBody>
      </p:sp>
      <p:sp>
        <p:nvSpPr>
          <p:cNvPr id="12" name="Text 8"/>
          <p:cNvSpPr/>
          <p:nvPr/>
        </p:nvSpPr>
        <p:spPr>
          <a:xfrm>
            <a:off x="1737360" y="1783080"/>
            <a:ext cx="2143658" cy="502920"/>
          </a:xfrm>
          <a:prstGeom prst="rect">
            <a:avLst/>
          </a:prstGeom>
          <a:noFill/>
          <a:ln/>
        </p:spPr>
        <p:txBody>
          <a:bodyPr wrap="square" lIns="0" tIns="0" rIns="0" bIns="0" rtlCol="0" anchor="t">
            <a:normAutofit/>
          </a:bodyPr>
          <a:lstStyle/>
          <a:p>
            <a:pPr indent="0" marL="0">
              <a:buNone/>
            </a:pPr>
            <a:r>
              <a:rPr lang="en-US" sz="950" b="1" dirty="0">
                <a:solidFill>
                  <a:srgbClr val="005EB8"/>
                </a:solidFill>
                <a:latin typeface="Arial" pitchFamily="34" charset="0"/>
                <a:ea typeface="Arial" pitchFamily="34" charset="-122"/>
                <a:cs typeface="Arial" pitchFamily="34" charset="-120"/>
              </a:rPr>
              <a:t>ICB commissioner · HomeTest PSA active surveillance</a:t>
            </a:r>
            <a:endParaRPr lang="en-US" sz="950" dirty="0"/>
          </a:p>
        </p:txBody>
      </p:sp>
      <p:sp>
        <p:nvSpPr>
          <p:cNvPr id="13" name="Text 9"/>
          <p:cNvSpPr/>
          <p:nvPr/>
        </p:nvSpPr>
        <p:spPr>
          <a:xfrm>
            <a:off x="640080" y="2468880"/>
            <a:ext cx="3240938" cy="45720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Catherine commissions the pathway. Not each patient.</a:t>
            </a:r>
            <a:endParaRPr lang="en-US" sz="1100" dirty="0"/>
          </a:p>
        </p:txBody>
      </p:sp>
      <p:sp>
        <p:nvSpPr>
          <p:cNvPr id="14" name="Text 10"/>
          <p:cNvSpPr/>
          <p:nvPr/>
        </p:nvSpPr>
        <p:spPr>
          <a:xfrm>
            <a:off x="640080" y="2926080"/>
            <a:ext cx="3240938" cy="502920"/>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An ICB commissioner's story through the operating model</a:t>
            </a:r>
            <a:endParaRPr lang="en-US" sz="900" dirty="0"/>
          </a:p>
        </p:txBody>
      </p:sp>
      <p:sp>
        <p:nvSpPr>
          <p:cNvPr id="15" name="Shape 11"/>
          <p:cNvSpPr/>
          <p:nvPr/>
        </p:nvSpPr>
        <p:spPr>
          <a:xfrm>
            <a:off x="4292498" y="1188720"/>
            <a:ext cx="3606698" cy="2331720"/>
          </a:xfrm>
          <a:prstGeom prst="roundRect">
            <a:avLst>
              <a:gd name="adj" fmla="val 3922"/>
            </a:avLst>
          </a:prstGeom>
          <a:solidFill>
            <a:srgbClr val="F0F4F5"/>
          </a:solidFill>
          <a:ln w="9525">
            <a:solidFill>
              <a:srgbClr val="DDE3E8"/>
            </a:solidFill>
            <a:prstDash val="solid"/>
          </a:ln>
        </p:spPr>
      </p:sp>
      <p:sp>
        <p:nvSpPr>
          <p:cNvPr id="16" name="Shape 12"/>
          <p:cNvSpPr/>
          <p:nvPr/>
        </p:nvSpPr>
        <p:spPr>
          <a:xfrm>
            <a:off x="4292498" y="1188720"/>
            <a:ext cx="3606698" cy="64008"/>
          </a:xfrm>
          <a:prstGeom prst="rect">
            <a:avLst/>
          </a:prstGeom>
          <a:solidFill>
            <a:srgbClr val="005EB8"/>
          </a:solidFill>
          <a:ln w="12700">
            <a:solidFill>
              <a:srgbClr val="005EB8"/>
            </a:solidFill>
            <a:prstDash val="solid"/>
          </a:ln>
        </p:spPr>
      </p:sp>
      <p:sp>
        <p:nvSpPr>
          <p:cNvPr id="17" name="Shape 13"/>
          <p:cNvSpPr/>
          <p:nvPr/>
        </p:nvSpPr>
        <p:spPr>
          <a:xfrm>
            <a:off x="4402226" y="1389888"/>
            <a:ext cx="1060704" cy="1060704"/>
          </a:xfrm>
          <a:prstGeom prst="ellipse">
            <a:avLst/>
          </a:prstGeom>
          <a:solidFill>
            <a:srgbClr val="7EC8E3"/>
          </a:solidFill>
          <a:ln w="12700">
            <a:solidFill>
              <a:srgbClr val="7EC8E3"/>
            </a:solidFill>
            <a:prstDash val="solid"/>
          </a:ln>
        </p:spPr>
      </p:sp>
      <p:pic>
        <p:nvPicPr>
          <p:cNvPr id="18" name="Image 2" descr="/sessions/quirky-zen-galileo/mnt/outputs/hmdecks/img/ruth-portrait.jpg">    </p:cNvPr>
          <p:cNvPicPr>
            <a:picLocks noChangeAspect="1"/>
          </p:cNvPicPr>
          <p:nvPr/>
        </p:nvPicPr>
        <p:blipFill>
          <a:blip r:embed="rId3"/>
          <a:srcRect l="0" r="0" t="0" b="0"/>
          <a:stretch/>
        </p:blipFill>
        <p:spPr>
          <a:xfrm>
            <a:off x="4475378" y="1463040"/>
            <a:ext cx="914400" cy="914400"/>
          </a:xfrm>
          <a:prstGeom prst="ellipse">
            <a:avLst/>
          </a:prstGeom>
        </p:spPr>
      </p:pic>
      <p:sp>
        <p:nvSpPr>
          <p:cNvPr id="19" name="Text 14"/>
          <p:cNvSpPr/>
          <p:nvPr/>
        </p:nvSpPr>
        <p:spPr>
          <a:xfrm>
            <a:off x="5572658" y="1417320"/>
            <a:ext cx="2143658" cy="365760"/>
          </a:xfrm>
          <a:prstGeom prst="rect">
            <a:avLst/>
          </a:prstGeom>
          <a:noFill/>
          <a:ln/>
        </p:spPr>
        <p:txBody>
          <a:bodyPr wrap="square" lIns="0" tIns="0" rIns="0" bIns="0" rtlCol="0" anchor="ctr"/>
          <a:lstStyle/>
          <a:p>
            <a:pPr indent="0" marL="0">
              <a:buNone/>
            </a:pPr>
            <a:r>
              <a:rPr lang="en-US" sz="1600" b="1" dirty="0">
                <a:solidFill>
                  <a:srgbClr val="003087"/>
                </a:solidFill>
                <a:latin typeface="Arial" pitchFamily="34" charset="0"/>
                <a:ea typeface="Arial" pitchFamily="34" charset="-122"/>
                <a:cs typeface="Arial" pitchFamily="34" charset="-120"/>
              </a:rPr>
              <a:t>Ruth</a:t>
            </a:r>
            <a:endParaRPr lang="en-US" sz="1600" dirty="0"/>
          </a:p>
        </p:txBody>
      </p:sp>
      <p:sp>
        <p:nvSpPr>
          <p:cNvPr id="20" name="Text 15"/>
          <p:cNvSpPr/>
          <p:nvPr/>
        </p:nvSpPr>
        <p:spPr>
          <a:xfrm>
            <a:off x="5572658" y="1783080"/>
            <a:ext cx="2143658" cy="502920"/>
          </a:xfrm>
          <a:prstGeom prst="rect">
            <a:avLst/>
          </a:prstGeom>
          <a:noFill/>
          <a:ln/>
        </p:spPr>
        <p:txBody>
          <a:bodyPr wrap="square" lIns="0" tIns="0" rIns="0" bIns="0" rtlCol="0" anchor="t">
            <a:normAutofit/>
          </a:bodyPr>
          <a:lstStyle/>
          <a:p>
            <a:pPr indent="0" marL="0">
              <a:buNone/>
            </a:pPr>
            <a:r>
              <a:rPr lang="en-US" sz="950" b="1" dirty="0">
                <a:solidFill>
                  <a:srgbClr val="005EB8"/>
                </a:solidFill>
                <a:latin typeface="Arial" pitchFamily="34" charset="0"/>
                <a:ea typeface="Arial" pitchFamily="34" charset="-122"/>
                <a:cs typeface="Arial" pitchFamily="34" charset="-120"/>
              </a:rPr>
              <a:t>Monitoring-gap commissioner · HomeTest PSA active surveillance · TBC</a:t>
            </a:r>
            <a:endParaRPr lang="en-US" sz="950" dirty="0"/>
          </a:p>
        </p:txBody>
      </p:sp>
      <p:sp>
        <p:nvSpPr>
          <p:cNvPr id="21" name="Text 16"/>
          <p:cNvSpPr/>
          <p:nvPr/>
        </p:nvSpPr>
        <p:spPr>
          <a:xfrm>
            <a:off x="4475378" y="2468880"/>
            <a:ext cx="3240938" cy="45720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The cohort between two budgets, and the commissioner who has to own it.</a:t>
            </a:r>
            <a:endParaRPr lang="en-US" sz="1100" dirty="0"/>
          </a:p>
        </p:txBody>
      </p:sp>
      <p:sp>
        <p:nvSpPr>
          <p:cNvPr id="22" name="Text 17"/>
          <p:cNvSpPr/>
          <p:nvPr/>
        </p:nvSpPr>
        <p:spPr>
          <a:xfrm>
            <a:off x="4475378" y="2926080"/>
            <a:ext cx="3240938" cy="502920"/>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monitoring-gap commissioner's story through HomeTest, held open as a working hypothesis</a:t>
            </a:r>
            <a:endParaRPr lang="en-US" sz="900" dirty="0"/>
          </a:p>
        </p:txBody>
      </p:sp>
      <p:sp>
        <p:nvSpPr>
          <p:cNvPr id="23" name="Shape 18"/>
          <p:cNvSpPr/>
          <p:nvPr/>
        </p:nvSpPr>
        <p:spPr>
          <a:xfrm>
            <a:off x="8127797" y="1188720"/>
            <a:ext cx="3606698" cy="2331720"/>
          </a:xfrm>
          <a:prstGeom prst="roundRect">
            <a:avLst>
              <a:gd name="adj" fmla="val 3922"/>
            </a:avLst>
          </a:prstGeom>
          <a:solidFill>
            <a:srgbClr val="F0F4F5"/>
          </a:solidFill>
          <a:ln w="9525">
            <a:solidFill>
              <a:srgbClr val="DDE3E8"/>
            </a:solidFill>
            <a:prstDash val="solid"/>
          </a:ln>
        </p:spPr>
      </p:sp>
      <p:sp>
        <p:nvSpPr>
          <p:cNvPr id="24" name="Shape 19"/>
          <p:cNvSpPr/>
          <p:nvPr/>
        </p:nvSpPr>
        <p:spPr>
          <a:xfrm>
            <a:off x="8127797" y="1188720"/>
            <a:ext cx="3606698" cy="64008"/>
          </a:xfrm>
          <a:prstGeom prst="rect">
            <a:avLst/>
          </a:prstGeom>
          <a:solidFill>
            <a:srgbClr val="005EB8"/>
          </a:solidFill>
          <a:ln w="12700">
            <a:solidFill>
              <a:srgbClr val="005EB8"/>
            </a:solidFill>
            <a:prstDash val="solid"/>
          </a:ln>
        </p:spPr>
      </p:sp>
      <p:sp>
        <p:nvSpPr>
          <p:cNvPr id="25" name="Shape 20"/>
          <p:cNvSpPr/>
          <p:nvPr/>
        </p:nvSpPr>
        <p:spPr>
          <a:xfrm>
            <a:off x="8237525" y="1389888"/>
            <a:ext cx="1060704" cy="1060704"/>
          </a:xfrm>
          <a:prstGeom prst="ellipse">
            <a:avLst/>
          </a:prstGeom>
          <a:solidFill>
            <a:srgbClr val="7EC8E3"/>
          </a:solidFill>
          <a:ln w="12700">
            <a:solidFill>
              <a:srgbClr val="7EC8E3"/>
            </a:solidFill>
            <a:prstDash val="solid"/>
          </a:ln>
        </p:spPr>
      </p:sp>
      <p:pic>
        <p:nvPicPr>
          <p:cNvPr id="26" name="Image 3" descr="/sessions/quirky-zen-galileo/mnt/outputs/hmdecks/img/sarah-portrait.jpg">    </p:cNvPr>
          <p:cNvPicPr>
            <a:picLocks noChangeAspect="1"/>
          </p:cNvPicPr>
          <p:nvPr/>
        </p:nvPicPr>
        <p:blipFill>
          <a:blip r:embed="rId4"/>
          <a:srcRect l="0" r="0" t="0" b="0"/>
          <a:stretch/>
        </p:blipFill>
        <p:spPr>
          <a:xfrm>
            <a:off x="8310677" y="1463040"/>
            <a:ext cx="914400" cy="914400"/>
          </a:xfrm>
          <a:prstGeom prst="ellipse">
            <a:avLst/>
          </a:prstGeom>
        </p:spPr>
      </p:pic>
      <p:sp>
        <p:nvSpPr>
          <p:cNvPr id="27" name="Text 21"/>
          <p:cNvSpPr/>
          <p:nvPr/>
        </p:nvSpPr>
        <p:spPr>
          <a:xfrm>
            <a:off x="9407957" y="1417320"/>
            <a:ext cx="2143658" cy="365760"/>
          </a:xfrm>
          <a:prstGeom prst="rect">
            <a:avLst/>
          </a:prstGeom>
          <a:noFill/>
          <a:ln/>
        </p:spPr>
        <p:txBody>
          <a:bodyPr wrap="square" lIns="0" tIns="0" rIns="0" bIns="0" rtlCol="0" anchor="ctr"/>
          <a:lstStyle/>
          <a:p>
            <a:pPr indent="0" marL="0">
              <a:buNone/>
            </a:pPr>
            <a:r>
              <a:rPr lang="en-US" sz="1600" b="1" dirty="0">
                <a:solidFill>
                  <a:srgbClr val="003087"/>
                </a:solidFill>
                <a:latin typeface="Arial" pitchFamily="34" charset="0"/>
                <a:ea typeface="Arial" pitchFamily="34" charset="-122"/>
                <a:cs typeface="Arial" pitchFamily="34" charset="-120"/>
              </a:rPr>
              <a:t>Sarah</a:t>
            </a:r>
            <a:endParaRPr lang="en-US" sz="1600" dirty="0"/>
          </a:p>
        </p:txBody>
      </p:sp>
      <p:sp>
        <p:nvSpPr>
          <p:cNvPr id="28" name="Text 22"/>
          <p:cNvSpPr/>
          <p:nvPr/>
        </p:nvSpPr>
        <p:spPr>
          <a:xfrm>
            <a:off x="9407957" y="1783080"/>
            <a:ext cx="2143658" cy="502920"/>
          </a:xfrm>
          <a:prstGeom prst="rect">
            <a:avLst/>
          </a:prstGeom>
          <a:noFill/>
          <a:ln/>
        </p:spPr>
        <p:txBody>
          <a:bodyPr wrap="square" lIns="0" tIns="0" rIns="0" bIns="0" rtlCol="0" anchor="t">
            <a:normAutofit/>
          </a:bodyPr>
          <a:lstStyle/>
          <a:p>
            <a:pPr indent="0" marL="0">
              <a:buNone/>
            </a:pPr>
            <a:r>
              <a:rPr lang="en-US" sz="950" b="1" dirty="0">
                <a:solidFill>
                  <a:srgbClr val="005EB8"/>
                </a:solidFill>
                <a:latin typeface="Arial" pitchFamily="34" charset="0"/>
                <a:ea typeface="Arial" pitchFamily="34" charset="-122"/>
                <a:cs typeface="Arial" pitchFamily="34" charset="-120"/>
              </a:rPr>
              <a:t>LA sexual health commissioner · HomeTest HIV</a:t>
            </a:r>
            <a:endParaRPr lang="en-US" sz="950" dirty="0"/>
          </a:p>
        </p:txBody>
      </p:sp>
      <p:sp>
        <p:nvSpPr>
          <p:cNvPr id="29" name="Text 23"/>
          <p:cNvSpPr/>
          <p:nvPr/>
        </p:nvSpPr>
        <p:spPr>
          <a:xfrm>
            <a:off x="8310677" y="2468880"/>
            <a:ext cx="3240938" cy="45720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Sarah signs once. Not once a quarter.</a:t>
            </a:r>
            <a:endParaRPr lang="en-US" sz="1100" dirty="0"/>
          </a:p>
        </p:txBody>
      </p:sp>
      <p:sp>
        <p:nvSpPr>
          <p:cNvPr id="30" name="Text 24"/>
          <p:cNvSpPr/>
          <p:nvPr/>
        </p:nvSpPr>
        <p:spPr>
          <a:xfrm>
            <a:off x="8310677" y="2926080"/>
            <a:ext cx="3240938" cy="502920"/>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commissioner's story through the operating model</a:t>
            </a:r>
            <a:endParaRPr lang="en-US" sz="900" dirty="0"/>
          </a:p>
        </p:txBody>
      </p:sp>
      <p:sp>
        <p:nvSpPr>
          <p:cNvPr id="31" name="Shape 25"/>
          <p:cNvSpPr/>
          <p:nvPr/>
        </p:nvSpPr>
        <p:spPr>
          <a:xfrm>
            <a:off x="457200" y="3749040"/>
            <a:ext cx="3606698" cy="2331720"/>
          </a:xfrm>
          <a:prstGeom prst="roundRect">
            <a:avLst>
              <a:gd name="adj" fmla="val 3922"/>
            </a:avLst>
          </a:prstGeom>
          <a:solidFill>
            <a:srgbClr val="F0F4F5"/>
          </a:solidFill>
          <a:ln w="9525">
            <a:solidFill>
              <a:srgbClr val="DDE3E8"/>
            </a:solidFill>
            <a:prstDash val="solid"/>
          </a:ln>
        </p:spPr>
      </p:sp>
      <p:sp>
        <p:nvSpPr>
          <p:cNvPr id="32" name="Shape 26"/>
          <p:cNvSpPr/>
          <p:nvPr/>
        </p:nvSpPr>
        <p:spPr>
          <a:xfrm>
            <a:off x="457200" y="3749040"/>
            <a:ext cx="3606698" cy="64008"/>
          </a:xfrm>
          <a:prstGeom prst="rect">
            <a:avLst/>
          </a:prstGeom>
          <a:solidFill>
            <a:srgbClr val="C9A0E3"/>
          </a:solidFill>
          <a:ln w="12700">
            <a:solidFill>
              <a:srgbClr val="C9A0E3"/>
            </a:solidFill>
            <a:prstDash val="solid"/>
          </a:ln>
        </p:spPr>
      </p:sp>
      <p:sp>
        <p:nvSpPr>
          <p:cNvPr id="33" name="Shape 27"/>
          <p:cNvSpPr/>
          <p:nvPr/>
        </p:nvSpPr>
        <p:spPr>
          <a:xfrm>
            <a:off x="566928" y="3950208"/>
            <a:ext cx="1060704" cy="1060704"/>
          </a:xfrm>
          <a:prstGeom prst="ellipse">
            <a:avLst/>
          </a:prstGeom>
          <a:solidFill>
            <a:srgbClr val="C9A0E3"/>
          </a:solidFill>
          <a:ln w="12700">
            <a:solidFill>
              <a:srgbClr val="C9A0E3"/>
            </a:solidFill>
            <a:prstDash val="solid"/>
          </a:ln>
        </p:spPr>
      </p:sp>
      <p:pic>
        <p:nvPicPr>
          <p:cNvPr id="34" name="Image 4" descr="/sessions/quirky-zen-galileo/mnt/outputs/hmdecks/img/adam-portrait.jpg">    </p:cNvPr>
          <p:cNvPicPr>
            <a:picLocks noChangeAspect="1"/>
          </p:cNvPicPr>
          <p:nvPr/>
        </p:nvPicPr>
        <p:blipFill>
          <a:blip r:embed="rId5"/>
          <a:srcRect l="0" r="0" t="0" b="0"/>
          <a:stretch/>
        </p:blipFill>
        <p:spPr>
          <a:xfrm>
            <a:off x="640080" y="4023360"/>
            <a:ext cx="914400" cy="914400"/>
          </a:xfrm>
          <a:prstGeom prst="ellipse">
            <a:avLst/>
          </a:prstGeom>
        </p:spPr>
      </p:pic>
      <p:sp>
        <p:nvSpPr>
          <p:cNvPr id="35" name="Text 28"/>
          <p:cNvSpPr/>
          <p:nvPr/>
        </p:nvSpPr>
        <p:spPr>
          <a:xfrm>
            <a:off x="1737360" y="3977640"/>
            <a:ext cx="2143658" cy="365760"/>
          </a:xfrm>
          <a:prstGeom prst="rect">
            <a:avLst/>
          </a:prstGeom>
          <a:noFill/>
          <a:ln/>
        </p:spPr>
        <p:txBody>
          <a:bodyPr wrap="square" lIns="0" tIns="0" rIns="0" bIns="0" rtlCol="0" anchor="ctr"/>
          <a:lstStyle/>
          <a:p>
            <a:pPr indent="0" marL="0">
              <a:buNone/>
            </a:pPr>
            <a:r>
              <a:rPr lang="en-US" sz="1600" b="1" dirty="0">
                <a:solidFill>
                  <a:srgbClr val="003087"/>
                </a:solidFill>
                <a:latin typeface="Arial" pitchFamily="34" charset="0"/>
                <a:ea typeface="Arial" pitchFamily="34" charset="-122"/>
                <a:cs typeface="Arial" pitchFamily="34" charset="-120"/>
              </a:rPr>
              <a:t>Adam</a:t>
            </a:r>
            <a:endParaRPr lang="en-US" sz="1600" dirty="0"/>
          </a:p>
        </p:txBody>
      </p:sp>
      <p:sp>
        <p:nvSpPr>
          <p:cNvPr id="36" name="Text 29"/>
          <p:cNvSpPr/>
          <p:nvPr/>
        </p:nvSpPr>
        <p:spPr>
          <a:xfrm>
            <a:off x="1737360" y="4343400"/>
            <a:ext cx="2143658" cy="502920"/>
          </a:xfrm>
          <a:prstGeom prst="rect">
            <a:avLst/>
          </a:prstGeom>
          <a:noFill/>
          <a:ln/>
        </p:spPr>
        <p:txBody>
          <a:bodyPr wrap="square" lIns="0" tIns="0" rIns="0" bIns="0" rtlCol="0" anchor="t">
            <a:normAutofit/>
          </a:bodyPr>
          <a:lstStyle/>
          <a:p>
            <a:pPr indent="0" marL="0">
              <a:buNone/>
            </a:pPr>
            <a:r>
              <a:rPr lang="en-US" sz="950" b="1" dirty="0">
                <a:solidFill>
                  <a:srgbClr val="C9A0E3"/>
                </a:solidFill>
                <a:latin typeface="Arial" pitchFamily="34" charset="0"/>
                <a:ea typeface="Arial" pitchFamily="34" charset="-122"/>
                <a:cs typeface="Arial" pitchFamily="34" charset="-120"/>
              </a:rPr>
              <a:t>Consultant urologist · PSA Active Surveillance</a:t>
            </a:r>
            <a:endParaRPr lang="en-US" sz="950" dirty="0"/>
          </a:p>
        </p:txBody>
      </p:sp>
      <p:sp>
        <p:nvSpPr>
          <p:cNvPr id="37" name="Text 30"/>
          <p:cNvSpPr/>
          <p:nvPr/>
        </p:nvSpPr>
        <p:spPr>
          <a:xfrm>
            <a:off x="640080" y="5029200"/>
            <a:ext cx="3240938" cy="45720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The patients he cannot see stay in surveillance.</a:t>
            </a:r>
            <a:endParaRPr lang="en-US" sz="1100" dirty="0"/>
          </a:p>
        </p:txBody>
      </p:sp>
      <p:sp>
        <p:nvSpPr>
          <p:cNvPr id="38" name="Text 31"/>
          <p:cNvSpPr/>
          <p:nvPr/>
        </p:nvSpPr>
        <p:spPr>
          <a:xfrm>
            <a:off x="640080" y="5486400"/>
            <a:ext cx="3240938" cy="502920"/>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clinician's story through the operating model</a:t>
            </a:r>
            <a:endParaRPr lang="en-US" sz="900" dirty="0"/>
          </a:p>
        </p:txBody>
      </p:sp>
      <p:sp>
        <p:nvSpPr>
          <p:cNvPr id="39" name="Shape 32"/>
          <p:cNvSpPr/>
          <p:nvPr/>
        </p:nvSpPr>
        <p:spPr>
          <a:xfrm>
            <a:off x="4292498" y="3749040"/>
            <a:ext cx="3606698" cy="2331720"/>
          </a:xfrm>
          <a:prstGeom prst="roundRect">
            <a:avLst>
              <a:gd name="adj" fmla="val 3922"/>
            </a:avLst>
          </a:prstGeom>
          <a:solidFill>
            <a:srgbClr val="F0F4F5"/>
          </a:solidFill>
          <a:ln w="9525">
            <a:solidFill>
              <a:srgbClr val="DDE3E8"/>
            </a:solidFill>
            <a:prstDash val="solid"/>
          </a:ln>
        </p:spPr>
      </p:sp>
      <p:sp>
        <p:nvSpPr>
          <p:cNvPr id="40" name="Shape 33"/>
          <p:cNvSpPr/>
          <p:nvPr/>
        </p:nvSpPr>
        <p:spPr>
          <a:xfrm>
            <a:off x="4292498" y="3749040"/>
            <a:ext cx="3606698" cy="64008"/>
          </a:xfrm>
          <a:prstGeom prst="rect">
            <a:avLst/>
          </a:prstGeom>
          <a:solidFill>
            <a:srgbClr val="C9A0E3"/>
          </a:solidFill>
          <a:ln w="12700">
            <a:solidFill>
              <a:srgbClr val="C9A0E3"/>
            </a:solidFill>
            <a:prstDash val="solid"/>
          </a:ln>
        </p:spPr>
      </p:sp>
      <p:sp>
        <p:nvSpPr>
          <p:cNvPr id="41" name="Shape 34"/>
          <p:cNvSpPr/>
          <p:nvPr/>
        </p:nvSpPr>
        <p:spPr>
          <a:xfrm>
            <a:off x="4402226" y="3950208"/>
            <a:ext cx="1060704" cy="1060704"/>
          </a:xfrm>
          <a:prstGeom prst="ellipse">
            <a:avLst/>
          </a:prstGeom>
          <a:solidFill>
            <a:srgbClr val="C9A0E3"/>
          </a:solidFill>
          <a:ln w="12700">
            <a:solidFill>
              <a:srgbClr val="C9A0E3"/>
            </a:solidFill>
            <a:prstDash val="solid"/>
          </a:ln>
        </p:spPr>
      </p:sp>
      <p:pic>
        <p:nvPicPr>
          <p:cNvPr id="42" name="Image 5" descr="/sessions/quirky-zen-galileo/mnt/outputs/hmdecks/img/hannah-portrait.jpg">    </p:cNvPr>
          <p:cNvPicPr>
            <a:picLocks noChangeAspect="1"/>
          </p:cNvPicPr>
          <p:nvPr/>
        </p:nvPicPr>
        <p:blipFill>
          <a:blip r:embed="rId6"/>
          <a:srcRect l="0" r="0" t="0" b="0"/>
          <a:stretch/>
        </p:blipFill>
        <p:spPr>
          <a:xfrm>
            <a:off x="4475378" y="4023360"/>
            <a:ext cx="914400" cy="914400"/>
          </a:xfrm>
          <a:prstGeom prst="ellipse">
            <a:avLst/>
          </a:prstGeom>
        </p:spPr>
      </p:pic>
      <p:sp>
        <p:nvSpPr>
          <p:cNvPr id="43" name="Text 35"/>
          <p:cNvSpPr/>
          <p:nvPr/>
        </p:nvSpPr>
        <p:spPr>
          <a:xfrm>
            <a:off x="5572658" y="3977640"/>
            <a:ext cx="2143658" cy="365760"/>
          </a:xfrm>
          <a:prstGeom prst="rect">
            <a:avLst/>
          </a:prstGeom>
          <a:noFill/>
          <a:ln/>
        </p:spPr>
        <p:txBody>
          <a:bodyPr wrap="square" lIns="0" tIns="0" rIns="0" bIns="0" rtlCol="0" anchor="ctr"/>
          <a:lstStyle/>
          <a:p>
            <a:pPr indent="0" marL="0">
              <a:buNone/>
            </a:pPr>
            <a:r>
              <a:rPr lang="en-US" sz="1600" b="1" dirty="0">
                <a:solidFill>
                  <a:srgbClr val="003087"/>
                </a:solidFill>
                <a:latin typeface="Arial" pitchFamily="34" charset="0"/>
                <a:ea typeface="Arial" pitchFamily="34" charset="-122"/>
                <a:cs typeface="Arial" pitchFamily="34" charset="-120"/>
              </a:rPr>
              <a:t>Hannah</a:t>
            </a:r>
            <a:endParaRPr lang="en-US" sz="1600" dirty="0"/>
          </a:p>
        </p:txBody>
      </p:sp>
      <p:sp>
        <p:nvSpPr>
          <p:cNvPr id="44" name="Text 36"/>
          <p:cNvSpPr/>
          <p:nvPr/>
        </p:nvSpPr>
        <p:spPr>
          <a:xfrm>
            <a:off x="5572658" y="4343400"/>
            <a:ext cx="2143658" cy="502920"/>
          </a:xfrm>
          <a:prstGeom prst="rect">
            <a:avLst/>
          </a:prstGeom>
          <a:noFill/>
          <a:ln/>
        </p:spPr>
        <p:txBody>
          <a:bodyPr wrap="square" lIns="0" tIns="0" rIns="0" bIns="0" rtlCol="0" anchor="t">
            <a:normAutofit/>
          </a:bodyPr>
          <a:lstStyle/>
          <a:p>
            <a:pPr indent="0" marL="0">
              <a:buNone/>
            </a:pPr>
            <a:r>
              <a:rPr lang="en-US" sz="950" b="1" dirty="0">
                <a:solidFill>
                  <a:srgbClr val="C9A0E3"/>
                </a:solidFill>
                <a:latin typeface="Arial" pitchFamily="34" charset="0"/>
                <a:ea typeface="Arial" pitchFamily="34" charset="-122"/>
                <a:cs typeface="Arial" pitchFamily="34" charset="-120"/>
              </a:rPr>
              <a:t>GP partner · Primary-care monitoring</a:t>
            </a:r>
            <a:endParaRPr lang="en-US" sz="950" dirty="0"/>
          </a:p>
        </p:txBody>
      </p:sp>
      <p:sp>
        <p:nvSpPr>
          <p:cNvPr id="45" name="Text 37"/>
          <p:cNvSpPr/>
          <p:nvPr/>
        </p:nvSpPr>
        <p:spPr>
          <a:xfrm>
            <a:off x="4475378" y="5029200"/>
            <a:ext cx="3240938" cy="45720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The bloods that never needed a clinic.</a:t>
            </a:r>
            <a:endParaRPr lang="en-US" sz="1100" dirty="0"/>
          </a:p>
        </p:txBody>
      </p:sp>
      <p:sp>
        <p:nvSpPr>
          <p:cNvPr id="46" name="Text 38"/>
          <p:cNvSpPr/>
          <p:nvPr/>
        </p:nvSpPr>
        <p:spPr>
          <a:xfrm>
            <a:off x="4475378" y="5486400"/>
            <a:ext cx="3240938" cy="502920"/>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clinician's story through the operating model</a:t>
            </a:r>
            <a:endParaRPr lang="en-US" sz="900" dirty="0"/>
          </a:p>
        </p:txBody>
      </p:sp>
      <p:sp>
        <p:nvSpPr>
          <p:cNvPr id="47" name="Shape 39"/>
          <p:cNvSpPr/>
          <p:nvPr/>
        </p:nvSpPr>
        <p:spPr>
          <a:xfrm>
            <a:off x="8127797" y="3749040"/>
            <a:ext cx="3606698" cy="2331720"/>
          </a:xfrm>
          <a:prstGeom prst="roundRect">
            <a:avLst>
              <a:gd name="adj" fmla="val 3922"/>
            </a:avLst>
          </a:prstGeom>
          <a:solidFill>
            <a:srgbClr val="F0F4F5"/>
          </a:solidFill>
          <a:ln w="9525">
            <a:solidFill>
              <a:srgbClr val="DDE3E8"/>
            </a:solidFill>
            <a:prstDash val="solid"/>
          </a:ln>
        </p:spPr>
      </p:sp>
      <p:sp>
        <p:nvSpPr>
          <p:cNvPr id="48" name="Shape 40"/>
          <p:cNvSpPr/>
          <p:nvPr/>
        </p:nvSpPr>
        <p:spPr>
          <a:xfrm>
            <a:off x="8127797" y="3749040"/>
            <a:ext cx="3606698" cy="64008"/>
          </a:xfrm>
          <a:prstGeom prst="rect">
            <a:avLst/>
          </a:prstGeom>
          <a:solidFill>
            <a:srgbClr val="5BC093"/>
          </a:solidFill>
          <a:ln w="12700">
            <a:solidFill>
              <a:srgbClr val="5BC093"/>
            </a:solidFill>
            <a:prstDash val="solid"/>
          </a:ln>
        </p:spPr>
      </p:sp>
      <p:sp>
        <p:nvSpPr>
          <p:cNvPr id="49" name="Shape 41"/>
          <p:cNvSpPr/>
          <p:nvPr/>
        </p:nvSpPr>
        <p:spPr>
          <a:xfrm>
            <a:off x="8237525" y="3950208"/>
            <a:ext cx="1060704" cy="1060704"/>
          </a:xfrm>
          <a:prstGeom prst="ellipse">
            <a:avLst/>
          </a:prstGeom>
          <a:solidFill>
            <a:srgbClr val="5BC093"/>
          </a:solidFill>
          <a:ln w="12700">
            <a:solidFill>
              <a:srgbClr val="5BC093"/>
            </a:solidFill>
            <a:prstDash val="solid"/>
          </a:ln>
        </p:spPr>
      </p:sp>
      <p:pic>
        <p:nvPicPr>
          <p:cNvPr id="50" name="Image 6" descr="/sessions/quirky-zen-galileo/mnt/outputs/hmdecks/img/joe-portrait.jpg">    </p:cNvPr>
          <p:cNvPicPr>
            <a:picLocks noChangeAspect="1"/>
          </p:cNvPicPr>
          <p:nvPr/>
        </p:nvPicPr>
        <p:blipFill>
          <a:blip r:embed="rId7"/>
          <a:srcRect l="0" r="0" t="0" b="0"/>
          <a:stretch/>
        </p:blipFill>
        <p:spPr>
          <a:xfrm>
            <a:off x="8310677" y="4023360"/>
            <a:ext cx="914400" cy="914400"/>
          </a:xfrm>
          <a:prstGeom prst="ellipse">
            <a:avLst/>
          </a:prstGeom>
        </p:spPr>
      </p:pic>
      <p:sp>
        <p:nvSpPr>
          <p:cNvPr id="51" name="Text 42"/>
          <p:cNvSpPr/>
          <p:nvPr/>
        </p:nvSpPr>
        <p:spPr>
          <a:xfrm>
            <a:off x="9407957" y="3977640"/>
            <a:ext cx="2143658" cy="365760"/>
          </a:xfrm>
          <a:prstGeom prst="rect">
            <a:avLst/>
          </a:prstGeom>
          <a:noFill/>
          <a:ln/>
        </p:spPr>
        <p:txBody>
          <a:bodyPr wrap="square" lIns="0" tIns="0" rIns="0" bIns="0" rtlCol="0" anchor="ctr"/>
          <a:lstStyle/>
          <a:p>
            <a:pPr indent="0" marL="0">
              <a:buNone/>
            </a:pPr>
            <a:r>
              <a:rPr lang="en-US" sz="1600" b="1" dirty="0">
                <a:solidFill>
                  <a:srgbClr val="003087"/>
                </a:solidFill>
                <a:latin typeface="Arial" pitchFamily="34" charset="0"/>
                <a:ea typeface="Arial" pitchFamily="34" charset="-122"/>
                <a:cs typeface="Arial" pitchFamily="34" charset="-120"/>
              </a:rPr>
              <a:t>Joe</a:t>
            </a:r>
            <a:endParaRPr lang="en-US" sz="1600" dirty="0"/>
          </a:p>
        </p:txBody>
      </p:sp>
      <p:sp>
        <p:nvSpPr>
          <p:cNvPr id="52" name="Text 43"/>
          <p:cNvSpPr/>
          <p:nvPr/>
        </p:nvSpPr>
        <p:spPr>
          <a:xfrm>
            <a:off x="9407957" y="4343400"/>
            <a:ext cx="2143658" cy="502920"/>
          </a:xfrm>
          <a:prstGeom prst="rect">
            <a:avLst/>
          </a:prstGeom>
          <a:noFill/>
          <a:ln/>
        </p:spPr>
        <p:txBody>
          <a:bodyPr wrap="square" lIns="0" tIns="0" rIns="0" bIns="0" rtlCol="0" anchor="t">
            <a:normAutofit/>
          </a:bodyPr>
          <a:lstStyle/>
          <a:p>
            <a:pPr indent="0" marL="0">
              <a:buNone/>
            </a:pPr>
            <a:r>
              <a:rPr lang="en-US" sz="950" b="1" dirty="0">
                <a:solidFill>
                  <a:srgbClr val="5BC093"/>
                </a:solidFill>
                <a:latin typeface="Arial" pitchFamily="34" charset="0"/>
                <a:ea typeface="Arial" pitchFamily="34" charset="-122"/>
                <a:cs typeface="Arial" pitchFamily="34" charset="-120"/>
              </a:rPr>
              <a:t>Self-sample supplier · Framework-admitted</a:t>
            </a:r>
            <a:endParaRPr lang="en-US" sz="950" dirty="0"/>
          </a:p>
        </p:txBody>
      </p:sp>
      <p:sp>
        <p:nvSpPr>
          <p:cNvPr id="53" name="Text 44"/>
          <p:cNvSpPr/>
          <p:nvPr/>
        </p:nvSpPr>
        <p:spPr>
          <a:xfrm>
            <a:off x="8310677" y="5029200"/>
            <a:ext cx="3240938" cy="45720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Admitted once. Reused everywhere.</a:t>
            </a:r>
            <a:endParaRPr lang="en-US" sz="1100" dirty="0"/>
          </a:p>
        </p:txBody>
      </p:sp>
      <p:sp>
        <p:nvSpPr>
          <p:cNvPr id="54" name="Text 45"/>
          <p:cNvSpPr/>
          <p:nvPr/>
        </p:nvSpPr>
        <p:spPr>
          <a:xfrm>
            <a:off x="8310677" y="5486400"/>
            <a:ext cx="3240938" cy="502920"/>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supplier's story through the operating model</a:t>
            </a:r>
            <a:endParaRPr lang="en-US" sz="900" dirty="0"/>
          </a:p>
        </p:txBody>
      </p:sp>
      <p:sp>
        <p:nvSpPr>
          <p:cNvPr id="55" name="Text 46"/>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The cast  ·  Hearts and Minds</a:t>
            </a:r>
            <a:endParaRPr lang="en-US" sz="850" dirty="0"/>
          </a:p>
        </p:txBody>
      </p:sp>
      <p:sp>
        <p:nvSpPr>
          <p:cNvPr id="56" name="Text 47"/>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7" name="Text 48"/>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PATIENT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Abdul's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2167677"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2167677" cy="54864"/>
          </a:xfrm>
          <a:prstGeom prst="rect">
            <a:avLst/>
          </a:prstGeom>
          <a:solidFill>
            <a:srgbClr val="FFB91D"/>
          </a:solidFill>
          <a:ln w="12700">
            <a:solidFill>
              <a:srgbClr val="FFB91D"/>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Stratification</a:t>
            </a:r>
            <a:endParaRPr lang="en-US" sz="1100" dirty="0"/>
          </a:p>
        </p:txBody>
      </p:sp>
      <p:sp>
        <p:nvSpPr>
          <p:cNvPr id="12" name="Text 9"/>
          <p:cNvSpPr/>
          <p:nvPr/>
        </p:nvSpPr>
        <p:spPr>
          <a:xfrm>
            <a:off x="585216"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cohort the system cannot see yet</a:t>
            </a:r>
            <a:endParaRPr lang="en-US" sz="900" dirty="0"/>
          </a:p>
        </p:txBody>
      </p:sp>
      <p:sp>
        <p:nvSpPr>
          <p:cNvPr id="13" name="Shape 10"/>
          <p:cNvSpPr/>
          <p:nvPr/>
        </p:nvSpPr>
        <p:spPr>
          <a:xfrm>
            <a:off x="2734605" y="1234440"/>
            <a:ext cx="2167677"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734605" y="1234440"/>
            <a:ext cx="2167677" cy="54864"/>
          </a:xfrm>
          <a:prstGeom prst="rect">
            <a:avLst/>
          </a:prstGeom>
          <a:solidFill>
            <a:srgbClr val="FFB91D"/>
          </a:solidFill>
          <a:ln w="12700">
            <a:solidFill>
              <a:srgbClr val="FFB91D"/>
            </a:solidFill>
            <a:prstDash val="solid"/>
          </a:ln>
        </p:spPr>
      </p:sp>
      <p:sp>
        <p:nvSpPr>
          <p:cNvPr id="15" name="Shape 12"/>
          <p:cNvSpPr/>
          <p:nvPr/>
        </p:nvSpPr>
        <p:spPr>
          <a:xfrm>
            <a:off x="2862621"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862621"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3283245"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Identification</a:t>
            </a:r>
            <a:endParaRPr lang="en-US" sz="1100" dirty="0"/>
          </a:p>
        </p:txBody>
      </p:sp>
      <p:sp>
        <p:nvSpPr>
          <p:cNvPr id="18" name="Text 15"/>
          <p:cNvSpPr/>
          <p:nvPr/>
        </p:nvSpPr>
        <p:spPr>
          <a:xfrm>
            <a:off x="2862621"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NHS App finds him</a:t>
            </a:r>
            <a:endParaRPr lang="en-US" sz="900" dirty="0"/>
          </a:p>
        </p:txBody>
      </p:sp>
      <p:sp>
        <p:nvSpPr>
          <p:cNvPr id="19" name="Shape 16"/>
          <p:cNvSpPr/>
          <p:nvPr/>
        </p:nvSpPr>
        <p:spPr>
          <a:xfrm>
            <a:off x="5012009" y="1234440"/>
            <a:ext cx="2167677"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5012009" y="1234440"/>
            <a:ext cx="2167677" cy="54864"/>
          </a:xfrm>
          <a:prstGeom prst="rect">
            <a:avLst/>
          </a:prstGeom>
          <a:solidFill>
            <a:srgbClr val="FFB91D"/>
          </a:solidFill>
          <a:ln w="12700">
            <a:solidFill>
              <a:srgbClr val="FFB91D"/>
            </a:solidFill>
            <a:prstDash val="solid"/>
          </a:ln>
        </p:spPr>
      </p:sp>
      <p:sp>
        <p:nvSpPr>
          <p:cNvPr id="21" name="Shape 18"/>
          <p:cNvSpPr/>
          <p:nvPr/>
        </p:nvSpPr>
        <p:spPr>
          <a:xfrm>
            <a:off x="5140025"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514002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556064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Diagnosis</a:t>
            </a:r>
            <a:endParaRPr lang="en-US" sz="1100" dirty="0"/>
          </a:p>
        </p:txBody>
      </p:sp>
      <p:sp>
        <p:nvSpPr>
          <p:cNvPr id="24" name="Text 21"/>
          <p:cNvSpPr/>
          <p:nvPr/>
        </p:nvSpPr>
        <p:spPr>
          <a:xfrm>
            <a:off x="514002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kit out, sample back</a:t>
            </a:r>
            <a:endParaRPr lang="en-US" sz="900" dirty="0"/>
          </a:p>
        </p:txBody>
      </p:sp>
      <p:sp>
        <p:nvSpPr>
          <p:cNvPr id="25" name="Shape 22"/>
          <p:cNvSpPr/>
          <p:nvPr/>
        </p:nvSpPr>
        <p:spPr>
          <a:xfrm>
            <a:off x="7289414" y="1234440"/>
            <a:ext cx="2167677"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7289414" y="1234440"/>
            <a:ext cx="2167677" cy="54864"/>
          </a:xfrm>
          <a:prstGeom prst="rect">
            <a:avLst/>
          </a:prstGeom>
          <a:solidFill>
            <a:srgbClr val="FFB91D"/>
          </a:solidFill>
          <a:ln w="12700">
            <a:solidFill>
              <a:srgbClr val="FFB91D"/>
            </a:solidFill>
            <a:prstDash val="solid"/>
          </a:ln>
        </p:spPr>
      </p:sp>
      <p:sp>
        <p:nvSpPr>
          <p:cNvPr id="27" name="Shape 24"/>
          <p:cNvSpPr/>
          <p:nvPr/>
        </p:nvSpPr>
        <p:spPr>
          <a:xfrm>
            <a:off x="7417430"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741743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7838054"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Treatment</a:t>
            </a:r>
            <a:endParaRPr lang="en-US" sz="1100" dirty="0"/>
          </a:p>
        </p:txBody>
      </p:sp>
      <p:sp>
        <p:nvSpPr>
          <p:cNvPr id="30" name="Text 27"/>
          <p:cNvSpPr/>
          <p:nvPr/>
        </p:nvSpPr>
        <p:spPr>
          <a:xfrm>
            <a:off x="7417430"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conversation the result triggers</a:t>
            </a:r>
            <a:endParaRPr lang="en-US" sz="900" dirty="0"/>
          </a:p>
        </p:txBody>
      </p:sp>
      <p:sp>
        <p:nvSpPr>
          <p:cNvPr id="31" name="Shape 28"/>
          <p:cNvSpPr/>
          <p:nvPr/>
        </p:nvSpPr>
        <p:spPr>
          <a:xfrm>
            <a:off x="9566819" y="1234440"/>
            <a:ext cx="2167677"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9566819" y="1234440"/>
            <a:ext cx="2167677" cy="54864"/>
          </a:xfrm>
          <a:prstGeom prst="rect">
            <a:avLst/>
          </a:prstGeom>
          <a:solidFill>
            <a:srgbClr val="FFB91D"/>
          </a:solidFill>
          <a:ln w="12700">
            <a:solidFill>
              <a:srgbClr val="FFB91D"/>
            </a:solidFill>
            <a:prstDash val="solid"/>
          </a:ln>
        </p:spPr>
      </p:sp>
      <p:sp>
        <p:nvSpPr>
          <p:cNvPr id="33" name="Shape 30"/>
          <p:cNvSpPr/>
          <p:nvPr/>
        </p:nvSpPr>
        <p:spPr>
          <a:xfrm>
            <a:off x="969483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969483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1011545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Long-term optimisation</a:t>
            </a:r>
            <a:endParaRPr lang="en-US" sz="1100" dirty="0"/>
          </a:p>
        </p:txBody>
      </p:sp>
      <p:sp>
        <p:nvSpPr>
          <p:cNvPr id="36" name="Text 33"/>
          <p:cNvSpPr/>
          <p:nvPr/>
        </p:nvSpPr>
        <p:spPr>
          <a:xfrm>
            <a:off x="969483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cycle that fits his life</a:t>
            </a:r>
            <a:endParaRPr lang="en-US" sz="900" dirty="0"/>
          </a:p>
        </p:txBody>
      </p:sp>
      <p:sp>
        <p:nvSpPr>
          <p:cNvPr id="37" name="Shape 34"/>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38" name="Text 35"/>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PATIENT NORTH STAR</a:t>
            </a:r>
            <a:endParaRPr lang="en-US" sz="900" dirty="0"/>
          </a:p>
        </p:txBody>
      </p:sp>
      <p:sp>
        <p:nvSpPr>
          <p:cNvPr id="39" name="Text 36"/>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The system finds him before the symptoms find him.</a:t>
            </a:r>
            <a:endParaRPr lang="en-US" sz="1500" dirty="0"/>
          </a:p>
        </p:txBody>
      </p:sp>
      <p:sp>
        <p:nvSpPr>
          <p:cNvPr id="40" name="Text 37"/>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Abdul does not feel ill. He has never been to the GP about his heart. The cohort he belongs to, middle-aged men with family-history risk, is exactly the cohort the in-clinic system finds last. </a:t>
            </a:r>
            <a:pPr indent="0" marL="0">
              <a:buNone/>
            </a:pPr>
            <a:r>
              <a:rPr lang="en-US" sz="1100" b="1" dirty="0">
                <a:solidFill>
                  <a:srgbClr val="231F20"/>
                </a:solidFill>
                <a:latin typeface="Arial" pitchFamily="34" charset="0"/>
                <a:ea typeface="Arial" pitchFamily="34" charset="-122"/>
                <a:cs typeface="Arial" pitchFamily="34" charset="-120"/>
              </a:rPr>
              <a:t>The home pathway finds him first.</a:t>
            </a:r>
            <a:endParaRPr lang="en-US" sz="1100" dirty="0"/>
          </a:p>
        </p:txBody>
      </p:sp>
      <p:sp>
        <p:nvSpPr>
          <p:cNvPr id="41" name="Shape 38"/>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2" name="Text 39"/>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HIM</a:t>
            </a:r>
            <a:endParaRPr lang="en-US" sz="900" dirty="0"/>
          </a:p>
        </p:txBody>
      </p:sp>
      <p:sp>
        <p:nvSpPr>
          <p:cNvPr id="43" name="Text 40"/>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The NHS App is the front door. The kit is the test. The result is in his record.</a:t>
            </a:r>
            <a:endParaRPr lang="en-US" sz="1500" dirty="0"/>
          </a:p>
        </p:txBody>
      </p:sp>
      <p:sp>
        <p:nvSpPr>
          <p:cNvPr id="44" name="Text 41"/>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No clinic visit to book. No phlebotomist to find a slot with. No half-day off work. </a:t>
            </a:r>
            <a:pPr indent="0" marL="0">
              <a:buNone/>
            </a:pPr>
            <a:r>
              <a:rPr lang="en-US" sz="1100" b="1" dirty="0">
                <a:solidFill>
                  <a:srgbClr val="231F20"/>
                </a:solidFill>
                <a:latin typeface="Arial" pitchFamily="34" charset="0"/>
                <a:ea typeface="Arial" pitchFamily="34" charset="-122"/>
                <a:cs typeface="Arial" pitchFamily="34" charset="-120"/>
              </a:rPr>
              <a:t>The kit arrives. He takes the sample. The result lands in the system he already uses for everything else.</a:t>
            </a:r>
            <a:endParaRPr lang="en-US" sz="1100" dirty="0"/>
          </a:p>
        </p:txBody>
      </p:sp>
      <p:sp>
        <p:nvSpPr>
          <p:cNvPr id="45" name="Text 4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Abdul  ·  Hearts and Minds</a:t>
            </a:r>
            <a:endParaRPr lang="en-US" sz="850" dirty="0"/>
          </a:p>
        </p:txBody>
      </p:sp>
      <p:sp>
        <p:nvSpPr>
          <p:cNvPr id="46" name="Text 4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47" name="Text 4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PATIENT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Devi's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2167677"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2167677" cy="54864"/>
          </a:xfrm>
          <a:prstGeom prst="rect">
            <a:avLst/>
          </a:prstGeom>
          <a:solidFill>
            <a:srgbClr val="FFB91D"/>
          </a:solidFill>
          <a:ln w="12700">
            <a:solidFill>
              <a:srgbClr val="FFB91D"/>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Stratification</a:t>
            </a:r>
            <a:endParaRPr lang="en-US" sz="1100" dirty="0"/>
          </a:p>
        </p:txBody>
      </p:sp>
      <p:sp>
        <p:nvSpPr>
          <p:cNvPr id="12" name="Text 9"/>
          <p:cNvSpPr/>
          <p:nvPr/>
        </p:nvSpPr>
        <p:spPr>
          <a:xfrm>
            <a:off x="585216"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cohort the clinic finds hardest to keep</a:t>
            </a:r>
            <a:endParaRPr lang="en-US" sz="900" dirty="0"/>
          </a:p>
        </p:txBody>
      </p:sp>
      <p:sp>
        <p:nvSpPr>
          <p:cNvPr id="13" name="Shape 10"/>
          <p:cNvSpPr/>
          <p:nvPr/>
        </p:nvSpPr>
        <p:spPr>
          <a:xfrm>
            <a:off x="2734605" y="1234440"/>
            <a:ext cx="2167677"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734605" y="1234440"/>
            <a:ext cx="2167677" cy="54864"/>
          </a:xfrm>
          <a:prstGeom prst="rect">
            <a:avLst/>
          </a:prstGeom>
          <a:solidFill>
            <a:srgbClr val="FFB91D"/>
          </a:solidFill>
          <a:ln w="12700">
            <a:solidFill>
              <a:srgbClr val="FFB91D"/>
            </a:solidFill>
            <a:prstDash val="solid"/>
          </a:ln>
        </p:spPr>
      </p:sp>
      <p:sp>
        <p:nvSpPr>
          <p:cNvPr id="15" name="Shape 12"/>
          <p:cNvSpPr/>
          <p:nvPr/>
        </p:nvSpPr>
        <p:spPr>
          <a:xfrm>
            <a:off x="2862621"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862621"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3283245"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Identification</a:t>
            </a:r>
            <a:endParaRPr lang="en-US" sz="1100" dirty="0"/>
          </a:p>
        </p:txBody>
      </p:sp>
      <p:sp>
        <p:nvSpPr>
          <p:cNvPr id="18" name="Text 15"/>
          <p:cNvSpPr/>
          <p:nvPr/>
        </p:nvSpPr>
        <p:spPr>
          <a:xfrm>
            <a:off x="2862621"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Hannah's practice flags her</a:t>
            </a:r>
            <a:endParaRPr lang="en-US" sz="900" dirty="0"/>
          </a:p>
        </p:txBody>
      </p:sp>
      <p:sp>
        <p:nvSpPr>
          <p:cNvPr id="19" name="Shape 16"/>
          <p:cNvSpPr/>
          <p:nvPr/>
        </p:nvSpPr>
        <p:spPr>
          <a:xfrm>
            <a:off x="5012009" y="1234440"/>
            <a:ext cx="2167677"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5012009" y="1234440"/>
            <a:ext cx="2167677" cy="54864"/>
          </a:xfrm>
          <a:prstGeom prst="rect">
            <a:avLst/>
          </a:prstGeom>
          <a:solidFill>
            <a:srgbClr val="FFB91D"/>
          </a:solidFill>
          <a:ln w="12700">
            <a:solidFill>
              <a:srgbClr val="FFB91D"/>
            </a:solidFill>
            <a:prstDash val="solid"/>
          </a:ln>
        </p:spPr>
      </p:sp>
      <p:sp>
        <p:nvSpPr>
          <p:cNvPr id="21" name="Shape 18"/>
          <p:cNvSpPr/>
          <p:nvPr/>
        </p:nvSpPr>
        <p:spPr>
          <a:xfrm>
            <a:off x="5140025"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514002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556064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Testing</a:t>
            </a:r>
            <a:endParaRPr lang="en-US" sz="1100" dirty="0"/>
          </a:p>
        </p:txBody>
      </p:sp>
      <p:sp>
        <p:nvSpPr>
          <p:cNvPr id="24" name="Text 21"/>
          <p:cNvSpPr/>
          <p:nvPr/>
        </p:nvSpPr>
        <p:spPr>
          <a:xfrm>
            <a:off x="514002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HbA1c on a Saturday morning</a:t>
            </a:r>
            <a:endParaRPr lang="en-US" sz="900" dirty="0"/>
          </a:p>
        </p:txBody>
      </p:sp>
      <p:sp>
        <p:nvSpPr>
          <p:cNvPr id="25" name="Shape 22"/>
          <p:cNvSpPr/>
          <p:nvPr/>
        </p:nvSpPr>
        <p:spPr>
          <a:xfrm>
            <a:off x="7289414" y="1234440"/>
            <a:ext cx="2167677"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7289414" y="1234440"/>
            <a:ext cx="2167677" cy="54864"/>
          </a:xfrm>
          <a:prstGeom prst="rect">
            <a:avLst/>
          </a:prstGeom>
          <a:solidFill>
            <a:srgbClr val="FFB91D"/>
          </a:solidFill>
          <a:ln w="12700">
            <a:solidFill>
              <a:srgbClr val="FFB91D"/>
            </a:solidFill>
            <a:prstDash val="solid"/>
          </a:ln>
        </p:spPr>
      </p:sp>
      <p:sp>
        <p:nvSpPr>
          <p:cNvPr id="27" name="Shape 24"/>
          <p:cNvSpPr/>
          <p:nvPr/>
        </p:nvSpPr>
        <p:spPr>
          <a:xfrm>
            <a:off x="7417430"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741743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7838054"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Response</a:t>
            </a:r>
            <a:endParaRPr lang="en-US" sz="1100" dirty="0"/>
          </a:p>
        </p:txBody>
      </p:sp>
      <p:sp>
        <p:nvSpPr>
          <p:cNvPr id="30" name="Text 27"/>
          <p:cNvSpPr/>
          <p:nvPr/>
        </p:nvSpPr>
        <p:spPr>
          <a:xfrm>
            <a:off x="7417430"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plan adjusted on the trend</a:t>
            </a:r>
            <a:endParaRPr lang="en-US" sz="900" dirty="0"/>
          </a:p>
        </p:txBody>
      </p:sp>
      <p:sp>
        <p:nvSpPr>
          <p:cNvPr id="31" name="Shape 28"/>
          <p:cNvSpPr/>
          <p:nvPr/>
        </p:nvSpPr>
        <p:spPr>
          <a:xfrm>
            <a:off x="9566819" y="1234440"/>
            <a:ext cx="2167677"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9566819" y="1234440"/>
            <a:ext cx="2167677" cy="54864"/>
          </a:xfrm>
          <a:prstGeom prst="rect">
            <a:avLst/>
          </a:prstGeom>
          <a:solidFill>
            <a:srgbClr val="FFB91D"/>
          </a:solidFill>
          <a:ln w="12700">
            <a:solidFill>
              <a:srgbClr val="FFB91D"/>
            </a:solidFill>
            <a:prstDash val="solid"/>
          </a:ln>
        </p:spPr>
      </p:sp>
      <p:sp>
        <p:nvSpPr>
          <p:cNvPr id="33" name="Shape 30"/>
          <p:cNvSpPr/>
          <p:nvPr/>
        </p:nvSpPr>
        <p:spPr>
          <a:xfrm>
            <a:off x="969483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969483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1011545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Long-term optimisation</a:t>
            </a:r>
            <a:endParaRPr lang="en-US" sz="1100" dirty="0"/>
          </a:p>
        </p:txBody>
      </p:sp>
      <p:sp>
        <p:nvSpPr>
          <p:cNvPr id="36" name="Text 33"/>
          <p:cNvSpPr/>
          <p:nvPr/>
        </p:nvSpPr>
        <p:spPr>
          <a:xfrm>
            <a:off x="969483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cycle that fits her life</a:t>
            </a:r>
            <a:endParaRPr lang="en-US" sz="900" dirty="0"/>
          </a:p>
        </p:txBody>
      </p:sp>
      <p:sp>
        <p:nvSpPr>
          <p:cNvPr id="37" name="Shape 34"/>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38" name="Text 35"/>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PATIENT NORTH STAR</a:t>
            </a:r>
            <a:endParaRPr lang="en-US" sz="900" dirty="0"/>
          </a:p>
        </p:txBody>
      </p:sp>
      <p:sp>
        <p:nvSpPr>
          <p:cNvPr id="39" name="Text 36"/>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The bloods need doing. The clinic visit never needed to be the way to do them.</a:t>
            </a:r>
            <a:endParaRPr lang="en-US" sz="1500" dirty="0"/>
          </a:p>
        </p:txBody>
      </p:sp>
      <p:sp>
        <p:nvSpPr>
          <p:cNvPr id="40" name="Text 37"/>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Devi is on the at-risk register. The register needs an annual HbA1c or the cohort drifts. The clinic has always been the venue for the annual bloods, but the clinic is exactly the venue that does not work for her life. </a:t>
            </a:r>
            <a:pPr indent="0" marL="0">
              <a:buNone/>
            </a:pPr>
            <a:r>
              <a:rPr lang="en-US" sz="1100" b="1" dirty="0">
                <a:solidFill>
                  <a:srgbClr val="231F20"/>
                </a:solidFill>
                <a:latin typeface="Arial" pitchFamily="34" charset="0"/>
                <a:ea typeface="Arial" pitchFamily="34" charset="-122"/>
                <a:cs typeface="Arial" pitchFamily="34" charset="-120"/>
              </a:rPr>
              <a:t>Move the venue. Keep the surveillance.</a:t>
            </a:r>
            <a:endParaRPr lang="en-US" sz="1100" dirty="0"/>
          </a:p>
        </p:txBody>
      </p:sp>
      <p:sp>
        <p:nvSpPr>
          <p:cNvPr id="41" name="Shape 38"/>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2" name="Text 39"/>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HER</a:t>
            </a:r>
            <a:endParaRPr lang="en-US" sz="900" dirty="0"/>
          </a:p>
        </p:txBody>
      </p:sp>
      <p:sp>
        <p:nvSpPr>
          <p:cNvPr id="43" name="Text 40"/>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No half-day off. No childcare juggle. No DNA letter saying she is the problem.</a:t>
            </a:r>
            <a:endParaRPr lang="en-US" sz="1500" dirty="0"/>
          </a:p>
        </p:txBody>
      </p:sp>
      <p:sp>
        <p:nvSpPr>
          <p:cNvPr id="44" name="Text 41"/>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A Saturday-morning sample. The result back in Hannah's system on time. The next twelve months either continuing the same lifestyle plan or triggering a DPP referral if the trend shifts. </a:t>
            </a:r>
            <a:pPr indent="0" marL="0">
              <a:buNone/>
            </a:pPr>
            <a:r>
              <a:rPr lang="en-US" sz="1100" b="1" dirty="0">
                <a:solidFill>
                  <a:srgbClr val="231F20"/>
                </a:solidFill>
                <a:latin typeface="Arial" pitchFamily="34" charset="0"/>
                <a:ea typeface="Arial" pitchFamily="34" charset="-122"/>
                <a:cs typeface="Arial" pitchFamily="34" charset="-120"/>
              </a:rPr>
              <a:t>The system stops blaming her for the venue being wrong.</a:t>
            </a:r>
            <a:endParaRPr lang="en-US" sz="1100" dirty="0"/>
          </a:p>
        </p:txBody>
      </p:sp>
      <p:sp>
        <p:nvSpPr>
          <p:cNvPr id="45" name="Text 4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Devi  ·  Hearts and Minds</a:t>
            </a:r>
            <a:endParaRPr lang="en-US" sz="850" dirty="0"/>
          </a:p>
        </p:txBody>
      </p:sp>
      <p:sp>
        <p:nvSpPr>
          <p:cNvPr id="46" name="Text 4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47" name="Text 4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PATIENT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Layla's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2167677"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2167677" cy="54864"/>
          </a:xfrm>
          <a:prstGeom prst="rect">
            <a:avLst/>
          </a:prstGeom>
          <a:solidFill>
            <a:srgbClr val="FFB91D"/>
          </a:solidFill>
          <a:ln w="12700">
            <a:solidFill>
              <a:srgbClr val="FFB91D"/>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Stratification</a:t>
            </a:r>
            <a:endParaRPr lang="en-US" sz="1100" dirty="0"/>
          </a:p>
        </p:txBody>
      </p:sp>
      <p:sp>
        <p:nvSpPr>
          <p:cNvPr id="12" name="Text 9"/>
          <p:cNvSpPr/>
          <p:nvPr/>
        </p:nvSpPr>
        <p:spPr>
          <a:xfrm>
            <a:off x="585216"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cohort the clinic finds hardest to keep</a:t>
            </a:r>
            <a:endParaRPr lang="en-US" sz="900" dirty="0"/>
          </a:p>
        </p:txBody>
      </p:sp>
      <p:sp>
        <p:nvSpPr>
          <p:cNvPr id="13" name="Shape 10"/>
          <p:cNvSpPr/>
          <p:nvPr/>
        </p:nvSpPr>
        <p:spPr>
          <a:xfrm>
            <a:off x="2734605" y="1234440"/>
            <a:ext cx="2167677"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734605" y="1234440"/>
            <a:ext cx="2167677" cy="54864"/>
          </a:xfrm>
          <a:prstGeom prst="rect">
            <a:avLst/>
          </a:prstGeom>
          <a:solidFill>
            <a:srgbClr val="FFB91D"/>
          </a:solidFill>
          <a:ln w="12700">
            <a:solidFill>
              <a:srgbClr val="FFB91D"/>
            </a:solidFill>
            <a:prstDash val="solid"/>
          </a:ln>
        </p:spPr>
      </p:sp>
      <p:sp>
        <p:nvSpPr>
          <p:cNvPr id="15" name="Shape 12"/>
          <p:cNvSpPr/>
          <p:nvPr/>
        </p:nvSpPr>
        <p:spPr>
          <a:xfrm>
            <a:off x="2862621"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862621"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3283245"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Identification</a:t>
            </a:r>
            <a:endParaRPr lang="en-US" sz="1100" dirty="0"/>
          </a:p>
        </p:txBody>
      </p:sp>
      <p:sp>
        <p:nvSpPr>
          <p:cNvPr id="18" name="Text 15"/>
          <p:cNvSpPr/>
          <p:nvPr/>
        </p:nvSpPr>
        <p:spPr>
          <a:xfrm>
            <a:off x="2862621"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Hannah's practice flags her</a:t>
            </a:r>
            <a:endParaRPr lang="en-US" sz="900" dirty="0"/>
          </a:p>
        </p:txBody>
      </p:sp>
      <p:sp>
        <p:nvSpPr>
          <p:cNvPr id="19" name="Shape 16"/>
          <p:cNvSpPr/>
          <p:nvPr/>
        </p:nvSpPr>
        <p:spPr>
          <a:xfrm>
            <a:off x="5012009" y="1234440"/>
            <a:ext cx="2167677"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5012009" y="1234440"/>
            <a:ext cx="2167677" cy="54864"/>
          </a:xfrm>
          <a:prstGeom prst="rect">
            <a:avLst/>
          </a:prstGeom>
          <a:solidFill>
            <a:srgbClr val="FFB91D"/>
          </a:solidFill>
          <a:ln w="12700">
            <a:solidFill>
              <a:srgbClr val="FFB91D"/>
            </a:solidFill>
            <a:prstDash val="solid"/>
          </a:ln>
        </p:spPr>
      </p:sp>
      <p:sp>
        <p:nvSpPr>
          <p:cNvPr id="21" name="Shape 18"/>
          <p:cNvSpPr/>
          <p:nvPr/>
        </p:nvSpPr>
        <p:spPr>
          <a:xfrm>
            <a:off x="5140025"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514002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556064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Diagnosis</a:t>
            </a:r>
            <a:endParaRPr lang="en-US" sz="1100" dirty="0"/>
          </a:p>
        </p:txBody>
      </p:sp>
      <p:sp>
        <p:nvSpPr>
          <p:cNvPr id="24" name="Text 21"/>
          <p:cNvSpPr/>
          <p:nvPr/>
        </p:nvSpPr>
        <p:spPr>
          <a:xfrm>
            <a:off x="514002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FBC on a Saturday morning</a:t>
            </a:r>
            <a:endParaRPr lang="en-US" sz="900" dirty="0"/>
          </a:p>
        </p:txBody>
      </p:sp>
      <p:sp>
        <p:nvSpPr>
          <p:cNvPr id="25" name="Shape 22"/>
          <p:cNvSpPr/>
          <p:nvPr/>
        </p:nvSpPr>
        <p:spPr>
          <a:xfrm>
            <a:off x="7289414" y="1234440"/>
            <a:ext cx="2167677"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7289414" y="1234440"/>
            <a:ext cx="2167677" cy="54864"/>
          </a:xfrm>
          <a:prstGeom prst="rect">
            <a:avLst/>
          </a:prstGeom>
          <a:solidFill>
            <a:srgbClr val="FFB91D"/>
          </a:solidFill>
          <a:ln w="12700">
            <a:solidFill>
              <a:srgbClr val="FFB91D"/>
            </a:solidFill>
            <a:prstDash val="solid"/>
          </a:ln>
        </p:spPr>
      </p:sp>
      <p:sp>
        <p:nvSpPr>
          <p:cNvPr id="27" name="Shape 24"/>
          <p:cNvSpPr/>
          <p:nvPr/>
        </p:nvSpPr>
        <p:spPr>
          <a:xfrm>
            <a:off x="7417430"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741743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7838054"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Treatment</a:t>
            </a:r>
            <a:endParaRPr lang="en-US" sz="1100" dirty="0"/>
          </a:p>
        </p:txBody>
      </p:sp>
      <p:sp>
        <p:nvSpPr>
          <p:cNvPr id="30" name="Text 27"/>
          <p:cNvSpPr/>
          <p:nvPr/>
        </p:nvSpPr>
        <p:spPr>
          <a:xfrm>
            <a:off x="7417430"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prescription adjusted on the trend</a:t>
            </a:r>
            <a:endParaRPr lang="en-US" sz="900" dirty="0"/>
          </a:p>
        </p:txBody>
      </p:sp>
      <p:sp>
        <p:nvSpPr>
          <p:cNvPr id="31" name="Shape 28"/>
          <p:cNvSpPr/>
          <p:nvPr/>
        </p:nvSpPr>
        <p:spPr>
          <a:xfrm>
            <a:off x="9566819" y="1234440"/>
            <a:ext cx="2167677"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9566819" y="1234440"/>
            <a:ext cx="2167677" cy="54864"/>
          </a:xfrm>
          <a:prstGeom prst="rect">
            <a:avLst/>
          </a:prstGeom>
          <a:solidFill>
            <a:srgbClr val="FFB91D"/>
          </a:solidFill>
          <a:ln w="12700">
            <a:solidFill>
              <a:srgbClr val="FFB91D"/>
            </a:solidFill>
            <a:prstDash val="solid"/>
          </a:ln>
        </p:spPr>
      </p:sp>
      <p:sp>
        <p:nvSpPr>
          <p:cNvPr id="33" name="Shape 30"/>
          <p:cNvSpPr/>
          <p:nvPr/>
        </p:nvSpPr>
        <p:spPr>
          <a:xfrm>
            <a:off x="969483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969483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1011545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Long-term optimisation</a:t>
            </a:r>
            <a:endParaRPr lang="en-US" sz="1100" dirty="0"/>
          </a:p>
        </p:txBody>
      </p:sp>
      <p:sp>
        <p:nvSpPr>
          <p:cNvPr id="36" name="Text 33"/>
          <p:cNvSpPr/>
          <p:nvPr/>
        </p:nvSpPr>
        <p:spPr>
          <a:xfrm>
            <a:off x="969483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cycle that fits her life</a:t>
            </a:r>
            <a:endParaRPr lang="en-US" sz="900" dirty="0"/>
          </a:p>
        </p:txBody>
      </p:sp>
      <p:sp>
        <p:nvSpPr>
          <p:cNvPr id="37" name="Shape 34"/>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38" name="Text 35"/>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PATIENT NORTH STAR</a:t>
            </a:r>
            <a:endParaRPr lang="en-US" sz="900" dirty="0"/>
          </a:p>
        </p:txBody>
      </p:sp>
      <p:sp>
        <p:nvSpPr>
          <p:cNvPr id="39" name="Text 36"/>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The bloods need doing. The clinic visit never needed to be the way to do them.</a:t>
            </a:r>
            <a:endParaRPr lang="en-US" sz="1500" dirty="0"/>
          </a:p>
        </p:txBody>
      </p:sp>
      <p:sp>
        <p:nvSpPr>
          <p:cNvPr id="40" name="Text 37"/>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Layla has the condition. The condition needs monitoring. The clinic is where the monitoring has always happened, but the clinic is exactly the venue that does not work for her life. </a:t>
            </a:r>
            <a:pPr indent="0" marL="0">
              <a:buNone/>
            </a:pPr>
            <a:r>
              <a:rPr lang="en-US" sz="1100" b="1" dirty="0">
                <a:solidFill>
                  <a:srgbClr val="231F20"/>
                </a:solidFill>
                <a:latin typeface="Arial" pitchFamily="34" charset="0"/>
                <a:ea typeface="Arial" pitchFamily="34" charset="-122"/>
                <a:cs typeface="Arial" pitchFamily="34" charset="-120"/>
              </a:rPr>
              <a:t>Move the venue. Keep the monitoring.</a:t>
            </a:r>
            <a:endParaRPr lang="en-US" sz="1100" dirty="0"/>
          </a:p>
        </p:txBody>
      </p:sp>
      <p:sp>
        <p:nvSpPr>
          <p:cNvPr id="41" name="Shape 38"/>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2" name="Text 39"/>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HER</a:t>
            </a:r>
            <a:endParaRPr lang="en-US" sz="900" dirty="0"/>
          </a:p>
        </p:txBody>
      </p:sp>
      <p:sp>
        <p:nvSpPr>
          <p:cNvPr id="43" name="Text 40"/>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No half-day off. No childcare juggle. No DNA letter saying she is the problem.</a:t>
            </a:r>
            <a:endParaRPr lang="en-US" sz="1500" dirty="0"/>
          </a:p>
        </p:txBody>
      </p:sp>
      <p:sp>
        <p:nvSpPr>
          <p:cNvPr id="44" name="Text 41"/>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A Saturday-morning sample. The result back in Hannah's system on time. The next iron prescription unchanged or adjusted as the trend says. </a:t>
            </a:r>
            <a:pPr indent="0" marL="0">
              <a:buNone/>
            </a:pPr>
            <a:r>
              <a:rPr lang="en-US" sz="1100" b="1" dirty="0">
                <a:solidFill>
                  <a:srgbClr val="231F20"/>
                </a:solidFill>
                <a:latin typeface="Arial" pitchFamily="34" charset="0"/>
                <a:ea typeface="Arial" pitchFamily="34" charset="-122"/>
                <a:cs typeface="Arial" pitchFamily="34" charset="-120"/>
              </a:rPr>
              <a:t>The system stops blaming her for the venue being wrong.</a:t>
            </a:r>
            <a:endParaRPr lang="en-US" sz="1100" dirty="0"/>
          </a:p>
        </p:txBody>
      </p:sp>
      <p:sp>
        <p:nvSpPr>
          <p:cNvPr id="45" name="Text 4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Layla  ·  Hearts and Minds</a:t>
            </a:r>
            <a:endParaRPr lang="en-US" sz="850" dirty="0"/>
          </a:p>
        </p:txBody>
      </p:sp>
      <p:sp>
        <p:nvSpPr>
          <p:cNvPr id="46" name="Text 4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47" name="Text 4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PATIENT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Mark's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2167677"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2167677" cy="54864"/>
          </a:xfrm>
          <a:prstGeom prst="rect">
            <a:avLst/>
          </a:prstGeom>
          <a:solidFill>
            <a:srgbClr val="FFB91D"/>
          </a:solidFill>
          <a:ln w="12700">
            <a:solidFill>
              <a:srgbClr val="FFB91D"/>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Stratification</a:t>
            </a:r>
            <a:endParaRPr lang="en-US" sz="1100" dirty="0"/>
          </a:p>
        </p:txBody>
      </p:sp>
      <p:sp>
        <p:nvSpPr>
          <p:cNvPr id="12" name="Text 9"/>
          <p:cNvSpPr/>
          <p:nvPr/>
        </p:nvSpPr>
        <p:spPr>
          <a:xfrm>
            <a:off x="585216"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cohort eligible for active surveillance</a:t>
            </a:r>
            <a:endParaRPr lang="en-US" sz="900" dirty="0"/>
          </a:p>
        </p:txBody>
      </p:sp>
      <p:sp>
        <p:nvSpPr>
          <p:cNvPr id="13" name="Shape 10"/>
          <p:cNvSpPr/>
          <p:nvPr/>
        </p:nvSpPr>
        <p:spPr>
          <a:xfrm>
            <a:off x="2734605" y="1234440"/>
            <a:ext cx="2167677"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734605" y="1234440"/>
            <a:ext cx="2167677" cy="54864"/>
          </a:xfrm>
          <a:prstGeom prst="rect">
            <a:avLst/>
          </a:prstGeom>
          <a:solidFill>
            <a:srgbClr val="FFB91D"/>
          </a:solidFill>
          <a:ln w="12700">
            <a:solidFill>
              <a:srgbClr val="FFB91D"/>
            </a:solidFill>
            <a:prstDash val="solid"/>
          </a:ln>
        </p:spPr>
      </p:sp>
      <p:sp>
        <p:nvSpPr>
          <p:cNvPr id="15" name="Shape 12"/>
          <p:cNvSpPr/>
          <p:nvPr/>
        </p:nvSpPr>
        <p:spPr>
          <a:xfrm>
            <a:off x="2862621"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862621"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3283245"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Identification</a:t>
            </a:r>
            <a:endParaRPr lang="en-US" sz="1100" dirty="0"/>
          </a:p>
        </p:txBody>
      </p:sp>
      <p:sp>
        <p:nvSpPr>
          <p:cNvPr id="18" name="Text 15"/>
          <p:cNvSpPr/>
          <p:nvPr/>
        </p:nvSpPr>
        <p:spPr>
          <a:xfrm>
            <a:off x="2862621"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Adam's clinic shortlists him</a:t>
            </a:r>
            <a:endParaRPr lang="en-US" sz="900" dirty="0"/>
          </a:p>
        </p:txBody>
      </p:sp>
      <p:sp>
        <p:nvSpPr>
          <p:cNvPr id="19" name="Shape 16"/>
          <p:cNvSpPr/>
          <p:nvPr/>
        </p:nvSpPr>
        <p:spPr>
          <a:xfrm>
            <a:off x="5012009" y="1234440"/>
            <a:ext cx="2167677"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5012009" y="1234440"/>
            <a:ext cx="2167677" cy="54864"/>
          </a:xfrm>
          <a:prstGeom prst="rect">
            <a:avLst/>
          </a:prstGeom>
          <a:solidFill>
            <a:srgbClr val="FFB91D"/>
          </a:solidFill>
          <a:ln w="12700">
            <a:solidFill>
              <a:srgbClr val="FFB91D"/>
            </a:solidFill>
            <a:prstDash val="solid"/>
          </a:ln>
        </p:spPr>
      </p:sp>
      <p:sp>
        <p:nvSpPr>
          <p:cNvPr id="21" name="Shape 18"/>
          <p:cNvSpPr/>
          <p:nvPr/>
        </p:nvSpPr>
        <p:spPr>
          <a:xfrm>
            <a:off x="5140025"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514002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556064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Diagnosis</a:t>
            </a:r>
            <a:endParaRPr lang="en-US" sz="1100" dirty="0"/>
          </a:p>
        </p:txBody>
      </p:sp>
      <p:sp>
        <p:nvSpPr>
          <p:cNvPr id="24" name="Text 21"/>
          <p:cNvSpPr/>
          <p:nvPr/>
        </p:nvSpPr>
        <p:spPr>
          <a:xfrm>
            <a:off x="514002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kit out, sample back, result to the consultant first</a:t>
            </a:r>
            <a:endParaRPr lang="en-US" sz="900" dirty="0"/>
          </a:p>
        </p:txBody>
      </p:sp>
      <p:sp>
        <p:nvSpPr>
          <p:cNvPr id="25" name="Shape 22"/>
          <p:cNvSpPr/>
          <p:nvPr/>
        </p:nvSpPr>
        <p:spPr>
          <a:xfrm>
            <a:off x="7289414" y="1234440"/>
            <a:ext cx="2167677"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7289414" y="1234440"/>
            <a:ext cx="2167677" cy="54864"/>
          </a:xfrm>
          <a:prstGeom prst="rect">
            <a:avLst/>
          </a:prstGeom>
          <a:solidFill>
            <a:srgbClr val="FFB91D"/>
          </a:solidFill>
          <a:ln w="12700">
            <a:solidFill>
              <a:srgbClr val="FFB91D"/>
            </a:solidFill>
            <a:prstDash val="solid"/>
          </a:ln>
        </p:spPr>
      </p:sp>
      <p:sp>
        <p:nvSpPr>
          <p:cNvPr id="27" name="Shape 24"/>
          <p:cNvSpPr/>
          <p:nvPr/>
        </p:nvSpPr>
        <p:spPr>
          <a:xfrm>
            <a:off x="7417430"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741743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7838054"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Treatment</a:t>
            </a:r>
            <a:endParaRPr lang="en-US" sz="1100" dirty="0"/>
          </a:p>
        </p:txBody>
      </p:sp>
      <p:sp>
        <p:nvSpPr>
          <p:cNvPr id="30" name="Text 27"/>
          <p:cNvSpPr/>
          <p:nvPr/>
        </p:nvSpPr>
        <p:spPr>
          <a:xfrm>
            <a:off x="7417430"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surveillance itself</a:t>
            </a:r>
            <a:endParaRPr lang="en-US" sz="900" dirty="0"/>
          </a:p>
        </p:txBody>
      </p:sp>
      <p:sp>
        <p:nvSpPr>
          <p:cNvPr id="31" name="Shape 28"/>
          <p:cNvSpPr/>
          <p:nvPr/>
        </p:nvSpPr>
        <p:spPr>
          <a:xfrm>
            <a:off x="9566819" y="1234440"/>
            <a:ext cx="2167677"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9566819" y="1234440"/>
            <a:ext cx="2167677" cy="54864"/>
          </a:xfrm>
          <a:prstGeom prst="rect">
            <a:avLst/>
          </a:prstGeom>
          <a:solidFill>
            <a:srgbClr val="FFB91D"/>
          </a:solidFill>
          <a:ln w="12700">
            <a:solidFill>
              <a:srgbClr val="FFB91D"/>
            </a:solidFill>
            <a:prstDash val="solid"/>
          </a:ln>
        </p:spPr>
      </p:sp>
      <p:sp>
        <p:nvSpPr>
          <p:cNvPr id="33" name="Shape 30"/>
          <p:cNvSpPr/>
          <p:nvPr/>
        </p:nvSpPr>
        <p:spPr>
          <a:xfrm>
            <a:off x="969483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969483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1011545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Long-term optimisation</a:t>
            </a:r>
            <a:endParaRPr lang="en-US" sz="1100" dirty="0"/>
          </a:p>
        </p:txBody>
      </p:sp>
      <p:sp>
        <p:nvSpPr>
          <p:cNvPr id="36" name="Text 33"/>
          <p:cNvSpPr/>
          <p:nvPr/>
        </p:nvSpPr>
        <p:spPr>
          <a:xfrm>
            <a:off x="969483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surveillance that keeps him in surveillance</a:t>
            </a:r>
            <a:endParaRPr lang="en-US" sz="900" dirty="0"/>
          </a:p>
        </p:txBody>
      </p:sp>
      <p:sp>
        <p:nvSpPr>
          <p:cNvPr id="37" name="Shape 34"/>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38" name="Text 35"/>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PATIENT NORTH STAR</a:t>
            </a:r>
            <a:endParaRPr lang="en-US" sz="900" dirty="0"/>
          </a:p>
        </p:txBody>
      </p:sp>
      <p:sp>
        <p:nvSpPr>
          <p:cNvPr id="39" name="Text 36"/>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His consultant still holds the cohort. The quarterly visit just does not need to be in clinic.</a:t>
            </a:r>
            <a:endParaRPr lang="en-US" sz="1500" dirty="0"/>
          </a:p>
        </p:txBody>
      </p:sp>
      <p:sp>
        <p:nvSpPr>
          <p:cNvPr id="40" name="Text 37"/>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Mark trusts Adam. The active-surveillance cohort works because the clinician is reading the trend. </a:t>
            </a:r>
            <a:pPr indent="0" marL="0">
              <a:buNone/>
            </a:pPr>
            <a:r>
              <a:rPr lang="en-US" sz="1100" b="1" dirty="0">
                <a:solidFill>
                  <a:srgbClr val="231F20"/>
                </a:solidFill>
                <a:latin typeface="Arial" pitchFamily="34" charset="0"/>
                <a:ea typeface="Arial" pitchFamily="34" charset="-122"/>
                <a:cs typeface="Arial" pitchFamily="34" charset="-120"/>
              </a:rPr>
              <a:t>The home pathway preserves the clinical role and removes the clinic visit that did nothing but draw the blood.</a:t>
            </a:r>
            <a:endParaRPr lang="en-US" sz="1100" dirty="0"/>
          </a:p>
        </p:txBody>
      </p:sp>
      <p:sp>
        <p:nvSpPr>
          <p:cNvPr id="41" name="Shape 38"/>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2" name="Text 39"/>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HIM</a:t>
            </a:r>
            <a:endParaRPr lang="en-US" sz="900" dirty="0"/>
          </a:p>
        </p:txBody>
      </p:sp>
      <p:sp>
        <p:nvSpPr>
          <p:cNvPr id="43" name="Text 40"/>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Travel saved. Half-days saved. The same surveillance, on time.</a:t>
            </a:r>
            <a:endParaRPr lang="en-US" sz="1500" dirty="0"/>
          </a:p>
        </p:txBody>
      </p:sp>
      <p:sp>
        <p:nvSpPr>
          <p:cNvPr id="44" name="Text 41"/>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Mark has worked through it, taken his kids to school, looked after a parent. The hospital is an hour's drive. The clinic visit was always the friction; the blood result was always the point. </a:t>
            </a:r>
            <a:pPr indent="0" marL="0">
              <a:buNone/>
            </a:pPr>
            <a:r>
              <a:rPr lang="en-US" sz="1100" b="1" dirty="0">
                <a:solidFill>
                  <a:srgbClr val="231F20"/>
                </a:solidFill>
                <a:latin typeface="Arial" pitchFamily="34" charset="0"/>
                <a:ea typeface="Arial" pitchFamily="34" charset="-122"/>
                <a:cs typeface="Arial" pitchFamily="34" charset="-120"/>
              </a:rPr>
              <a:t>The kit moves the friction; the clinical decision-making stays exactly where it was.</a:t>
            </a:r>
            <a:endParaRPr lang="en-US" sz="1100" dirty="0"/>
          </a:p>
        </p:txBody>
      </p:sp>
      <p:sp>
        <p:nvSpPr>
          <p:cNvPr id="45" name="Text 4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Mark  ·  Hearts and Minds</a:t>
            </a:r>
            <a:endParaRPr lang="en-US" sz="850" dirty="0"/>
          </a:p>
        </p:txBody>
      </p:sp>
      <p:sp>
        <p:nvSpPr>
          <p:cNvPr id="46" name="Text 4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47" name="Text 4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4527A0"/>
          </a:solidFill>
          <a:ln w="12700">
            <a:solidFill>
              <a:srgbClr val="4527A0"/>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PATIENT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Sean's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2167677"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2167677" cy="54864"/>
          </a:xfrm>
          <a:prstGeom prst="rect">
            <a:avLst/>
          </a:prstGeom>
          <a:solidFill>
            <a:srgbClr val="4527A0"/>
          </a:solidFill>
          <a:ln w="12700">
            <a:solidFill>
              <a:srgbClr val="4527A0"/>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Stratification</a:t>
            </a:r>
            <a:endParaRPr lang="en-US" sz="1100" dirty="0"/>
          </a:p>
        </p:txBody>
      </p:sp>
      <p:sp>
        <p:nvSpPr>
          <p:cNvPr id="12" name="Text 9"/>
          <p:cNvSpPr/>
          <p:nvPr/>
        </p:nvSpPr>
        <p:spPr>
          <a:xfrm>
            <a:off x="585216"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on every list, never quite reached</a:t>
            </a:r>
            <a:endParaRPr lang="en-US" sz="900" dirty="0"/>
          </a:p>
        </p:txBody>
      </p:sp>
      <p:sp>
        <p:nvSpPr>
          <p:cNvPr id="13" name="Shape 10"/>
          <p:cNvSpPr/>
          <p:nvPr/>
        </p:nvSpPr>
        <p:spPr>
          <a:xfrm>
            <a:off x="2734605" y="1234440"/>
            <a:ext cx="2167677"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734605" y="1234440"/>
            <a:ext cx="2167677" cy="54864"/>
          </a:xfrm>
          <a:prstGeom prst="rect">
            <a:avLst/>
          </a:prstGeom>
          <a:solidFill>
            <a:srgbClr val="4527A0"/>
          </a:solidFill>
          <a:ln w="12700">
            <a:solidFill>
              <a:srgbClr val="4527A0"/>
            </a:solidFill>
            <a:prstDash val="solid"/>
          </a:ln>
        </p:spPr>
      </p:sp>
      <p:sp>
        <p:nvSpPr>
          <p:cNvPr id="15" name="Shape 12"/>
          <p:cNvSpPr/>
          <p:nvPr/>
        </p:nvSpPr>
        <p:spPr>
          <a:xfrm>
            <a:off x="2862621"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862621"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3283245"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Identification</a:t>
            </a:r>
            <a:endParaRPr lang="en-US" sz="1100" dirty="0"/>
          </a:p>
        </p:txBody>
      </p:sp>
      <p:sp>
        <p:nvSpPr>
          <p:cNvPr id="18" name="Text 15"/>
          <p:cNvSpPr/>
          <p:nvPr/>
        </p:nvSpPr>
        <p:spPr>
          <a:xfrm>
            <a:off x="2862621"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offer reaches the people who can act on it</a:t>
            </a:r>
            <a:endParaRPr lang="en-US" sz="900" dirty="0"/>
          </a:p>
        </p:txBody>
      </p:sp>
      <p:sp>
        <p:nvSpPr>
          <p:cNvPr id="19" name="Shape 16"/>
          <p:cNvSpPr/>
          <p:nvPr/>
        </p:nvSpPr>
        <p:spPr>
          <a:xfrm>
            <a:off x="5012009" y="1234440"/>
            <a:ext cx="2167677"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5012009" y="1234440"/>
            <a:ext cx="2167677" cy="54864"/>
          </a:xfrm>
          <a:prstGeom prst="rect">
            <a:avLst/>
          </a:prstGeom>
          <a:solidFill>
            <a:srgbClr val="4527A0"/>
          </a:solidFill>
          <a:ln w="12700">
            <a:solidFill>
              <a:srgbClr val="4527A0"/>
            </a:solidFill>
            <a:prstDash val="solid"/>
          </a:ln>
        </p:spPr>
      </p:sp>
      <p:sp>
        <p:nvSpPr>
          <p:cNvPr id="21" name="Shape 18"/>
          <p:cNvSpPr/>
          <p:nvPr/>
        </p:nvSpPr>
        <p:spPr>
          <a:xfrm>
            <a:off x="5140025"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514002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556064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Diagnosis</a:t>
            </a:r>
            <a:endParaRPr lang="en-US" sz="1100" dirty="0"/>
          </a:p>
        </p:txBody>
      </p:sp>
      <p:sp>
        <p:nvSpPr>
          <p:cNvPr id="24" name="Text 21"/>
          <p:cNvSpPr/>
          <p:nvPr/>
        </p:nvSpPr>
        <p:spPr>
          <a:xfrm>
            <a:off x="514002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test on his terms, at his kitchen table</a:t>
            </a:r>
            <a:endParaRPr lang="en-US" sz="900" dirty="0"/>
          </a:p>
        </p:txBody>
      </p:sp>
      <p:sp>
        <p:nvSpPr>
          <p:cNvPr id="25" name="Shape 22"/>
          <p:cNvSpPr/>
          <p:nvPr/>
        </p:nvSpPr>
        <p:spPr>
          <a:xfrm>
            <a:off x="7289414" y="1234440"/>
            <a:ext cx="2167677"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7289414" y="1234440"/>
            <a:ext cx="2167677" cy="54864"/>
          </a:xfrm>
          <a:prstGeom prst="rect">
            <a:avLst/>
          </a:prstGeom>
          <a:solidFill>
            <a:srgbClr val="4527A0"/>
          </a:solidFill>
          <a:ln w="12700">
            <a:solidFill>
              <a:srgbClr val="4527A0"/>
            </a:solidFill>
            <a:prstDash val="solid"/>
          </a:ln>
        </p:spPr>
      </p:sp>
      <p:sp>
        <p:nvSpPr>
          <p:cNvPr id="27" name="Shape 24"/>
          <p:cNvSpPr/>
          <p:nvPr/>
        </p:nvSpPr>
        <p:spPr>
          <a:xfrm>
            <a:off x="7417430"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741743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7838054"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Treatment</a:t>
            </a:r>
            <a:endParaRPr lang="en-US" sz="1100" dirty="0"/>
          </a:p>
        </p:txBody>
      </p:sp>
      <p:sp>
        <p:nvSpPr>
          <p:cNvPr id="30" name="Text 27"/>
          <p:cNvSpPr/>
          <p:nvPr/>
        </p:nvSpPr>
        <p:spPr>
          <a:xfrm>
            <a:off x="7417430"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result lands with people who can act</a:t>
            </a:r>
            <a:endParaRPr lang="en-US" sz="900" dirty="0"/>
          </a:p>
        </p:txBody>
      </p:sp>
      <p:sp>
        <p:nvSpPr>
          <p:cNvPr id="31" name="Shape 28"/>
          <p:cNvSpPr/>
          <p:nvPr/>
        </p:nvSpPr>
        <p:spPr>
          <a:xfrm>
            <a:off x="9566819" y="1234440"/>
            <a:ext cx="2167677"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9566819" y="1234440"/>
            <a:ext cx="2167677" cy="54864"/>
          </a:xfrm>
          <a:prstGeom prst="rect">
            <a:avLst/>
          </a:prstGeom>
          <a:solidFill>
            <a:srgbClr val="4527A0"/>
          </a:solidFill>
          <a:ln w="12700">
            <a:solidFill>
              <a:srgbClr val="4527A0"/>
            </a:solidFill>
            <a:prstDash val="solid"/>
          </a:ln>
        </p:spPr>
      </p:sp>
      <p:sp>
        <p:nvSpPr>
          <p:cNvPr id="33" name="Shape 30"/>
          <p:cNvSpPr/>
          <p:nvPr/>
        </p:nvSpPr>
        <p:spPr>
          <a:xfrm>
            <a:off x="969483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969483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1011545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Long-term optimisation</a:t>
            </a:r>
            <a:endParaRPr lang="en-US" sz="1100" dirty="0"/>
          </a:p>
        </p:txBody>
      </p:sp>
      <p:sp>
        <p:nvSpPr>
          <p:cNvPr id="36" name="Text 33"/>
          <p:cNvSpPr/>
          <p:nvPr/>
        </p:nvSpPr>
        <p:spPr>
          <a:xfrm>
            <a:off x="969483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chain that doesn't break</a:t>
            </a:r>
            <a:endParaRPr lang="en-US" sz="900" dirty="0"/>
          </a:p>
        </p:txBody>
      </p:sp>
      <p:sp>
        <p:nvSpPr>
          <p:cNvPr id="37" name="Shape 34"/>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38" name="Text 35"/>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ACCESS NORTH STAR</a:t>
            </a:r>
            <a:endParaRPr lang="en-US" sz="900" dirty="0"/>
          </a:p>
        </p:txBody>
      </p:sp>
      <p:sp>
        <p:nvSpPr>
          <p:cNvPr id="39" name="Text 36"/>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Identification has never been the problem. The chain after it is.</a:t>
            </a:r>
            <a:endParaRPr lang="en-US" sz="1500" dirty="0"/>
          </a:p>
        </p:txBody>
      </p:sp>
      <p:sp>
        <p:nvSpPr>
          <p:cNvPr id="40" name="Text 37"/>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Sean's cohort lives 19.5 years shorter than the rest of the population. Thirty-nine per cent of those deaths are judged avoidable. The flags, the registers and the legal duty to provide accessible information have all been in place for years. </a:t>
            </a:r>
            <a:pPr indent="0" marL="0">
              <a:buNone/>
            </a:pPr>
            <a:r>
              <a:rPr lang="en-US" sz="1100" b="1" dirty="0">
                <a:solidFill>
                  <a:srgbClr val="231F20"/>
                </a:solidFill>
                <a:latin typeface="Arial" pitchFamily="34" charset="0"/>
                <a:ea typeface="Arial" pitchFamily="34" charset="-122"/>
                <a:cs typeface="Arial" pitchFamily="34" charset="-120"/>
              </a:rPr>
              <a:t>The home pathway is the first venue where the system finally reaches the person it has been carrying on a list.</a:t>
            </a:r>
            <a:endParaRPr lang="en-US" sz="1100" dirty="0"/>
          </a:p>
        </p:txBody>
      </p:sp>
      <p:sp>
        <p:nvSpPr>
          <p:cNvPr id="41" name="Shape 38"/>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2" name="Text 39"/>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HIM</a:t>
            </a:r>
            <a:endParaRPr lang="en-US" sz="900" dirty="0"/>
          </a:p>
        </p:txBody>
      </p:sp>
      <p:sp>
        <p:nvSpPr>
          <p:cNvPr id="43" name="Text 40"/>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A test at the kitchen table. A family member in the loop. An appointment that doesn't fight the rest of his life.</a:t>
            </a:r>
            <a:endParaRPr lang="en-US" sz="1500" dirty="0"/>
          </a:p>
        </p:txBody>
      </p:sp>
      <p:sp>
        <p:nvSpPr>
          <p:cNvPr id="44" name="Text 41"/>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The clinic appointment fights every other thing in Sean's day: the OCD-driven late nights, the handwashing routines, the missed bus, the lost letter, the family that doesn't know it was even happening. </a:t>
            </a:r>
            <a:pPr indent="0" marL="0">
              <a:buNone/>
            </a:pPr>
            <a:r>
              <a:rPr lang="en-US" sz="1100" b="1" dirty="0">
                <a:solidFill>
                  <a:srgbClr val="231F20"/>
                </a:solidFill>
                <a:latin typeface="Arial" pitchFamily="34" charset="0"/>
                <a:ea typeface="Arial" pitchFamily="34" charset="-122"/>
                <a:cs typeface="Arial" pitchFamily="34" charset="-120"/>
              </a:rPr>
              <a:t>Move the venue, register the family as authorised, and almost all of that friction disappears. The independence Sean fights for stays whole.</a:t>
            </a:r>
            <a:endParaRPr lang="en-US" sz="1100" dirty="0"/>
          </a:p>
        </p:txBody>
      </p:sp>
      <p:sp>
        <p:nvSpPr>
          <p:cNvPr id="45" name="Text 4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Sean  ·  Hearts and Minds</a:t>
            </a:r>
            <a:endParaRPr lang="en-US" sz="850" dirty="0"/>
          </a:p>
        </p:txBody>
      </p:sp>
      <p:sp>
        <p:nvSpPr>
          <p:cNvPr id="46" name="Text 4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47" name="Text 4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COMMISSIONER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Anita's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1788109"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1788109" cy="54864"/>
          </a:xfrm>
          <a:prstGeom prst="rect">
            <a:avLst/>
          </a:prstGeom>
          <a:solidFill>
            <a:srgbClr val="005EB8"/>
          </a:solidFill>
          <a:ln w="12700">
            <a:solidFill>
              <a:srgbClr val="005EB8"/>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brief</a:t>
            </a:r>
            <a:endParaRPr lang="en-US" sz="1100" dirty="0"/>
          </a:p>
        </p:txBody>
      </p:sp>
      <p:sp>
        <p:nvSpPr>
          <p:cNvPr id="12" name="Text 9"/>
          <p:cNvSpPr/>
          <p:nvPr/>
        </p:nvSpPr>
        <p:spPr>
          <a:xfrm>
            <a:off x="585216"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gap on the dashboard</a:t>
            </a:r>
            <a:endParaRPr lang="en-US" sz="900" dirty="0"/>
          </a:p>
        </p:txBody>
      </p:sp>
      <p:sp>
        <p:nvSpPr>
          <p:cNvPr id="13" name="Shape 10"/>
          <p:cNvSpPr/>
          <p:nvPr/>
        </p:nvSpPr>
        <p:spPr>
          <a:xfrm>
            <a:off x="2355037" y="1234440"/>
            <a:ext cx="1788109"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355037" y="1234440"/>
            <a:ext cx="1788109" cy="54864"/>
          </a:xfrm>
          <a:prstGeom prst="rect">
            <a:avLst/>
          </a:prstGeom>
          <a:solidFill>
            <a:srgbClr val="005EB8"/>
          </a:solidFill>
          <a:ln w="12700">
            <a:solidFill>
              <a:srgbClr val="005EB8"/>
            </a:solidFill>
            <a:prstDash val="solid"/>
          </a:ln>
        </p:spPr>
      </p:sp>
      <p:sp>
        <p:nvSpPr>
          <p:cNvPr id="15" name="Shape 12"/>
          <p:cNvSpPr/>
          <p:nvPr/>
        </p:nvSpPr>
        <p:spPr>
          <a:xfrm>
            <a:off x="2483053"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483053"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2903677"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One front door</a:t>
            </a:r>
            <a:endParaRPr lang="en-US" sz="1100" dirty="0"/>
          </a:p>
        </p:txBody>
      </p:sp>
      <p:sp>
        <p:nvSpPr>
          <p:cNvPr id="18" name="Text 15"/>
          <p:cNvSpPr/>
          <p:nvPr/>
        </p:nvSpPr>
        <p:spPr>
          <a:xfrm>
            <a:off x="2483053"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framework opens</a:t>
            </a:r>
            <a:endParaRPr lang="en-US" sz="900" dirty="0"/>
          </a:p>
        </p:txBody>
      </p:sp>
      <p:sp>
        <p:nvSpPr>
          <p:cNvPr id="19" name="Shape 16"/>
          <p:cNvSpPr/>
          <p:nvPr/>
        </p:nvSpPr>
        <p:spPr>
          <a:xfrm>
            <a:off x="4252874" y="1234440"/>
            <a:ext cx="1788109"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4252874" y="1234440"/>
            <a:ext cx="1788109" cy="54864"/>
          </a:xfrm>
          <a:prstGeom prst="rect">
            <a:avLst/>
          </a:prstGeom>
          <a:solidFill>
            <a:srgbClr val="005EB8"/>
          </a:solidFill>
          <a:ln w="12700">
            <a:solidFill>
              <a:srgbClr val="005EB8"/>
            </a:solidFill>
            <a:prstDash val="solid"/>
          </a:ln>
        </p:spPr>
      </p:sp>
      <p:sp>
        <p:nvSpPr>
          <p:cNvPr id="21" name="Shape 18"/>
          <p:cNvSpPr/>
          <p:nvPr/>
        </p:nvSpPr>
        <p:spPr>
          <a:xfrm>
            <a:off x="4380890"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438089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4801514"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Fit for HER cohort</a:t>
            </a:r>
            <a:endParaRPr lang="en-US" sz="1100" dirty="0"/>
          </a:p>
        </p:txBody>
      </p:sp>
      <p:sp>
        <p:nvSpPr>
          <p:cNvPr id="24" name="Text 21"/>
          <p:cNvSpPr/>
          <p:nvPr/>
        </p:nvSpPr>
        <p:spPr>
          <a:xfrm>
            <a:off x="4380890"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questions standard answers don't solve</a:t>
            </a:r>
            <a:endParaRPr lang="en-US" sz="900" dirty="0"/>
          </a:p>
        </p:txBody>
      </p:sp>
      <p:sp>
        <p:nvSpPr>
          <p:cNvPr id="25" name="Shape 22"/>
          <p:cNvSpPr/>
          <p:nvPr/>
        </p:nvSpPr>
        <p:spPr>
          <a:xfrm>
            <a:off x="6150712" y="1234440"/>
            <a:ext cx="1788109"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6150712" y="1234440"/>
            <a:ext cx="1788109" cy="54864"/>
          </a:xfrm>
          <a:prstGeom prst="rect">
            <a:avLst/>
          </a:prstGeom>
          <a:solidFill>
            <a:srgbClr val="005EB8"/>
          </a:solidFill>
          <a:ln w="12700">
            <a:solidFill>
              <a:srgbClr val="005EB8"/>
            </a:solidFill>
            <a:prstDash val="solid"/>
          </a:ln>
        </p:spPr>
      </p:sp>
      <p:sp>
        <p:nvSpPr>
          <p:cNvPr id="27" name="Shape 24"/>
          <p:cNvSpPr/>
          <p:nvPr/>
        </p:nvSpPr>
        <p:spPr>
          <a:xfrm>
            <a:off x="6278728"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6278728"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6699352"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One call-off</a:t>
            </a:r>
            <a:endParaRPr lang="en-US" sz="1100" dirty="0"/>
          </a:p>
        </p:txBody>
      </p:sp>
      <p:sp>
        <p:nvSpPr>
          <p:cNvPr id="30" name="Text 27"/>
          <p:cNvSpPr/>
          <p:nvPr/>
        </p:nvSpPr>
        <p:spPr>
          <a:xfrm>
            <a:off x="6278728"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Signing, not procuring</a:t>
            </a:r>
            <a:endParaRPr lang="en-US" sz="900" dirty="0"/>
          </a:p>
        </p:txBody>
      </p:sp>
      <p:sp>
        <p:nvSpPr>
          <p:cNvPr id="31" name="Shape 28"/>
          <p:cNvSpPr/>
          <p:nvPr/>
        </p:nvSpPr>
        <p:spPr>
          <a:xfrm>
            <a:off x="8048549" y="1234440"/>
            <a:ext cx="1788109"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8048549" y="1234440"/>
            <a:ext cx="1788109" cy="54864"/>
          </a:xfrm>
          <a:prstGeom prst="rect">
            <a:avLst/>
          </a:prstGeom>
          <a:solidFill>
            <a:srgbClr val="005EB8"/>
          </a:solidFill>
          <a:ln w="12700">
            <a:solidFill>
              <a:srgbClr val="005EB8"/>
            </a:solidFill>
            <a:prstDash val="solid"/>
          </a:ln>
        </p:spPr>
      </p:sp>
      <p:sp>
        <p:nvSpPr>
          <p:cNvPr id="33" name="Shape 30"/>
          <p:cNvSpPr/>
          <p:nvPr/>
        </p:nvSpPr>
        <p:spPr>
          <a:xfrm>
            <a:off x="817656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817656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8597189"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Live operation</a:t>
            </a:r>
            <a:endParaRPr lang="en-US" sz="1100" dirty="0"/>
          </a:p>
        </p:txBody>
      </p:sp>
      <p:sp>
        <p:nvSpPr>
          <p:cNvPr id="36" name="Text 33"/>
          <p:cNvSpPr/>
          <p:nvPr/>
        </p:nvSpPr>
        <p:spPr>
          <a:xfrm>
            <a:off x="8176565"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Kits out, results back</a:t>
            </a:r>
            <a:endParaRPr lang="en-US" sz="900" dirty="0"/>
          </a:p>
        </p:txBody>
      </p:sp>
      <p:sp>
        <p:nvSpPr>
          <p:cNvPr id="37" name="Shape 34"/>
          <p:cNvSpPr/>
          <p:nvPr/>
        </p:nvSpPr>
        <p:spPr>
          <a:xfrm>
            <a:off x="9946386" y="1234440"/>
            <a:ext cx="1788109" cy="1234440"/>
          </a:xfrm>
          <a:prstGeom prst="roundRect">
            <a:avLst>
              <a:gd name="adj" fmla="val 5926"/>
            </a:avLst>
          </a:prstGeom>
          <a:solidFill>
            <a:srgbClr val="F0F4F5"/>
          </a:solidFill>
          <a:ln w="9525">
            <a:solidFill>
              <a:srgbClr val="DDE3E8"/>
            </a:solidFill>
            <a:prstDash val="solid"/>
          </a:ln>
        </p:spPr>
      </p:sp>
      <p:sp>
        <p:nvSpPr>
          <p:cNvPr id="38" name="Shape 35"/>
          <p:cNvSpPr/>
          <p:nvPr/>
        </p:nvSpPr>
        <p:spPr>
          <a:xfrm>
            <a:off x="9946386" y="1234440"/>
            <a:ext cx="1788109" cy="54864"/>
          </a:xfrm>
          <a:prstGeom prst="rect">
            <a:avLst/>
          </a:prstGeom>
          <a:solidFill>
            <a:srgbClr val="005EB8"/>
          </a:solidFill>
          <a:ln w="12700">
            <a:solidFill>
              <a:srgbClr val="005EB8"/>
            </a:solidFill>
            <a:prstDash val="solid"/>
          </a:ln>
        </p:spPr>
      </p:sp>
      <p:sp>
        <p:nvSpPr>
          <p:cNvPr id="39" name="Shape 36"/>
          <p:cNvSpPr/>
          <p:nvPr/>
        </p:nvSpPr>
        <p:spPr>
          <a:xfrm>
            <a:off x="10074402" y="1417320"/>
            <a:ext cx="347472" cy="347472"/>
          </a:xfrm>
          <a:prstGeom prst="ellipse">
            <a:avLst/>
          </a:prstGeom>
          <a:solidFill>
            <a:srgbClr val="003087"/>
          </a:solidFill>
          <a:ln w="12700">
            <a:solidFill>
              <a:srgbClr val="003087"/>
            </a:solidFill>
            <a:prstDash val="solid"/>
          </a:ln>
        </p:spPr>
      </p:sp>
      <p:sp>
        <p:nvSpPr>
          <p:cNvPr id="40" name="Text 37"/>
          <p:cNvSpPr/>
          <p:nvPr/>
        </p:nvSpPr>
        <p:spPr>
          <a:xfrm>
            <a:off x="10074402"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41" name="Text 38"/>
          <p:cNvSpPr/>
          <p:nvPr/>
        </p:nvSpPr>
        <p:spPr>
          <a:xfrm>
            <a:off x="10495026"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board paper</a:t>
            </a:r>
            <a:endParaRPr lang="en-US" sz="1100" dirty="0"/>
          </a:p>
        </p:txBody>
      </p:sp>
      <p:sp>
        <p:nvSpPr>
          <p:cNvPr id="42" name="Text 39"/>
          <p:cNvSpPr/>
          <p:nvPr/>
        </p:nvSpPr>
        <p:spPr>
          <a:xfrm>
            <a:off x="10074402"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What the members see</a:t>
            </a:r>
            <a:endParaRPr lang="en-US" sz="900" dirty="0"/>
          </a:p>
        </p:txBody>
      </p:sp>
      <p:sp>
        <p:nvSpPr>
          <p:cNvPr id="43" name="Shape 40"/>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44" name="Text 41"/>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NORTH STAR</a:t>
            </a:r>
            <a:endParaRPr lang="en-US" sz="900" dirty="0"/>
          </a:p>
        </p:txBody>
      </p:sp>
      <p:sp>
        <p:nvSpPr>
          <p:cNvPr id="45" name="Text 42"/>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Commission at register scale. So the annual HbA1c review cadence holds across the at-risk cohort without pulling clinic slots.</a:t>
            </a:r>
            <a:endParaRPr lang="en-US" sz="1500" dirty="0"/>
          </a:p>
        </p:txBody>
      </p:sp>
      <p:sp>
        <p:nvSpPr>
          <p:cNvPr id="46" name="Text 43"/>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ICB/GP commissioners do not want a separate deal per GP practice. They want one register-level arrangement that every at-risk patient across their ICB flows through, regardless of which practice they attend. The operating model exists so the ICB commissions the annual HbA1c review at register level and each practice plugs in against a common national arrangement. </a:t>
            </a:r>
            <a:pPr indent="0" marL="0">
              <a:buNone/>
            </a:pPr>
            <a:r>
              <a:rPr lang="en-US" sz="1100" b="1" dirty="0">
                <a:solidFill>
                  <a:srgbClr val="231F20"/>
                </a:solidFill>
                <a:latin typeface="Arial" pitchFamily="34" charset="0"/>
                <a:ea typeface="Arial" pitchFamily="34" charset="-122"/>
                <a:cs typeface="Arial" pitchFamily="34" charset="-120"/>
              </a:rPr>
              <a:t>Register-level commissioning is the North Star</a:t>
            </a:r>
            <a:pPr indent="0" marL="0">
              <a:buNone/>
            </a:pPr>
            <a:r>
              <a:rPr lang="en-US" sz="1100" dirty="0">
                <a:solidFill>
                  <a:srgbClr val="231F20"/>
                </a:solidFill>
                <a:latin typeface="Arial" pitchFamily="34" charset="0"/>
                <a:ea typeface="Arial" pitchFamily="34" charset="-122"/>
                <a:cs typeface="Arial" pitchFamily="34" charset="-120"/>
              </a:rPr>
              <a:t>, because effort spent stitching practice-by-practice deals is effort not spent holding the cadence.</a:t>
            </a:r>
            <a:endParaRPr lang="en-US" sz="1100" dirty="0"/>
          </a:p>
        </p:txBody>
      </p:sp>
      <p:sp>
        <p:nvSpPr>
          <p:cNvPr id="47" name="Shape 44"/>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8" name="Text 45"/>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ONE PLATFORM MATTERS TO HER</a:t>
            </a:r>
            <a:endParaRPr lang="en-US" sz="900" dirty="0"/>
          </a:p>
        </p:txBody>
      </p:sp>
      <p:sp>
        <p:nvSpPr>
          <p:cNvPr id="49" name="Text 46"/>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One national arrangement. One register-level call-off. One platform every at-risk register patient in her ICB can flow through.</a:t>
            </a:r>
            <a:endParaRPr lang="en-US" sz="1500" dirty="0"/>
          </a:p>
        </p:txBody>
      </p:sp>
      <p:sp>
        <p:nvSpPr>
          <p:cNvPr id="50" name="Text 47"/>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A bespoke HbA1c deal with one practice federation would buy one deployment. The next federation (or the next annual-review test the register carries) would mean another arrangement, another assurance set, another contract, another integration. The national arrangement means Anita commissions the register once, every practice in her ICB plugs into the same call-off, the same GP-record write-back answers the same questions, and the next primary-care annual-review test is an extension. </a:t>
            </a:r>
            <a:pPr indent="0" marL="0">
              <a:buNone/>
            </a:pPr>
            <a:r>
              <a:rPr lang="en-US" sz="1100" b="1" dirty="0">
                <a:solidFill>
                  <a:srgbClr val="231F20"/>
                </a:solidFill>
                <a:latin typeface="Arial" pitchFamily="34" charset="0"/>
                <a:ea typeface="Arial" pitchFamily="34" charset="-122"/>
                <a:cs typeface="Arial" pitchFamily="34" charset="-120"/>
              </a:rPr>
              <a:t>The integration was done before she walked in.</a:t>
            </a:r>
            <a:endParaRPr lang="en-US" sz="1100" dirty="0"/>
          </a:p>
        </p:txBody>
      </p:sp>
      <p:sp>
        <p:nvSpPr>
          <p:cNvPr id="51" name="Text 48"/>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Anita  ·  Hearts and Minds</a:t>
            </a:r>
            <a:endParaRPr lang="en-US" sz="850" dirty="0"/>
          </a:p>
        </p:txBody>
      </p:sp>
      <p:sp>
        <p:nvSpPr>
          <p:cNvPr id="52" name="Text 49"/>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3" name="Text 50"/>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COMMISSIONER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Catherine's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1788109"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1788109" cy="54864"/>
          </a:xfrm>
          <a:prstGeom prst="rect">
            <a:avLst/>
          </a:prstGeom>
          <a:solidFill>
            <a:srgbClr val="005EB8"/>
          </a:solidFill>
          <a:ln w="12700">
            <a:solidFill>
              <a:srgbClr val="005EB8"/>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brief</a:t>
            </a:r>
            <a:endParaRPr lang="en-US" sz="1100" dirty="0"/>
          </a:p>
        </p:txBody>
      </p:sp>
      <p:sp>
        <p:nvSpPr>
          <p:cNvPr id="12" name="Text 9"/>
          <p:cNvSpPr/>
          <p:nvPr/>
        </p:nvSpPr>
        <p:spPr>
          <a:xfrm>
            <a:off x="585216"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gap on the dashboard</a:t>
            </a:r>
            <a:endParaRPr lang="en-US" sz="900" dirty="0"/>
          </a:p>
        </p:txBody>
      </p:sp>
      <p:sp>
        <p:nvSpPr>
          <p:cNvPr id="13" name="Shape 10"/>
          <p:cNvSpPr/>
          <p:nvPr/>
        </p:nvSpPr>
        <p:spPr>
          <a:xfrm>
            <a:off x="2355037" y="1234440"/>
            <a:ext cx="1788109"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355037" y="1234440"/>
            <a:ext cx="1788109" cy="54864"/>
          </a:xfrm>
          <a:prstGeom prst="rect">
            <a:avLst/>
          </a:prstGeom>
          <a:solidFill>
            <a:srgbClr val="005EB8"/>
          </a:solidFill>
          <a:ln w="12700">
            <a:solidFill>
              <a:srgbClr val="005EB8"/>
            </a:solidFill>
            <a:prstDash val="solid"/>
          </a:ln>
        </p:spPr>
      </p:sp>
      <p:sp>
        <p:nvSpPr>
          <p:cNvPr id="15" name="Shape 12"/>
          <p:cNvSpPr/>
          <p:nvPr/>
        </p:nvSpPr>
        <p:spPr>
          <a:xfrm>
            <a:off x="2483053"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483053"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2903677"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One front door</a:t>
            </a:r>
            <a:endParaRPr lang="en-US" sz="1100" dirty="0"/>
          </a:p>
        </p:txBody>
      </p:sp>
      <p:sp>
        <p:nvSpPr>
          <p:cNvPr id="18" name="Text 15"/>
          <p:cNvSpPr/>
          <p:nvPr/>
        </p:nvSpPr>
        <p:spPr>
          <a:xfrm>
            <a:off x="2483053"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framework opens</a:t>
            </a:r>
            <a:endParaRPr lang="en-US" sz="900" dirty="0"/>
          </a:p>
        </p:txBody>
      </p:sp>
      <p:sp>
        <p:nvSpPr>
          <p:cNvPr id="19" name="Shape 16"/>
          <p:cNvSpPr/>
          <p:nvPr/>
        </p:nvSpPr>
        <p:spPr>
          <a:xfrm>
            <a:off x="4252874" y="1234440"/>
            <a:ext cx="1788109"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4252874" y="1234440"/>
            <a:ext cx="1788109" cy="54864"/>
          </a:xfrm>
          <a:prstGeom prst="rect">
            <a:avLst/>
          </a:prstGeom>
          <a:solidFill>
            <a:srgbClr val="005EB8"/>
          </a:solidFill>
          <a:ln w="12700">
            <a:solidFill>
              <a:srgbClr val="005EB8"/>
            </a:solidFill>
            <a:prstDash val="solid"/>
          </a:ln>
        </p:spPr>
      </p:sp>
      <p:sp>
        <p:nvSpPr>
          <p:cNvPr id="21" name="Shape 18"/>
          <p:cNvSpPr/>
          <p:nvPr/>
        </p:nvSpPr>
        <p:spPr>
          <a:xfrm>
            <a:off x="4380890"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438089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4801514"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Fit for HER cohort</a:t>
            </a:r>
            <a:endParaRPr lang="en-US" sz="1100" dirty="0"/>
          </a:p>
        </p:txBody>
      </p:sp>
      <p:sp>
        <p:nvSpPr>
          <p:cNvPr id="24" name="Text 21"/>
          <p:cNvSpPr/>
          <p:nvPr/>
        </p:nvSpPr>
        <p:spPr>
          <a:xfrm>
            <a:off x="4380890"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questions standard answers don't solve</a:t>
            </a:r>
            <a:endParaRPr lang="en-US" sz="900" dirty="0"/>
          </a:p>
        </p:txBody>
      </p:sp>
      <p:sp>
        <p:nvSpPr>
          <p:cNvPr id="25" name="Shape 22"/>
          <p:cNvSpPr/>
          <p:nvPr/>
        </p:nvSpPr>
        <p:spPr>
          <a:xfrm>
            <a:off x="6150712" y="1234440"/>
            <a:ext cx="1788109"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6150712" y="1234440"/>
            <a:ext cx="1788109" cy="54864"/>
          </a:xfrm>
          <a:prstGeom prst="rect">
            <a:avLst/>
          </a:prstGeom>
          <a:solidFill>
            <a:srgbClr val="005EB8"/>
          </a:solidFill>
          <a:ln w="12700">
            <a:solidFill>
              <a:srgbClr val="005EB8"/>
            </a:solidFill>
            <a:prstDash val="solid"/>
          </a:ln>
        </p:spPr>
      </p:sp>
      <p:sp>
        <p:nvSpPr>
          <p:cNvPr id="27" name="Shape 24"/>
          <p:cNvSpPr/>
          <p:nvPr/>
        </p:nvSpPr>
        <p:spPr>
          <a:xfrm>
            <a:off x="6278728"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6278728"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6699352"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One call-off</a:t>
            </a:r>
            <a:endParaRPr lang="en-US" sz="1100" dirty="0"/>
          </a:p>
        </p:txBody>
      </p:sp>
      <p:sp>
        <p:nvSpPr>
          <p:cNvPr id="30" name="Text 27"/>
          <p:cNvSpPr/>
          <p:nvPr/>
        </p:nvSpPr>
        <p:spPr>
          <a:xfrm>
            <a:off x="6278728"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Signing, not procuring</a:t>
            </a:r>
            <a:endParaRPr lang="en-US" sz="900" dirty="0"/>
          </a:p>
        </p:txBody>
      </p:sp>
      <p:sp>
        <p:nvSpPr>
          <p:cNvPr id="31" name="Shape 28"/>
          <p:cNvSpPr/>
          <p:nvPr/>
        </p:nvSpPr>
        <p:spPr>
          <a:xfrm>
            <a:off x="8048549" y="1234440"/>
            <a:ext cx="1788109"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8048549" y="1234440"/>
            <a:ext cx="1788109" cy="54864"/>
          </a:xfrm>
          <a:prstGeom prst="rect">
            <a:avLst/>
          </a:prstGeom>
          <a:solidFill>
            <a:srgbClr val="005EB8"/>
          </a:solidFill>
          <a:ln w="12700">
            <a:solidFill>
              <a:srgbClr val="005EB8"/>
            </a:solidFill>
            <a:prstDash val="solid"/>
          </a:ln>
        </p:spPr>
      </p:sp>
      <p:sp>
        <p:nvSpPr>
          <p:cNvPr id="33" name="Shape 30"/>
          <p:cNvSpPr/>
          <p:nvPr/>
        </p:nvSpPr>
        <p:spPr>
          <a:xfrm>
            <a:off x="817656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817656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8597189"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Live operation</a:t>
            </a:r>
            <a:endParaRPr lang="en-US" sz="1100" dirty="0"/>
          </a:p>
        </p:txBody>
      </p:sp>
      <p:sp>
        <p:nvSpPr>
          <p:cNvPr id="36" name="Text 33"/>
          <p:cNvSpPr/>
          <p:nvPr/>
        </p:nvSpPr>
        <p:spPr>
          <a:xfrm>
            <a:off x="8176565"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Kits out, results back</a:t>
            </a:r>
            <a:endParaRPr lang="en-US" sz="900" dirty="0"/>
          </a:p>
        </p:txBody>
      </p:sp>
      <p:sp>
        <p:nvSpPr>
          <p:cNvPr id="37" name="Shape 34"/>
          <p:cNvSpPr/>
          <p:nvPr/>
        </p:nvSpPr>
        <p:spPr>
          <a:xfrm>
            <a:off x="9946386" y="1234440"/>
            <a:ext cx="1788109" cy="1234440"/>
          </a:xfrm>
          <a:prstGeom prst="roundRect">
            <a:avLst>
              <a:gd name="adj" fmla="val 5926"/>
            </a:avLst>
          </a:prstGeom>
          <a:solidFill>
            <a:srgbClr val="F0F4F5"/>
          </a:solidFill>
          <a:ln w="9525">
            <a:solidFill>
              <a:srgbClr val="DDE3E8"/>
            </a:solidFill>
            <a:prstDash val="solid"/>
          </a:ln>
        </p:spPr>
      </p:sp>
      <p:sp>
        <p:nvSpPr>
          <p:cNvPr id="38" name="Shape 35"/>
          <p:cNvSpPr/>
          <p:nvPr/>
        </p:nvSpPr>
        <p:spPr>
          <a:xfrm>
            <a:off x="9946386" y="1234440"/>
            <a:ext cx="1788109" cy="54864"/>
          </a:xfrm>
          <a:prstGeom prst="rect">
            <a:avLst/>
          </a:prstGeom>
          <a:solidFill>
            <a:srgbClr val="005EB8"/>
          </a:solidFill>
          <a:ln w="12700">
            <a:solidFill>
              <a:srgbClr val="005EB8"/>
            </a:solidFill>
            <a:prstDash val="solid"/>
          </a:ln>
        </p:spPr>
      </p:sp>
      <p:sp>
        <p:nvSpPr>
          <p:cNvPr id="39" name="Shape 36"/>
          <p:cNvSpPr/>
          <p:nvPr/>
        </p:nvSpPr>
        <p:spPr>
          <a:xfrm>
            <a:off x="10074402" y="1417320"/>
            <a:ext cx="347472" cy="347472"/>
          </a:xfrm>
          <a:prstGeom prst="ellipse">
            <a:avLst/>
          </a:prstGeom>
          <a:solidFill>
            <a:srgbClr val="003087"/>
          </a:solidFill>
          <a:ln w="12700">
            <a:solidFill>
              <a:srgbClr val="003087"/>
            </a:solidFill>
            <a:prstDash val="solid"/>
          </a:ln>
        </p:spPr>
      </p:sp>
      <p:sp>
        <p:nvSpPr>
          <p:cNvPr id="40" name="Text 37"/>
          <p:cNvSpPr/>
          <p:nvPr/>
        </p:nvSpPr>
        <p:spPr>
          <a:xfrm>
            <a:off x="10074402"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41" name="Text 38"/>
          <p:cNvSpPr/>
          <p:nvPr/>
        </p:nvSpPr>
        <p:spPr>
          <a:xfrm>
            <a:off x="10495026"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board paper</a:t>
            </a:r>
            <a:endParaRPr lang="en-US" sz="1100" dirty="0"/>
          </a:p>
        </p:txBody>
      </p:sp>
      <p:sp>
        <p:nvSpPr>
          <p:cNvPr id="42" name="Text 39"/>
          <p:cNvSpPr/>
          <p:nvPr/>
        </p:nvSpPr>
        <p:spPr>
          <a:xfrm>
            <a:off x="10074402"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What the members see</a:t>
            </a:r>
            <a:endParaRPr lang="en-US" sz="900" dirty="0"/>
          </a:p>
        </p:txBody>
      </p:sp>
      <p:sp>
        <p:nvSpPr>
          <p:cNvPr id="43" name="Shape 40"/>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44" name="Text 41"/>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NORTH STAR</a:t>
            </a:r>
            <a:endParaRPr lang="en-US" sz="900" dirty="0"/>
          </a:p>
        </p:txBody>
      </p:sp>
      <p:sp>
        <p:nvSpPr>
          <p:cNvPr id="45" name="Text 42"/>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Commission the pathway, not the patient. So the ICB buys once and the AS caseload holds together across Trusts.</a:t>
            </a:r>
            <a:endParaRPr lang="en-US" sz="1500" dirty="0"/>
          </a:p>
        </p:txBody>
      </p:sp>
      <p:sp>
        <p:nvSpPr>
          <p:cNvPr id="46" name="Text 43"/>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ICB commissioners do not want a separate contract per Trust. They want one pathway-level arrangement that every AS patient in their system can flow through, regardless of which Trust is doing their monitoring. The operating model exists so the ICB commissions the AS pathway once at pathway level and each Trust plugs in against a common national arrangement. </a:t>
            </a:r>
            <a:pPr indent="0" marL="0">
              <a:buNone/>
            </a:pPr>
            <a:r>
              <a:rPr lang="en-US" sz="1100" b="1" dirty="0">
                <a:solidFill>
                  <a:srgbClr val="231F20"/>
                </a:solidFill>
                <a:latin typeface="Arial" pitchFamily="34" charset="0"/>
                <a:ea typeface="Arial" pitchFamily="34" charset="-122"/>
                <a:cs typeface="Arial" pitchFamily="34" charset="-120"/>
              </a:rPr>
              <a:t>Pathway-level commissioning is the North Star</a:t>
            </a:r>
            <a:pPr indent="0" marL="0">
              <a:buNone/>
            </a:pPr>
            <a:r>
              <a:rPr lang="en-US" sz="1100" dirty="0">
                <a:solidFill>
                  <a:srgbClr val="231F20"/>
                </a:solidFill>
                <a:latin typeface="Arial" pitchFamily="34" charset="0"/>
                <a:ea typeface="Arial" pitchFamily="34" charset="-122"/>
                <a:cs typeface="Arial" pitchFamily="34" charset="-120"/>
              </a:rPr>
              <a:t>, because effort spent stitching Trust-by-Trust deals is effort not spent on the caseload.</a:t>
            </a:r>
            <a:endParaRPr lang="en-US" sz="1100" dirty="0"/>
          </a:p>
        </p:txBody>
      </p:sp>
      <p:sp>
        <p:nvSpPr>
          <p:cNvPr id="47" name="Shape 44"/>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8" name="Text 45"/>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ONE PLATFORM MATTERS TO HER</a:t>
            </a:r>
            <a:endParaRPr lang="en-US" sz="900" dirty="0"/>
          </a:p>
        </p:txBody>
      </p:sp>
      <p:sp>
        <p:nvSpPr>
          <p:cNvPr id="49" name="Text 46"/>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One national arrangement. One pathway. One platform every AS patient in her ICB can flow through.</a:t>
            </a:r>
            <a:endParaRPr lang="en-US" sz="1500" dirty="0"/>
          </a:p>
        </p:txBody>
      </p:sp>
      <p:sp>
        <p:nvSpPr>
          <p:cNvPr id="50" name="Text 47"/>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A bespoke PSA-AS deal with one Trust would buy one deployment. The next Trust in her ICB (or the next AS-adjacent pathway) would mean another arrangement, another assurance set, another contract, another integration. The national arrangement means Catherine commissions the pathway once, every Trust in her ICB plugs into the same call-off, the same MI feed answers the same questions, and the next AS-adjacent pathway is an extension. </a:t>
            </a:r>
            <a:pPr indent="0" marL="0">
              <a:buNone/>
            </a:pPr>
            <a:r>
              <a:rPr lang="en-US" sz="1100" b="1" dirty="0">
                <a:solidFill>
                  <a:srgbClr val="231F20"/>
                </a:solidFill>
                <a:latin typeface="Arial" pitchFamily="34" charset="0"/>
                <a:ea typeface="Arial" pitchFamily="34" charset="-122"/>
                <a:cs typeface="Arial" pitchFamily="34" charset="-120"/>
              </a:rPr>
              <a:t>The integration was done before she walked in.</a:t>
            </a:r>
            <a:endParaRPr lang="en-US" sz="1100" dirty="0"/>
          </a:p>
        </p:txBody>
      </p:sp>
      <p:sp>
        <p:nvSpPr>
          <p:cNvPr id="51" name="Text 48"/>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Catherine  ·  Hearts and Minds</a:t>
            </a:r>
            <a:endParaRPr lang="en-US" sz="850" dirty="0"/>
          </a:p>
        </p:txBody>
      </p:sp>
      <p:sp>
        <p:nvSpPr>
          <p:cNvPr id="52" name="Text 49"/>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3" name="Text 50"/>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COMMISSIONER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Ruth's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1788109"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1788109" cy="54864"/>
          </a:xfrm>
          <a:prstGeom prst="rect">
            <a:avLst/>
          </a:prstGeom>
          <a:solidFill>
            <a:srgbClr val="005EB8"/>
          </a:solidFill>
          <a:ln w="12700">
            <a:solidFill>
              <a:srgbClr val="005EB8"/>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brief</a:t>
            </a:r>
            <a:endParaRPr lang="en-US" sz="1100" dirty="0"/>
          </a:p>
        </p:txBody>
      </p:sp>
      <p:sp>
        <p:nvSpPr>
          <p:cNvPr id="12" name="Text 9"/>
          <p:cNvSpPr/>
          <p:nvPr/>
        </p:nvSpPr>
        <p:spPr>
          <a:xfrm>
            <a:off x="585216"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cohort between two budgets</a:t>
            </a:r>
            <a:endParaRPr lang="en-US" sz="900" dirty="0"/>
          </a:p>
        </p:txBody>
      </p:sp>
      <p:sp>
        <p:nvSpPr>
          <p:cNvPr id="13" name="Shape 10"/>
          <p:cNvSpPr/>
          <p:nvPr/>
        </p:nvSpPr>
        <p:spPr>
          <a:xfrm>
            <a:off x="2355037" y="1234440"/>
            <a:ext cx="1788109"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355037" y="1234440"/>
            <a:ext cx="1788109" cy="54864"/>
          </a:xfrm>
          <a:prstGeom prst="rect">
            <a:avLst/>
          </a:prstGeom>
          <a:solidFill>
            <a:srgbClr val="005EB8"/>
          </a:solidFill>
          <a:ln w="12700">
            <a:solidFill>
              <a:srgbClr val="005EB8"/>
            </a:solidFill>
            <a:prstDash val="solid"/>
          </a:ln>
        </p:spPr>
      </p:sp>
      <p:sp>
        <p:nvSpPr>
          <p:cNvPr id="15" name="Shape 12"/>
          <p:cNvSpPr/>
          <p:nvPr/>
        </p:nvSpPr>
        <p:spPr>
          <a:xfrm>
            <a:off x="2483053"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483053"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2903677"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One front door</a:t>
            </a:r>
            <a:endParaRPr lang="en-US" sz="1100" dirty="0"/>
          </a:p>
        </p:txBody>
      </p:sp>
      <p:sp>
        <p:nvSpPr>
          <p:cNvPr id="18" name="Text 15"/>
          <p:cNvSpPr/>
          <p:nvPr/>
        </p:nvSpPr>
        <p:spPr>
          <a:xfrm>
            <a:off x="2483053"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What the framework has already settled</a:t>
            </a:r>
            <a:endParaRPr lang="en-US" sz="900" dirty="0"/>
          </a:p>
        </p:txBody>
      </p:sp>
      <p:sp>
        <p:nvSpPr>
          <p:cNvPr id="19" name="Shape 16"/>
          <p:cNvSpPr/>
          <p:nvPr/>
        </p:nvSpPr>
        <p:spPr>
          <a:xfrm>
            <a:off x="4252874" y="1234440"/>
            <a:ext cx="1788109"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4252874" y="1234440"/>
            <a:ext cx="1788109" cy="54864"/>
          </a:xfrm>
          <a:prstGeom prst="rect">
            <a:avLst/>
          </a:prstGeom>
          <a:solidFill>
            <a:srgbClr val="005EB8"/>
          </a:solidFill>
          <a:ln w="12700">
            <a:solidFill>
              <a:srgbClr val="005EB8"/>
            </a:solidFill>
            <a:prstDash val="solid"/>
          </a:ln>
        </p:spPr>
      </p:sp>
      <p:sp>
        <p:nvSpPr>
          <p:cNvPr id="21" name="Shape 18"/>
          <p:cNvSpPr/>
          <p:nvPr/>
        </p:nvSpPr>
        <p:spPr>
          <a:xfrm>
            <a:off x="4380890"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438089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4801514"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Fit for this cohort</a:t>
            </a:r>
            <a:endParaRPr lang="en-US" sz="1100" dirty="0"/>
          </a:p>
        </p:txBody>
      </p:sp>
      <p:sp>
        <p:nvSpPr>
          <p:cNvPr id="24" name="Text 21"/>
          <p:cNvSpPr/>
          <p:nvPr/>
        </p:nvSpPr>
        <p:spPr>
          <a:xfrm>
            <a:off x="4380890"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protocol has to exist first</a:t>
            </a:r>
            <a:endParaRPr lang="en-US" sz="900" dirty="0"/>
          </a:p>
        </p:txBody>
      </p:sp>
      <p:sp>
        <p:nvSpPr>
          <p:cNvPr id="25" name="Shape 22"/>
          <p:cNvSpPr/>
          <p:nvPr/>
        </p:nvSpPr>
        <p:spPr>
          <a:xfrm>
            <a:off x="6150712" y="1234440"/>
            <a:ext cx="1788109"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6150712" y="1234440"/>
            <a:ext cx="1788109" cy="54864"/>
          </a:xfrm>
          <a:prstGeom prst="rect">
            <a:avLst/>
          </a:prstGeom>
          <a:solidFill>
            <a:srgbClr val="005EB8"/>
          </a:solidFill>
          <a:ln w="12700">
            <a:solidFill>
              <a:srgbClr val="005EB8"/>
            </a:solidFill>
            <a:prstDash val="solid"/>
          </a:ln>
        </p:spPr>
      </p:sp>
      <p:sp>
        <p:nvSpPr>
          <p:cNvPr id="27" name="Shape 24"/>
          <p:cNvSpPr/>
          <p:nvPr/>
        </p:nvSpPr>
        <p:spPr>
          <a:xfrm>
            <a:off x="6278728"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6278728"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6699352"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buy</a:t>
            </a:r>
            <a:endParaRPr lang="en-US" sz="1100" dirty="0"/>
          </a:p>
        </p:txBody>
      </p:sp>
      <p:sp>
        <p:nvSpPr>
          <p:cNvPr id="30" name="Text 27"/>
          <p:cNvSpPr/>
          <p:nvPr/>
        </p:nvSpPr>
        <p:spPr>
          <a:xfrm>
            <a:off x="6278728"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call-off once the owner is clear</a:t>
            </a:r>
            <a:endParaRPr lang="en-US" sz="900" dirty="0"/>
          </a:p>
        </p:txBody>
      </p:sp>
      <p:sp>
        <p:nvSpPr>
          <p:cNvPr id="31" name="Shape 28"/>
          <p:cNvSpPr/>
          <p:nvPr/>
        </p:nvSpPr>
        <p:spPr>
          <a:xfrm>
            <a:off x="8048549" y="1234440"/>
            <a:ext cx="1788109"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8048549" y="1234440"/>
            <a:ext cx="1788109" cy="54864"/>
          </a:xfrm>
          <a:prstGeom prst="rect">
            <a:avLst/>
          </a:prstGeom>
          <a:solidFill>
            <a:srgbClr val="005EB8"/>
          </a:solidFill>
          <a:ln w="12700">
            <a:solidFill>
              <a:srgbClr val="005EB8"/>
            </a:solidFill>
            <a:prstDash val="solid"/>
          </a:ln>
        </p:spPr>
      </p:sp>
      <p:sp>
        <p:nvSpPr>
          <p:cNvPr id="33" name="Shape 30"/>
          <p:cNvSpPr/>
          <p:nvPr/>
        </p:nvSpPr>
        <p:spPr>
          <a:xfrm>
            <a:off x="817656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817656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8597189"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Live operation</a:t>
            </a:r>
            <a:endParaRPr lang="en-US" sz="1100" dirty="0"/>
          </a:p>
        </p:txBody>
      </p:sp>
      <p:sp>
        <p:nvSpPr>
          <p:cNvPr id="36" name="Text 33"/>
          <p:cNvSpPr/>
          <p:nvPr/>
        </p:nvSpPr>
        <p:spPr>
          <a:xfrm>
            <a:off x="8176565"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gap closes</a:t>
            </a:r>
            <a:endParaRPr lang="en-US" sz="900" dirty="0"/>
          </a:p>
        </p:txBody>
      </p:sp>
      <p:sp>
        <p:nvSpPr>
          <p:cNvPr id="37" name="Shape 34"/>
          <p:cNvSpPr/>
          <p:nvPr/>
        </p:nvSpPr>
        <p:spPr>
          <a:xfrm>
            <a:off x="9946386" y="1234440"/>
            <a:ext cx="1788109" cy="1234440"/>
          </a:xfrm>
          <a:prstGeom prst="roundRect">
            <a:avLst>
              <a:gd name="adj" fmla="val 5926"/>
            </a:avLst>
          </a:prstGeom>
          <a:solidFill>
            <a:srgbClr val="F0F4F5"/>
          </a:solidFill>
          <a:ln w="9525">
            <a:solidFill>
              <a:srgbClr val="DDE3E8"/>
            </a:solidFill>
            <a:prstDash val="solid"/>
          </a:ln>
        </p:spPr>
      </p:sp>
      <p:sp>
        <p:nvSpPr>
          <p:cNvPr id="38" name="Shape 35"/>
          <p:cNvSpPr/>
          <p:nvPr/>
        </p:nvSpPr>
        <p:spPr>
          <a:xfrm>
            <a:off x="9946386" y="1234440"/>
            <a:ext cx="1788109" cy="54864"/>
          </a:xfrm>
          <a:prstGeom prst="rect">
            <a:avLst/>
          </a:prstGeom>
          <a:solidFill>
            <a:srgbClr val="005EB8"/>
          </a:solidFill>
          <a:ln w="12700">
            <a:solidFill>
              <a:srgbClr val="005EB8"/>
            </a:solidFill>
            <a:prstDash val="solid"/>
          </a:ln>
        </p:spPr>
      </p:sp>
      <p:sp>
        <p:nvSpPr>
          <p:cNvPr id="39" name="Shape 36"/>
          <p:cNvSpPr/>
          <p:nvPr/>
        </p:nvSpPr>
        <p:spPr>
          <a:xfrm>
            <a:off x="10074402" y="1417320"/>
            <a:ext cx="347472" cy="347472"/>
          </a:xfrm>
          <a:prstGeom prst="ellipse">
            <a:avLst/>
          </a:prstGeom>
          <a:solidFill>
            <a:srgbClr val="003087"/>
          </a:solidFill>
          <a:ln w="12700">
            <a:solidFill>
              <a:srgbClr val="003087"/>
            </a:solidFill>
            <a:prstDash val="solid"/>
          </a:ln>
        </p:spPr>
      </p:sp>
      <p:sp>
        <p:nvSpPr>
          <p:cNvPr id="40" name="Text 37"/>
          <p:cNvSpPr/>
          <p:nvPr/>
        </p:nvSpPr>
        <p:spPr>
          <a:xfrm>
            <a:off x="10074402"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41" name="Text 38"/>
          <p:cNvSpPr/>
          <p:nvPr/>
        </p:nvSpPr>
        <p:spPr>
          <a:xfrm>
            <a:off x="10495026"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case for funding</a:t>
            </a:r>
            <a:endParaRPr lang="en-US" sz="1100" dirty="0"/>
          </a:p>
        </p:txBody>
      </p:sp>
      <p:sp>
        <p:nvSpPr>
          <p:cNvPr id="42" name="Text 39"/>
          <p:cNvSpPr/>
          <p:nvPr/>
        </p:nvSpPr>
        <p:spPr>
          <a:xfrm>
            <a:off x="10074402"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Early detection, shown</a:t>
            </a:r>
            <a:endParaRPr lang="en-US" sz="900" dirty="0"/>
          </a:p>
        </p:txBody>
      </p:sp>
      <p:sp>
        <p:nvSpPr>
          <p:cNvPr id="43" name="Shape 40"/>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44" name="Text 41"/>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WHAT RUTH IS TRYING TO DO</a:t>
            </a:r>
            <a:endParaRPr lang="en-US" sz="900" dirty="0"/>
          </a:p>
        </p:txBody>
      </p:sp>
      <p:sp>
        <p:nvSpPr>
          <p:cNvPr id="45" name="Text 42"/>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Close a monitoring gap that nobody currently owns</a:t>
            </a:r>
            <a:endParaRPr lang="en-US" sz="1500" dirty="0"/>
          </a:p>
        </p:txBody>
      </p:sp>
      <p:sp>
        <p:nvSpPr>
          <p:cNvPr id="46" name="Text 43"/>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Men referred to Urology with a raised PSA and no cancer found go back to their GP with an instruction to keep an eye on it. Some are monitored well. Some drift. The cohort has no single budget holder, no agreed cadence and no one measuring whether the monitoring happens. </a:t>
            </a:r>
            <a:pPr indent="0" marL="0">
              <a:buNone/>
            </a:pPr>
            <a:r>
              <a:rPr lang="en-US" sz="1100" b="1" dirty="0">
                <a:solidFill>
                  <a:srgbClr val="231F20"/>
                </a:solidFill>
                <a:latin typeface="Arial" pitchFamily="34" charset="0"/>
                <a:ea typeface="Arial" pitchFamily="34" charset="-122"/>
                <a:cs typeface="Arial" pitchFamily="34" charset="-120"/>
              </a:rPr>
              <a:t>Ruth's job is to make that cohort someone's responsibility, with a supplier behind it that has already been assured.</a:t>
            </a:r>
            <a:endParaRPr lang="en-US" sz="1100" dirty="0"/>
          </a:p>
        </p:txBody>
      </p:sp>
      <p:sp>
        <p:nvSpPr>
          <p:cNvPr id="47" name="Shape 44"/>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8" name="Text 45"/>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WHAT THE MODEL ALREADY GIVES HER</a:t>
            </a:r>
            <a:endParaRPr lang="en-US" sz="900" dirty="0"/>
          </a:p>
        </p:txBody>
      </p:sp>
      <p:sp>
        <p:nvSpPr>
          <p:cNvPr id="49" name="Text 46"/>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A configuration that exists, and five questions it cannot answer for her</a:t>
            </a:r>
            <a:endParaRPr lang="en-US" sz="1500" dirty="0"/>
          </a:p>
        </p:txBody>
      </p:sp>
      <p:sp>
        <p:nvSpPr>
          <p:cNvPr id="50" name="Text 47"/>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PSA active surveillance is the board-selected acute use case, scored Priority 2 (35/45) under the Prioritisation Framework. The kit, the labs, the NHS App journey and the supplier assurance are the same ones Mark's cohort uses. </a:t>
            </a:r>
            <a:pPr indent="0" marL="0">
              <a:buNone/>
            </a:pPr>
            <a:r>
              <a:rPr lang="en-US" sz="1100" b="1" dirty="0">
                <a:solidFill>
                  <a:srgbClr val="231F20"/>
                </a:solidFill>
                <a:latin typeface="Arial" pitchFamily="34" charset="0"/>
                <a:ea typeface="Arial" pitchFamily="34" charset="-122"/>
                <a:cs typeface="Arial" pitchFamily="34" charset="-120"/>
              </a:rPr>
              <a:t>What the model deliberately holds open is who Ruth is:</a:t>
            </a:r>
            <a:pPr indent="0" marL="0">
              <a:buNone/>
            </a:pPr>
            <a:r>
              <a:rPr lang="en-US" sz="1100" dirty="0">
                <a:solidFill>
                  <a:srgbClr val="231F20"/>
                </a:solidFill>
                <a:latin typeface="Arial" pitchFamily="34" charset="0"/>
                <a:ea typeface="Arial" pitchFamily="34" charset="-122"/>
                <a:cs typeface="Arial" pitchFamily="34" charset="-120"/>
              </a:rPr>
              <a:t> her institution, her budget source, the clinical owner, the protocol cadence and the contract shape. Those come from the cohort discovery, not from the operating model.</a:t>
            </a:r>
            <a:endParaRPr lang="en-US" sz="1100" dirty="0"/>
          </a:p>
        </p:txBody>
      </p:sp>
      <p:sp>
        <p:nvSpPr>
          <p:cNvPr id="51" name="Text 48"/>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Ruth  ·  Hearts and Minds</a:t>
            </a:r>
            <a:endParaRPr lang="en-US" sz="850" dirty="0"/>
          </a:p>
        </p:txBody>
      </p:sp>
      <p:sp>
        <p:nvSpPr>
          <p:cNvPr id="52" name="Text 49"/>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3" name="Text 50"/>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COMMISSIONER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Sarah's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1788109"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1788109" cy="54864"/>
          </a:xfrm>
          <a:prstGeom prst="rect">
            <a:avLst/>
          </a:prstGeom>
          <a:solidFill>
            <a:srgbClr val="005EB8"/>
          </a:solidFill>
          <a:ln w="12700">
            <a:solidFill>
              <a:srgbClr val="005EB8"/>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brief</a:t>
            </a:r>
            <a:endParaRPr lang="en-US" sz="1100" dirty="0"/>
          </a:p>
        </p:txBody>
      </p:sp>
      <p:sp>
        <p:nvSpPr>
          <p:cNvPr id="12" name="Text 9"/>
          <p:cNvSpPr/>
          <p:nvPr/>
        </p:nvSpPr>
        <p:spPr>
          <a:xfrm>
            <a:off x="585216"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gap on the dashboard</a:t>
            </a:r>
            <a:endParaRPr lang="en-US" sz="900" dirty="0"/>
          </a:p>
        </p:txBody>
      </p:sp>
      <p:sp>
        <p:nvSpPr>
          <p:cNvPr id="13" name="Shape 10"/>
          <p:cNvSpPr/>
          <p:nvPr/>
        </p:nvSpPr>
        <p:spPr>
          <a:xfrm>
            <a:off x="2355037" y="1234440"/>
            <a:ext cx="1788109"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355037" y="1234440"/>
            <a:ext cx="1788109" cy="54864"/>
          </a:xfrm>
          <a:prstGeom prst="rect">
            <a:avLst/>
          </a:prstGeom>
          <a:solidFill>
            <a:srgbClr val="005EB8"/>
          </a:solidFill>
          <a:ln w="12700">
            <a:solidFill>
              <a:srgbClr val="005EB8"/>
            </a:solidFill>
            <a:prstDash val="solid"/>
          </a:ln>
        </p:spPr>
      </p:sp>
      <p:sp>
        <p:nvSpPr>
          <p:cNvPr id="15" name="Shape 12"/>
          <p:cNvSpPr/>
          <p:nvPr/>
        </p:nvSpPr>
        <p:spPr>
          <a:xfrm>
            <a:off x="2483053"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483053"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2903677"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One front door</a:t>
            </a:r>
            <a:endParaRPr lang="en-US" sz="1100" dirty="0"/>
          </a:p>
        </p:txBody>
      </p:sp>
      <p:sp>
        <p:nvSpPr>
          <p:cNvPr id="18" name="Text 15"/>
          <p:cNvSpPr/>
          <p:nvPr/>
        </p:nvSpPr>
        <p:spPr>
          <a:xfrm>
            <a:off x="2483053"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framework opens</a:t>
            </a:r>
            <a:endParaRPr lang="en-US" sz="900" dirty="0"/>
          </a:p>
        </p:txBody>
      </p:sp>
      <p:sp>
        <p:nvSpPr>
          <p:cNvPr id="19" name="Shape 16"/>
          <p:cNvSpPr/>
          <p:nvPr/>
        </p:nvSpPr>
        <p:spPr>
          <a:xfrm>
            <a:off x="4252874" y="1234440"/>
            <a:ext cx="1788109"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4252874" y="1234440"/>
            <a:ext cx="1788109" cy="54864"/>
          </a:xfrm>
          <a:prstGeom prst="rect">
            <a:avLst/>
          </a:prstGeom>
          <a:solidFill>
            <a:srgbClr val="005EB8"/>
          </a:solidFill>
          <a:ln w="12700">
            <a:solidFill>
              <a:srgbClr val="005EB8"/>
            </a:solidFill>
            <a:prstDash val="solid"/>
          </a:ln>
        </p:spPr>
      </p:sp>
      <p:sp>
        <p:nvSpPr>
          <p:cNvPr id="21" name="Shape 18"/>
          <p:cNvSpPr/>
          <p:nvPr/>
        </p:nvSpPr>
        <p:spPr>
          <a:xfrm>
            <a:off x="4380890"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438089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4801514"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Fit for HER cohort</a:t>
            </a:r>
            <a:endParaRPr lang="en-US" sz="1100" dirty="0"/>
          </a:p>
        </p:txBody>
      </p:sp>
      <p:sp>
        <p:nvSpPr>
          <p:cNvPr id="24" name="Text 21"/>
          <p:cNvSpPr/>
          <p:nvPr/>
        </p:nvSpPr>
        <p:spPr>
          <a:xfrm>
            <a:off x="4380890"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questions standard answers don't solve</a:t>
            </a:r>
            <a:endParaRPr lang="en-US" sz="900" dirty="0"/>
          </a:p>
        </p:txBody>
      </p:sp>
      <p:sp>
        <p:nvSpPr>
          <p:cNvPr id="25" name="Shape 22"/>
          <p:cNvSpPr/>
          <p:nvPr/>
        </p:nvSpPr>
        <p:spPr>
          <a:xfrm>
            <a:off x="6150712" y="1234440"/>
            <a:ext cx="1788109"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6150712" y="1234440"/>
            <a:ext cx="1788109" cy="54864"/>
          </a:xfrm>
          <a:prstGeom prst="rect">
            <a:avLst/>
          </a:prstGeom>
          <a:solidFill>
            <a:srgbClr val="005EB8"/>
          </a:solidFill>
          <a:ln w="12700">
            <a:solidFill>
              <a:srgbClr val="005EB8"/>
            </a:solidFill>
            <a:prstDash val="solid"/>
          </a:ln>
        </p:spPr>
      </p:sp>
      <p:sp>
        <p:nvSpPr>
          <p:cNvPr id="27" name="Shape 24"/>
          <p:cNvSpPr/>
          <p:nvPr/>
        </p:nvSpPr>
        <p:spPr>
          <a:xfrm>
            <a:off x="6278728"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6278728"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6699352"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One call-off</a:t>
            </a:r>
            <a:endParaRPr lang="en-US" sz="1100" dirty="0"/>
          </a:p>
        </p:txBody>
      </p:sp>
      <p:sp>
        <p:nvSpPr>
          <p:cNvPr id="30" name="Text 27"/>
          <p:cNvSpPr/>
          <p:nvPr/>
        </p:nvSpPr>
        <p:spPr>
          <a:xfrm>
            <a:off x="6278728"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Signing, not procuring</a:t>
            </a:r>
            <a:endParaRPr lang="en-US" sz="900" dirty="0"/>
          </a:p>
        </p:txBody>
      </p:sp>
      <p:sp>
        <p:nvSpPr>
          <p:cNvPr id="31" name="Shape 28"/>
          <p:cNvSpPr/>
          <p:nvPr/>
        </p:nvSpPr>
        <p:spPr>
          <a:xfrm>
            <a:off x="8048549" y="1234440"/>
            <a:ext cx="1788109"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8048549" y="1234440"/>
            <a:ext cx="1788109" cy="54864"/>
          </a:xfrm>
          <a:prstGeom prst="rect">
            <a:avLst/>
          </a:prstGeom>
          <a:solidFill>
            <a:srgbClr val="005EB8"/>
          </a:solidFill>
          <a:ln w="12700">
            <a:solidFill>
              <a:srgbClr val="005EB8"/>
            </a:solidFill>
            <a:prstDash val="solid"/>
          </a:ln>
        </p:spPr>
      </p:sp>
      <p:sp>
        <p:nvSpPr>
          <p:cNvPr id="33" name="Shape 30"/>
          <p:cNvSpPr/>
          <p:nvPr/>
        </p:nvSpPr>
        <p:spPr>
          <a:xfrm>
            <a:off x="817656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817656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8597189"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Live operation</a:t>
            </a:r>
            <a:endParaRPr lang="en-US" sz="1100" dirty="0"/>
          </a:p>
        </p:txBody>
      </p:sp>
      <p:sp>
        <p:nvSpPr>
          <p:cNvPr id="36" name="Text 33"/>
          <p:cNvSpPr/>
          <p:nvPr/>
        </p:nvSpPr>
        <p:spPr>
          <a:xfrm>
            <a:off x="8176565"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Kits out, results back</a:t>
            </a:r>
            <a:endParaRPr lang="en-US" sz="900" dirty="0"/>
          </a:p>
        </p:txBody>
      </p:sp>
      <p:sp>
        <p:nvSpPr>
          <p:cNvPr id="37" name="Shape 34"/>
          <p:cNvSpPr/>
          <p:nvPr/>
        </p:nvSpPr>
        <p:spPr>
          <a:xfrm>
            <a:off x="9946386" y="1234440"/>
            <a:ext cx="1788109" cy="1234440"/>
          </a:xfrm>
          <a:prstGeom prst="roundRect">
            <a:avLst>
              <a:gd name="adj" fmla="val 5926"/>
            </a:avLst>
          </a:prstGeom>
          <a:solidFill>
            <a:srgbClr val="F0F4F5"/>
          </a:solidFill>
          <a:ln w="9525">
            <a:solidFill>
              <a:srgbClr val="DDE3E8"/>
            </a:solidFill>
            <a:prstDash val="solid"/>
          </a:ln>
        </p:spPr>
      </p:sp>
      <p:sp>
        <p:nvSpPr>
          <p:cNvPr id="38" name="Shape 35"/>
          <p:cNvSpPr/>
          <p:nvPr/>
        </p:nvSpPr>
        <p:spPr>
          <a:xfrm>
            <a:off x="9946386" y="1234440"/>
            <a:ext cx="1788109" cy="54864"/>
          </a:xfrm>
          <a:prstGeom prst="rect">
            <a:avLst/>
          </a:prstGeom>
          <a:solidFill>
            <a:srgbClr val="005EB8"/>
          </a:solidFill>
          <a:ln w="12700">
            <a:solidFill>
              <a:srgbClr val="005EB8"/>
            </a:solidFill>
            <a:prstDash val="solid"/>
          </a:ln>
        </p:spPr>
      </p:sp>
      <p:sp>
        <p:nvSpPr>
          <p:cNvPr id="39" name="Shape 36"/>
          <p:cNvSpPr/>
          <p:nvPr/>
        </p:nvSpPr>
        <p:spPr>
          <a:xfrm>
            <a:off x="10074402" y="1417320"/>
            <a:ext cx="347472" cy="347472"/>
          </a:xfrm>
          <a:prstGeom prst="ellipse">
            <a:avLst/>
          </a:prstGeom>
          <a:solidFill>
            <a:srgbClr val="003087"/>
          </a:solidFill>
          <a:ln w="12700">
            <a:solidFill>
              <a:srgbClr val="003087"/>
            </a:solidFill>
            <a:prstDash val="solid"/>
          </a:ln>
        </p:spPr>
      </p:sp>
      <p:sp>
        <p:nvSpPr>
          <p:cNvPr id="40" name="Text 37"/>
          <p:cNvSpPr/>
          <p:nvPr/>
        </p:nvSpPr>
        <p:spPr>
          <a:xfrm>
            <a:off x="10074402"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41" name="Text 38"/>
          <p:cNvSpPr/>
          <p:nvPr/>
        </p:nvSpPr>
        <p:spPr>
          <a:xfrm>
            <a:off x="10495026"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board paper</a:t>
            </a:r>
            <a:endParaRPr lang="en-US" sz="1100" dirty="0"/>
          </a:p>
        </p:txBody>
      </p:sp>
      <p:sp>
        <p:nvSpPr>
          <p:cNvPr id="42" name="Text 39"/>
          <p:cNvSpPr/>
          <p:nvPr/>
        </p:nvSpPr>
        <p:spPr>
          <a:xfrm>
            <a:off x="10074402"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What the members see</a:t>
            </a:r>
            <a:endParaRPr lang="en-US" sz="900" dirty="0"/>
          </a:p>
        </p:txBody>
      </p:sp>
      <p:sp>
        <p:nvSpPr>
          <p:cNvPr id="43" name="Shape 40"/>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44" name="Text 41"/>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NORTH STAR</a:t>
            </a:r>
            <a:endParaRPr lang="en-US" sz="900" dirty="0"/>
          </a:p>
        </p:txBody>
      </p:sp>
      <p:sp>
        <p:nvSpPr>
          <p:cNvPr id="45" name="Text 42"/>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Easy buying. So the buying gets out of the way and the population outcome stays in focus.</a:t>
            </a:r>
            <a:endParaRPr lang="en-US" sz="1500" dirty="0"/>
          </a:p>
        </p:txBody>
      </p:sp>
      <p:sp>
        <p:nvSpPr>
          <p:cNvPr id="46" name="Text 43"/>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Commissioners do not buy home testing for the joy of running procurements. They buy it to close a detection gap, reduce late diagnoses, or get more out of a stretched service. The operating model exists so the buying stops being the work. </a:t>
            </a:r>
            <a:pPr indent="0" marL="0">
              <a:buNone/>
            </a:pPr>
            <a:r>
              <a:rPr lang="en-US" sz="1100" b="1" dirty="0">
                <a:solidFill>
                  <a:srgbClr val="231F20"/>
                </a:solidFill>
                <a:latin typeface="Arial" pitchFamily="34" charset="0"/>
                <a:ea typeface="Arial" pitchFamily="34" charset="-122"/>
                <a:cs typeface="Arial" pitchFamily="34" charset="-120"/>
              </a:rPr>
              <a:t>Easy buying is the North Star</a:t>
            </a:r>
            <a:pPr indent="0" marL="0">
              <a:buNone/>
            </a:pPr>
            <a:r>
              <a:rPr lang="en-US" sz="1100" dirty="0">
                <a:solidFill>
                  <a:srgbClr val="231F20"/>
                </a:solidFill>
                <a:latin typeface="Arial" pitchFamily="34" charset="0"/>
                <a:ea typeface="Arial" pitchFamily="34" charset="-122"/>
                <a:cs typeface="Arial" pitchFamily="34" charset="-120"/>
              </a:rPr>
              <a:t>, not because procurement should be lazy, but because effort spent on procurement is effort not spent on population health.</a:t>
            </a:r>
            <a:endParaRPr lang="en-US" sz="1100" dirty="0"/>
          </a:p>
        </p:txBody>
      </p:sp>
      <p:sp>
        <p:nvSpPr>
          <p:cNvPr id="47" name="Shape 44"/>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8" name="Text 45"/>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ONE PLATFORM MATTERS TO HER</a:t>
            </a:r>
            <a:endParaRPr lang="en-US" sz="900" dirty="0"/>
          </a:p>
        </p:txBody>
      </p:sp>
      <p:sp>
        <p:nvSpPr>
          <p:cNvPr id="49" name="Text 46"/>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One framework. One signature. One platform she can come back to as her cohorts and questions change.</a:t>
            </a:r>
            <a:endParaRPr lang="en-US" sz="1500" dirty="0"/>
          </a:p>
        </p:txBody>
      </p:sp>
      <p:sp>
        <p:nvSpPr>
          <p:cNvPr id="50" name="Text 47"/>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A bespoke HIV-only procurement would buy a single deployment. The next cohort (chlamydia, syphilis, the next configuration the platform admits) would mean another procurement, another assurance set, another contract, another integration. The framework means Sarah signs once, the same NHS Login carries her cohorts, the same MI feed answers the same questions, and the next configuration is an extension, not a new programme. </a:t>
            </a:r>
            <a:pPr indent="0" marL="0">
              <a:buNone/>
            </a:pPr>
            <a:r>
              <a:rPr lang="en-US" sz="1100" b="1" dirty="0">
                <a:solidFill>
                  <a:srgbClr val="231F20"/>
                </a:solidFill>
                <a:latin typeface="Arial" pitchFamily="34" charset="0"/>
                <a:ea typeface="Arial" pitchFamily="34" charset="-122"/>
                <a:cs typeface="Arial" pitchFamily="34" charset="-120"/>
              </a:rPr>
              <a:t>The integration was done before she walked in.</a:t>
            </a:r>
            <a:endParaRPr lang="en-US" sz="1100" dirty="0"/>
          </a:p>
        </p:txBody>
      </p:sp>
      <p:sp>
        <p:nvSpPr>
          <p:cNvPr id="51" name="Text 48"/>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Sarah  ·  Hearts and Minds</a:t>
            </a:r>
            <a:endParaRPr lang="en-US" sz="850" dirty="0"/>
          </a:p>
        </p:txBody>
      </p:sp>
      <p:sp>
        <p:nvSpPr>
          <p:cNvPr id="52" name="Text 49"/>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3" name="Text 50"/>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C9A0E3"/>
          </a:solidFill>
          <a:ln w="12700">
            <a:solidFill>
              <a:srgbClr val="C9A0E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CLINICIAN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Adam's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1788109"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1788109" cy="54864"/>
          </a:xfrm>
          <a:prstGeom prst="rect">
            <a:avLst/>
          </a:prstGeom>
          <a:solidFill>
            <a:srgbClr val="C9A0E3"/>
          </a:solidFill>
          <a:ln w="12700">
            <a:solidFill>
              <a:srgbClr val="C9A0E3"/>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cohort</a:t>
            </a:r>
            <a:endParaRPr lang="en-US" sz="1100" dirty="0"/>
          </a:p>
        </p:txBody>
      </p:sp>
      <p:sp>
        <p:nvSpPr>
          <p:cNvPr id="12" name="Text 9"/>
          <p:cNvSpPr/>
          <p:nvPr/>
        </p:nvSpPr>
        <p:spPr>
          <a:xfrm>
            <a:off x="585216"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patients in front of him</a:t>
            </a:r>
            <a:endParaRPr lang="en-US" sz="900" dirty="0"/>
          </a:p>
        </p:txBody>
      </p:sp>
      <p:sp>
        <p:nvSpPr>
          <p:cNvPr id="13" name="Shape 10"/>
          <p:cNvSpPr/>
          <p:nvPr/>
        </p:nvSpPr>
        <p:spPr>
          <a:xfrm>
            <a:off x="2355037" y="1234440"/>
            <a:ext cx="1788109"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355037" y="1234440"/>
            <a:ext cx="1788109" cy="54864"/>
          </a:xfrm>
          <a:prstGeom prst="rect">
            <a:avLst/>
          </a:prstGeom>
          <a:solidFill>
            <a:srgbClr val="C9A0E3"/>
          </a:solidFill>
          <a:ln w="12700">
            <a:solidFill>
              <a:srgbClr val="C9A0E3"/>
            </a:solidFill>
            <a:prstDash val="solid"/>
          </a:ln>
        </p:spPr>
      </p:sp>
      <p:sp>
        <p:nvSpPr>
          <p:cNvPr id="15" name="Shape 12"/>
          <p:cNvSpPr/>
          <p:nvPr/>
        </p:nvSpPr>
        <p:spPr>
          <a:xfrm>
            <a:off x="2483053"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483053"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2903677"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drop-outs</a:t>
            </a:r>
            <a:endParaRPr lang="en-US" sz="1100" dirty="0"/>
          </a:p>
        </p:txBody>
      </p:sp>
      <p:sp>
        <p:nvSpPr>
          <p:cNvPr id="18" name="Text 15"/>
          <p:cNvSpPr/>
          <p:nvPr/>
        </p:nvSpPr>
        <p:spPr>
          <a:xfrm>
            <a:off x="2483053"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clinic-only model's blind spot</a:t>
            </a:r>
            <a:endParaRPr lang="en-US" sz="900" dirty="0"/>
          </a:p>
        </p:txBody>
      </p:sp>
      <p:sp>
        <p:nvSpPr>
          <p:cNvPr id="19" name="Shape 16"/>
          <p:cNvSpPr/>
          <p:nvPr/>
        </p:nvSpPr>
        <p:spPr>
          <a:xfrm>
            <a:off x="4252874" y="1234440"/>
            <a:ext cx="1788109"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4252874" y="1234440"/>
            <a:ext cx="1788109" cy="54864"/>
          </a:xfrm>
          <a:prstGeom prst="rect">
            <a:avLst/>
          </a:prstGeom>
          <a:solidFill>
            <a:srgbClr val="C9A0E3"/>
          </a:solidFill>
          <a:ln w="12700">
            <a:solidFill>
              <a:srgbClr val="C9A0E3"/>
            </a:solidFill>
            <a:prstDash val="solid"/>
          </a:ln>
        </p:spPr>
      </p:sp>
      <p:sp>
        <p:nvSpPr>
          <p:cNvPr id="21" name="Shape 18"/>
          <p:cNvSpPr/>
          <p:nvPr/>
        </p:nvSpPr>
        <p:spPr>
          <a:xfrm>
            <a:off x="4380890"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438089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4801514"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model's offer</a:t>
            </a:r>
            <a:endParaRPr lang="en-US" sz="1100" dirty="0"/>
          </a:p>
        </p:txBody>
      </p:sp>
      <p:sp>
        <p:nvSpPr>
          <p:cNvPr id="24" name="Text 21"/>
          <p:cNvSpPr/>
          <p:nvPr/>
        </p:nvSpPr>
        <p:spPr>
          <a:xfrm>
            <a:off x="4380890"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Kit out, result back to him</a:t>
            </a:r>
            <a:endParaRPr lang="en-US" sz="900" dirty="0"/>
          </a:p>
        </p:txBody>
      </p:sp>
      <p:sp>
        <p:nvSpPr>
          <p:cNvPr id="25" name="Shape 22"/>
          <p:cNvSpPr/>
          <p:nvPr/>
        </p:nvSpPr>
        <p:spPr>
          <a:xfrm>
            <a:off x="6150712" y="1234440"/>
            <a:ext cx="1788109"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6150712" y="1234440"/>
            <a:ext cx="1788109" cy="54864"/>
          </a:xfrm>
          <a:prstGeom prst="rect">
            <a:avLst/>
          </a:prstGeom>
          <a:solidFill>
            <a:srgbClr val="C9A0E3"/>
          </a:solidFill>
          <a:ln w="12700">
            <a:solidFill>
              <a:srgbClr val="C9A0E3"/>
            </a:solidFill>
            <a:prstDash val="solid"/>
          </a:ln>
        </p:spPr>
      </p:sp>
      <p:sp>
        <p:nvSpPr>
          <p:cNvPr id="27" name="Shape 24"/>
          <p:cNvSpPr/>
          <p:nvPr/>
        </p:nvSpPr>
        <p:spPr>
          <a:xfrm>
            <a:off x="6278728"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6278728"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6699352"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First home prescriptions</a:t>
            </a:r>
            <a:endParaRPr lang="en-US" sz="1100" dirty="0"/>
          </a:p>
        </p:txBody>
      </p:sp>
      <p:sp>
        <p:nvSpPr>
          <p:cNvPr id="30" name="Text 27"/>
          <p:cNvSpPr/>
          <p:nvPr/>
        </p:nvSpPr>
        <p:spPr>
          <a:xfrm>
            <a:off x="6278728"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Right patient, right cycle</a:t>
            </a:r>
            <a:endParaRPr lang="en-US" sz="900" dirty="0"/>
          </a:p>
        </p:txBody>
      </p:sp>
      <p:sp>
        <p:nvSpPr>
          <p:cNvPr id="31" name="Shape 28"/>
          <p:cNvSpPr/>
          <p:nvPr/>
        </p:nvSpPr>
        <p:spPr>
          <a:xfrm>
            <a:off x="8048549" y="1234440"/>
            <a:ext cx="1788109"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8048549" y="1234440"/>
            <a:ext cx="1788109" cy="54864"/>
          </a:xfrm>
          <a:prstGeom prst="rect">
            <a:avLst/>
          </a:prstGeom>
          <a:solidFill>
            <a:srgbClr val="C9A0E3"/>
          </a:solidFill>
          <a:ln w="12700">
            <a:solidFill>
              <a:srgbClr val="C9A0E3"/>
            </a:solidFill>
            <a:prstDash val="solid"/>
          </a:ln>
        </p:spPr>
      </p:sp>
      <p:sp>
        <p:nvSpPr>
          <p:cNvPr id="33" name="Shape 30"/>
          <p:cNvSpPr/>
          <p:nvPr/>
        </p:nvSpPr>
        <p:spPr>
          <a:xfrm>
            <a:off x="817656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817656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8597189"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Surveillance in flight</a:t>
            </a:r>
            <a:endParaRPr lang="en-US" sz="1100" dirty="0"/>
          </a:p>
        </p:txBody>
      </p:sp>
      <p:sp>
        <p:nvSpPr>
          <p:cNvPr id="36" name="Text 33"/>
          <p:cNvSpPr/>
          <p:nvPr/>
        </p:nvSpPr>
        <p:spPr>
          <a:xfrm>
            <a:off x="8176565"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Trends, not appointments</a:t>
            </a:r>
            <a:endParaRPr lang="en-US" sz="900" dirty="0"/>
          </a:p>
        </p:txBody>
      </p:sp>
      <p:sp>
        <p:nvSpPr>
          <p:cNvPr id="37" name="Shape 34"/>
          <p:cNvSpPr/>
          <p:nvPr/>
        </p:nvSpPr>
        <p:spPr>
          <a:xfrm>
            <a:off x="9946386" y="1234440"/>
            <a:ext cx="1788109" cy="1234440"/>
          </a:xfrm>
          <a:prstGeom prst="roundRect">
            <a:avLst>
              <a:gd name="adj" fmla="val 5926"/>
            </a:avLst>
          </a:prstGeom>
          <a:solidFill>
            <a:srgbClr val="F0F4F5"/>
          </a:solidFill>
          <a:ln w="9525">
            <a:solidFill>
              <a:srgbClr val="DDE3E8"/>
            </a:solidFill>
            <a:prstDash val="solid"/>
          </a:ln>
        </p:spPr>
      </p:sp>
      <p:sp>
        <p:nvSpPr>
          <p:cNvPr id="38" name="Shape 35"/>
          <p:cNvSpPr/>
          <p:nvPr/>
        </p:nvSpPr>
        <p:spPr>
          <a:xfrm>
            <a:off x="9946386" y="1234440"/>
            <a:ext cx="1788109" cy="54864"/>
          </a:xfrm>
          <a:prstGeom prst="rect">
            <a:avLst/>
          </a:prstGeom>
          <a:solidFill>
            <a:srgbClr val="C9A0E3"/>
          </a:solidFill>
          <a:ln w="12700">
            <a:solidFill>
              <a:srgbClr val="C9A0E3"/>
            </a:solidFill>
            <a:prstDash val="solid"/>
          </a:ln>
        </p:spPr>
      </p:sp>
      <p:sp>
        <p:nvSpPr>
          <p:cNvPr id="39" name="Shape 36"/>
          <p:cNvSpPr/>
          <p:nvPr/>
        </p:nvSpPr>
        <p:spPr>
          <a:xfrm>
            <a:off x="10074402" y="1417320"/>
            <a:ext cx="347472" cy="347472"/>
          </a:xfrm>
          <a:prstGeom prst="ellipse">
            <a:avLst/>
          </a:prstGeom>
          <a:solidFill>
            <a:srgbClr val="003087"/>
          </a:solidFill>
          <a:ln w="12700">
            <a:solidFill>
              <a:srgbClr val="003087"/>
            </a:solidFill>
            <a:prstDash val="solid"/>
          </a:ln>
        </p:spPr>
      </p:sp>
      <p:sp>
        <p:nvSpPr>
          <p:cNvPr id="40" name="Text 37"/>
          <p:cNvSpPr/>
          <p:nvPr/>
        </p:nvSpPr>
        <p:spPr>
          <a:xfrm>
            <a:off x="10074402"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41" name="Text 38"/>
          <p:cNvSpPr/>
          <p:nvPr/>
        </p:nvSpPr>
        <p:spPr>
          <a:xfrm>
            <a:off x="10495026"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clinic shape now</a:t>
            </a:r>
            <a:endParaRPr lang="en-US" sz="1100" dirty="0"/>
          </a:p>
        </p:txBody>
      </p:sp>
      <p:sp>
        <p:nvSpPr>
          <p:cNvPr id="42" name="Text 39"/>
          <p:cNvSpPr/>
          <p:nvPr/>
        </p:nvSpPr>
        <p:spPr>
          <a:xfrm>
            <a:off x="10074402"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Time for the patients who need it</a:t>
            </a:r>
            <a:endParaRPr lang="en-US" sz="900" dirty="0"/>
          </a:p>
        </p:txBody>
      </p:sp>
      <p:sp>
        <p:nvSpPr>
          <p:cNvPr id="43" name="Shape 40"/>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44" name="Text 41"/>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CLINICAL NORTH STAR</a:t>
            </a:r>
            <a:endParaRPr lang="en-US" sz="900" dirty="0"/>
          </a:p>
        </p:txBody>
      </p:sp>
      <p:sp>
        <p:nvSpPr>
          <p:cNvPr id="45" name="Text 42"/>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Clinical accountability preserved. Reach extended. Clinic time freed for the patients who need it.</a:t>
            </a:r>
            <a:endParaRPr lang="en-US" sz="1500" dirty="0"/>
          </a:p>
        </p:txBody>
      </p:sp>
      <p:sp>
        <p:nvSpPr>
          <p:cNvPr id="46" name="Text 43"/>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Adam is not interested in a model that quietly removes him from the loop or sends raw numbers to patients without clinical interpretation. The result comes back to him first. He reads it against the PSA trajectory he is tracking. He decides what happens next. </a:t>
            </a:r>
            <a:pPr indent="0" marL="0">
              <a:buNone/>
            </a:pPr>
            <a:r>
              <a:rPr lang="en-US" sz="1100" b="1" dirty="0">
                <a:solidFill>
                  <a:srgbClr val="231F20"/>
                </a:solidFill>
                <a:latin typeface="Arial" pitchFamily="34" charset="0"/>
                <a:ea typeface="Arial" pitchFamily="34" charset="-122"/>
                <a:cs typeface="Arial" pitchFamily="34" charset="-120"/>
              </a:rPr>
              <a:t>The model that earns clinician adoption is the one that protects clinical accountability rather than routing around it.</a:t>
            </a:r>
            <a:endParaRPr lang="en-US" sz="1100" dirty="0"/>
          </a:p>
        </p:txBody>
      </p:sp>
      <p:sp>
        <p:nvSpPr>
          <p:cNvPr id="47" name="Shape 44"/>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8" name="Text 45"/>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HIM</a:t>
            </a:r>
            <a:endParaRPr lang="en-US" sz="900" dirty="0"/>
          </a:p>
        </p:txBody>
      </p:sp>
      <p:sp>
        <p:nvSpPr>
          <p:cNvPr id="49" name="Text 46"/>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Reach, adherence, capacity. Three clinical wins in the same move.</a:t>
            </a:r>
            <a:endParaRPr lang="en-US" sz="1500" dirty="0"/>
          </a:p>
        </p:txBody>
      </p:sp>
      <p:sp>
        <p:nvSpPr>
          <p:cNvPr id="50" name="Text 47"/>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Reach.</a:t>
            </a:r>
            <a:pPr indent="0" marL="0">
              <a:buNone/>
            </a:pPr>
            <a:r>
              <a:rPr lang="en-US" sz="1100" dirty="0">
                <a:solidFill>
                  <a:srgbClr val="231F20"/>
                </a:solidFill>
                <a:latin typeface="Arial" pitchFamily="34" charset="0"/>
                <a:ea typeface="Arial" pitchFamily="34" charset="-122"/>
                <a:cs typeface="Arial" pitchFamily="34" charset="-120"/>
              </a:rPr>
              <a:t> Patients the in-clinic service misses, rural travellers, shift workers, carers, the gradual drop-outs. </a:t>
            </a:r>
            <a:pPr indent="0" marL="0">
              <a:buNone/>
            </a:pPr>
            <a:r>
              <a:rPr lang="en-US" sz="1100" b="1" dirty="0">
                <a:solidFill>
                  <a:srgbClr val="231F20"/>
                </a:solidFill>
                <a:latin typeface="Arial" pitchFamily="34" charset="0"/>
                <a:ea typeface="Arial" pitchFamily="34" charset="-122"/>
                <a:cs typeface="Arial" pitchFamily="34" charset="-120"/>
              </a:rPr>
              <a:t>Adherence.</a:t>
            </a:r>
            <a:pPr indent="0" marL="0">
              <a:buNone/>
            </a:pPr>
            <a:r>
              <a:rPr lang="en-US" sz="1100" dirty="0">
                <a:solidFill>
                  <a:srgbClr val="231F20"/>
                </a:solidFill>
                <a:latin typeface="Arial" pitchFamily="34" charset="0"/>
                <a:ea typeface="Arial" pitchFamily="34" charset="-122"/>
                <a:cs typeface="Arial" pitchFamily="34" charset="-120"/>
              </a:rPr>
              <a:t> A kit at home does not get missed because of work, weather, transport or childcare. </a:t>
            </a:r>
            <a:pPr indent="0" marL="0">
              <a:buNone/>
            </a:pPr>
            <a:r>
              <a:rPr lang="en-US" sz="1100" b="1" dirty="0">
                <a:solidFill>
                  <a:srgbClr val="231F20"/>
                </a:solidFill>
                <a:latin typeface="Arial" pitchFamily="34" charset="0"/>
                <a:ea typeface="Arial" pitchFamily="34" charset="-122"/>
                <a:cs typeface="Arial" pitchFamily="34" charset="-120"/>
              </a:rPr>
              <a:t>Capacity.</a:t>
            </a:r>
            <a:pPr indent="0" marL="0">
              <a:buNone/>
            </a:pPr>
            <a:r>
              <a:rPr lang="en-US" sz="1100" dirty="0">
                <a:solidFill>
                  <a:srgbClr val="231F20"/>
                </a:solidFill>
                <a:latin typeface="Arial" pitchFamily="34" charset="0"/>
                <a:ea typeface="Arial" pitchFamily="34" charset="-122"/>
                <a:cs typeface="Arial" pitchFamily="34" charset="-120"/>
              </a:rPr>
              <a:t> Every routine quarterly monitoring done at home frees the slot for the patient who clinically needs the room. The pattern does not displace the clinical role. It changes which patients reach the clinic and why.</a:t>
            </a:r>
            <a:endParaRPr lang="en-US" sz="1100" dirty="0"/>
          </a:p>
        </p:txBody>
      </p:sp>
      <p:sp>
        <p:nvSpPr>
          <p:cNvPr id="51" name="Text 48"/>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Adam  ·  Hearts and Minds</a:t>
            </a:r>
            <a:endParaRPr lang="en-US" sz="850" dirty="0"/>
          </a:p>
        </p:txBody>
      </p:sp>
      <p:sp>
        <p:nvSpPr>
          <p:cNvPr id="52" name="Text 49"/>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3" name="Text 50"/>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C9A0E3"/>
          </a:solidFill>
          <a:ln w="12700">
            <a:solidFill>
              <a:srgbClr val="C9A0E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CLINICIAN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Hannah's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1788109"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1788109" cy="54864"/>
          </a:xfrm>
          <a:prstGeom prst="rect">
            <a:avLst/>
          </a:prstGeom>
          <a:solidFill>
            <a:srgbClr val="C9A0E3"/>
          </a:solidFill>
          <a:ln w="12700">
            <a:solidFill>
              <a:srgbClr val="C9A0E3"/>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list</a:t>
            </a:r>
            <a:endParaRPr lang="en-US" sz="1100" dirty="0"/>
          </a:p>
        </p:txBody>
      </p:sp>
      <p:sp>
        <p:nvSpPr>
          <p:cNvPr id="12" name="Text 9"/>
          <p:cNvSpPr/>
          <p:nvPr/>
        </p:nvSpPr>
        <p:spPr>
          <a:xfrm>
            <a:off x="585216"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patients she keeps rebooking</a:t>
            </a:r>
            <a:endParaRPr lang="en-US" sz="900" dirty="0"/>
          </a:p>
        </p:txBody>
      </p:sp>
      <p:sp>
        <p:nvSpPr>
          <p:cNvPr id="13" name="Shape 10"/>
          <p:cNvSpPr/>
          <p:nvPr/>
        </p:nvSpPr>
        <p:spPr>
          <a:xfrm>
            <a:off x="2355037" y="1234440"/>
            <a:ext cx="1788109"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355037" y="1234440"/>
            <a:ext cx="1788109" cy="54864"/>
          </a:xfrm>
          <a:prstGeom prst="rect">
            <a:avLst/>
          </a:prstGeom>
          <a:solidFill>
            <a:srgbClr val="C9A0E3"/>
          </a:solidFill>
          <a:ln w="12700">
            <a:solidFill>
              <a:srgbClr val="C9A0E3"/>
            </a:solidFill>
            <a:prstDash val="solid"/>
          </a:ln>
        </p:spPr>
      </p:sp>
      <p:sp>
        <p:nvSpPr>
          <p:cNvPr id="15" name="Shape 12"/>
          <p:cNvSpPr/>
          <p:nvPr/>
        </p:nvSpPr>
        <p:spPr>
          <a:xfrm>
            <a:off x="2483053"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483053"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2903677"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missed appointment</a:t>
            </a:r>
            <a:endParaRPr lang="en-US" sz="1100" dirty="0"/>
          </a:p>
        </p:txBody>
      </p:sp>
      <p:sp>
        <p:nvSpPr>
          <p:cNvPr id="18" name="Text 15"/>
          <p:cNvSpPr/>
          <p:nvPr/>
        </p:nvSpPr>
        <p:spPr>
          <a:xfrm>
            <a:off x="2483053"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15m a year, £216m, every practice in England</a:t>
            </a:r>
            <a:endParaRPr lang="en-US" sz="900" dirty="0"/>
          </a:p>
        </p:txBody>
      </p:sp>
      <p:sp>
        <p:nvSpPr>
          <p:cNvPr id="19" name="Shape 16"/>
          <p:cNvSpPr/>
          <p:nvPr/>
        </p:nvSpPr>
        <p:spPr>
          <a:xfrm>
            <a:off x="4252874" y="1234440"/>
            <a:ext cx="1788109"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4252874" y="1234440"/>
            <a:ext cx="1788109" cy="54864"/>
          </a:xfrm>
          <a:prstGeom prst="rect">
            <a:avLst/>
          </a:prstGeom>
          <a:solidFill>
            <a:srgbClr val="C9A0E3"/>
          </a:solidFill>
          <a:ln w="12700">
            <a:solidFill>
              <a:srgbClr val="C9A0E3"/>
            </a:solidFill>
            <a:prstDash val="solid"/>
          </a:ln>
        </p:spPr>
      </p:sp>
      <p:sp>
        <p:nvSpPr>
          <p:cNvPr id="21" name="Shape 18"/>
          <p:cNvSpPr/>
          <p:nvPr/>
        </p:nvSpPr>
        <p:spPr>
          <a:xfrm>
            <a:off x="4380890"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438089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4801514"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model's offer</a:t>
            </a:r>
            <a:endParaRPr lang="en-US" sz="1100" dirty="0"/>
          </a:p>
        </p:txBody>
      </p:sp>
      <p:sp>
        <p:nvSpPr>
          <p:cNvPr id="24" name="Text 21"/>
          <p:cNvSpPr/>
          <p:nvPr/>
        </p:nvSpPr>
        <p:spPr>
          <a:xfrm>
            <a:off x="4380890"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Kit out, result back to her record</a:t>
            </a:r>
            <a:endParaRPr lang="en-US" sz="900" dirty="0"/>
          </a:p>
        </p:txBody>
      </p:sp>
      <p:sp>
        <p:nvSpPr>
          <p:cNvPr id="25" name="Shape 22"/>
          <p:cNvSpPr/>
          <p:nvPr/>
        </p:nvSpPr>
        <p:spPr>
          <a:xfrm>
            <a:off x="6150712" y="1234440"/>
            <a:ext cx="1788109"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6150712" y="1234440"/>
            <a:ext cx="1788109" cy="54864"/>
          </a:xfrm>
          <a:prstGeom prst="rect">
            <a:avLst/>
          </a:prstGeom>
          <a:solidFill>
            <a:srgbClr val="C9A0E3"/>
          </a:solidFill>
          <a:ln w="12700">
            <a:solidFill>
              <a:srgbClr val="C9A0E3"/>
            </a:solidFill>
            <a:prstDash val="solid"/>
          </a:ln>
        </p:spPr>
      </p:sp>
      <p:sp>
        <p:nvSpPr>
          <p:cNvPr id="27" name="Shape 24"/>
          <p:cNvSpPr/>
          <p:nvPr/>
        </p:nvSpPr>
        <p:spPr>
          <a:xfrm>
            <a:off x="6278728"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6278728"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6699352"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First home prescriptions</a:t>
            </a:r>
            <a:endParaRPr lang="en-US" sz="1100" dirty="0"/>
          </a:p>
        </p:txBody>
      </p:sp>
      <p:sp>
        <p:nvSpPr>
          <p:cNvPr id="30" name="Text 27"/>
          <p:cNvSpPr/>
          <p:nvPr/>
        </p:nvSpPr>
        <p:spPr>
          <a:xfrm>
            <a:off x="6278728"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Layla and the early cohort</a:t>
            </a:r>
            <a:endParaRPr lang="en-US" sz="900" dirty="0"/>
          </a:p>
        </p:txBody>
      </p:sp>
      <p:sp>
        <p:nvSpPr>
          <p:cNvPr id="31" name="Shape 28"/>
          <p:cNvSpPr/>
          <p:nvPr/>
        </p:nvSpPr>
        <p:spPr>
          <a:xfrm>
            <a:off x="8048549" y="1234440"/>
            <a:ext cx="1788109"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8048549" y="1234440"/>
            <a:ext cx="1788109" cy="54864"/>
          </a:xfrm>
          <a:prstGeom prst="rect">
            <a:avLst/>
          </a:prstGeom>
          <a:solidFill>
            <a:srgbClr val="C9A0E3"/>
          </a:solidFill>
          <a:ln w="12700">
            <a:solidFill>
              <a:srgbClr val="C9A0E3"/>
            </a:solidFill>
            <a:prstDash val="solid"/>
          </a:ln>
        </p:spPr>
      </p:sp>
      <p:sp>
        <p:nvSpPr>
          <p:cNvPr id="33" name="Shape 30"/>
          <p:cNvSpPr/>
          <p:nvPr/>
        </p:nvSpPr>
        <p:spPr>
          <a:xfrm>
            <a:off x="817656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817656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8597189"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Routine monitoring in flight</a:t>
            </a:r>
            <a:endParaRPr lang="en-US" sz="1100" dirty="0"/>
          </a:p>
        </p:txBody>
      </p:sp>
      <p:sp>
        <p:nvSpPr>
          <p:cNvPr id="36" name="Text 33"/>
          <p:cNvSpPr/>
          <p:nvPr/>
        </p:nvSpPr>
        <p:spPr>
          <a:xfrm>
            <a:off x="8176565"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FBCs in the record, not in the diary</a:t>
            </a:r>
            <a:endParaRPr lang="en-US" sz="900" dirty="0"/>
          </a:p>
        </p:txBody>
      </p:sp>
      <p:sp>
        <p:nvSpPr>
          <p:cNvPr id="37" name="Shape 34"/>
          <p:cNvSpPr/>
          <p:nvPr/>
        </p:nvSpPr>
        <p:spPr>
          <a:xfrm>
            <a:off x="9946386" y="1234440"/>
            <a:ext cx="1788109" cy="1234440"/>
          </a:xfrm>
          <a:prstGeom prst="roundRect">
            <a:avLst>
              <a:gd name="adj" fmla="val 5926"/>
            </a:avLst>
          </a:prstGeom>
          <a:solidFill>
            <a:srgbClr val="F0F4F5"/>
          </a:solidFill>
          <a:ln w="9525">
            <a:solidFill>
              <a:srgbClr val="DDE3E8"/>
            </a:solidFill>
            <a:prstDash val="solid"/>
          </a:ln>
        </p:spPr>
      </p:sp>
      <p:sp>
        <p:nvSpPr>
          <p:cNvPr id="38" name="Shape 35"/>
          <p:cNvSpPr/>
          <p:nvPr/>
        </p:nvSpPr>
        <p:spPr>
          <a:xfrm>
            <a:off x="9946386" y="1234440"/>
            <a:ext cx="1788109" cy="54864"/>
          </a:xfrm>
          <a:prstGeom prst="rect">
            <a:avLst/>
          </a:prstGeom>
          <a:solidFill>
            <a:srgbClr val="C9A0E3"/>
          </a:solidFill>
          <a:ln w="12700">
            <a:solidFill>
              <a:srgbClr val="C9A0E3"/>
            </a:solidFill>
            <a:prstDash val="solid"/>
          </a:ln>
        </p:spPr>
      </p:sp>
      <p:sp>
        <p:nvSpPr>
          <p:cNvPr id="39" name="Shape 36"/>
          <p:cNvSpPr/>
          <p:nvPr/>
        </p:nvSpPr>
        <p:spPr>
          <a:xfrm>
            <a:off x="10074402" y="1417320"/>
            <a:ext cx="347472" cy="347472"/>
          </a:xfrm>
          <a:prstGeom prst="ellipse">
            <a:avLst/>
          </a:prstGeom>
          <a:solidFill>
            <a:srgbClr val="003087"/>
          </a:solidFill>
          <a:ln w="12700">
            <a:solidFill>
              <a:srgbClr val="003087"/>
            </a:solidFill>
            <a:prstDash val="solid"/>
          </a:ln>
        </p:spPr>
      </p:sp>
      <p:sp>
        <p:nvSpPr>
          <p:cNvPr id="40" name="Text 37"/>
          <p:cNvSpPr/>
          <p:nvPr/>
        </p:nvSpPr>
        <p:spPr>
          <a:xfrm>
            <a:off x="10074402"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41" name="Text 38"/>
          <p:cNvSpPr/>
          <p:nvPr/>
        </p:nvSpPr>
        <p:spPr>
          <a:xfrm>
            <a:off x="10495026"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practice shape now</a:t>
            </a:r>
            <a:endParaRPr lang="en-US" sz="1100" dirty="0"/>
          </a:p>
        </p:txBody>
      </p:sp>
      <p:sp>
        <p:nvSpPr>
          <p:cNvPr id="42" name="Text 39"/>
          <p:cNvSpPr/>
          <p:nvPr/>
        </p:nvSpPr>
        <p:spPr>
          <a:xfrm>
            <a:off x="10074402"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Slots for the patients who need clinic</a:t>
            </a:r>
            <a:endParaRPr lang="en-US" sz="900" dirty="0"/>
          </a:p>
        </p:txBody>
      </p:sp>
      <p:sp>
        <p:nvSpPr>
          <p:cNvPr id="43" name="Shape 40"/>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44" name="Text 41"/>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CLINICAL NORTH STAR</a:t>
            </a:r>
            <a:endParaRPr lang="en-US" sz="900" dirty="0"/>
          </a:p>
        </p:txBody>
      </p:sp>
      <p:sp>
        <p:nvSpPr>
          <p:cNvPr id="45" name="Text 42"/>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The clinical accountability does not move. The venue does.</a:t>
            </a:r>
            <a:endParaRPr lang="en-US" sz="1500" dirty="0"/>
          </a:p>
        </p:txBody>
      </p:sp>
      <p:sp>
        <p:nvSpPr>
          <p:cNvPr id="46" name="Text 43"/>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Hannah is not interested in a model that bypasses her record or sends raw numbers to a patient. The FBC result lands in her GP system as if it had been drawn at the practice. </a:t>
            </a:r>
            <a:pPr indent="0" marL="0">
              <a:buNone/>
            </a:pPr>
            <a:r>
              <a:rPr lang="en-US" sz="1100" b="1" dirty="0">
                <a:solidFill>
                  <a:srgbClr val="231F20"/>
                </a:solidFill>
                <a:latin typeface="Arial" pitchFamily="34" charset="0"/>
                <a:ea typeface="Arial" pitchFamily="34" charset="-122"/>
                <a:cs typeface="Arial" pitchFamily="34" charset="-120"/>
              </a:rPr>
              <a:t>The kit changes where the blood is taken. It does not change who reads the trend or who decides what happens next.</a:t>
            </a:r>
            <a:endParaRPr lang="en-US" sz="1100" dirty="0"/>
          </a:p>
        </p:txBody>
      </p:sp>
      <p:sp>
        <p:nvSpPr>
          <p:cNvPr id="47" name="Shape 44"/>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8" name="Text 45"/>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HER PRACTICE</a:t>
            </a:r>
            <a:endParaRPr lang="en-US" sz="900" dirty="0"/>
          </a:p>
        </p:txBody>
      </p:sp>
      <p:sp>
        <p:nvSpPr>
          <p:cNvPr id="49" name="Text 46"/>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Phlebotomy load lifted. DNA cycle broken. Capacity returned to the patients who need clinic.</a:t>
            </a:r>
            <a:endParaRPr lang="en-US" sz="1500" dirty="0"/>
          </a:p>
        </p:txBody>
      </p:sp>
      <p:sp>
        <p:nvSpPr>
          <p:cNvPr id="50" name="Text 47"/>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Practice-nurse phlebotomy</a:t>
            </a:r>
            <a:pPr indent="0" marL="0">
              <a:buNone/>
            </a:pPr>
            <a:r>
              <a:rPr lang="en-US" sz="1100" dirty="0">
                <a:solidFill>
                  <a:srgbClr val="231F20"/>
                </a:solidFill>
                <a:latin typeface="Arial" pitchFamily="34" charset="0"/>
                <a:ea typeface="Arial" pitchFamily="34" charset="-122"/>
                <a:cs typeface="Arial" pitchFamily="34" charset="-120"/>
              </a:rPr>
              <a:t> is a scarce resource, and the routine monitoring cycle consumes a lot of it. </a:t>
            </a:r>
            <a:pPr indent="0" marL="0">
              <a:buNone/>
            </a:pPr>
            <a:r>
              <a:rPr lang="en-US" sz="1100" b="1" dirty="0">
                <a:solidFill>
                  <a:srgbClr val="231F20"/>
                </a:solidFill>
                <a:latin typeface="Arial" pitchFamily="34" charset="0"/>
                <a:ea typeface="Arial" pitchFamily="34" charset="-122"/>
                <a:cs typeface="Arial" pitchFamily="34" charset="-120"/>
              </a:rPr>
              <a:t>DNA-driven rework</a:t>
            </a:r>
            <a:pPr indent="0" marL="0">
              <a:buNone/>
            </a:pPr>
            <a:r>
              <a:rPr lang="en-US" sz="1100" dirty="0">
                <a:solidFill>
                  <a:srgbClr val="231F20"/>
                </a:solidFill>
                <a:latin typeface="Arial" pitchFamily="34" charset="0"/>
                <a:ea typeface="Arial" pitchFamily="34" charset="-122"/>
                <a:cs typeface="Arial" pitchFamily="34" charset="-120"/>
              </a:rPr>
              <a:t> compounds the problem: missed appointment, rebook, miss again. </a:t>
            </a:r>
            <a:pPr indent="0" marL="0">
              <a:buNone/>
            </a:pPr>
            <a:r>
              <a:rPr lang="en-US" sz="1100" b="1" dirty="0">
                <a:solidFill>
                  <a:srgbClr val="231F20"/>
                </a:solidFill>
                <a:latin typeface="Arial" pitchFamily="34" charset="0"/>
                <a:ea typeface="Arial" pitchFamily="34" charset="-122"/>
                <a:cs typeface="Arial" pitchFamily="34" charset="-120"/>
              </a:rPr>
              <a:t>The home-test cycle</a:t>
            </a:r>
            <a:pPr indent="0" marL="0">
              <a:buNone/>
            </a:pPr>
            <a:r>
              <a:rPr lang="en-US" sz="1100" dirty="0">
                <a:solidFill>
                  <a:srgbClr val="231F20"/>
                </a:solidFill>
                <a:latin typeface="Arial" pitchFamily="34" charset="0"/>
                <a:ea typeface="Arial" pitchFamily="34" charset="-122"/>
                <a:cs typeface="Arial" pitchFamily="34" charset="-120"/>
              </a:rPr>
              <a:t> removes the venue constraint, returns the practice nurse slot to acute or complex patients, and surfaces the trend on Hannah's screen on time.</a:t>
            </a:r>
            <a:endParaRPr lang="en-US" sz="1100" dirty="0"/>
          </a:p>
        </p:txBody>
      </p:sp>
      <p:sp>
        <p:nvSpPr>
          <p:cNvPr id="51" name="Text 48"/>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Hannah  ·  Hearts and Minds</a:t>
            </a:r>
            <a:endParaRPr lang="en-US" sz="850" dirty="0"/>
          </a:p>
        </p:txBody>
      </p:sp>
      <p:sp>
        <p:nvSpPr>
          <p:cNvPr id="52" name="Text 49"/>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3" name="Text 50"/>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5BC093"/>
          </a:solidFill>
          <a:ln w="12700">
            <a:solidFill>
              <a:srgbClr val="5BC09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SUPPLIER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Joe's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1788109"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1788109" cy="54864"/>
          </a:xfrm>
          <a:prstGeom prst="rect">
            <a:avLst/>
          </a:prstGeom>
          <a:solidFill>
            <a:srgbClr val="5BC093"/>
          </a:solidFill>
          <a:ln w="12700">
            <a:solidFill>
              <a:srgbClr val="5BC093"/>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Find the framework</a:t>
            </a:r>
            <a:endParaRPr lang="en-US" sz="1100" dirty="0"/>
          </a:p>
        </p:txBody>
      </p:sp>
      <p:sp>
        <p:nvSpPr>
          <p:cNvPr id="12" name="Text 9"/>
          <p:cNvSpPr/>
          <p:nvPr/>
        </p:nvSpPr>
        <p:spPr>
          <a:xfrm>
            <a:off x="585216"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Public criteria pack</a:t>
            </a:r>
            <a:endParaRPr lang="en-US" sz="900" dirty="0"/>
          </a:p>
        </p:txBody>
      </p:sp>
      <p:sp>
        <p:nvSpPr>
          <p:cNvPr id="13" name="Shape 10"/>
          <p:cNvSpPr/>
          <p:nvPr/>
        </p:nvSpPr>
        <p:spPr>
          <a:xfrm>
            <a:off x="2355037" y="1234440"/>
            <a:ext cx="1788109"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355037" y="1234440"/>
            <a:ext cx="1788109" cy="54864"/>
          </a:xfrm>
          <a:prstGeom prst="rect">
            <a:avLst/>
          </a:prstGeom>
          <a:solidFill>
            <a:srgbClr val="5BC093"/>
          </a:solidFill>
          <a:ln w="12700">
            <a:solidFill>
              <a:srgbClr val="5BC093"/>
            </a:solidFill>
            <a:prstDash val="solid"/>
          </a:ln>
        </p:spPr>
      </p:sp>
      <p:sp>
        <p:nvSpPr>
          <p:cNvPr id="15" name="Shape 12"/>
          <p:cNvSpPr/>
          <p:nvPr/>
        </p:nvSpPr>
        <p:spPr>
          <a:xfrm>
            <a:off x="2483053"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483053"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2903677"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Self-assess</a:t>
            </a:r>
            <a:endParaRPr lang="en-US" sz="1100" dirty="0"/>
          </a:p>
        </p:txBody>
      </p:sp>
      <p:sp>
        <p:nvSpPr>
          <p:cNvPr id="18" name="Text 15"/>
          <p:cNvSpPr/>
          <p:nvPr/>
        </p:nvSpPr>
        <p:spPr>
          <a:xfrm>
            <a:off x="2483053"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No NHSE meeting needed yet</a:t>
            </a:r>
            <a:endParaRPr lang="en-US" sz="900" dirty="0"/>
          </a:p>
        </p:txBody>
      </p:sp>
      <p:sp>
        <p:nvSpPr>
          <p:cNvPr id="19" name="Shape 16"/>
          <p:cNvSpPr/>
          <p:nvPr/>
        </p:nvSpPr>
        <p:spPr>
          <a:xfrm>
            <a:off x="4252874" y="1234440"/>
            <a:ext cx="1788109"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4252874" y="1234440"/>
            <a:ext cx="1788109" cy="54864"/>
          </a:xfrm>
          <a:prstGeom prst="rect">
            <a:avLst/>
          </a:prstGeom>
          <a:solidFill>
            <a:srgbClr val="5BC093"/>
          </a:solidFill>
          <a:ln w="12700">
            <a:solidFill>
              <a:srgbClr val="5BC093"/>
            </a:solidFill>
            <a:prstDash val="solid"/>
          </a:ln>
        </p:spPr>
      </p:sp>
      <p:sp>
        <p:nvSpPr>
          <p:cNvPr id="21" name="Shape 18"/>
          <p:cNvSpPr/>
          <p:nvPr/>
        </p:nvSpPr>
        <p:spPr>
          <a:xfrm>
            <a:off x="4380890"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438089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4801514"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Submit the EOI</a:t>
            </a:r>
            <a:endParaRPr lang="en-US" sz="1100" dirty="0"/>
          </a:p>
        </p:txBody>
      </p:sp>
      <p:sp>
        <p:nvSpPr>
          <p:cNvPr id="24" name="Text 21"/>
          <p:cNvSpPr/>
          <p:nvPr/>
        </p:nvSpPr>
        <p:spPr>
          <a:xfrm>
            <a:off x="4380890"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Structured, evidenced</a:t>
            </a:r>
            <a:endParaRPr lang="en-US" sz="900" dirty="0"/>
          </a:p>
        </p:txBody>
      </p:sp>
      <p:sp>
        <p:nvSpPr>
          <p:cNvPr id="25" name="Shape 22"/>
          <p:cNvSpPr/>
          <p:nvPr/>
        </p:nvSpPr>
        <p:spPr>
          <a:xfrm>
            <a:off x="6150712" y="1234440"/>
            <a:ext cx="1788109"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6150712" y="1234440"/>
            <a:ext cx="1788109" cy="54864"/>
          </a:xfrm>
          <a:prstGeom prst="rect">
            <a:avLst/>
          </a:prstGeom>
          <a:solidFill>
            <a:srgbClr val="5BC093"/>
          </a:solidFill>
          <a:ln w="12700">
            <a:solidFill>
              <a:srgbClr val="5BC093"/>
            </a:solidFill>
            <a:prstDash val="solid"/>
          </a:ln>
        </p:spPr>
      </p:sp>
      <p:sp>
        <p:nvSpPr>
          <p:cNvPr id="27" name="Shape 24"/>
          <p:cNvSpPr/>
          <p:nvPr/>
        </p:nvSpPr>
        <p:spPr>
          <a:xfrm>
            <a:off x="6278728"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6278728"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6699352"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Through the gate</a:t>
            </a:r>
            <a:endParaRPr lang="en-US" sz="1100" dirty="0"/>
          </a:p>
        </p:txBody>
      </p:sp>
      <p:sp>
        <p:nvSpPr>
          <p:cNvPr id="30" name="Text 27"/>
          <p:cNvSpPr/>
          <p:nvPr/>
        </p:nvSpPr>
        <p:spPr>
          <a:xfrm>
            <a:off x="6278728"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Triage, review, conformance</a:t>
            </a:r>
            <a:endParaRPr lang="en-US" sz="900" dirty="0"/>
          </a:p>
        </p:txBody>
      </p:sp>
      <p:sp>
        <p:nvSpPr>
          <p:cNvPr id="31" name="Shape 28"/>
          <p:cNvSpPr/>
          <p:nvPr/>
        </p:nvSpPr>
        <p:spPr>
          <a:xfrm>
            <a:off x="8048549" y="1234440"/>
            <a:ext cx="1788109"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8048549" y="1234440"/>
            <a:ext cx="1788109" cy="54864"/>
          </a:xfrm>
          <a:prstGeom prst="rect">
            <a:avLst/>
          </a:prstGeom>
          <a:solidFill>
            <a:srgbClr val="5BC093"/>
          </a:solidFill>
          <a:ln w="12700">
            <a:solidFill>
              <a:srgbClr val="5BC093"/>
            </a:solidFill>
            <a:prstDash val="solid"/>
          </a:ln>
        </p:spPr>
      </p:sp>
      <p:sp>
        <p:nvSpPr>
          <p:cNvPr id="33" name="Shape 30"/>
          <p:cNvSpPr/>
          <p:nvPr/>
        </p:nvSpPr>
        <p:spPr>
          <a:xfrm>
            <a:off x="817656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817656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8597189"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First commissioner calls off</a:t>
            </a:r>
            <a:endParaRPr lang="en-US" sz="1100" dirty="0"/>
          </a:p>
        </p:txBody>
      </p:sp>
      <p:sp>
        <p:nvSpPr>
          <p:cNvPr id="36" name="Text 33"/>
          <p:cNvSpPr/>
          <p:nvPr/>
        </p:nvSpPr>
        <p:spPr>
          <a:xfrm>
            <a:off x="8176565"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No re-assurance</a:t>
            </a:r>
            <a:endParaRPr lang="en-US" sz="900" dirty="0"/>
          </a:p>
        </p:txBody>
      </p:sp>
      <p:sp>
        <p:nvSpPr>
          <p:cNvPr id="37" name="Shape 34"/>
          <p:cNvSpPr/>
          <p:nvPr/>
        </p:nvSpPr>
        <p:spPr>
          <a:xfrm>
            <a:off x="9946386" y="1234440"/>
            <a:ext cx="1788109" cy="1234440"/>
          </a:xfrm>
          <a:prstGeom prst="roundRect">
            <a:avLst>
              <a:gd name="adj" fmla="val 5926"/>
            </a:avLst>
          </a:prstGeom>
          <a:solidFill>
            <a:srgbClr val="F0F4F5"/>
          </a:solidFill>
          <a:ln w="9525">
            <a:solidFill>
              <a:srgbClr val="DDE3E8"/>
            </a:solidFill>
            <a:prstDash val="solid"/>
          </a:ln>
        </p:spPr>
      </p:sp>
      <p:sp>
        <p:nvSpPr>
          <p:cNvPr id="38" name="Shape 35"/>
          <p:cNvSpPr/>
          <p:nvPr/>
        </p:nvSpPr>
        <p:spPr>
          <a:xfrm>
            <a:off x="9946386" y="1234440"/>
            <a:ext cx="1788109" cy="54864"/>
          </a:xfrm>
          <a:prstGeom prst="rect">
            <a:avLst/>
          </a:prstGeom>
          <a:solidFill>
            <a:srgbClr val="5BC093"/>
          </a:solidFill>
          <a:ln w="12700">
            <a:solidFill>
              <a:srgbClr val="5BC093"/>
            </a:solidFill>
            <a:prstDash val="solid"/>
          </a:ln>
        </p:spPr>
      </p:sp>
      <p:sp>
        <p:nvSpPr>
          <p:cNvPr id="39" name="Shape 36"/>
          <p:cNvSpPr/>
          <p:nvPr/>
        </p:nvSpPr>
        <p:spPr>
          <a:xfrm>
            <a:off x="10074402" y="1417320"/>
            <a:ext cx="347472" cy="347472"/>
          </a:xfrm>
          <a:prstGeom prst="ellipse">
            <a:avLst/>
          </a:prstGeom>
          <a:solidFill>
            <a:srgbClr val="003087"/>
          </a:solidFill>
          <a:ln w="12700">
            <a:solidFill>
              <a:srgbClr val="003087"/>
            </a:solidFill>
            <a:prstDash val="solid"/>
          </a:ln>
        </p:spPr>
      </p:sp>
      <p:sp>
        <p:nvSpPr>
          <p:cNvPr id="40" name="Text 37"/>
          <p:cNvSpPr/>
          <p:nvPr/>
        </p:nvSpPr>
        <p:spPr>
          <a:xfrm>
            <a:off x="10074402"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41" name="Text 38"/>
          <p:cNvSpPr/>
          <p:nvPr/>
        </p:nvSpPr>
        <p:spPr>
          <a:xfrm>
            <a:off x="10495026"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Reuse across the cohort</a:t>
            </a:r>
            <a:endParaRPr lang="en-US" sz="1100" dirty="0"/>
          </a:p>
        </p:txBody>
      </p:sp>
      <p:sp>
        <p:nvSpPr>
          <p:cNvPr id="42" name="Text 39"/>
          <p:cNvSpPr/>
          <p:nvPr/>
        </p:nvSpPr>
        <p:spPr>
          <a:xfrm>
            <a:off x="10074402"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One certificate, many deployments</a:t>
            </a:r>
            <a:endParaRPr lang="en-US" sz="900" dirty="0"/>
          </a:p>
        </p:txBody>
      </p:sp>
      <p:sp>
        <p:nvSpPr>
          <p:cNvPr id="43" name="Shape 40"/>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44" name="Text 41"/>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SUPPLIER-SIDE NORTH STAR</a:t>
            </a:r>
            <a:endParaRPr lang="en-US" sz="900" dirty="0"/>
          </a:p>
        </p:txBody>
      </p:sp>
      <p:sp>
        <p:nvSpPr>
          <p:cNvPr id="45" name="Text 42"/>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Assure once. Reuse nationally.</a:t>
            </a:r>
            <a:endParaRPr lang="en-US" sz="1500" dirty="0"/>
          </a:p>
        </p:txBody>
      </p:sp>
      <p:sp>
        <p:nvSpPr>
          <p:cNvPr id="46" name="Text 43"/>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A supplier evidences core compliance once per API they connect to. Adding a new test under an onboarded API is a lightweight check, not a full repeat. The clinical safety case, the IG package and the lab assurance are then portable across every commissioner who calls them off. </a:t>
            </a:r>
            <a:pPr indent="0" marL="0">
              <a:buNone/>
            </a:pPr>
            <a:r>
              <a:rPr lang="en-US" sz="1100" b="1" dirty="0">
                <a:solidFill>
                  <a:srgbClr val="231F20"/>
                </a:solidFill>
                <a:latin typeface="Arial" pitchFamily="34" charset="0"/>
                <a:ea typeface="Arial" pitchFamily="34" charset="-122"/>
                <a:cs typeface="Arial" pitchFamily="34" charset="-120"/>
              </a:rPr>
              <a:t>The local body acts as the deployment authority. Not as a re-assurer.</a:t>
            </a:r>
            <a:endParaRPr lang="en-US" sz="1100" dirty="0"/>
          </a:p>
        </p:txBody>
      </p:sp>
      <p:sp>
        <p:nvSpPr>
          <p:cNvPr id="47" name="Shape 44"/>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8" name="Text 45"/>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HIS BUSINESS</a:t>
            </a:r>
            <a:endParaRPr lang="en-US" sz="900" dirty="0"/>
          </a:p>
        </p:txBody>
      </p:sp>
      <p:sp>
        <p:nvSpPr>
          <p:cNvPr id="49" name="Text 46"/>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No per-commissioner negotiation. One conformance certificate, fifty deployments.</a:t>
            </a:r>
            <a:endParaRPr lang="en-US" sz="1500" dirty="0"/>
          </a:p>
        </p:txBody>
      </p:sp>
      <p:sp>
        <p:nvSpPr>
          <p:cNvPr id="50" name="Text 47"/>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Bespoke per-LA contracting</a:t>
            </a:r>
            <a:pPr indent="0" marL="0">
              <a:buNone/>
            </a:pPr>
            <a:r>
              <a:rPr lang="en-US" sz="1100" dirty="0">
                <a:solidFill>
                  <a:srgbClr val="231F20"/>
                </a:solidFill>
                <a:latin typeface="Arial" pitchFamily="34" charset="0"/>
                <a:ea typeface="Arial" pitchFamily="34" charset="-122"/>
                <a:cs typeface="Arial" pitchFamily="34" charset="-120"/>
              </a:rPr>
              <a:t> historically takes 3-6 months per call-off. </a:t>
            </a:r>
            <a:pPr indent="0" marL="0">
              <a:buNone/>
            </a:pPr>
            <a:r>
              <a:rPr lang="en-US" sz="1100" b="1" dirty="0">
                <a:solidFill>
                  <a:srgbClr val="231F20"/>
                </a:solidFill>
                <a:latin typeface="Arial" pitchFamily="34" charset="0"/>
                <a:ea typeface="Arial" pitchFamily="34" charset="-122"/>
                <a:cs typeface="Arial" pitchFamily="34" charset="-120"/>
              </a:rPr>
              <a:t>Per-deployment DPIA and DSA</a:t>
            </a:r>
            <a:pPr indent="0" marL="0">
              <a:buNone/>
            </a:pPr>
            <a:r>
              <a:rPr lang="en-US" sz="1100" dirty="0">
                <a:solidFill>
                  <a:srgbClr val="231F20"/>
                </a:solidFill>
                <a:latin typeface="Arial" pitchFamily="34" charset="0"/>
                <a:ea typeface="Arial" pitchFamily="34" charset="-122"/>
                <a:cs typeface="Arial" pitchFamily="34" charset="-120"/>
              </a:rPr>
              <a:t> reassessment burns clinical and IG capacity Joe does not have. </a:t>
            </a:r>
            <a:pPr indent="0" marL="0">
              <a:buNone/>
            </a:pPr>
            <a:r>
              <a:rPr lang="en-US" sz="1100" b="1" dirty="0">
                <a:solidFill>
                  <a:srgbClr val="231F20"/>
                </a:solidFill>
                <a:latin typeface="Arial" pitchFamily="34" charset="0"/>
                <a:ea typeface="Arial" pitchFamily="34" charset="-122"/>
                <a:cs typeface="Arial" pitchFamily="34" charset="-120"/>
              </a:rPr>
              <a:t>The framework</a:t>
            </a:r>
            <a:pPr indent="0" marL="0">
              <a:buNone/>
            </a:pPr>
            <a:r>
              <a:rPr lang="en-US" sz="1100" dirty="0">
                <a:solidFill>
                  <a:srgbClr val="231F20"/>
                </a:solidFill>
                <a:latin typeface="Arial" pitchFamily="34" charset="0"/>
                <a:ea typeface="Arial" pitchFamily="34" charset="-122"/>
                <a:cs typeface="Arial" pitchFamily="34" charset="-120"/>
              </a:rPr>
              <a:t> publishes the templates once and admits the supplier once. Every call-off that follows lands on the same artefact stack, the same contract template, the same conformance certificate.</a:t>
            </a:r>
            <a:endParaRPr lang="en-US" sz="1100" dirty="0"/>
          </a:p>
        </p:txBody>
      </p:sp>
      <p:sp>
        <p:nvSpPr>
          <p:cNvPr id="51" name="Text 48"/>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Joe  ·  Hearts and Minds</a:t>
            </a:r>
            <a:endParaRPr lang="en-US" sz="850" dirty="0"/>
          </a:p>
        </p:txBody>
      </p:sp>
      <p:sp>
        <p:nvSpPr>
          <p:cNvPr id="52" name="Text 49"/>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3" name="Text 50"/>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15</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HomeTest Hearts and Minds: the cast</dc:title>
  <dc:subject>PptxGenJS Presentation</dc:subject>
  <dc:creator>PptxGenJS</dc:creator>
  <cp:lastModifiedBy>PptxGenJS</cp:lastModifiedBy>
  <cp:revision>1</cp:revision>
  <dcterms:created xsi:type="dcterms:W3CDTF">2026-09-05T07:23:55Z</dcterms:created>
  <dcterms:modified xsi:type="dcterms:W3CDTF">2026-09-05T07:23:55Z</dcterms:modified>
</cp:coreProperties>
</file>