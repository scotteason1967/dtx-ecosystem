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 Hidden risk, found by his app. Abdul is 38, works full-time, has young kids, and knows heart trouble runs in his family. The NHS App nudges him toward a home test that catches cardiovascular risk markers nobody else was going to find. This is the story of how the cohort gets identified before the symptoms show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 A Saturday, not a sick day. Devi is 47, works full-time as a care coordinator, has two children and a mother she helps care for. Her GP, Hannah, holds her on the practice at-risk register. Family history of type 2 diabetes and her ethnicity put her HbA1c on annual review. Her last result sat at 44 mmol/mol, comfortably below diagnosis but firmly in the pre-diabetes band. The Tuesday-morning slot to get the next blood was never going to happen. This is the story of how she stays in surveillance without staying out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Layla: Three years on the tablets. The trend is the treatment. Layla is 42, a single parent with two school-age kids and two part-time jobs, one of them on shifts. Her iron deficiency anaemia was diagnosed three years ago; she has been on ferrous sulphate since, and her GP, Hannah, needs a full blood count and ferritin every six months to know whether it is still working. Nobody doubts Layla will take the tablets. The question is whether anyone will see the trend. This is the story of a monitoring cycle that holds because it stopped asking for her working hours. It is told as an illustration: the anaemia configuration is held under the Prioritisation Framework, not in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His consultant still reads the trend. Mark is 65. Diagnosed with low-risk prostate cancer and placed on active surveillance under Adam at the local trust. The quarterly PSA is supposed to be routine. The clinic trip to get it is anything but. This is the story of how the surveillance happens at home and the clinical accountability stays in clinic.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Sean: Reaching him. Sean has been on every NHS list since he was a child. Being on the lists has never been the hard part. The path from being identified, to getting the test done on time, to the result reaching the family who can act on it. That is where it falls down. The clinic venue assumes a prepared adult arriving on time. Sean is not that adult, for reasons that are neither his fault nor solvable by a flag on his record. This is the story of what changes when the test comes to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Anita: Anita commissions the register. Not each appointment. Anita commissions primary-care diagnostic monitoring for her Integrated Care Board. HbA1c annual reviews for the at-risk register run into tens of thousands annually across her patch. The register is growing as diabetes-prevention referrals build the risk cohort. Practice nurses are scarce. Phlebotomy appointments are the bottleneck. The cohort most likely to miss the appointment is the cohort most in need of the surveillance, shift workers, carers, deprived-ward residents. She has the QOF-adjacent funding architecture, no landed home-testing route, and a growing register. This is the story of one ICB/GP commissioner, one platform, one register-level arrangement, and an operating model that lets her commission at register scale rather than practice by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Catherine: Catherine commissions the pathway. Not each patient. Catherine commissions the PSA active-surveillance pathway across her Integrated Care Board. Consultant urologists across her acute Trusts follow the NICE NG131 monitoring cadence for men on AS; the patient volume runs into hundreds annually across her ICB. Today the pathway sits on outpatient tariff and phlebotomy access, both of which are pinching against post-pandemic clinic capacity. She has the budget envelope, an NHS-mandate route into her Trust partners, and no existing framework to lean on for home-collected sampling at scale. This is the story of one ICB commissioner, one platform, one national arrangement, and an operating model that lets her commission the pathway rather than each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 The cohort between two budgets, and the commissioner who has to own it. Ruth is the commissioner who will buy PSA monitoring for men referred to Urology with a raised PSA and no cancer diagnosis. Today that cohort sits between primary and secondary care, with no single budget holder, no agreed protocol cadence and no one counting whether the monitoring happens. This is the journey the model expects her to take once the cohort design lands, told in six stages, with the open specifics deliberately left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Sarah signs once. Not once a quarter. Sarah commissions sexual health for her Local Authority. UKHSA data shows an HIV detection gap concentrated in the wards her service struggles hardest to reach. She has the budget. She does not have the headcount to design a bespoke procurement around home self-testing for every supplier on the market. This is the story of one commissioner, one platform, one signature, and an operating model that does the procurement work for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patients he cannot see stay in surveillance. Adam is a consultant urologist running a PSA Active Surveillance cohort at a large acute trust. He sees his patients on a quarterly cycle. Some miss appointments because of work, travel or caring responsibilities. Some drop out of surveillance entirely. The drop-outs are the patients he worries about most. This is the story of how the model lets him keep more patients in surveillance without his clinic growing.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Hannah: The bloods that never needed a clinic. Hannah is a GP partner. She runs the routine Iron deficiency anaemia review cycle for her practice. Layla is on her list. So are a hundred others. Every quarter she runs the same six-month FBC clinic, and every quarter the same patients miss the appointment, get rebooked, and miss again. The cycle has nothing to do with the bloods themselves. This is the story of how the model lets her hold the cohort without holding their diaries.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Joe: Admitted once. Reused everywhere. Joe runs a self-sample diagnostics business. Twenty staff, two labs, a kit, a clinical safety officer, the regulatory paperwork done. The market is fragmented, every commissioner wants their own DPIA, their own contract, their own assurance pack. This is the story of how the framework turns one admission into many deployments, without a fresh assurance pass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image" Target="../media/image-1-8.jpg"/><Relationship Id="rId9" Type="http://schemas.openxmlformats.org/officeDocument/2006/relationships/image" Target="../media/image-1-9.jpg"/><Relationship Id="rId10" Type="http://schemas.openxmlformats.org/officeDocument/2006/relationships/image" Target="../media/image-1-10.jpg"/><Relationship Id="rId11" Type="http://schemas.openxmlformats.org/officeDocument/2006/relationships/image" Target="../media/image-1-11.jpg"/><Relationship Id="rId12" Type="http://schemas.openxmlformats.org/officeDocument/2006/relationships/image" Target="../media/image-1-12.jpg"/><Relationship Id="rId13" Type="http://schemas.openxmlformats.org/officeDocument/2006/relationships/image" Target="../media/image-1-13.jp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1.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image" Target="../media/image-14-8.jpg"/><Relationship Id="rId9" Type="http://schemas.openxmlformats.org/officeDocument/2006/relationships/image" Target="../media/image-14-9.jpg"/><Relationship Id="rId10" Type="http://schemas.openxmlformats.org/officeDocument/2006/relationships/image" Target="../media/image-14-10.jpg"/><Relationship Id="rId11" Type="http://schemas.openxmlformats.org/officeDocument/2006/relationships/image" Target="../media/image-14-11.jpg"/><Relationship Id="rId12" Type="http://schemas.openxmlformats.org/officeDocument/2006/relationships/image" Target="../media/image-14-12.jpg"/><Relationship Id="rId13" Type="http://schemas.openxmlformats.org/officeDocument/2006/relationships/image" Target="../media/image-14-13.jpg"/><Relationship Id="rId14" Type="http://schemas.openxmlformats.org/officeDocument/2006/relationships/slideLayout" Target="../slideLayouts/slideLayout1.xml"/><Relationship Id="rId1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685800" y="557784"/>
            <a:ext cx="586212" cy="457200"/>
          </a:xfrm>
          <a:prstGeom prst="rect">
            <a:avLst/>
          </a:prstGeom>
        </p:spPr>
      </p:pic>
      <p:sp>
        <p:nvSpPr>
          <p:cNvPr id="4" name="Text 1"/>
          <p:cNvSpPr/>
          <p:nvPr/>
        </p:nvSpPr>
        <p:spPr>
          <a:xfrm>
            <a:off x="548640" y="1188720"/>
            <a:ext cx="548640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THE WHOLE CAST</a:t>
            </a:r>
            <a:endParaRPr lang="en-US" sz="1000" dirty="0"/>
          </a:p>
        </p:txBody>
      </p:sp>
      <p:sp>
        <p:nvSpPr>
          <p:cNvPr id="5" name="Text 2"/>
          <p:cNvSpPr/>
          <p:nvPr/>
        </p:nvSpPr>
        <p:spPr>
          <a:xfrm>
            <a:off x="548640" y="1508760"/>
            <a:ext cx="5852160" cy="1463040"/>
          </a:xfrm>
          <a:prstGeom prst="rect">
            <a:avLst/>
          </a:prstGeom>
          <a:noFill/>
          <a:ln/>
        </p:spPr>
        <p:txBody>
          <a:bodyPr wrap="square" lIns="0" tIns="0" rIns="0" bIns="0" rtlCol="0" anchor="t"/>
          <a:lstStyle/>
          <a:p>
            <a:pPr indent="0" marL="0">
              <a:buNone/>
            </a:pPr>
            <a:r>
              <a:rPr lang="en-US" sz="3800" b="1" dirty="0">
                <a:solidFill>
                  <a:srgbClr val="FFFFFF"/>
                </a:solidFill>
                <a:latin typeface="Segoe UI" pitchFamily="34" charset="0"/>
                <a:ea typeface="Segoe UI" pitchFamily="34" charset="-122"/>
                <a:cs typeface="Segoe UI" pitchFamily="34" charset="-120"/>
              </a:rPr>
              <a:t>Twelve people. One operating model.</a:t>
            </a:r>
            <a:endParaRPr lang="en-US" sz="3800" dirty="0"/>
          </a:p>
        </p:txBody>
      </p:sp>
      <p:sp>
        <p:nvSpPr>
          <p:cNvPr id="6" name="Text 3"/>
          <p:cNvSpPr/>
          <p:nvPr/>
        </p:nvSpPr>
        <p:spPr>
          <a:xfrm>
            <a:off x="548640" y="3108960"/>
            <a:ext cx="5669280" cy="1491234"/>
          </a:xfrm>
          <a:prstGeom prst="rect">
            <a:avLst/>
          </a:prstGeom>
          <a:noFill/>
          <a:ln/>
        </p:spPr>
        <p:txBody>
          <a:bodyPr wrap="square" lIns="0" tIns="0" rIns="0" bIns="0" rtlCol="0" anchor="t">
            <a:normAutofit/>
          </a:bodyPr>
          <a:lstStyle/>
          <a:p>
            <a:pPr indent="0" marL="0">
              <a:buNone/>
            </a:pPr>
            <a:r>
              <a:rPr lang="en-US" sz="1450" dirty="0">
                <a:solidFill>
                  <a:srgbClr val="CFE0F5"/>
                </a:solidFill>
                <a:latin typeface="Segoe UI" pitchFamily="34" charset="0"/>
                <a:ea typeface="Segoe UI" pitchFamily="34" charset="-122"/>
                <a:cs typeface="Segoe UI" pitchFamily="34" charset="-120"/>
              </a:rPr>
              <a:t>Every service in the model is designed around named people: the patients it must reach, the commissioners who buy it, the clinicians who order it and read the results, and the suppliers who make it work. This deck is one slide per person, each drawn from their full journey.</a:t>
            </a:r>
            <a:endParaRPr lang="en-US" sz="1450" dirty="0"/>
          </a:p>
        </p:txBody>
      </p:sp>
      <p:sp>
        <p:nvSpPr>
          <p:cNvPr id="7" name="Shape 4"/>
          <p:cNvSpPr/>
          <p:nvPr/>
        </p:nvSpPr>
        <p:spPr>
          <a:xfrm>
            <a:off x="6813766" y="649224"/>
            <a:ext cx="1124712" cy="1124712"/>
          </a:xfrm>
          <a:prstGeom prst="ellipse">
            <a:avLst/>
          </a:prstGeom>
          <a:solidFill>
            <a:srgbClr val="FFFFFF"/>
          </a:solidFill>
          <a:ln w="12700">
            <a:solidFill>
              <a:srgbClr val="FFFFFF"/>
            </a:solidFill>
            <a:prstDash val="solid"/>
          </a:ln>
        </p:spPr>
      </p:sp>
      <p:pic>
        <p:nvPicPr>
          <p:cNvPr id="8" name="Image 1" descr="/sessions/quirky-zen-galileo/mnt/outputs/jd/img/abdul-portrait.jpg">    </p:cNvPr>
          <p:cNvPicPr>
            <a:picLocks noChangeAspect="1"/>
          </p:cNvPicPr>
          <p:nvPr/>
        </p:nvPicPr>
        <p:blipFill>
          <a:blip r:embed="rId2"/>
          <a:stretch>
            <a:fillRect/>
          </a:stretch>
        </p:blipFill>
        <p:spPr>
          <a:xfrm>
            <a:off x="6850342" y="685800"/>
            <a:ext cx="1051560" cy="1051560"/>
          </a:xfrm>
          <a:prstGeom prst="ellipse">
            <a:avLst/>
          </a:prstGeom>
        </p:spPr>
      </p:pic>
      <p:sp>
        <p:nvSpPr>
          <p:cNvPr id="9" name="Text 5"/>
          <p:cNvSpPr/>
          <p:nvPr/>
        </p:nvSpPr>
        <p:spPr>
          <a:xfrm>
            <a:off x="6766560" y="178308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Abdul</a:t>
            </a:r>
            <a:endParaRPr lang="en-US" sz="1300" dirty="0"/>
          </a:p>
        </p:txBody>
      </p:sp>
      <p:sp>
        <p:nvSpPr>
          <p:cNvPr id="10" name="Text 6"/>
          <p:cNvSpPr/>
          <p:nvPr/>
        </p:nvSpPr>
        <p:spPr>
          <a:xfrm>
            <a:off x="6766560" y="203911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Patient</a:t>
            </a:r>
            <a:endParaRPr lang="en-US" sz="950" dirty="0"/>
          </a:p>
        </p:txBody>
      </p:sp>
      <p:sp>
        <p:nvSpPr>
          <p:cNvPr id="11" name="Shape 7"/>
          <p:cNvSpPr/>
          <p:nvPr/>
        </p:nvSpPr>
        <p:spPr>
          <a:xfrm>
            <a:off x="8032890" y="649224"/>
            <a:ext cx="1124712" cy="1124712"/>
          </a:xfrm>
          <a:prstGeom prst="ellipse">
            <a:avLst/>
          </a:prstGeom>
          <a:solidFill>
            <a:srgbClr val="FFFFFF"/>
          </a:solidFill>
          <a:ln w="12700">
            <a:solidFill>
              <a:srgbClr val="FFFFFF"/>
            </a:solidFill>
            <a:prstDash val="solid"/>
          </a:ln>
        </p:spPr>
      </p:sp>
      <p:pic>
        <p:nvPicPr>
          <p:cNvPr id="12" name="Image 2" descr="/sessions/quirky-zen-galileo/mnt/outputs/jd/img/devi-portrait.jpg">    </p:cNvPr>
          <p:cNvPicPr>
            <a:picLocks noChangeAspect="1"/>
          </p:cNvPicPr>
          <p:nvPr/>
        </p:nvPicPr>
        <p:blipFill>
          <a:blip r:embed="rId3"/>
          <a:stretch>
            <a:fillRect/>
          </a:stretch>
        </p:blipFill>
        <p:spPr>
          <a:xfrm>
            <a:off x="8069466" y="685800"/>
            <a:ext cx="1051560" cy="1051560"/>
          </a:xfrm>
          <a:prstGeom prst="ellipse">
            <a:avLst/>
          </a:prstGeom>
        </p:spPr>
      </p:pic>
      <p:sp>
        <p:nvSpPr>
          <p:cNvPr id="13" name="Text 8"/>
          <p:cNvSpPr/>
          <p:nvPr/>
        </p:nvSpPr>
        <p:spPr>
          <a:xfrm>
            <a:off x="7985684" y="178308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Devi</a:t>
            </a:r>
            <a:endParaRPr lang="en-US" sz="1300" dirty="0"/>
          </a:p>
        </p:txBody>
      </p:sp>
      <p:sp>
        <p:nvSpPr>
          <p:cNvPr id="14" name="Text 9"/>
          <p:cNvSpPr/>
          <p:nvPr/>
        </p:nvSpPr>
        <p:spPr>
          <a:xfrm>
            <a:off x="7985684" y="203911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Patient</a:t>
            </a:r>
            <a:endParaRPr lang="en-US" sz="950" dirty="0"/>
          </a:p>
        </p:txBody>
      </p:sp>
      <p:sp>
        <p:nvSpPr>
          <p:cNvPr id="15" name="Shape 10"/>
          <p:cNvSpPr/>
          <p:nvPr/>
        </p:nvSpPr>
        <p:spPr>
          <a:xfrm>
            <a:off x="9252014" y="649224"/>
            <a:ext cx="1124712" cy="1124712"/>
          </a:xfrm>
          <a:prstGeom prst="ellipse">
            <a:avLst/>
          </a:prstGeom>
          <a:solidFill>
            <a:srgbClr val="FFFFFF"/>
          </a:solidFill>
          <a:ln w="12700">
            <a:solidFill>
              <a:srgbClr val="FFFFFF"/>
            </a:solidFill>
            <a:prstDash val="solid"/>
          </a:ln>
        </p:spPr>
      </p:sp>
      <p:pic>
        <p:nvPicPr>
          <p:cNvPr id="16" name="Image 3" descr="/sessions/quirky-zen-galileo/mnt/outputs/jd/img/layla-portrait.jpg">    </p:cNvPr>
          <p:cNvPicPr>
            <a:picLocks noChangeAspect="1"/>
          </p:cNvPicPr>
          <p:nvPr/>
        </p:nvPicPr>
        <p:blipFill>
          <a:blip r:embed="rId4"/>
          <a:stretch>
            <a:fillRect/>
          </a:stretch>
        </p:blipFill>
        <p:spPr>
          <a:xfrm>
            <a:off x="9288590" y="685800"/>
            <a:ext cx="1051560" cy="1051560"/>
          </a:xfrm>
          <a:prstGeom prst="ellipse">
            <a:avLst/>
          </a:prstGeom>
        </p:spPr>
      </p:pic>
      <p:sp>
        <p:nvSpPr>
          <p:cNvPr id="17" name="Text 11"/>
          <p:cNvSpPr/>
          <p:nvPr/>
        </p:nvSpPr>
        <p:spPr>
          <a:xfrm>
            <a:off x="9204808" y="178308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Layla</a:t>
            </a:r>
            <a:endParaRPr lang="en-US" sz="1300" dirty="0"/>
          </a:p>
        </p:txBody>
      </p:sp>
      <p:sp>
        <p:nvSpPr>
          <p:cNvPr id="18" name="Text 12"/>
          <p:cNvSpPr/>
          <p:nvPr/>
        </p:nvSpPr>
        <p:spPr>
          <a:xfrm>
            <a:off x="9204808" y="203911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Patient</a:t>
            </a:r>
            <a:endParaRPr lang="en-US" sz="950" dirty="0"/>
          </a:p>
        </p:txBody>
      </p:sp>
      <p:sp>
        <p:nvSpPr>
          <p:cNvPr id="19" name="Shape 13"/>
          <p:cNvSpPr/>
          <p:nvPr/>
        </p:nvSpPr>
        <p:spPr>
          <a:xfrm>
            <a:off x="10471137" y="649224"/>
            <a:ext cx="1124712" cy="1124712"/>
          </a:xfrm>
          <a:prstGeom prst="ellipse">
            <a:avLst/>
          </a:prstGeom>
          <a:solidFill>
            <a:srgbClr val="FFFFFF"/>
          </a:solidFill>
          <a:ln w="12700">
            <a:solidFill>
              <a:srgbClr val="FFFFFF"/>
            </a:solidFill>
            <a:prstDash val="solid"/>
          </a:ln>
        </p:spPr>
      </p:sp>
      <p:pic>
        <p:nvPicPr>
          <p:cNvPr id="20" name="Image 4" descr="/sessions/quirky-zen-galileo/mnt/outputs/jd/img/mark-portrait.jpg">    </p:cNvPr>
          <p:cNvPicPr>
            <a:picLocks noChangeAspect="1"/>
          </p:cNvPicPr>
          <p:nvPr/>
        </p:nvPicPr>
        <p:blipFill>
          <a:blip r:embed="rId5"/>
          <a:stretch>
            <a:fillRect/>
          </a:stretch>
        </p:blipFill>
        <p:spPr>
          <a:xfrm>
            <a:off x="10507713" y="685800"/>
            <a:ext cx="1051560" cy="1051560"/>
          </a:xfrm>
          <a:prstGeom prst="ellipse">
            <a:avLst/>
          </a:prstGeom>
        </p:spPr>
      </p:pic>
      <p:sp>
        <p:nvSpPr>
          <p:cNvPr id="21" name="Text 14"/>
          <p:cNvSpPr/>
          <p:nvPr/>
        </p:nvSpPr>
        <p:spPr>
          <a:xfrm>
            <a:off x="10423931" y="178308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Mark</a:t>
            </a:r>
            <a:endParaRPr lang="en-US" sz="1300" dirty="0"/>
          </a:p>
        </p:txBody>
      </p:sp>
      <p:sp>
        <p:nvSpPr>
          <p:cNvPr id="22" name="Text 15"/>
          <p:cNvSpPr/>
          <p:nvPr/>
        </p:nvSpPr>
        <p:spPr>
          <a:xfrm>
            <a:off x="10423931" y="203911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Patient</a:t>
            </a:r>
            <a:endParaRPr lang="en-US" sz="950" dirty="0"/>
          </a:p>
        </p:txBody>
      </p:sp>
      <p:sp>
        <p:nvSpPr>
          <p:cNvPr id="23" name="Shape 16"/>
          <p:cNvSpPr/>
          <p:nvPr/>
        </p:nvSpPr>
        <p:spPr>
          <a:xfrm>
            <a:off x="6813766" y="2615184"/>
            <a:ext cx="1124712" cy="1124712"/>
          </a:xfrm>
          <a:prstGeom prst="ellipse">
            <a:avLst/>
          </a:prstGeom>
          <a:solidFill>
            <a:srgbClr val="FFFFFF"/>
          </a:solidFill>
          <a:ln w="12700">
            <a:solidFill>
              <a:srgbClr val="FFFFFF"/>
            </a:solidFill>
            <a:prstDash val="solid"/>
          </a:ln>
        </p:spPr>
      </p:sp>
      <p:pic>
        <p:nvPicPr>
          <p:cNvPr id="24" name="Image 5" descr="/sessions/quirky-zen-galileo/mnt/outputs/jd/img/sean-portrait.jpg">    </p:cNvPr>
          <p:cNvPicPr>
            <a:picLocks noChangeAspect="1"/>
          </p:cNvPicPr>
          <p:nvPr/>
        </p:nvPicPr>
        <p:blipFill>
          <a:blip r:embed="rId6"/>
          <a:stretch>
            <a:fillRect/>
          </a:stretch>
        </p:blipFill>
        <p:spPr>
          <a:xfrm>
            <a:off x="6850342" y="2651760"/>
            <a:ext cx="1051560" cy="1051560"/>
          </a:xfrm>
          <a:prstGeom prst="ellipse">
            <a:avLst/>
          </a:prstGeom>
        </p:spPr>
      </p:pic>
      <p:sp>
        <p:nvSpPr>
          <p:cNvPr id="25" name="Text 17"/>
          <p:cNvSpPr/>
          <p:nvPr/>
        </p:nvSpPr>
        <p:spPr>
          <a:xfrm>
            <a:off x="6766560" y="374904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Sean</a:t>
            </a:r>
            <a:endParaRPr lang="en-US" sz="1300" dirty="0"/>
          </a:p>
        </p:txBody>
      </p:sp>
      <p:sp>
        <p:nvSpPr>
          <p:cNvPr id="26" name="Text 18"/>
          <p:cNvSpPr/>
          <p:nvPr/>
        </p:nvSpPr>
        <p:spPr>
          <a:xfrm>
            <a:off x="6766560" y="400507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Patient</a:t>
            </a:r>
            <a:endParaRPr lang="en-US" sz="950" dirty="0"/>
          </a:p>
        </p:txBody>
      </p:sp>
      <p:sp>
        <p:nvSpPr>
          <p:cNvPr id="27" name="Shape 19"/>
          <p:cNvSpPr/>
          <p:nvPr/>
        </p:nvSpPr>
        <p:spPr>
          <a:xfrm>
            <a:off x="8032890" y="2615184"/>
            <a:ext cx="1124712" cy="1124712"/>
          </a:xfrm>
          <a:prstGeom prst="ellipse">
            <a:avLst/>
          </a:prstGeom>
          <a:solidFill>
            <a:srgbClr val="FFFFFF"/>
          </a:solidFill>
          <a:ln w="12700">
            <a:solidFill>
              <a:srgbClr val="FFFFFF"/>
            </a:solidFill>
            <a:prstDash val="solid"/>
          </a:ln>
        </p:spPr>
      </p:sp>
      <p:pic>
        <p:nvPicPr>
          <p:cNvPr id="28" name="Image 6" descr="/sessions/quirky-zen-galileo/mnt/outputs/jd/img/anita-portrait.jpg">    </p:cNvPr>
          <p:cNvPicPr>
            <a:picLocks noChangeAspect="1"/>
          </p:cNvPicPr>
          <p:nvPr/>
        </p:nvPicPr>
        <p:blipFill>
          <a:blip r:embed="rId7"/>
          <a:stretch>
            <a:fillRect/>
          </a:stretch>
        </p:blipFill>
        <p:spPr>
          <a:xfrm>
            <a:off x="8069466" y="2651760"/>
            <a:ext cx="1051560" cy="1051560"/>
          </a:xfrm>
          <a:prstGeom prst="ellipse">
            <a:avLst/>
          </a:prstGeom>
        </p:spPr>
      </p:pic>
      <p:sp>
        <p:nvSpPr>
          <p:cNvPr id="29" name="Text 20"/>
          <p:cNvSpPr/>
          <p:nvPr/>
        </p:nvSpPr>
        <p:spPr>
          <a:xfrm>
            <a:off x="7985684" y="374904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Anita</a:t>
            </a:r>
            <a:endParaRPr lang="en-US" sz="1300" dirty="0"/>
          </a:p>
        </p:txBody>
      </p:sp>
      <p:sp>
        <p:nvSpPr>
          <p:cNvPr id="30" name="Text 21"/>
          <p:cNvSpPr/>
          <p:nvPr/>
        </p:nvSpPr>
        <p:spPr>
          <a:xfrm>
            <a:off x="7985684" y="400507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Commissioner</a:t>
            </a:r>
            <a:endParaRPr lang="en-US" sz="950" dirty="0"/>
          </a:p>
        </p:txBody>
      </p:sp>
      <p:sp>
        <p:nvSpPr>
          <p:cNvPr id="31" name="Shape 22"/>
          <p:cNvSpPr/>
          <p:nvPr/>
        </p:nvSpPr>
        <p:spPr>
          <a:xfrm>
            <a:off x="9252014" y="2615184"/>
            <a:ext cx="1124712" cy="1124712"/>
          </a:xfrm>
          <a:prstGeom prst="ellipse">
            <a:avLst/>
          </a:prstGeom>
          <a:solidFill>
            <a:srgbClr val="FFFFFF"/>
          </a:solidFill>
          <a:ln w="12700">
            <a:solidFill>
              <a:srgbClr val="FFFFFF"/>
            </a:solidFill>
            <a:prstDash val="solid"/>
          </a:ln>
        </p:spPr>
      </p:sp>
      <p:pic>
        <p:nvPicPr>
          <p:cNvPr id="32" name="Image 7" descr="/sessions/quirky-zen-galileo/mnt/outputs/jd/img/catherine-portrait.jpg">    </p:cNvPr>
          <p:cNvPicPr>
            <a:picLocks noChangeAspect="1"/>
          </p:cNvPicPr>
          <p:nvPr/>
        </p:nvPicPr>
        <p:blipFill>
          <a:blip r:embed="rId8"/>
          <a:stretch>
            <a:fillRect/>
          </a:stretch>
        </p:blipFill>
        <p:spPr>
          <a:xfrm>
            <a:off x="9288590" y="2651760"/>
            <a:ext cx="1051560" cy="1051560"/>
          </a:xfrm>
          <a:prstGeom prst="ellipse">
            <a:avLst/>
          </a:prstGeom>
        </p:spPr>
      </p:pic>
      <p:sp>
        <p:nvSpPr>
          <p:cNvPr id="33" name="Text 23"/>
          <p:cNvSpPr/>
          <p:nvPr/>
        </p:nvSpPr>
        <p:spPr>
          <a:xfrm>
            <a:off x="9204808" y="374904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Catherine</a:t>
            </a:r>
            <a:endParaRPr lang="en-US" sz="1300" dirty="0"/>
          </a:p>
        </p:txBody>
      </p:sp>
      <p:sp>
        <p:nvSpPr>
          <p:cNvPr id="34" name="Text 24"/>
          <p:cNvSpPr/>
          <p:nvPr/>
        </p:nvSpPr>
        <p:spPr>
          <a:xfrm>
            <a:off x="9204808" y="400507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Commissioner</a:t>
            </a:r>
            <a:endParaRPr lang="en-US" sz="950" dirty="0"/>
          </a:p>
        </p:txBody>
      </p:sp>
      <p:sp>
        <p:nvSpPr>
          <p:cNvPr id="35" name="Shape 25"/>
          <p:cNvSpPr/>
          <p:nvPr/>
        </p:nvSpPr>
        <p:spPr>
          <a:xfrm>
            <a:off x="10471137" y="2615184"/>
            <a:ext cx="1124712" cy="1124712"/>
          </a:xfrm>
          <a:prstGeom prst="ellipse">
            <a:avLst/>
          </a:prstGeom>
          <a:solidFill>
            <a:srgbClr val="FFFFFF"/>
          </a:solidFill>
          <a:ln w="12700">
            <a:solidFill>
              <a:srgbClr val="FFFFFF"/>
            </a:solidFill>
            <a:prstDash val="solid"/>
          </a:ln>
        </p:spPr>
      </p:sp>
      <p:pic>
        <p:nvPicPr>
          <p:cNvPr id="36" name="Image 8" descr="/sessions/quirky-zen-galileo/mnt/outputs/jd/img/ruth-portrait.jpg">    </p:cNvPr>
          <p:cNvPicPr>
            <a:picLocks noChangeAspect="1"/>
          </p:cNvPicPr>
          <p:nvPr/>
        </p:nvPicPr>
        <p:blipFill>
          <a:blip r:embed="rId9"/>
          <a:stretch>
            <a:fillRect/>
          </a:stretch>
        </p:blipFill>
        <p:spPr>
          <a:xfrm>
            <a:off x="10507713" y="2651760"/>
            <a:ext cx="1051560" cy="1051560"/>
          </a:xfrm>
          <a:prstGeom prst="ellipse">
            <a:avLst/>
          </a:prstGeom>
        </p:spPr>
      </p:pic>
      <p:sp>
        <p:nvSpPr>
          <p:cNvPr id="37" name="Text 26"/>
          <p:cNvSpPr/>
          <p:nvPr/>
        </p:nvSpPr>
        <p:spPr>
          <a:xfrm>
            <a:off x="10423931" y="374904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Ruth</a:t>
            </a:r>
            <a:endParaRPr lang="en-US" sz="1300" dirty="0"/>
          </a:p>
        </p:txBody>
      </p:sp>
      <p:sp>
        <p:nvSpPr>
          <p:cNvPr id="38" name="Text 27"/>
          <p:cNvSpPr/>
          <p:nvPr/>
        </p:nvSpPr>
        <p:spPr>
          <a:xfrm>
            <a:off x="10423931" y="400507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Commissioner</a:t>
            </a:r>
            <a:endParaRPr lang="en-US" sz="950" dirty="0"/>
          </a:p>
        </p:txBody>
      </p:sp>
      <p:sp>
        <p:nvSpPr>
          <p:cNvPr id="39" name="Shape 28"/>
          <p:cNvSpPr/>
          <p:nvPr/>
        </p:nvSpPr>
        <p:spPr>
          <a:xfrm>
            <a:off x="6813766" y="4581144"/>
            <a:ext cx="1124712" cy="1124712"/>
          </a:xfrm>
          <a:prstGeom prst="ellipse">
            <a:avLst/>
          </a:prstGeom>
          <a:solidFill>
            <a:srgbClr val="FFFFFF"/>
          </a:solidFill>
          <a:ln w="12700">
            <a:solidFill>
              <a:srgbClr val="FFFFFF"/>
            </a:solidFill>
            <a:prstDash val="solid"/>
          </a:ln>
        </p:spPr>
      </p:sp>
      <p:pic>
        <p:nvPicPr>
          <p:cNvPr id="40" name="Image 9" descr="/sessions/quirky-zen-galileo/mnt/outputs/jd/img/sarah-portrait.jpg">    </p:cNvPr>
          <p:cNvPicPr>
            <a:picLocks noChangeAspect="1"/>
          </p:cNvPicPr>
          <p:nvPr/>
        </p:nvPicPr>
        <p:blipFill>
          <a:blip r:embed="rId10"/>
          <a:stretch>
            <a:fillRect/>
          </a:stretch>
        </p:blipFill>
        <p:spPr>
          <a:xfrm>
            <a:off x="6850342" y="4617720"/>
            <a:ext cx="1051560" cy="1051560"/>
          </a:xfrm>
          <a:prstGeom prst="ellipse">
            <a:avLst/>
          </a:prstGeom>
        </p:spPr>
      </p:pic>
      <p:sp>
        <p:nvSpPr>
          <p:cNvPr id="41" name="Text 29"/>
          <p:cNvSpPr/>
          <p:nvPr/>
        </p:nvSpPr>
        <p:spPr>
          <a:xfrm>
            <a:off x="6766560" y="571500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Sarah</a:t>
            </a:r>
            <a:endParaRPr lang="en-US" sz="1300" dirty="0"/>
          </a:p>
        </p:txBody>
      </p:sp>
      <p:sp>
        <p:nvSpPr>
          <p:cNvPr id="42" name="Text 30"/>
          <p:cNvSpPr/>
          <p:nvPr/>
        </p:nvSpPr>
        <p:spPr>
          <a:xfrm>
            <a:off x="6766560" y="597103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Commissioner</a:t>
            </a:r>
            <a:endParaRPr lang="en-US" sz="950" dirty="0"/>
          </a:p>
        </p:txBody>
      </p:sp>
      <p:sp>
        <p:nvSpPr>
          <p:cNvPr id="43" name="Shape 31"/>
          <p:cNvSpPr/>
          <p:nvPr/>
        </p:nvSpPr>
        <p:spPr>
          <a:xfrm>
            <a:off x="8032890" y="4581144"/>
            <a:ext cx="1124712" cy="1124712"/>
          </a:xfrm>
          <a:prstGeom prst="ellipse">
            <a:avLst/>
          </a:prstGeom>
          <a:solidFill>
            <a:srgbClr val="FFFFFF"/>
          </a:solidFill>
          <a:ln w="12700">
            <a:solidFill>
              <a:srgbClr val="FFFFFF"/>
            </a:solidFill>
            <a:prstDash val="solid"/>
          </a:ln>
        </p:spPr>
      </p:sp>
      <p:pic>
        <p:nvPicPr>
          <p:cNvPr id="44" name="Image 10" descr="/sessions/quirky-zen-galileo/mnt/outputs/jd/img/adam-portrait.jpg">    </p:cNvPr>
          <p:cNvPicPr>
            <a:picLocks noChangeAspect="1"/>
          </p:cNvPicPr>
          <p:nvPr/>
        </p:nvPicPr>
        <p:blipFill>
          <a:blip r:embed="rId11"/>
          <a:stretch>
            <a:fillRect/>
          </a:stretch>
        </p:blipFill>
        <p:spPr>
          <a:xfrm>
            <a:off x="8069466" y="4617720"/>
            <a:ext cx="1051560" cy="1051560"/>
          </a:xfrm>
          <a:prstGeom prst="ellipse">
            <a:avLst/>
          </a:prstGeom>
        </p:spPr>
      </p:pic>
      <p:sp>
        <p:nvSpPr>
          <p:cNvPr id="45" name="Text 32"/>
          <p:cNvSpPr/>
          <p:nvPr/>
        </p:nvSpPr>
        <p:spPr>
          <a:xfrm>
            <a:off x="7985684" y="571500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Adam</a:t>
            </a:r>
            <a:endParaRPr lang="en-US" sz="1300" dirty="0"/>
          </a:p>
        </p:txBody>
      </p:sp>
      <p:sp>
        <p:nvSpPr>
          <p:cNvPr id="46" name="Text 33"/>
          <p:cNvSpPr/>
          <p:nvPr/>
        </p:nvSpPr>
        <p:spPr>
          <a:xfrm>
            <a:off x="7985684" y="597103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Clinician</a:t>
            </a:r>
            <a:endParaRPr lang="en-US" sz="950" dirty="0"/>
          </a:p>
        </p:txBody>
      </p:sp>
      <p:sp>
        <p:nvSpPr>
          <p:cNvPr id="47" name="Shape 34"/>
          <p:cNvSpPr/>
          <p:nvPr/>
        </p:nvSpPr>
        <p:spPr>
          <a:xfrm>
            <a:off x="9252014" y="4581144"/>
            <a:ext cx="1124712" cy="1124712"/>
          </a:xfrm>
          <a:prstGeom prst="ellipse">
            <a:avLst/>
          </a:prstGeom>
          <a:solidFill>
            <a:srgbClr val="FFFFFF"/>
          </a:solidFill>
          <a:ln w="12700">
            <a:solidFill>
              <a:srgbClr val="FFFFFF"/>
            </a:solidFill>
            <a:prstDash val="solid"/>
          </a:ln>
        </p:spPr>
      </p:sp>
      <p:pic>
        <p:nvPicPr>
          <p:cNvPr id="48" name="Image 11" descr="/sessions/quirky-zen-galileo/mnt/outputs/jd/img/hannah-portrait.jpg">    </p:cNvPr>
          <p:cNvPicPr>
            <a:picLocks noChangeAspect="1"/>
          </p:cNvPicPr>
          <p:nvPr/>
        </p:nvPicPr>
        <p:blipFill>
          <a:blip r:embed="rId12"/>
          <a:stretch>
            <a:fillRect/>
          </a:stretch>
        </p:blipFill>
        <p:spPr>
          <a:xfrm>
            <a:off x="9288590" y="4617720"/>
            <a:ext cx="1051560" cy="1051560"/>
          </a:xfrm>
          <a:prstGeom prst="ellipse">
            <a:avLst/>
          </a:prstGeom>
        </p:spPr>
      </p:pic>
      <p:sp>
        <p:nvSpPr>
          <p:cNvPr id="49" name="Text 35"/>
          <p:cNvSpPr/>
          <p:nvPr/>
        </p:nvSpPr>
        <p:spPr>
          <a:xfrm>
            <a:off x="9204808" y="571500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Hannah</a:t>
            </a:r>
            <a:endParaRPr lang="en-US" sz="1300" dirty="0"/>
          </a:p>
        </p:txBody>
      </p:sp>
      <p:sp>
        <p:nvSpPr>
          <p:cNvPr id="50" name="Text 36"/>
          <p:cNvSpPr/>
          <p:nvPr/>
        </p:nvSpPr>
        <p:spPr>
          <a:xfrm>
            <a:off x="9204808" y="597103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Clinician</a:t>
            </a:r>
            <a:endParaRPr lang="en-US" sz="950" dirty="0"/>
          </a:p>
        </p:txBody>
      </p:sp>
      <p:sp>
        <p:nvSpPr>
          <p:cNvPr id="51" name="Shape 37"/>
          <p:cNvSpPr/>
          <p:nvPr/>
        </p:nvSpPr>
        <p:spPr>
          <a:xfrm>
            <a:off x="10471137" y="4581144"/>
            <a:ext cx="1124712" cy="1124712"/>
          </a:xfrm>
          <a:prstGeom prst="ellipse">
            <a:avLst/>
          </a:prstGeom>
          <a:solidFill>
            <a:srgbClr val="FFFFFF"/>
          </a:solidFill>
          <a:ln w="12700">
            <a:solidFill>
              <a:srgbClr val="FFFFFF"/>
            </a:solidFill>
            <a:prstDash val="solid"/>
          </a:ln>
        </p:spPr>
      </p:sp>
      <p:pic>
        <p:nvPicPr>
          <p:cNvPr id="52" name="Image 12" descr="/sessions/quirky-zen-galileo/mnt/outputs/jd/img/joe-portrait.jpg">    </p:cNvPr>
          <p:cNvPicPr>
            <a:picLocks noChangeAspect="1"/>
          </p:cNvPicPr>
          <p:nvPr/>
        </p:nvPicPr>
        <p:blipFill>
          <a:blip r:embed="rId13"/>
          <a:stretch>
            <a:fillRect/>
          </a:stretch>
        </p:blipFill>
        <p:spPr>
          <a:xfrm>
            <a:off x="10507713" y="4617720"/>
            <a:ext cx="1051560" cy="1051560"/>
          </a:xfrm>
          <a:prstGeom prst="ellipse">
            <a:avLst/>
          </a:prstGeom>
        </p:spPr>
      </p:pic>
      <p:sp>
        <p:nvSpPr>
          <p:cNvPr id="53" name="Text 38"/>
          <p:cNvSpPr/>
          <p:nvPr/>
        </p:nvSpPr>
        <p:spPr>
          <a:xfrm>
            <a:off x="10423931" y="5715000"/>
            <a:ext cx="121912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pitchFamily="34" charset="0"/>
                <a:ea typeface="Segoe UI" pitchFamily="34" charset="-122"/>
                <a:cs typeface="Segoe UI" pitchFamily="34" charset="-120"/>
              </a:rPr>
              <a:t>Joe</a:t>
            </a:r>
            <a:endParaRPr lang="en-US" sz="1300" dirty="0"/>
          </a:p>
        </p:txBody>
      </p:sp>
      <p:sp>
        <p:nvSpPr>
          <p:cNvPr id="54" name="Text 39"/>
          <p:cNvSpPr/>
          <p:nvPr/>
        </p:nvSpPr>
        <p:spPr>
          <a:xfrm>
            <a:off x="10423931" y="5971032"/>
            <a:ext cx="1219124" cy="228600"/>
          </a:xfrm>
          <a:prstGeom prst="rect">
            <a:avLst/>
          </a:prstGeom>
          <a:noFill/>
          <a:ln/>
        </p:spPr>
        <p:txBody>
          <a:bodyPr wrap="square" lIns="0" tIns="0" rIns="0" bIns="0" rtlCol="0" anchor="ctr"/>
          <a:lstStyle/>
          <a:p>
            <a:pPr algn="ctr" indent="0" marL="0">
              <a:buNone/>
            </a:pPr>
            <a:r>
              <a:rPr lang="en-US" sz="950" dirty="0">
                <a:solidFill>
                  <a:srgbClr val="FFD66B"/>
                </a:solidFill>
                <a:latin typeface="Segoe UI" pitchFamily="34" charset="0"/>
                <a:ea typeface="Segoe UI" pitchFamily="34" charset="-122"/>
                <a:cs typeface="Segoe UI" pitchFamily="34" charset="-120"/>
              </a:rPr>
              <a:t>Supplier</a:t>
            </a:r>
            <a:endParaRPr lang="en-US" sz="950" dirty="0"/>
          </a:p>
        </p:txBody>
      </p:sp>
      <p:sp>
        <p:nvSpPr>
          <p:cNvPr id="55" name="Text 40"/>
          <p:cNvSpPr/>
          <p:nvPr/>
        </p:nvSpPr>
        <p:spPr>
          <a:xfrm>
            <a:off x="548640" y="6473952"/>
            <a:ext cx="292608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56" name="Text 41"/>
          <p:cNvSpPr/>
          <p:nvPr/>
        </p:nvSpPr>
        <p:spPr>
          <a:xfrm>
            <a:off x="3474720" y="6473952"/>
            <a:ext cx="2468880"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bdul-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PATIENT · A PATIENT'S STORY THROUGH THE OPERATING MODEL</a:t>
            </a:r>
            <a:endParaRPr lang="en-US" sz="1000" dirty="0"/>
          </a:p>
        </p:txBody>
      </p:sp>
      <p:pic>
        <p:nvPicPr>
          <p:cNvPr id="5" name="Image 1" descr="/sessions/quirky-zen-galileo/mnt/outputs/jd/img/abdul-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Abdul</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Self-initiated patient · CVKM cohort</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Hidden risk, found by his app.</a:t>
            </a:r>
            <a:endParaRPr lang="en-US" sz="2600" dirty="0"/>
          </a:p>
        </p:txBody>
      </p:sp>
      <p:sp>
        <p:nvSpPr>
          <p:cNvPr id="9" name="Text 5"/>
          <p:cNvSpPr/>
          <p:nvPr/>
        </p:nvSpPr>
        <p:spPr>
          <a:xfrm>
            <a:off x="5440680" y="3007360"/>
            <a:ext cx="6202375" cy="1086739"/>
          </a:xfrm>
          <a:prstGeom prst="rect">
            <a:avLst/>
          </a:prstGeom>
          <a:noFill/>
          <a:ln/>
        </p:spPr>
        <p:txBody>
          <a:bodyPr wrap="square" lIns="0" tIns="0" rIns="0" bIns="0" rtlCol="0" anchor="t">
            <a:normAutofit/>
          </a:bodyPr>
          <a:lstStyle/>
          <a:p>
            <a:pPr indent="0" marL="0">
              <a:buNone/>
            </a:pPr>
            <a:r>
              <a:rPr lang="en-US" sz="1250" dirty="0">
                <a:solidFill>
                  <a:srgbClr val="212B32"/>
                </a:solidFill>
                <a:latin typeface="Segoe UI" pitchFamily="34" charset="0"/>
                <a:ea typeface="Segoe UI" pitchFamily="34" charset="-122"/>
                <a:cs typeface="Segoe UI" pitchFamily="34" charset="-120"/>
              </a:rPr>
              <a:t>Abdul is 38, works full-time, has young kids, and knows heart trouble runs in his family. The NHS App nudges him toward a home test that catches cardiovascular risk markers nobody else was going to find. </a:t>
            </a:r>
            <a:pPr indent="0" marL="0">
              <a:buNone/>
            </a:pPr>
            <a:r>
              <a:rPr lang="en-US" sz="1250" b="1" dirty="0">
                <a:solidFill>
                  <a:srgbClr val="212B32"/>
                </a:solidFill>
                <a:latin typeface="Segoe UI" pitchFamily="34" charset="0"/>
                <a:ea typeface="Segoe UI" pitchFamily="34" charset="-122"/>
                <a:cs typeface="Segoe UI" pitchFamily="34" charset="-120"/>
              </a:rPr>
              <a:t>This is the story of how the cohort gets identified before the symptoms show up.</a:t>
            </a:r>
            <a:endParaRPr lang="en-US" sz="1250" dirty="0"/>
          </a:p>
        </p:txBody>
      </p:sp>
      <p:sp>
        <p:nvSpPr>
          <p:cNvPr id="10" name="Shape 6"/>
          <p:cNvSpPr/>
          <p:nvPr/>
        </p:nvSpPr>
        <p:spPr>
          <a:xfrm>
            <a:off x="5809458" y="4276979"/>
            <a:ext cx="502920" cy="502920"/>
          </a:xfrm>
          <a:prstGeom prst="ellipse">
            <a:avLst/>
          </a:prstGeom>
          <a:solidFill>
            <a:srgbClr val="003087"/>
          </a:solidFill>
          <a:ln w="12700">
            <a:solidFill>
              <a:srgbClr val="003087"/>
            </a:solidFill>
            <a:prstDash val="solid"/>
          </a:ln>
        </p:spPr>
      </p:sp>
      <p:sp>
        <p:nvSpPr>
          <p:cNvPr id="11" name="Text 7"/>
          <p:cNvSpPr/>
          <p:nvPr/>
        </p:nvSpPr>
        <p:spPr>
          <a:xfrm>
            <a:off x="5809458" y="427697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83476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Stratification</a:t>
            </a:r>
            <a:endParaRPr lang="en-US" sz="1000" dirty="0"/>
          </a:p>
        </p:txBody>
      </p:sp>
      <p:sp>
        <p:nvSpPr>
          <p:cNvPr id="13" name="Shape 9"/>
          <p:cNvSpPr/>
          <p:nvPr/>
        </p:nvSpPr>
        <p:spPr>
          <a:xfrm>
            <a:off x="7049933" y="4276979"/>
            <a:ext cx="502920" cy="502920"/>
          </a:xfrm>
          <a:prstGeom prst="ellipse">
            <a:avLst/>
          </a:prstGeom>
          <a:solidFill>
            <a:srgbClr val="003087"/>
          </a:solidFill>
          <a:ln w="12700">
            <a:solidFill>
              <a:srgbClr val="003087"/>
            </a:solidFill>
            <a:prstDash val="solid"/>
          </a:ln>
        </p:spPr>
      </p:sp>
      <p:sp>
        <p:nvSpPr>
          <p:cNvPr id="14" name="Text 10"/>
          <p:cNvSpPr/>
          <p:nvPr/>
        </p:nvSpPr>
        <p:spPr>
          <a:xfrm>
            <a:off x="7049933" y="427697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681155" y="483476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Identification</a:t>
            </a:r>
            <a:endParaRPr lang="en-US" sz="1000" dirty="0"/>
          </a:p>
        </p:txBody>
      </p:sp>
      <p:sp>
        <p:nvSpPr>
          <p:cNvPr id="16" name="Shape 12"/>
          <p:cNvSpPr/>
          <p:nvPr/>
        </p:nvSpPr>
        <p:spPr>
          <a:xfrm>
            <a:off x="8290408" y="4276979"/>
            <a:ext cx="502920" cy="502920"/>
          </a:xfrm>
          <a:prstGeom prst="ellipse">
            <a:avLst/>
          </a:prstGeom>
          <a:solidFill>
            <a:srgbClr val="003087"/>
          </a:solidFill>
          <a:ln w="12700">
            <a:solidFill>
              <a:srgbClr val="003087"/>
            </a:solidFill>
            <a:prstDash val="solid"/>
          </a:ln>
        </p:spPr>
      </p:sp>
      <p:sp>
        <p:nvSpPr>
          <p:cNvPr id="17" name="Text 13"/>
          <p:cNvSpPr/>
          <p:nvPr/>
        </p:nvSpPr>
        <p:spPr>
          <a:xfrm>
            <a:off x="8290408" y="427697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921630" y="483476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Diagnosis</a:t>
            </a:r>
            <a:endParaRPr lang="en-US" sz="1000" dirty="0"/>
          </a:p>
        </p:txBody>
      </p:sp>
      <p:sp>
        <p:nvSpPr>
          <p:cNvPr id="19" name="Shape 15"/>
          <p:cNvSpPr/>
          <p:nvPr/>
        </p:nvSpPr>
        <p:spPr>
          <a:xfrm>
            <a:off x="9530883" y="4276979"/>
            <a:ext cx="502920" cy="502920"/>
          </a:xfrm>
          <a:prstGeom prst="ellipse">
            <a:avLst/>
          </a:prstGeom>
          <a:solidFill>
            <a:srgbClr val="003087"/>
          </a:solidFill>
          <a:ln w="12700">
            <a:solidFill>
              <a:srgbClr val="003087"/>
            </a:solidFill>
            <a:prstDash val="solid"/>
          </a:ln>
        </p:spPr>
      </p:sp>
      <p:sp>
        <p:nvSpPr>
          <p:cNvPr id="20" name="Text 16"/>
          <p:cNvSpPr/>
          <p:nvPr/>
        </p:nvSpPr>
        <p:spPr>
          <a:xfrm>
            <a:off x="9530883" y="427697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9162105" y="483476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Treatment</a:t>
            </a:r>
            <a:endParaRPr lang="en-US" sz="1000" dirty="0"/>
          </a:p>
        </p:txBody>
      </p:sp>
      <p:sp>
        <p:nvSpPr>
          <p:cNvPr id="22" name="Shape 18"/>
          <p:cNvSpPr/>
          <p:nvPr/>
        </p:nvSpPr>
        <p:spPr>
          <a:xfrm>
            <a:off x="10771358" y="4276979"/>
            <a:ext cx="502920" cy="502920"/>
          </a:xfrm>
          <a:prstGeom prst="ellipse">
            <a:avLst/>
          </a:prstGeom>
          <a:solidFill>
            <a:srgbClr val="003087"/>
          </a:solidFill>
          <a:ln w="12700">
            <a:solidFill>
              <a:srgbClr val="003087"/>
            </a:solidFill>
            <a:prstDash val="solid"/>
          </a:ln>
        </p:spPr>
      </p:sp>
      <p:sp>
        <p:nvSpPr>
          <p:cNvPr id="23" name="Text 19"/>
          <p:cNvSpPr/>
          <p:nvPr/>
        </p:nvSpPr>
        <p:spPr>
          <a:xfrm>
            <a:off x="10771358" y="427697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10402580" y="483476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Long-term optimisation</a:t>
            </a:r>
            <a:endParaRPr lang="en-US" sz="1000" dirty="0"/>
          </a:p>
        </p:txBody>
      </p:sp>
      <p:sp>
        <p:nvSpPr>
          <p:cNvPr id="25" name="Shape 21"/>
          <p:cNvSpPr/>
          <p:nvPr/>
        </p:nvSpPr>
        <p:spPr>
          <a:xfrm>
            <a:off x="5440680" y="5419979"/>
            <a:ext cx="6202375" cy="871093"/>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6" name="Text 22"/>
          <p:cNvSpPr/>
          <p:nvPr/>
        </p:nvSpPr>
        <p:spPr>
          <a:xfrm>
            <a:off x="5669280" y="5529707"/>
            <a:ext cx="5745175" cy="651637"/>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The system finds him before the symptoms find him.</a:t>
            </a:r>
            <a:pPr indent="0" marL="0">
              <a:buNone/>
            </a:pPr>
            <a:r>
              <a:rPr lang="en-US" sz="950" dirty="0">
                <a:solidFill>
                  <a:srgbClr val="212B32"/>
                </a:solidFill>
                <a:latin typeface="Segoe UI" pitchFamily="34" charset="0"/>
                <a:ea typeface="Segoe UI" pitchFamily="34" charset="-122"/>
                <a:cs typeface="Segoe UI" pitchFamily="34" charset="-120"/>
              </a:rPr>
              <a:t>  Abdul does not feel ill. He has never been to the GP about his heart. The cohort he belongs to, middle-aged men with family-history risk, is exactly the cohort the in-clinic system finds last. The home pathway finds him first.</a:t>
            </a:r>
            <a:endParaRPr lang="en-US" sz="950" dirty="0"/>
          </a:p>
        </p:txBody>
      </p:sp>
      <p:sp>
        <p:nvSpPr>
          <p:cNvPr id="27" name="Text 23"/>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28" name="Text 24"/>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9" name="Text 2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interlude-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PATIENT · A PATIENT'S STORY THROUGH THE OPERATING MODEL</a:t>
            </a:r>
            <a:endParaRPr lang="en-US" sz="1000" dirty="0"/>
          </a:p>
        </p:txBody>
      </p:sp>
      <p:pic>
        <p:nvPicPr>
          <p:cNvPr id="5" name="Image 1" descr="/sessions/quirky-zen-galileo/mnt/outputs/jd/img/devi-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Devi</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At-risk register · HbA1c annual review · Primary-care surveillance cohort</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A Saturday, not a sick day.</a:t>
            </a:r>
            <a:endParaRPr lang="en-US" sz="2600" dirty="0"/>
          </a:p>
        </p:txBody>
      </p:sp>
      <p:sp>
        <p:nvSpPr>
          <p:cNvPr id="9" name="Text 5"/>
          <p:cNvSpPr/>
          <p:nvPr/>
        </p:nvSpPr>
        <p:spPr>
          <a:xfrm>
            <a:off x="5440680" y="3007360"/>
            <a:ext cx="6202375" cy="1210564"/>
          </a:xfrm>
          <a:prstGeom prst="rect">
            <a:avLst/>
          </a:prstGeom>
          <a:noFill/>
          <a:ln/>
        </p:spPr>
        <p:txBody>
          <a:bodyPr wrap="square" lIns="0" tIns="0" rIns="0" bIns="0" rtlCol="0" anchor="t">
            <a:normAutofit/>
          </a:bodyPr>
          <a:lstStyle/>
          <a:p>
            <a:pPr indent="0" marL="0">
              <a:buNone/>
            </a:pPr>
            <a:r>
              <a:rPr lang="en-US" sz="1000" dirty="0">
                <a:solidFill>
                  <a:srgbClr val="212B32"/>
                </a:solidFill>
                <a:latin typeface="Segoe UI" pitchFamily="34" charset="0"/>
                <a:ea typeface="Segoe UI" pitchFamily="34" charset="-122"/>
                <a:cs typeface="Segoe UI" pitchFamily="34" charset="-120"/>
              </a:rPr>
              <a:t>Devi is 47, works full-time as a care coordinator, has two children and a mother she helps care for. Her GP, Hannah, holds her on the practice at-risk register. Family history of type 2 diabetes and her ethnicity put her HbA1c on annual review. Her last result sat at 44 mmol/mol, comfortably below diagnosis but firmly in the pre-diabetes band. The Tuesday-morning slot to get the next blood was never going to happen. </a:t>
            </a:r>
            <a:pPr indent="0" marL="0">
              <a:buNone/>
            </a:pPr>
            <a:r>
              <a:rPr lang="en-US" sz="1000" b="1" dirty="0">
                <a:solidFill>
                  <a:srgbClr val="212B32"/>
                </a:solidFill>
                <a:latin typeface="Segoe UI" pitchFamily="34" charset="0"/>
                <a:ea typeface="Segoe UI" pitchFamily="34" charset="-122"/>
                <a:cs typeface="Segoe UI" pitchFamily="34" charset="-120"/>
              </a:rPr>
              <a:t>This is the story of how she stays in surveillance without staying out of work.</a:t>
            </a:r>
            <a:endParaRPr lang="en-US" sz="1000" dirty="0"/>
          </a:p>
        </p:txBody>
      </p:sp>
      <p:sp>
        <p:nvSpPr>
          <p:cNvPr id="10" name="Shape 6"/>
          <p:cNvSpPr/>
          <p:nvPr/>
        </p:nvSpPr>
        <p:spPr>
          <a:xfrm>
            <a:off x="5809458" y="4400804"/>
            <a:ext cx="502920" cy="502920"/>
          </a:xfrm>
          <a:prstGeom prst="ellipse">
            <a:avLst/>
          </a:prstGeom>
          <a:solidFill>
            <a:srgbClr val="003087"/>
          </a:solidFill>
          <a:ln w="12700">
            <a:solidFill>
              <a:srgbClr val="003087"/>
            </a:solidFill>
            <a:prstDash val="solid"/>
          </a:ln>
        </p:spPr>
      </p:sp>
      <p:sp>
        <p:nvSpPr>
          <p:cNvPr id="11" name="Text 7"/>
          <p:cNvSpPr/>
          <p:nvPr/>
        </p:nvSpPr>
        <p:spPr>
          <a:xfrm>
            <a:off x="5809458" y="440080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95858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Stratification</a:t>
            </a:r>
            <a:endParaRPr lang="en-US" sz="1000" dirty="0"/>
          </a:p>
        </p:txBody>
      </p:sp>
      <p:sp>
        <p:nvSpPr>
          <p:cNvPr id="13" name="Shape 9"/>
          <p:cNvSpPr/>
          <p:nvPr/>
        </p:nvSpPr>
        <p:spPr>
          <a:xfrm>
            <a:off x="7049933" y="4400804"/>
            <a:ext cx="502920" cy="502920"/>
          </a:xfrm>
          <a:prstGeom prst="ellipse">
            <a:avLst/>
          </a:prstGeom>
          <a:solidFill>
            <a:srgbClr val="003087"/>
          </a:solidFill>
          <a:ln w="12700">
            <a:solidFill>
              <a:srgbClr val="003087"/>
            </a:solidFill>
            <a:prstDash val="solid"/>
          </a:ln>
        </p:spPr>
      </p:sp>
      <p:sp>
        <p:nvSpPr>
          <p:cNvPr id="14" name="Text 10"/>
          <p:cNvSpPr/>
          <p:nvPr/>
        </p:nvSpPr>
        <p:spPr>
          <a:xfrm>
            <a:off x="7049933" y="440080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681155" y="495858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Identification</a:t>
            </a:r>
            <a:endParaRPr lang="en-US" sz="1000" dirty="0"/>
          </a:p>
        </p:txBody>
      </p:sp>
      <p:sp>
        <p:nvSpPr>
          <p:cNvPr id="16" name="Shape 12"/>
          <p:cNvSpPr/>
          <p:nvPr/>
        </p:nvSpPr>
        <p:spPr>
          <a:xfrm>
            <a:off x="8290408" y="4400804"/>
            <a:ext cx="502920" cy="502920"/>
          </a:xfrm>
          <a:prstGeom prst="ellipse">
            <a:avLst/>
          </a:prstGeom>
          <a:solidFill>
            <a:srgbClr val="003087"/>
          </a:solidFill>
          <a:ln w="12700">
            <a:solidFill>
              <a:srgbClr val="003087"/>
            </a:solidFill>
            <a:prstDash val="solid"/>
          </a:ln>
        </p:spPr>
      </p:sp>
      <p:sp>
        <p:nvSpPr>
          <p:cNvPr id="17" name="Text 13"/>
          <p:cNvSpPr/>
          <p:nvPr/>
        </p:nvSpPr>
        <p:spPr>
          <a:xfrm>
            <a:off x="8290408" y="440080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921630" y="495858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Testing</a:t>
            </a:r>
            <a:endParaRPr lang="en-US" sz="1000" dirty="0"/>
          </a:p>
        </p:txBody>
      </p:sp>
      <p:sp>
        <p:nvSpPr>
          <p:cNvPr id="19" name="Shape 15"/>
          <p:cNvSpPr/>
          <p:nvPr/>
        </p:nvSpPr>
        <p:spPr>
          <a:xfrm>
            <a:off x="9530883" y="4400804"/>
            <a:ext cx="502920" cy="502920"/>
          </a:xfrm>
          <a:prstGeom prst="ellipse">
            <a:avLst/>
          </a:prstGeom>
          <a:solidFill>
            <a:srgbClr val="003087"/>
          </a:solidFill>
          <a:ln w="12700">
            <a:solidFill>
              <a:srgbClr val="003087"/>
            </a:solidFill>
            <a:prstDash val="solid"/>
          </a:ln>
        </p:spPr>
      </p:sp>
      <p:sp>
        <p:nvSpPr>
          <p:cNvPr id="20" name="Text 16"/>
          <p:cNvSpPr/>
          <p:nvPr/>
        </p:nvSpPr>
        <p:spPr>
          <a:xfrm>
            <a:off x="9530883" y="440080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9162105" y="495858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Response</a:t>
            </a:r>
            <a:endParaRPr lang="en-US" sz="1000" dirty="0"/>
          </a:p>
        </p:txBody>
      </p:sp>
      <p:sp>
        <p:nvSpPr>
          <p:cNvPr id="22" name="Shape 18"/>
          <p:cNvSpPr/>
          <p:nvPr/>
        </p:nvSpPr>
        <p:spPr>
          <a:xfrm>
            <a:off x="10771358" y="4400804"/>
            <a:ext cx="502920" cy="502920"/>
          </a:xfrm>
          <a:prstGeom prst="ellipse">
            <a:avLst/>
          </a:prstGeom>
          <a:solidFill>
            <a:srgbClr val="003087"/>
          </a:solidFill>
          <a:ln w="12700">
            <a:solidFill>
              <a:srgbClr val="003087"/>
            </a:solidFill>
            <a:prstDash val="solid"/>
          </a:ln>
        </p:spPr>
      </p:sp>
      <p:sp>
        <p:nvSpPr>
          <p:cNvPr id="23" name="Text 19"/>
          <p:cNvSpPr/>
          <p:nvPr/>
        </p:nvSpPr>
        <p:spPr>
          <a:xfrm>
            <a:off x="10771358" y="440080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10402580" y="495858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Long-term optimisation</a:t>
            </a:r>
            <a:endParaRPr lang="en-US" sz="1000" dirty="0"/>
          </a:p>
        </p:txBody>
      </p:sp>
      <p:sp>
        <p:nvSpPr>
          <p:cNvPr id="25" name="Shape 21"/>
          <p:cNvSpPr/>
          <p:nvPr/>
        </p:nvSpPr>
        <p:spPr>
          <a:xfrm>
            <a:off x="5440680" y="5543804"/>
            <a:ext cx="6202375" cy="74726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6" name="Text 22"/>
          <p:cNvSpPr/>
          <p:nvPr/>
        </p:nvSpPr>
        <p:spPr>
          <a:xfrm>
            <a:off x="5669280" y="5653532"/>
            <a:ext cx="5745175" cy="52781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The bloods need doing. The clinic visit never needed to be the way to do them.</a:t>
            </a:r>
            <a:pPr indent="0" marL="0">
              <a:buNone/>
            </a:pPr>
            <a:r>
              <a:rPr lang="en-US" sz="950" dirty="0">
                <a:solidFill>
                  <a:srgbClr val="212B32"/>
                </a:solidFill>
                <a:latin typeface="Segoe UI" pitchFamily="34" charset="0"/>
                <a:ea typeface="Segoe UI" pitchFamily="34" charset="-122"/>
                <a:cs typeface="Segoe UI" pitchFamily="34" charset="-120"/>
              </a:rPr>
              <a:t>  Devi is on the at-risk register. The register needs an annual HbA1c or the cohort drifts. The clinic has always been the venue for the annual bloods, but the clinic is exactly the venue that does not work for her life. Move the venue. Keep the surveillance.</a:t>
            </a:r>
            <a:endParaRPr lang="en-US" sz="950" dirty="0"/>
          </a:p>
        </p:txBody>
      </p:sp>
      <p:sp>
        <p:nvSpPr>
          <p:cNvPr id="27" name="Text 23"/>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28" name="Text 24"/>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9" name="Text 2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layla-interlude-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PATIENT · A PATIENT'S STORY THROUGH THE OPERATING MODEL, GP-INITIATED, TOLD AS AN ILLUSTRATION</a:t>
            </a:r>
            <a:endParaRPr lang="en-US" sz="1000" dirty="0"/>
          </a:p>
        </p:txBody>
      </p:sp>
      <p:pic>
        <p:nvPicPr>
          <p:cNvPr id="5" name="Image 1" descr="/sessions/quirky-zen-galileo/mnt/outputs/jd/img/layla-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Layla</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GP-initiated patient · Iron deficiency anaemia · held configuration</a:t>
            </a:r>
            <a:endParaRPr lang="en-US" sz="1200" dirty="0"/>
          </a:p>
        </p:txBody>
      </p:sp>
      <p:sp>
        <p:nvSpPr>
          <p:cNvPr id="8" name="Text 4"/>
          <p:cNvSpPr/>
          <p:nvPr/>
        </p:nvSpPr>
        <p:spPr>
          <a:xfrm>
            <a:off x="5440680" y="1965960"/>
            <a:ext cx="6202375" cy="805180"/>
          </a:xfrm>
          <a:prstGeom prst="rect">
            <a:avLst/>
          </a:prstGeom>
          <a:noFill/>
          <a:ln/>
        </p:spPr>
        <p:txBody>
          <a:bodyPr wrap="square" lIns="0" tIns="0" rIns="0" bIns="0" rtlCol="0" anchor="t">
            <a:normAutofit/>
          </a:bodyPr>
          <a:lstStyle/>
          <a:p>
            <a:pPr indent="0" marL="0">
              <a:buNone/>
            </a:pPr>
            <a:r>
              <a:rPr lang="en-US" sz="2300" b="1" dirty="0">
                <a:solidFill>
                  <a:srgbClr val="003087"/>
                </a:solidFill>
                <a:latin typeface="Segoe UI" pitchFamily="34" charset="0"/>
                <a:ea typeface="Segoe UI" pitchFamily="34" charset="-122"/>
                <a:cs typeface="Segoe UI" pitchFamily="34" charset="-120"/>
              </a:rPr>
              <a:t>Three years on the tablets. The trend is the treatment.</a:t>
            </a:r>
            <a:endParaRPr lang="en-US" sz="2300" dirty="0"/>
          </a:p>
        </p:txBody>
      </p:sp>
      <p:sp>
        <p:nvSpPr>
          <p:cNvPr id="9" name="Text 5"/>
          <p:cNvSpPr/>
          <p:nvPr/>
        </p:nvSpPr>
        <p:spPr>
          <a:xfrm>
            <a:off x="5440680" y="2908300"/>
            <a:ext cx="6202375" cy="1243584"/>
          </a:xfrm>
          <a:prstGeom prst="rect">
            <a:avLst/>
          </a:prstGeom>
          <a:noFill/>
          <a:ln/>
        </p:spPr>
        <p:txBody>
          <a:bodyPr wrap="square" lIns="0" tIns="0" rIns="0" bIns="0" rtlCol="0" anchor="t">
            <a:normAutofit/>
          </a:bodyPr>
          <a:lstStyle/>
          <a:p>
            <a:pPr indent="0" marL="0">
              <a:buNone/>
            </a:pPr>
            <a:r>
              <a:rPr lang="en-US" sz="900" dirty="0">
                <a:solidFill>
                  <a:srgbClr val="212B32"/>
                </a:solidFill>
                <a:latin typeface="Segoe UI" pitchFamily="34" charset="0"/>
                <a:ea typeface="Segoe UI" pitchFamily="34" charset="-122"/>
                <a:cs typeface="Segoe UI" pitchFamily="34" charset="-120"/>
              </a:rPr>
              <a:t>Layla is 42, a single parent with two school-age kids and two part-time jobs, one of them on shifts. Her iron deficiency anaemia was diagnosed three years ago; she has been on ferrous sulphate since, and her GP, Hannah, needs a full blood count and ferritin every six months to know whether it is still working. Nobody doubts Layla will take the tablets. The question is whether anyone will see the trend. </a:t>
            </a:r>
            <a:pPr indent="0" marL="0">
              <a:buNone/>
            </a:pPr>
            <a:r>
              <a:rPr lang="en-US" sz="900" b="1" dirty="0">
                <a:solidFill>
                  <a:srgbClr val="212B32"/>
                </a:solidFill>
                <a:latin typeface="Segoe UI" pitchFamily="34" charset="0"/>
                <a:ea typeface="Segoe UI" pitchFamily="34" charset="-122"/>
                <a:cs typeface="Segoe UI" pitchFamily="34" charset="-120"/>
              </a:rPr>
              <a:t>This is the story of a monitoring cycle that holds because it stopped asking for her working hours. It is told as an illustration: the anaemia configuration is held under the Prioritisation Framework, not in build.</a:t>
            </a:r>
            <a:endParaRPr lang="en-US" sz="900" dirty="0"/>
          </a:p>
        </p:txBody>
      </p:sp>
      <p:sp>
        <p:nvSpPr>
          <p:cNvPr id="10" name="Shape 6"/>
          <p:cNvSpPr/>
          <p:nvPr/>
        </p:nvSpPr>
        <p:spPr>
          <a:xfrm>
            <a:off x="5809458" y="4334764"/>
            <a:ext cx="502920" cy="502920"/>
          </a:xfrm>
          <a:prstGeom prst="ellipse">
            <a:avLst/>
          </a:prstGeom>
          <a:solidFill>
            <a:srgbClr val="003087"/>
          </a:solidFill>
          <a:ln w="12700">
            <a:solidFill>
              <a:srgbClr val="003087"/>
            </a:solidFill>
            <a:prstDash val="solid"/>
          </a:ln>
        </p:spPr>
      </p:sp>
      <p:sp>
        <p:nvSpPr>
          <p:cNvPr id="11" name="Text 7"/>
          <p:cNvSpPr/>
          <p:nvPr/>
        </p:nvSpPr>
        <p:spPr>
          <a:xfrm>
            <a:off x="5809458" y="433476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89254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Stratification</a:t>
            </a:r>
            <a:endParaRPr lang="en-US" sz="1000" dirty="0"/>
          </a:p>
        </p:txBody>
      </p:sp>
      <p:sp>
        <p:nvSpPr>
          <p:cNvPr id="13" name="Shape 9"/>
          <p:cNvSpPr/>
          <p:nvPr/>
        </p:nvSpPr>
        <p:spPr>
          <a:xfrm>
            <a:off x="7049933" y="4334764"/>
            <a:ext cx="502920" cy="502920"/>
          </a:xfrm>
          <a:prstGeom prst="ellipse">
            <a:avLst/>
          </a:prstGeom>
          <a:solidFill>
            <a:srgbClr val="003087"/>
          </a:solidFill>
          <a:ln w="12700">
            <a:solidFill>
              <a:srgbClr val="003087"/>
            </a:solidFill>
            <a:prstDash val="solid"/>
          </a:ln>
        </p:spPr>
      </p:sp>
      <p:sp>
        <p:nvSpPr>
          <p:cNvPr id="14" name="Text 10"/>
          <p:cNvSpPr/>
          <p:nvPr/>
        </p:nvSpPr>
        <p:spPr>
          <a:xfrm>
            <a:off x="7049933" y="433476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681155" y="489254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Identification</a:t>
            </a:r>
            <a:endParaRPr lang="en-US" sz="1000" dirty="0"/>
          </a:p>
        </p:txBody>
      </p:sp>
      <p:sp>
        <p:nvSpPr>
          <p:cNvPr id="16" name="Shape 12"/>
          <p:cNvSpPr/>
          <p:nvPr/>
        </p:nvSpPr>
        <p:spPr>
          <a:xfrm>
            <a:off x="8290408" y="4334764"/>
            <a:ext cx="502920" cy="502920"/>
          </a:xfrm>
          <a:prstGeom prst="ellipse">
            <a:avLst/>
          </a:prstGeom>
          <a:solidFill>
            <a:srgbClr val="003087"/>
          </a:solidFill>
          <a:ln w="12700">
            <a:solidFill>
              <a:srgbClr val="003087"/>
            </a:solidFill>
            <a:prstDash val="solid"/>
          </a:ln>
        </p:spPr>
      </p:sp>
      <p:sp>
        <p:nvSpPr>
          <p:cNvPr id="17" name="Text 13"/>
          <p:cNvSpPr/>
          <p:nvPr/>
        </p:nvSpPr>
        <p:spPr>
          <a:xfrm>
            <a:off x="8290408" y="433476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921630" y="489254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Diagnosis</a:t>
            </a:r>
            <a:endParaRPr lang="en-US" sz="1000" dirty="0"/>
          </a:p>
        </p:txBody>
      </p:sp>
      <p:sp>
        <p:nvSpPr>
          <p:cNvPr id="19" name="Shape 15"/>
          <p:cNvSpPr/>
          <p:nvPr/>
        </p:nvSpPr>
        <p:spPr>
          <a:xfrm>
            <a:off x="9530883" y="4334764"/>
            <a:ext cx="502920" cy="502920"/>
          </a:xfrm>
          <a:prstGeom prst="ellipse">
            <a:avLst/>
          </a:prstGeom>
          <a:solidFill>
            <a:srgbClr val="003087"/>
          </a:solidFill>
          <a:ln w="12700">
            <a:solidFill>
              <a:srgbClr val="003087"/>
            </a:solidFill>
            <a:prstDash val="solid"/>
          </a:ln>
        </p:spPr>
      </p:sp>
      <p:sp>
        <p:nvSpPr>
          <p:cNvPr id="20" name="Text 16"/>
          <p:cNvSpPr/>
          <p:nvPr/>
        </p:nvSpPr>
        <p:spPr>
          <a:xfrm>
            <a:off x="9530883" y="433476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9162105" y="489254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Treatment</a:t>
            </a:r>
            <a:endParaRPr lang="en-US" sz="1000" dirty="0"/>
          </a:p>
        </p:txBody>
      </p:sp>
      <p:sp>
        <p:nvSpPr>
          <p:cNvPr id="22" name="Shape 18"/>
          <p:cNvSpPr/>
          <p:nvPr/>
        </p:nvSpPr>
        <p:spPr>
          <a:xfrm>
            <a:off x="10771358" y="4334764"/>
            <a:ext cx="502920" cy="502920"/>
          </a:xfrm>
          <a:prstGeom prst="ellipse">
            <a:avLst/>
          </a:prstGeom>
          <a:solidFill>
            <a:srgbClr val="003087"/>
          </a:solidFill>
          <a:ln w="12700">
            <a:solidFill>
              <a:srgbClr val="003087"/>
            </a:solidFill>
            <a:prstDash val="solid"/>
          </a:ln>
        </p:spPr>
      </p:sp>
      <p:sp>
        <p:nvSpPr>
          <p:cNvPr id="23" name="Text 19"/>
          <p:cNvSpPr/>
          <p:nvPr/>
        </p:nvSpPr>
        <p:spPr>
          <a:xfrm>
            <a:off x="10771358" y="433476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10402580" y="489254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Long-term optimisation</a:t>
            </a:r>
            <a:endParaRPr lang="en-US" sz="1000" dirty="0"/>
          </a:p>
        </p:txBody>
      </p:sp>
      <p:sp>
        <p:nvSpPr>
          <p:cNvPr id="25" name="Shape 21"/>
          <p:cNvSpPr/>
          <p:nvPr/>
        </p:nvSpPr>
        <p:spPr>
          <a:xfrm>
            <a:off x="5440680" y="5477764"/>
            <a:ext cx="6202375" cy="81330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6" name="Text 22"/>
          <p:cNvSpPr/>
          <p:nvPr/>
        </p:nvSpPr>
        <p:spPr>
          <a:xfrm>
            <a:off x="5669280" y="5587492"/>
            <a:ext cx="5745175" cy="59385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Known, treated, and never quietly lost.</a:t>
            </a:r>
            <a:pPr indent="0" marL="0">
              <a:buNone/>
            </a:pPr>
            <a:r>
              <a:rPr lang="en-US" sz="950" dirty="0">
                <a:solidFill>
                  <a:srgbClr val="212B32"/>
                </a:solidFill>
                <a:latin typeface="Segoe UI" pitchFamily="34" charset="0"/>
                <a:ea typeface="Segoe UI" pitchFamily="34" charset="-122"/>
                <a:cs typeface="Segoe UI" pitchFamily="34" charset="-120"/>
              </a:rPr>
              <a:t>  Layla is not a diagnosis waiting to happen. She is a patient the system already knows and already treats. The failure mode for someone like her is not a missed screen but a missed check: a six-month cycle that slips to nine, then twelve, while the iron dose that was right three years ago quietly stops being right. Hold the cycle and you hold the treatment.</a:t>
            </a:r>
            <a:endParaRPr lang="en-US" sz="950" dirty="0"/>
          </a:p>
        </p:txBody>
      </p:sp>
      <p:sp>
        <p:nvSpPr>
          <p:cNvPr id="27" name="Text 23"/>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28" name="Text 24"/>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9" name="Text 2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mark-interlude-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PATIENT · A PATIENT'S STORY THROUGH THE OPERATING MODEL</a:t>
            </a:r>
            <a:endParaRPr lang="en-US" sz="1000" dirty="0"/>
          </a:p>
        </p:txBody>
      </p:sp>
      <p:pic>
        <p:nvPicPr>
          <p:cNvPr id="5" name="Image 1" descr="/sessions/quirky-zen-galileo/mnt/outputs/jd/img/mark-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Mark</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Patient on active surveillance · PSA-AS cohort</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His consultant still reads the trend.</a:t>
            </a:r>
            <a:endParaRPr lang="en-US" sz="2600" dirty="0"/>
          </a:p>
        </p:txBody>
      </p:sp>
      <p:sp>
        <p:nvSpPr>
          <p:cNvPr id="9" name="Text 5"/>
          <p:cNvSpPr/>
          <p:nvPr/>
        </p:nvSpPr>
        <p:spPr>
          <a:xfrm>
            <a:off x="5440680" y="3007360"/>
            <a:ext cx="6202375" cy="1243584"/>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Mark is 65. Diagnosed with low-risk prostate cancer and placed on active surveillance under Adam at the local trust. The quarterly PSA is supposed to be routine. The clinic trip to get it is anything but. </a:t>
            </a:r>
            <a:pPr indent="0" marL="0">
              <a:buNone/>
            </a:pPr>
            <a:r>
              <a:rPr lang="en-US" sz="1200" b="1" dirty="0">
                <a:solidFill>
                  <a:srgbClr val="212B32"/>
                </a:solidFill>
                <a:latin typeface="Segoe UI" pitchFamily="34" charset="0"/>
                <a:ea typeface="Segoe UI" pitchFamily="34" charset="-122"/>
                <a:cs typeface="Segoe UI" pitchFamily="34" charset="-120"/>
              </a:rPr>
              <a:t>This is the story of how the surveillance happens at home and the clinical accountability stays in clinic.</a:t>
            </a:r>
            <a:endParaRPr lang="en-US" sz="1200" dirty="0"/>
          </a:p>
        </p:txBody>
      </p:sp>
      <p:sp>
        <p:nvSpPr>
          <p:cNvPr id="10" name="Shape 6"/>
          <p:cNvSpPr/>
          <p:nvPr/>
        </p:nvSpPr>
        <p:spPr>
          <a:xfrm>
            <a:off x="5809458" y="4433824"/>
            <a:ext cx="502920" cy="502920"/>
          </a:xfrm>
          <a:prstGeom prst="ellipse">
            <a:avLst/>
          </a:prstGeom>
          <a:solidFill>
            <a:srgbClr val="003087"/>
          </a:solidFill>
          <a:ln w="12700">
            <a:solidFill>
              <a:srgbClr val="003087"/>
            </a:solidFill>
            <a:prstDash val="solid"/>
          </a:ln>
        </p:spPr>
      </p:sp>
      <p:sp>
        <p:nvSpPr>
          <p:cNvPr id="11" name="Text 7"/>
          <p:cNvSpPr/>
          <p:nvPr/>
        </p:nvSpPr>
        <p:spPr>
          <a:xfrm>
            <a:off x="5809458" y="44338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99160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Stratification</a:t>
            </a:r>
            <a:endParaRPr lang="en-US" sz="1000" dirty="0"/>
          </a:p>
        </p:txBody>
      </p:sp>
      <p:sp>
        <p:nvSpPr>
          <p:cNvPr id="13" name="Shape 9"/>
          <p:cNvSpPr/>
          <p:nvPr/>
        </p:nvSpPr>
        <p:spPr>
          <a:xfrm>
            <a:off x="7049933" y="4433824"/>
            <a:ext cx="502920" cy="502920"/>
          </a:xfrm>
          <a:prstGeom prst="ellipse">
            <a:avLst/>
          </a:prstGeom>
          <a:solidFill>
            <a:srgbClr val="003087"/>
          </a:solidFill>
          <a:ln w="12700">
            <a:solidFill>
              <a:srgbClr val="003087"/>
            </a:solidFill>
            <a:prstDash val="solid"/>
          </a:ln>
        </p:spPr>
      </p:sp>
      <p:sp>
        <p:nvSpPr>
          <p:cNvPr id="14" name="Text 10"/>
          <p:cNvSpPr/>
          <p:nvPr/>
        </p:nvSpPr>
        <p:spPr>
          <a:xfrm>
            <a:off x="7049933" y="44338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681155" y="499160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Identification</a:t>
            </a:r>
            <a:endParaRPr lang="en-US" sz="1000" dirty="0"/>
          </a:p>
        </p:txBody>
      </p:sp>
      <p:sp>
        <p:nvSpPr>
          <p:cNvPr id="16" name="Shape 12"/>
          <p:cNvSpPr/>
          <p:nvPr/>
        </p:nvSpPr>
        <p:spPr>
          <a:xfrm>
            <a:off x="8290408" y="4433824"/>
            <a:ext cx="502920" cy="502920"/>
          </a:xfrm>
          <a:prstGeom prst="ellipse">
            <a:avLst/>
          </a:prstGeom>
          <a:solidFill>
            <a:srgbClr val="003087"/>
          </a:solidFill>
          <a:ln w="12700">
            <a:solidFill>
              <a:srgbClr val="003087"/>
            </a:solidFill>
            <a:prstDash val="solid"/>
          </a:ln>
        </p:spPr>
      </p:sp>
      <p:sp>
        <p:nvSpPr>
          <p:cNvPr id="17" name="Text 13"/>
          <p:cNvSpPr/>
          <p:nvPr/>
        </p:nvSpPr>
        <p:spPr>
          <a:xfrm>
            <a:off x="8290408" y="44338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921630" y="499160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Diagnosis</a:t>
            </a:r>
            <a:endParaRPr lang="en-US" sz="1000" dirty="0"/>
          </a:p>
        </p:txBody>
      </p:sp>
      <p:sp>
        <p:nvSpPr>
          <p:cNvPr id="19" name="Shape 15"/>
          <p:cNvSpPr/>
          <p:nvPr/>
        </p:nvSpPr>
        <p:spPr>
          <a:xfrm>
            <a:off x="9530883" y="4433824"/>
            <a:ext cx="502920" cy="502920"/>
          </a:xfrm>
          <a:prstGeom prst="ellipse">
            <a:avLst/>
          </a:prstGeom>
          <a:solidFill>
            <a:srgbClr val="003087"/>
          </a:solidFill>
          <a:ln w="12700">
            <a:solidFill>
              <a:srgbClr val="003087"/>
            </a:solidFill>
            <a:prstDash val="solid"/>
          </a:ln>
        </p:spPr>
      </p:sp>
      <p:sp>
        <p:nvSpPr>
          <p:cNvPr id="20" name="Text 16"/>
          <p:cNvSpPr/>
          <p:nvPr/>
        </p:nvSpPr>
        <p:spPr>
          <a:xfrm>
            <a:off x="9530883" y="44338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9162105" y="499160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Treatment</a:t>
            </a:r>
            <a:endParaRPr lang="en-US" sz="1000" dirty="0"/>
          </a:p>
        </p:txBody>
      </p:sp>
      <p:sp>
        <p:nvSpPr>
          <p:cNvPr id="22" name="Shape 18"/>
          <p:cNvSpPr/>
          <p:nvPr/>
        </p:nvSpPr>
        <p:spPr>
          <a:xfrm>
            <a:off x="10771358" y="4433824"/>
            <a:ext cx="502920" cy="502920"/>
          </a:xfrm>
          <a:prstGeom prst="ellipse">
            <a:avLst/>
          </a:prstGeom>
          <a:solidFill>
            <a:srgbClr val="003087"/>
          </a:solidFill>
          <a:ln w="12700">
            <a:solidFill>
              <a:srgbClr val="003087"/>
            </a:solidFill>
            <a:prstDash val="solid"/>
          </a:ln>
        </p:spPr>
      </p:sp>
      <p:sp>
        <p:nvSpPr>
          <p:cNvPr id="23" name="Text 19"/>
          <p:cNvSpPr/>
          <p:nvPr/>
        </p:nvSpPr>
        <p:spPr>
          <a:xfrm>
            <a:off x="10771358" y="44338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10402580" y="4991608"/>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Long-term optimisation</a:t>
            </a:r>
            <a:endParaRPr lang="en-US" sz="1000" dirty="0"/>
          </a:p>
        </p:txBody>
      </p:sp>
      <p:sp>
        <p:nvSpPr>
          <p:cNvPr id="25" name="Shape 21"/>
          <p:cNvSpPr/>
          <p:nvPr/>
        </p:nvSpPr>
        <p:spPr>
          <a:xfrm>
            <a:off x="5440680" y="5576824"/>
            <a:ext cx="6202375" cy="71424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6" name="Text 22"/>
          <p:cNvSpPr/>
          <p:nvPr/>
        </p:nvSpPr>
        <p:spPr>
          <a:xfrm>
            <a:off x="5669280" y="5686552"/>
            <a:ext cx="5745175" cy="49479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His consultant still holds the cohort. The quarterly visit just does not need to be in clinic.</a:t>
            </a:r>
            <a:pPr indent="0" marL="0">
              <a:buNone/>
            </a:pPr>
            <a:r>
              <a:rPr lang="en-US" sz="950" dirty="0">
                <a:solidFill>
                  <a:srgbClr val="212B32"/>
                </a:solidFill>
                <a:latin typeface="Segoe UI" pitchFamily="34" charset="0"/>
                <a:ea typeface="Segoe UI" pitchFamily="34" charset="-122"/>
                <a:cs typeface="Segoe UI" pitchFamily="34" charset="-120"/>
              </a:rPr>
              <a:t>  Mark trusts Adam. The active-surveillance cohort works because the clinician is reading the trend. The home pathway preserves the clinical role and removes the clinic visit that did nothing but draw the blood.</a:t>
            </a:r>
            <a:endParaRPr lang="en-US" sz="950" dirty="0"/>
          </a:p>
        </p:txBody>
      </p:sp>
      <p:sp>
        <p:nvSpPr>
          <p:cNvPr id="27" name="Text 23"/>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28" name="Text 24"/>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9" name="Text 2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ean-interlude-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PATIENT · A PATIENT'S STORY THROUGH THE OPERATING MODEL</a:t>
            </a:r>
            <a:endParaRPr lang="en-US" sz="1000" dirty="0"/>
          </a:p>
        </p:txBody>
      </p:sp>
      <p:pic>
        <p:nvPicPr>
          <p:cNvPr id="5" name="Image 1" descr="/sessions/quirky-zen-galileo/mnt/outputs/jd/img/sean-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Sean</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Horizontal cohort patient · The access story</a:t>
            </a:r>
            <a:endParaRPr lang="en-US" sz="1200" dirty="0"/>
          </a:p>
        </p:txBody>
      </p:sp>
      <p:sp>
        <p:nvSpPr>
          <p:cNvPr id="8" name="Text 4"/>
          <p:cNvSpPr/>
          <p:nvPr/>
        </p:nvSpPr>
        <p:spPr>
          <a:xfrm>
            <a:off x="5440680" y="1965960"/>
            <a:ext cx="620237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Reaching him.</a:t>
            </a:r>
            <a:endParaRPr lang="en-US" sz="3000" dirty="0"/>
          </a:p>
        </p:txBody>
      </p:sp>
      <p:sp>
        <p:nvSpPr>
          <p:cNvPr id="9" name="Text 5"/>
          <p:cNvSpPr/>
          <p:nvPr/>
        </p:nvSpPr>
        <p:spPr>
          <a:xfrm>
            <a:off x="5440680" y="2644140"/>
            <a:ext cx="6202375" cy="1268349"/>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Sean has been on every NHS list since he was a child. Being on the lists has never been the hard part. The path from being identified, to getting the test done on time, to the result reaching the family who can act on it. That is where it falls down. The clinic venue assumes a prepared adult arriving on time. Sean is not that adult, for reasons that are neither his fault nor solvable by a flag on his record. </a:t>
            </a:r>
            <a:pPr indent="0" marL="0">
              <a:buNone/>
            </a:pPr>
            <a:r>
              <a:rPr lang="en-US" sz="1050" b="1" dirty="0">
                <a:solidFill>
                  <a:srgbClr val="212B32"/>
                </a:solidFill>
                <a:latin typeface="Segoe UI" pitchFamily="34" charset="0"/>
                <a:ea typeface="Segoe UI" pitchFamily="34" charset="-122"/>
                <a:cs typeface="Segoe UI" pitchFamily="34" charset="-120"/>
              </a:rPr>
              <a:t>This is the story of what changes when the test comes to him.</a:t>
            </a:r>
            <a:endParaRPr lang="en-US" sz="1050" dirty="0"/>
          </a:p>
        </p:txBody>
      </p:sp>
      <p:sp>
        <p:nvSpPr>
          <p:cNvPr id="10" name="Shape 6"/>
          <p:cNvSpPr/>
          <p:nvPr/>
        </p:nvSpPr>
        <p:spPr>
          <a:xfrm>
            <a:off x="5809458" y="4095369"/>
            <a:ext cx="502920" cy="502920"/>
          </a:xfrm>
          <a:prstGeom prst="ellipse">
            <a:avLst/>
          </a:prstGeom>
          <a:solidFill>
            <a:srgbClr val="003087"/>
          </a:solidFill>
          <a:ln w="12700">
            <a:solidFill>
              <a:srgbClr val="003087"/>
            </a:solidFill>
            <a:prstDash val="solid"/>
          </a:ln>
        </p:spPr>
      </p:sp>
      <p:sp>
        <p:nvSpPr>
          <p:cNvPr id="11" name="Text 7"/>
          <p:cNvSpPr/>
          <p:nvPr/>
        </p:nvSpPr>
        <p:spPr>
          <a:xfrm>
            <a:off x="5809458" y="409536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65315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Stratification: the cohort the system identifies but doesn't reach</a:t>
            </a:r>
            <a:endParaRPr lang="en-US" sz="1000" dirty="0"/>
          </a:p>
        </p:txBody>
      </p:sp>
      <p:sp>
        <p:nvSpPr>
          <p:cNvPr id="13" name="Shape 9"/>
          <p:cNvSpPr/>
          <p:nvPr/>
        </p:nvSpPr>
        <p:spPr>
          <a:xfrm>
            <a:off x="7049933" y="4095369"/>
            <a:ext cx="502920" cy="502920"/>
          </a:xfrm>
          <a:prstGeom prst="ellipse">
            <a:avLst/>
          </a:prstGeom>
          <a:solidFill>
            <a:srgbClr val="003087"/>
          </a:solidFill>
          <a:ln w="12700">
            <a:solidFill>
              <a:srgbClr val="003087"/>
            </a:solidFill>
            <a:prstDash val="solid"/>
          </a:ln>
        </p:spPr>
      </p:sp>
      <p:sp>
        <p:nvSpPr>
          <p:cNvPr id="14" name="Text 10"/>
          <p:cNvSpPr/>
          <p:nvPr/>
        </p:nvSpPr>
        <p:spPr>
          <a:xfrm>
            <a:off x="7049933" y="409536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681155" y="465315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Identification: the offer that reaches the people who can act on it</a:t>
            </a:r>
            <a:endParaRPr lang="en-US" sz="1000" dirty="0"/>
          </a:p>
        </p:txBody>
      </p:sp>
      <p:sp>
        <p:nvSpPr>
          <p:cNvPr id="16" name="Shape 12"/>
          <p:cNvSpPr/>
          <p:nvPr/>
        </p:nvSpPr>
        <p:spPr>
          <a:xfrm>
            <a:off x="8290408" y="4095369"/>
            <a:ext cx="502920" cy="502920"/>
          </a:xfrm>
          <a:prstGeom prst="ellipse">
            <a:avLst/>
          </a:prstGeom>
          <a:solidFill>
            <a:srgbClr val="003087"/>
          </a:solidFill>
          <a:ln w="12700">
            <a:solidFill>
              <a:srgbClr val="003087"/>
            </a:solidFill>
            <a:prstDash val="solid"/>
          </a:ln>
        </p:spPr>
      </p:sp>
      <p:sp>
        <p:nvSpPr>
          <p:cNvPr id="17" name="Text 13"/>
          <p:cNvSpPr/>
          <p:nvPr/>
        </p:nvSpPr>
        <p:spPr>
          <a:xfrm>
            <a:off x="8290408" y="409536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921630" y="465315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Diagnosis: a test on his terms</a:t>
            </a:r>
            <a:endParaRPr lang="en-US" sz="1000" dirty="0"/>
          </a:p>
        </p:txBody>
      </p:sp>
      <p:sp>
        <p:nvSpPr>
          <p:cNvPr id="19" name="Shape 15"/>
          <p:cNvSpPr/>
          <p:nvPr/>
        </p:nvSpPr>
        <p:spPr>
          <a:xfrm>
            <a:off x="9530883" y="4095369"/>
            <a:ext cx="502920" cy="502920"/>
          </a:xfrm>
          <a:prstGeom prst="ellipse">
            <a:avLst/>
          </a:prstGeom>
          <a:solidFill>
            <a:srgbClr val="003087"/>
          </a:solidFill>
          <a:ln w="12700">
            <a:solidFill>
              <a:srgbClr val="003087"/>
            </a:solidFill>
            <a:prstDash val="solid"/>
          </a:ln>
        </p:spPr>
      </p:sp>
      <p:sp>
        <p:nvSpPr>
          <p:cNvPr id="20" name="Text 16"/>
          <p:cNvSpPr/>
          <p:nvPr/>
        </p:nvSpPr>
        <p:spPr>
          <a:xfrm>
            <a:off x="9530883" y="409536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9162105" y="465315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Treatment: the result lands with the people who can act on it</a:t>
            </a:r>
            <a:endParaRPr lang="en-US" sz="1000" dirty="0"/>
          </a:p>
        </p:txBody>
      </p:sp>
      <p:sp>
        <p:nvSpPr>
          <p:cNvPr id="22" name="Shape 18"/>
          <p:cNvSpPr/>
          <p:nvPr/>
        </p:nvSpPr>
        <p:spPr>
          <a:xfrm>
            <a:off x="10771358" y="4095369"/>
            <a:ext cx="502920" cy="502920"/>
          </a:xfrm>
          <a:prstGeom prst="ellipse">
            <a:avLst/>
          </a:prstGeom>
          <a:solidFill>
            <a:srgbClr val="003087"/>
          </a:solidFill>
          <a:ln w="12700">
            <a:solidFill>
              <a:srgbClr val="003087"/>
            </a:solidFill>
            <a:prstDash val="solid"/>
          </a:ln>
        </p:spPr>
      </p:sp>
      <p:sp>
        <p:nvSpPr>
          <p:cNvPr id="23" name="Text 19"/>
          <p:cNvSpPr/>
          <p:nvPr/>
        </p:nvSpPr>
        <p:spPr>
          <a:xfrm>
            <a:off x="10771358" y="409536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10402580" y="4653153"/>
            <a:ext cx="1240475"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Long-term optimisation: the cohort the system actually holds</a:t>
            </a:r>
            <a:endParaRPr lang="en-US" sz="1000" dirty="0"/>
          </a:p>
        </p:txBody>
      </p:sp>
      <p:sp>
        <p:nvSpPr>
          <p:cNvPr id="25" name="Shape 21"/>
          <p:cNvSpPr/>
          <p:nvPr/>
        </p:nvSpPr>
        <p:spPr>
          <a:xfrm>
            <a:off x="5440680" y="5238369"/>
            <a:ext cx="6202375" cy="1052703"/>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6" name="Text 22"/>
          <p:cNvSpPr/>
          <p:nvPr/>
        </p:nvSpPr>
        <p:spPr>
          <a:xfrm>
            <a:off x="5669280" y="5348097"/>
            <a:ext cx="5745175" cy="833247"/>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Identification has never been the problem. The chain after it is.</a:t>
            </a:r>
            <a:pPr indent="0" marL="0">
              <a:buNone/>
            </a:pPr>
            <a:r>
              <a:rPr lang="en-US" sz="950" dirty="0">
                <a:solidFill>
                  <a:srgbClr val="212B32"/>
                </a:solidFill>
                <a:latin typeface="Segoe UI" pitchFamily="34" charset="0"/>
                <a:ea typeface="Segoe UI" pitchFamily="34" charset="-122"/>
                <a:cs typeface="Segoe UI" pitchFamily="34" charset="-120"/>
              </a:rPr>
              <a:t>  Sean's cohort lives 19.5 years shorter than the rest of the population. Thirty-nine per cent of those deaths are judged avoidable. The flags, the registers and the legal duty to provide accessible information have all been in place for years. The home pathway is the first venue where the system finally reaches the person it has been carrying on a list.</a:t>
            </a:r>
            <a:endParaRPr lang="en-US" sz="950" dirty="0"/>
          </a:p>
        </p:txBody>
      </p:sp>
      <p:sp>
        <p:nvSpPr>
          <p:cNvPr id="27" name="Text 23"/>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28" name="Text 24"/>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9" name="Text 2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COMMISSIONER · AN ICB/GP COMMISSIONER'S STORY THROUGH THE OPERATING MODEL</a:t>
            </a:r>
            <a:endParaRPr lang="en-US" sz="1000" dirty="0"/>
          </a:p>
        </p:txBody>
      </p:sp>
      <p:pic>
        <p:nvPicPr>
          <p:cNvPr id="5" name="Image 1" descr="/sessions/quirky-zen-galileo/mnt/outputs/jd/img/anita-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Anita</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ICB / GP commissioner · HomeTest HbA1c</a:t>
            </a:r>
            <a:endParaRPr lang="en-US" sz="1200" dirty="0"/>
          </a:p>
        </p:txBody>
      </p:sp>
      <p:sp>
        <p:nvSpPr>
          <p:cNvPr id="8" name="Text 4"/>
          <p:cNvSpPr/>
          <p:nvPr/>
        </p:nvSpPr>
        <p:spPr>
          <a:xfrm>
            <a:off x="5440680" y="1965960"/>
            <a:ext cx="6202375" cy="838200"/>
          </a:xfrm>
          <a:prstGeom prst="rect">
            <a:avLst/>
          </a:prstGeom>
          <a:noFill/>
          <a:ln/>
        </p:spPr>
        <p:txBody>
          <a:bodyPr wrap="square" lIns="0" tIns="0" rIns="0" bIns="0" rtlCol="0" anchor="t">
            <a:normAutofit/>
          </a:bodyPr>
          <a:lstStyle/>
          <a:p>
            <a:pPr indent="0" marL="0">
              <a:buNone/>
            </a:pPr>
            <a:r>
              <a:rPr lang="en-US" sz="2400" b="1" dirty="0">
                <a:solidFill>
                  <a:srgbClr val="005EB8"/>
                </a:solidFill>
                <a:latin typeface="Segoe UI" pitchFamily="34" charset="0"/>
                <a:ea typeface="Segoe UI" pitchFamily="34" charset="-122"/>
                <a:cs typeface="Segoe UI" pitchFamily="34" charset="-120"/>
              </a:rPr>
              <a:t>Anita commissions the register. Not each appointment.</a:t>
            </a:r>
            <a:endParaRPr lang="en-US" sz="2400" dirty="0"/>
          </a:p>
        </p:txBody>
      </p:sp>
      <p:sp>
        <p:nvSpPr>
          <p:cNvPr id="9" name="Text 5"/>
          <p:cNvSpPr/>
          <p:nvPr/>
        </p:nvSpPr>
        <p:spPr>
          <a:xfrm>
            <a:off x="5440680" y="2941320"/>
            <a:ext cx="6202375" cy="1243584"/>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Anita commissions primary-care diagnostic monitoring for her Integrated Care Board. HbA1c annual reviews for the at-risk register run into tens of thousands annually across her patch. The register is growing as diabetes-prevention referrals build the risk cohort. Practice nurses are scarce. Phlebotomy appointments are the bottleneck. The cohort most likely to miss the appointment is the cohort most in need of the surveillance, shift workers, carers, deprived-ward residents. She has the QOF-adjacent funding architecture, no landed home-testing route, and a growing register. </a:t>
            </a:r>
            <a:pPr indent="0" marL="0">
              <a:buNone/>
            </a:pPr>
            <a:r>
              <a:rPr lang="en-US" sz="800" b="1" dirty="0">
                <a:solidFill>
                  <a:srgbClr val="212B32"/>
                </a:solidFill>
                <a:latin typeface="Segoe UI" pitchFamily="34" charset="0"/>
                <a:ea typeface="Segoe UI" pitchFamily="34" charset="-122"/>
                <a:cs typeface="Segoe UI" pitchFamily="34" charset="-120"/>
              </a:rPr>
              <a:t>This is the story of one ICB/GP commissioner, one platform, one register-level arrangement, and an operating model that lets her commission at register scale rather than practice by practice.</a:t>
            </a:r>
            <a:endParaRPr lang="en-US" sz="800" dirty="0"/>
          </a:p>
        </p:txBody>
      </p:sp>
      <p:sp>
        <p:nvSpPr>
          <p:cNvPr id="10" name="Shape 6"/>
          <p:cNvSpPr/>
          <p:nvPr/>
        </p:nvSpPr>
        <p:spPr>
          <a:xfrm>
            <a:off x="5706085" y="4367784"/>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36778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92556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brief · a register</a:t>
            </a:r>
            <a:endParaRPr lang="en-US" sz="1000" dirty="0"/>
          </a:p>
        </p:txBody>
      </p:sp>
      <p:sp>
        <p:nvSpPr>
          <p:cNvPr id="13" name="Shape 9"/>
          <p:cNvSpPr/>
          <p:nvPr/>
        </p:nvSpPr>
        <p:spPr>
          <a:xfrm>
            <a:off x="6739814" y="4367784"/>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36778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492556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One front door · the framework opens</a:t>
            </a:r>
            <a:endParaRPr lang="en-US" sz="1000" dirty="0"/>
          </a:p>
        </p:txBody>
      </p:sp>
      <p:sp>
        <p:nvSpPr>
          <p:cNvPr id="16" name="Shape 12"/>
          <p:cNvSpPr/>
          <p:nvPr/>
        </p:nvSpPr>
        <p:spPr>
          <a:xfrm>
            <a:off x="7773543" y="4367784"/>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36778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492556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Fit for the at-risk register · the questions the register has to answer</a:t>
            </a:r>
            <a:endParaRPr lang="en-US" sz="1000" dirty="0"/>
          </a:p>
        </p:txBody>
      </p:sp>
      <p:sp>
        <p:nvSpPr>
          <p:cNvPr id="19" name="Shape 15"/>
          <p:cNvSpPr/>
          <p:nvPr/>
        </p:nvSpPr>
        <p:spPr>
          <a:xfrm>
            <a:off x="8807272" y="4367784"/>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36778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492556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One call-off · commissioning the register</a:t>
            </a:r>
            <a:endParaRPr lang="en-US" sz="1000" dirty="0"/>
          </a:p>
        </p:txBody>
      </p:sp>
      <p:sp>
        <p:nvSpPr>
          <p:cNvPr id="22" name="Shape 18"/>
          <p:cNvSpPr/>
          <p:nvPr/>
        </p:nvSpPr>
        <p:spPr>
          <a:xfrm>
            <a:off x="9841001" y="4367784"/>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36778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492556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Live operation · kits out</a:t>
            </a:r>
            <a:endParaRPr lang="en-US" sz="1000" dirty="0"/>
          </a:p>
        </p:txBody>
      </p:sp>
      <p:sp>
        <p:nvSpPr>
          <p:cNvPr id="25" name="Shape 21"/>
          <p:cNvSpPr/>
          <p:nvPr/>
        </p:nvSpPr>
        <p:spPr>
          <a:xfrm>
            <a:off x="10874731" y="4367784"/>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36778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492556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ICB paper · what the CMO sees</a:t>
            </a:r>
            <a:endParaRPr lang="en-US" sz="1000" dirty="0"/>
          </a:p>
        </p:txBody>
      </p:sp>
      <p:sp>
        <p:nvSpPr>
          <p:cNvPr id="28" name="Shape 24"/>
          <p:cNvSpPr/>
          <p:nvPr/>
        </p:nvSpPr>
        <p:spPr>
          <a:xfrm>
            <a:off x="5440680" y="5510784"/>
            <a:ext cx="6202375" cy="78028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620512"/>
            <a:ext cx="5745175" cy="56083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Commission at register scale. So the annual HbA1c review cadence holds across the at-risk cohort without pulling clinic slots.</a:t>
            </a:r>
            <a:pPr indent="0" marL="0">
              <a:buNone/>
            </a:pPr>
            <a:r>
              <a:rPr lang="en-US" sz="950" dirty="0">
                <a:solidFill>
                  <a:srgbClr val="212B32"/>
                </a:solidFill>
                <a:latin typeface="Segoe UI" pitchFamily="34" charset="0"/>
                <a:ea typeface="Segoe UI" pitchFamily="34" charset="-122"/>
                <a:cs typeface="Segoe UI" pitchFamily="34" charset="-120"/>
              </a:rPr>
              <a:t>  ICB/GP commissioners do not want a separate deal per GP practice. They want one register-level arrangement that every at-risk patient across their ICB flows through, regardless of which practice they attend. The operating model exists so the ICB commissions the annual HbA1c review at register level and each practice plugs in against a common national arrangement. Register-level commissioning is the North Star, because effort spent stitching practice-by-practice deals is effort not spent holding the cadence.</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catherine-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COMMISSIONER · AN ICB COMMISSIONER'S STORY THROUGH THE OPERATING MODEL</a:t>
            </a:r>
            <a:endParaRPr lang="en-US" sz="1000" dirty="0"/>
          </a:p>
        </p:txBody>
      </p:sp>
      <p:pic>
        <p:nvPicPr>
          <p:cNvPr id="5" name="Image 1" descr="/sessions/quirky-zen-galileo/mnt/outputs/jd/img/catherine-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Catherine</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ICB commissioner · HomeTest PSA active surveillance</a:t>
            </a:r>
            <a:endParaRPr lang="en-US" sz="1200" dirty="0"/>
          </a:p>
        </p:txBody>
      </p:sp>
      <p:sp>
        <p:nvSpPr>
          <p:cNvPr id="8" name="Text 4"/>
          <p:cNvSpPr/>
          <p:nvPr/>
        </p:nvSpPr>
        <p:spPr>
          <a:xfrm>
            <a:off x="5440680" y="1965960"/>
            <a:ext cx="6202375" cy="871220"/>
          </a:xfrm>
          <a:prstGeom prst="rect">
            <a:avLst/>
          </a:prstGeom>
          <a:noFill/>
          <a:ln/>
        </p:spPr>
        <p:txBody>
          <a:bodyPr wrap="square" lIns="0" tIns="0" rIns="0" bIns="0" rtlCol="0" anchor="t">
            <a:normAutofit/>
          </a:bodyPr>
          <a:lstStyle/>
          <a:p>
            <a:pPr indent="0" marL="0">
              <a:buNone/>
            </a:pPr>
            <a:r>
              <a:rPr lang="en-US" sz="2500" b="1" dirty="0">
                <a:solidFill>
                  <a:srgbClr val="005EB8"/>
                </a:solidFill>
                <a:latin typeface="Segoe UI" pitchFamily="34" charset="0"/>
                <a:ea typeface="Segoe UI" pitchFamily="34" charset="-122"/>
                <a:cs typeface="Segoe UI" pitchFamily="34" charset="-120"/>
              </a:rPr>
              <a:t>Catherine commissions the pathway. Not each patient.</a:t>
            </a:r>
            <a:endParaRPr lang="en-US" sz="2500" dirty="0"/>
          </a:p>
        </p:txBody>
      </p:sp>
      <p:sp>
        <p:nvSpPr>
          <p:cNvPr id="9" name="Text 5"/>
          <p:cNvSpPr/>
          <p:nvPr/>
        </p:nvSpPr>
        <p:spPr>
          <a:xfrm>
            <a:off x="5440680" y="2974340"/>
            <a:ext cx="6202375" cy="1111504"/>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Catherine commissions the PSA active-surveillance pathway across her Integrated Care Board. Consultant urologists across her acute Trusts follow the NICE NG131 monitoring cadence for men on AS; the patient volume runs into hundreds annually across her ICB. Today the pathway sits on outpatient tariff and phlebotomy access, both of which are pinching against post-pandemic clinic capacity. She has the budget envelope, an NHS-mandate route into her Trust partners, and no existing framework to lean on for home-collected sampling at scale. </a:t>
            </a:r>
            <a:pPr indent="0" marL="0">
              <a:buNone/>
            </a:pPr>
            <a:r>
              <a:rPr lang="en-US" sz="800" b="1" dirty="0">
                <a:solidFill>
                  <a:srgbClr val="212B32"/>
                </a:solidFill>
                <a:latin typeface="Segoe UI" pitchFamily="34" charset="0"/>
                <a:ea typeface="Segoe UI" pitchFamily="34" charset="-122"/>
                <a:cs typeface="Segoe UI" pitchFamily="34" charset="-120"/>
              </a:rPr>
              <a:t>This is the story of one ICB commissioner, one platform, one national arrangement, and an operating model that lets her commission the pathway rather than each patient.</a:t>
            </a:r>
            <a:endParaRPr lang="en-US" sz="800" dirty="0"/>
          </a:p>
        </p:txBody>
      </p:sp>
      <p:sp>
        <p:nvSpPr>
          <p:cNvPr id="10" name="Shape 6"/>
          <p:cNvSpPr/>
          <p:nvPr/>
        </p:nvSpPr>
        <p:spPr>
          <a:xfrm>
            <a:off x="5706085" y="4268724"/>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2687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82650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brief · an AS caseload</a:t>
            </a:r>
            <a:endParaRPr lang="en-US" sz="1000" dirty="0"/>
          </a:p>
        </p:txBody>
      </p:sp>
      <p:sp>
        <p:nvSpPr>
          <p:cNvPr id="13" name="Shape 9"/>
          <p:cNvSpPr/>
          <p:nvPr/>
        </p:nvSpPr>
        <p:spPr>
          <a:xfrm>
            <a:off x="6739814" y="4268724"/>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2687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482650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One front door · the framework opens</a:t>
            </a:r>
            <a:endParaRPr lang="en-US" sz="1000" dirty="0"/>
          </a:p>
        </p:txBody>
      </p:sp>
      <p:sp>
        <p:nvSpPr>
          <p:cNvPr id="16" name="Shape 12"/>
          <p:cNvSpPr/>
          <p:nvPr/>
        </p:nvSpPr>
        <p:spPr>
          <a:xfrm>
            <a:off x="7773543" y="4268724"/>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2687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482650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Fit for the AS cohort · the questions the pathway has to answer</a:t>
            </a:r>
            <a:endParaRPr lang="en-US" sz="1000" dirty="0"/>
          </a:p>
        </p:txBody>
      </p:sp>
      <p:sp>
        <p:nvSpPr>
          <p:cNvPr id="19" name="Shape 15"/>
          <p:cNvSpPr/>
          <p:nvPr/>
        </p:nvSpPr>
        <p:spPr>
          <a:xfrm>
            <a:off x="8807272" y="4268724"/>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2687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482650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NHS mandate · commissioning the pathway</a:t>
            </a:r>
            <a:endParaRPr lang="en-US" sz="1000" dirty="0"/>
          </a:p>
        </p:txBody>
      </p:sp>
      <p:sp>
        <p:nvSpPr>
          <p:cNvPr id="22" name="Shape 18"/>
          <p:cNvSpPr/>
          <p:nvPr/>
        </p:nvSpPr>
        <p:spPr>
          <a:xfrm>
            <a:off x="9841001" y="4268724"/>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2687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482650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Live operation · kits out</a:t>
            </a:r>
            <a:endParaRPr lang="en-US" sz="1000" dirty="0"/>
          </a:p>
        </p:txBody>
      </p:sp>
      <p:sp>
        <p:nvSpPr>
          <p:cNvPr id="25" name="Shape 21"/>
          <p:cNvSpPr/>
          <p:nvPr/>
        </p:nvSpPr>
        <p:spPr>
          <a:xfrm>
            <a:off x="10874731" y="4268724"/>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2687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482650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ICB paper · what the CMO sees</a:t>
            </a:r>
            <a:endParaRPr lang="en-US" sz="1000" dirty="0"/>
          </a:p>
        </p:txBody>
      </p:sp>
      <p:sp>
        <p:nvSpPr>
          <p:cNvPr id="28" name="Shape 24"/>
          <p:cNvSpPr/>
          <p:nvPr/>
        </p:nvSpPr>
        <p:spPr>
          <a:xfrm>
            <a:off x="5440680" y="5411724"/>
            <a:ext cx="6202375" cy="87934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521452"/>
            <a:ext cx="5745175" cy="65989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Commission the pathway, not the patient. So the ICB buys once and the AS caseload holds together across Trusts.</a:t>
            </a:r>
            <a:pPr indent="0" marL="0">
              <a:buNone/>
            </a:pPr>
            <a:r>
              <a:rPr lang="en-US" sz="950" dirty="0">
                <a:solidFill>
                  <a:srgbClr val="212B32"/>
                </a:solidFill>
                <a:latin typeface="Segoe UI" pitchFamily="34" charset="0"/>
                <a:ea typeface="Segoe UI" pitchFamily="34" charset="-122"/>
                <a:cs typeface="Segoe UI" pitchFamily="34" charset="-120"/>
              </a:rPr>
              <a:t>  ICB commissioners do not want a separate contract per Trust. They want one pathway-level arrangement that every AS patient in their system can flow through, regardless of which Trust is doing their monitoring. The operating model exists so the ICB commissions the AS pathway once at pathway level and each Trust plugs in against a common national arrangement. Pathway-level commissioning is the North Star, because effort spent stitching Trust-by-Trust deals is effort not spent on the caseload.</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846320" cy="6858000"/>
          </a:xfrm>
          <a:prstGeom prst="rect">
            <a:avLst/>
          </a:prstGeom>
          <a:solidFill>
            <a:srgbClr val="EAF2FA"/>
          </a:solidFill>
          <a:ln w="12700">
            <a:solidFill>
              <a:srgbClr val="EAF2FA"/>
            </a:solidFill>
            <a:prstDash val="solid"/>
          </a:ln>
        </p:spPr>
      </p:sp>
      <p:pic>
        <p:nvPicPr>
          <p:cNvPr id="3" name="Image 0" descr="/sessions/quirky-zen-galileo/mnt/outputs/jd/img/ruth-portrait.jpg">    </p:cNvPr>
          <p:cNvPicPr>
            <a:picLocks noChangeAspect="1"/>
          </p:cNvPicPr>
          <p:nvPr/>
        </p:nvPicPr>
        <p:blipFill>
          <a:blip r:embed="rId1"/>
          <a:stretch>
            <a:fillRect/>
          </a:stretch>
        </p:blipFill>
        <p:spPr>
          <a:xfrm>
            <a:off x="1280160" y="2286000"/>
            <a:ext cx="2286000" cy="2286000"/>
          </a:xfrm>
          <a:prstGeom prst="ellipse">
            <a:avLst/>
          </a:prstGeom>
        </p:spPr>
      </p:pic>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COMMISSIONER · A MONITORING-GAP COMMISSIONER'S STORY THROUGH HOMETEST, HELD OPEN AS A WORKING HYPOTHESIS</a:t>
            </a:r>
            <a:endParaRPr lang="en-US" sz="1000" dirty="0"/>
          </a:p>
        </p:txBody>
      </p:sp>
      <p:pic>
        <p:nvPicPr>
          <p:cNvPr id="5" name="Image 1" descr="/sessions/quirky-zen-galileo/mnt/outputs/jd/img/ruth-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Ruth</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Monitoring-gap commissioner · HomeTest PSA active surveillance · TBC</a:t>
            </a:r>
            <a:endParaRPr lang="en-US" sz="1200" dirty="0"/>
          </a:p>
        </p:txBody>
      </p:sp>
      <p:sp>
        <p:nvSpPr>
          <p:cNvPr id="8" name="Text 4"/>
          <p:cNvSpPr/>
          <p:nvPr/>
        </p:nvSpPr>
        <p:spPr>
          <a:xfrm>
            <a:off x="5440680" y="1965960"/>
            <a:ext cx="6202375" cy="640080"/>
          </a:xfrm>
          <a:prstGeom prst="rect">
            <a:avLst/>
          </a:prstGeom>
          <a:noFill/>
          <a:ln/>
        </p:spPr>
        <p:txBody>
          <a:bodyPr wrap="square" lIns="0" tIns="0" rIns="0" bIns="0" rtlCol="0" anchor="t">
            <a:normAutofit/>
          </a:bodyPr>
          <a:lstStyle/>
          <a:p>
            <a:pPr indent="0" marL="0">
              <a:buNone/>
            </a:pPr>
            <a:r>
              <a:rPr lang="en-US" sz="1800" b="1" dirty="0">
                <a:solidFill>
                  <a:srgbClr val="005EB8"/>
                </a:solidFill>
                <a:latin typeface="Segoe UI" pitchFamily="34" charset="0"/>
                <a:ea typeface="Segoe UI" pitchFamily="34" charset="-122"/>
                <a:cs typeface="Segoe UI" pitchFamily="34" charset="-120"/>
              </a:rPr>
              <a:t>The cohort between two budgets, and the commissioner who has to own it.</a:t>
            </a:r>
            <a:endParaRPr lang="en-US" sz="1800" dirty="0"/>
          </a:p>
        </p:txBody>
      </p:sp>
      <p:sp>
        <p:nvSpPr>
          <p:cNvPr id="9" name="Text 5"/>
          <p:cNvSpPr/>
          <p:nvPr/>
        </p:nvSpPr>
        <p:spPr>
          <a:xfrm>
            <a:off x="5440680" y="2743200"/>
            <a:ext cx="6202375" cy="1268349"/>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Ruth is the commissioner who will buy PSA monitoring for men referred to Urology with a raised PSA and no cancer diagnosis. Today that cohort sits between primary and secondary care, with no single budget holder, no agreed protocol cadence and no one counting whether the monitoring happens. </a:t>
            </a:r>
            <a:pPr indent="0" marL="0">
              <a:buNone/>
            </a:pPr>
            <a:r>
              <a:rPr lang="en-US" sz="1050" b="1" dirty="0">
                <a:solidFill>
                  <a:srgbClr val="212B32"/>
                </a:solidFill>
                <a:latin typeface="Segoe UI" pitchFamily="34" charset="0"/>
                <a:ea typeface="Segoe UI" pitchFamily="34" charset="-122"/>
                <a:cs typeface="Segoe UI" pitchFamily="34" charset="-120"/>
              </a:rPr>
              <a:t>This is the journey the model expects her to take once the cohort design lands, told in six stages, with the open specifics deliberately left open.</a:t>
            </a:r>
            <a:endParaRPr lang="en-US" sz="1050" dirty="0"/>
          </a:p>
        </p:txBody>
      </p:sp>
      <p:sp>
        <p:nvSpPr>
          <p:cNvPr id="10" name="Shape 6"/>
          <p:cNvSpPr/>
          <p:nvPr/>
        </p:nvSpPr>
        <p:spPr>
          <a:xfrm>
            <a:off x="5706085" y="4194429"/>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19442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75221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brief · a cohort between two budgets</a:t>
            </a:r>
            <a:endParaRPr lang="en-US" sz="1000" dirty="0"/>
          </a:p>
        </p:txBody>
      </p:sp>
      <p:sp>
        <p:nvSpPr>
          <p:cNvPr id="13" name="Shape 9"/>
          <p:cNvSpPr/>
          <p:nvPr/>
        </p:nvSpPr>
        <p:spPr>
          <a:xfrm>
            <a:off x="6739814" y="4194429"/>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19442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475221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One front door · what the framework has already settled</a:t>
            </a:r>
            <a:endParaRPr lang="en-US" sz="1000" dirty="0"/>
          </a:p>
        </p:txBody>
      </p:sp>
      <p:sp>
        <p:nvSpPr>
          <p:cNvPr id="16" name="Shape 12"/>
          <p:cNvSpPr/>
          <p:nvPr/>
        </p:nvSpPr>
        <p:spPr>
          <a:xfrm>
            <a:off x="7773543" y="4194429"/>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19442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475221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Fit for this cohort · the protocol has to exist first</a:t>
            </a:r>
            <a:endParaRPr lang="en-US" sz="1000" dirty="0"/>
          </a:p>
        </p:txBody>
      </p:sp>
      <p:sp>
        <p:nvSpPr>
          <p:cNvPr id="19" name="Shape 15"/>
          <p:cNvSpPr/>
          <p:nvPr/>
        </p:nvSpPr>
        <p:spPr>
          <a:xfrm>
            <a:off x="8807272" y="4194429"/>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19442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475221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buy · a call-off once the owner is clear</a:t>
            </a:r>
            <a:endParaRPr lang="en-US" sz="1000" dirty="0"/>
          </a:p>
        </p:txBody>
      </p:sp>
      <p:sp>
        <p:nvSpPr>
          <p:cNvPr id="22" name="Shape 18"/>
          <p:cNvSpPr/>
          <p:nvPr/>
        </p:nvSpPr>
        <p:spPr>
          <a:xfrm>
            <a:off x="9841001" y="4194429"/>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19442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475221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Live operation · the gap closes</a:t>
            </a:r>
            <a:endParaRPr lang="en-US" sz="1000" dirty="0"/>
          </a:p>
        </p:txBody>
      </p:sp>
      <p:sp>
        <p:nvSpPr>
          <p:cNvPr id="25" name="Shape 21"/>
          <p:cNvSpPr/>
          <p:nvPr/>
        </p:nvSpPr>
        <p:spPr>
          <a:xfrm>
            <a:off x="10874731" y="4194429"/>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19442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475221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case for funding · early detection</a:t>
            </a:r>
            <a:endParaRPr lang="en-US" sz="1000" dirty="0"/>
          </a:p>
        </p:txBody>
      </p:sp>
      <p:sp>
        <p:nvSpPr>
          <p:cNvPr id="28" name="Shape 24"/>
          <p:cNvSpPr/>
          <p:nvPr/>
        </p:nvSpPr>
        <p:spPr>
          <a:xfrm>
            <a:off x="5440680" y="5337429"/>
            <a:ext cx="6202375" cy="953643"/>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447157"/>
            <a:ext cx="5745175" cy="734187"/>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Close a monitoring gap that nobody currently owns</a:t>
            </a:r>
            <a:pPr indent="0" marL="0">
              <a:buNone/>
            </a:pPr>
            <a:r>
              <a:rPr lang="en-US" sz="950" dirty="0">
                <a:solidFill>
                  <a:srgbClr val="212B32"/>
                </a:solidFill>
                <a:latin typeface="Segoe UI" pitchFamily="34" charset="0"/>
                <a:ea typeface="Segoe UI" pitchFamily="34" charset="-122"/>
                <a:cs typeface="Segoe UI" pitchFamily="34" charset="-120"/>
              </a:rPr>
              <a:t>  Men referred to Urology with a raised PSA and no cancer found go back to their GP with an instruction to keep an eye on it. Some are monitored well. Some drift. The cohort has no single budget holder, no agreed cadence and no one measuring whether the monitoring happens. Ruth's job is to make that cohort someone's responsibility, with a supplier behind it that has already been assured.</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sarah-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COMMISSIONER · A COMMISSIONER'S STORY THROUGH THE OPERATING MODEL</a:t>
            </a:r>
            <a:endParaRPr lang="en-US" sz="1000" dirty="0"/>
          </a:p>
        </p:txBody>
      </p:sp>
      <p:pic>
        <p:nvPicPr>
          <p:cNvPr id="5" name="Image 1" descr="/sessions/quirky-zen-galileo/mnt/outputs/jd/img/sarah-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Sarah</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LA sexual health commissioner · HomeTest HIV</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005EB8"/>
                </a:solidFill>
                <a:latin typeface="Segoe UI" pitchFamily="34" charset="0"/>
                <a:ea typeface="Segoe UI" pitchFamily="34" charset="-122"/>
                <a:cs typeface="Segoe UI" pitchFamily="34" charset="-120"/>
              </a:rPr>
              <a:t>Sarah signs once. Not once a quarter.</a:t>
            </a:r>
            <a:endParaRPr lang="en-US" sz="2600" dirty="0"/>
          </a:p>
        </p:txBody>
      </p:sp>
      <p:sp>
        <p:nvSpPr>
          <p:cNvPr id="9" name="Text 5"/>
          <p:cNvSpPr/>
          <p:nvPr/>
        </p:nvSpPr>
        <p:spPr>
          <a:xfrm>
            <a:off x="5440680" y="3007360"/>
            <a:ext cx="6202375" cy="1268349"/>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Sarah commissions sexual health for her Local Authority. UKHSA data shows an HIV detection gap concentrated in the wards her service struggles hardest to reach. She has the budget. She does not have the headcount to design a bespoke procurement around home self-testing for every supplier on the market. </a:t>
            </a:r>
            <a:pPr indent="0" marL="0">
              <a:buNone/>
            </a:pPr>
            <a:r>
              <a:rPr lang="en-US" sz="1050" b="1" dirty="0">
                <a:solidFill>
                  <a:srgbClr val="212B32"/>
                </a:solidFill>
                <a:latin typeface="Segoe UI" pitchFamily="34" charset="0"/>
                <a:ea typeface="Segoe UI" pitchFamily="34" charset="-122"/>
                <a:cs typeface="Segoe UI" pitchFamily="34" charset="-120"/>
              </a:rPr>
              <a:t>This is the story of one commissioner, one platform, one signature, and an operating model that does the procurement work for her.</a:t>
            </a:r>
            <a:endParaRPr lang="en-US" sz="1050" dirty="0"/>
          </a:p>
        </p:txBody>
      </p:sp>
      <p:sp>
        <p:nvSpPr>
          <p:cNvPr id="10" name="Shape 6"/>
          <p:cNvSpPr/>
          <p:nvPr/>
        </p:nvSpPr>
        <p:spPr>
          <a:xfrm>
            <a:off x="5706085" y="4458589"/>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brief · a population</a:t>
            </a:r>
            <a:endParaRPr lang="en-US" sz="1000" dirty="0"/>
          </a:p>
        </p:txBody>
      </p:sp>
      <p:sp>
        <p:nvSpPr>
          <p:cNvPr id="13" name="Shape 9"/>
          <p:cNvSpPr/>
          <p:nvPr/>
        </p:nvSpPr>
        <p:spPr>
          <a:xfrm>
            <a:off x="6739814" y="4458589"/>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One front door · the framework opens</a:t>
            </a:r>
            <a:endParaRPr lang="en-US" sz="1000" dirty="0"/>
          </a:p>
        </p:txBody>
      </p:sp>
      <p:sp>
        <p:nvSpPr>
          <p:cNvPr id="16" name="Shape 12"/>
          <p:cNvSpPr/>
          <p:nvPr/>
        </p:nvSpPr>
        <p:spPr>
          <a:xfrm>
            <a:off x="7773543" y="4458589"/>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Fit for HER cohort · the questions standard answers don't solve</a:t>
            </a:r>
            <a:endParaRPr lang="en-US" sz="1000" dirty="0"/>
          </a:p>
        </p:txBody>
      </p:sp>
      <p:sp>
        <p:nvSpPr>
          <p:cNvPr id="19" name="Shape 15"/>
          <p:cNvSpPr/>
          <p:nvPr/>
        </p:nvSpPr>
        <p:spPr>
          <a:xfrm>
            <a:off x="8807272" y="4458589"/>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One call-off · signing</a:t>
            </a:r>
            <a:endParaRPr lang="en-US" sz="1000" dirty="0"/>
          </a:p>
        </p:txBody>
      </p:sp>
      <p:sp>
        <p:nvSpPr>
          <p:cNvPr id="22" name="Shape 18"/>
          <p:cNvSpPr/>
          <p:nvPr/>
        </p:nvSpPr>
        <p:spPr>
          <a:xfrm>
            <a:off x="9841001" y="4458589"/>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Live operation · kits out</a:t>
            </a:r>
            <a:endParaRPr lang="en-US" sz="1000" dirty="0"/>
          </a:p>
        </p:txBody>
      </p:sp>
      <p:sp>
        <p:nvSpPr>
          <p:cNvPr id="25" name="Shape 21"/>
          <p:cNvSpPr/>
          <p:nvPr/>
        </p:nvSpPr>
        <p:spPr>
          <a:xfrm>
            <a:off x="10874731" y="4458589"/>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board paper · what the members see</a:t>
            </a:r>
            <a:endParaRPr lang="en-US" sz="1000" dirty="0"/>
          </a:p>
        </p:txBody>
      </p:sp>
      <p:sp>
        <p:nvSpPr>
          <p:cNvPr id="28" name="Shape 24"/>
          <p:cNvSpPr/>
          <p:nvPr/>
        </p:nvSpPr>
        <p:spPr>
          <a:xfrm>
            <a:off x="5440680" y="5601589"/>
            <a:ext cx="6202375" cy="689483"/>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711317"/>
            <a:ext cx="5745175" cy="470027"/>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Easy buying. So the buying gets out of the way and the population outcome stays in focus.</a:t>
            </a:r>
            <a:pPr indent="0" marL="0">
              <a:buNone/>
            </a:pPr>
            <a:r>
              <a:rPr lang="en-US" sz="950" dirty="0">
                <a:solidFill>
                  <a:srgbClr val="212B32"/>
                </a:solidFill>
                <a:latin typeface="Segoe UI" pitchFamily="34" charset="0"/>
                <a:ea typeface="Segoe UI" pitchFamily="34" charset="-122"/>
                <a:cs typeface="Segoe UI" pitchFamily="34" charset="-120"/>
              </a:rPr>
              <a:t>  Commissioners do not buy home testing for the joy of running procurements. They buy it to close a detection gap, reduce late diagnoses, or get more out of a stretched service. The operating model exists so the buying stops being the work. Easy buying is the North Star, not because procurement should be lazy, but because effort spent on procurement is effort not spent on population health.</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CLINICIAN · A CLINICIAN'S STORY THROUGH THE OPERATING MODEL</a:t>
            </a:r>
            <a:endParaRPr lang="en-US" sz="1000" dirty="0"/>
          </a:p>
        </p:txBody>
      </p:sp>
      <p:pic>
        <p:nvPicPr>
          <p:cNvPr id="5" name="Image 1" descr="/sessions/quirky-zen-galileo/mnt/outputs/jd/img/adam-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Adam</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Consultant urologist · PSA Active Surveillance</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6A3FB5"/>
                </a:solidFill>
                <a:latin typeface="Segoe UI" pitchFamily="34" charset="0"/>
                <a:ea typeface="Segoe UI" pitchFamily="34" charset="-122"/>
                <a:cs typeface="Segoe UI" pitchFamily="34" charset="-120"/>
              </a:rPr>
              <a:t>The patients he cannot see stay in surveillance.</a:t>
            </a:r>
            <a:endParaRPr lang="en-US" sz="2600" dirty="0"/>
          </a:p>
        </p:txBody>
      </p:sp>
      <p:sp>
        <p:nvSpPr>
          <p:cNvPr id="9" name="Text 5"/>
          <p:cNvSpPr/>
          <p:nvPr/>
        </p:nvSpPr>
        <p:spPr>
          <a:xfrm>
            <a:off x="5440680" y="3007360"/>
            <a:ext cx="6202375" cy="1094994"/>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Adam is a consultant urologist running a PSA Active Surveillance cohort at a large acute trust. He sees his patients on a quarterly cycle. Some miss appointments because of work, travel or caring responsibilities. Some drop out of surveillance entirely. The drop-outs are the patients he worries about most. </a:t>
            </a:r>
            <a:pPr indent="0" marL="0">
              <a:buNone/>
            </a:pPr>
            <a:r>
              <a:rPr lang="en-US" sz="1050" b="1" dirty="0">
                <a:solidFill>
                  <a:srgbClr val="212B32"/>
                </a:solidFill>
                <a:latin typeface="Segoe UI" pitchFamily="34" charset="0"/>
                <a:ea typeface="Segoe UI" pitchFamily="34" charset="-122"/>
                <a:cs typeface="Segoe UI" pitchFamily="34" charset="-120"/>
              </a:rPr>
              <a:t>This is the story of how the model lets him keep more patients in surveillance without his clinic growing.</a:t>
            </a:r>
            <a:endParaRPr lang="en-US" sz="1050" dirty="0"/>
          </a:p>
        </p:txBody>
      </p:sp>
      <p:sp>
        <p:nvSpPr>
          <p:cNvPr id="10" name="Shape 6"/>
          <p:cNvSpPr/>
          <p:nvPr/>
        </p:nvSpPr>
        <p:spPr>
          <a:xfrm>
            <a:off x="5706085" y="4285234"/>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28523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84301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cohort · the patients in front of him</a:t>
            </a:r>
            <a:endParaRPr lang="en-US" sz="1000" dirty="0"/>
          </a:p>
        </p:txBody>
      </p:sp>
      <p:sp>
        <p:nvSpPr>
          <p:cNvPr id="13" name="Shape 9"/>
          <p:cNvSpPr/>
          <p:nvPr/>
        </p:nvSpPr>
        <p:spPr>
          <a:xfrm>
            <a:off x="6739814" y="4285234"/>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28523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484301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drop-outs · the clinic-only model's blind spot</a:t>
            </a:r>
            <a:endParaRPr lang="en-US" sz="1000" dirty="0"/>
          </a:p>
        </p:txBody>
      </p:sp>
      <p:sp>
        <p:nvSpPr>
          <p:cNvPr id="16" name="Shape 12"/>
          <p:cNvSpPr/>
          <p:nvPr/>
        </p:nvSpPr>
        <p:spPr>
          <a:xfrm>
            <a:off x="7773543" y="4285234"/>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28523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484301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model's offer · kit out</a:t>
            </a:r>
            <a:endParaRPr lang="en-US" sz="1000" dirty="0"/>
          </a:p>
        </p:txBody>
      </p:sp>
      <p:sp>
        <p:nvSpPr>
          <p:cNvPr id="19" name="Shape 15"/>
          <p:cNvSpPr/>
          <p:nvPr/>
        </p:nvSpPr>
        <p:spPr>
          <a:xfrm>
            <a:off x="8807272" y="4285234"/>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28523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484301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First home prescriptions · right patient</a:t>
            </a:r>
            <a:endParaRPr lang="en-US" sz="1000" dirty="0"/>
          </a:p>
        </p:txBody>
      </p:sp>
      <p:sp>
        <p:nvSpPr>
          <p:cNvPr id="22" name="Shape 18"/>
          <p:cNvSpPr/>
          <p:nvPr/>
        </p:nvSpPr>
        <p:spPr>
          <a:xfrm>
            <a:off x="9841001" y="4285234"/>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28523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484301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Surveillance in flight · trends</a:t>
            </a:r>
            <a:endParaRPr lang="en-US" sz="1000" dirty="0"/>
          </a:p>
        </p:txBody>
      </p:sp>
      <p:sp>
        <p:nvSpPr>
          <p:cNvPr id="25" name="Shape 21"/>
          <p:cNvSpPr/>
          <p:nvPr/>
        </p:nvSpPr>
        <p:spPr>
          <a:xfrm>
            <a:off x="10874731" y="4285234"/>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28523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484301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clinic shape now · time for the patients who need it</a:t>
            </a:r>
            <a:endParaRPr lang="en-US" sz="1000" dirty="0"/>
          </a:p>
        </p:txBody>
      </p:sp>
      <p:sp>
        <p:nvSpPr>
          <p:cNvPr id="28" name="Shape 24"/>
          <p:cNvSpPr/>
          <p:nvPr/>
        </p:nvSpPr>
        <p:spPr>
          <a:xfrm>
            <a:off x="5440680" y="5428234"/>
            <a:ext cx="6202375" cy="86283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537962"/>
            <a:ext cx="5745175" cy="64338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Clinical accountability preserved. Reach extended. Clinic time freed for the patients who need it.</a:t>
            </a:r>
            <a:pPr indent="0" marL="0">
              <a:buNone/>
            </a:pPr>
            <a:r>
              <a:rPr lang="en-US" sz="950" dirty="0">
                <a:solidFill>
                  <a:srgbClr val="212B32"/>
                </a:solidFill>
                <a:latin typeface="Segoe UI" pitchFamily="34" charset="0"/>
                <a:ea typeface="Segoe UI" pitchFamily="34" charset="-122"/>
                <a:cs typeface="Segoe UI" pitchFamily="34" charset="-120"/>
              </a:rPr>
              <a:t>  Adam is not interested in a model that quietly removes him from the loop or sends raw numbers to patients without clinical interpretation. The result comes back to him first. He reads it against the PSA trajectory he is tracking. He decides what happens next. The model that earns clinician adoption is the one that protects clinical accountability rather than routing around it.</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CLINICIAN · A CLINICIAN'S STORY THROUGH THE OPERATING MODEL</a:t>
            </a:r>
            <a:endParaRPr lang="en-US" sz="1000" dirty="0"/>
          </a:p>
        </p:txBody>
      </p:sp>
      <p:pic>
        <p:nvPicPr>
          <p:cNvPr id="5" name="Image 1" descr="/sessions/quirky-zen-galileo/mnt/outputs/jd/img/hannah-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Hannah</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GP partner · Primary-care monitoring</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6A3FB5"/>
                </a:solidFill>
                <a:latin typeface="Segoe UI" pitchFamily="34" charset="0"/>
                <a:ea typeface="Segoe UI" pitchFamily="34" charset="-122"/>
                <a:cs typeface="Segoe UI" pitchFamily="34" charset="-120"/>
              </a:rPr>
              <a:t>The bloods that never needed a clinic.</a:t>
            </a:r>
            <a:endParaRPr lang="en-US" sz="2600" dirty="0"/>
          </a:p>
        </p:txBody>
      </p:sp>
      <p:sp>
        <p:nvSpPr>
          <p:cNvPr id="9" name="Text 5"/>
          <p:cNvSpPr/>
          <p:nvPr/>
        </p:nvSpPr>
        <p:spPr>
          <a:xfrm>
            <a:off x="5440680" y="3007360"/>
            <a:ext cx="6202375" cy="1268349"/>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Hannah is a GP partner. She runs the routine Iron deficiency anaemia review cycle for her practice. Layla is on her list. So are a hundred others. Every quarter she runs the same six-month FBC clinic, and every quarter the same patients miss the appointment, get rebooked, and miss again. The cycle has nothing to do with the bloods themselves. </a:t>
            </a:r>
            <a:pPr indent="0" marL="0">
              <a:buNone/>
            </a:pPr>
            <a:r>
              <a:rPr lang="en-US" sz="1050" b="1" dirty="0">
                <a:solidFill>
                  <a:srgbClr val="212B32"/>
                </a:solidFill>
                <a:latin typeface="Segoe UI" pitchFamily="34" charset="0"/>
                <a:ea typeface="Segoe UI" pitchFamily="34" charset="-122"/>
                <a:cs typeface="Segoe UI" pitchFamily="34" charset="-120"/>
              </a:rPr>
              <a:t>This is the story of how the model lets her hold the cohort without holding their diaries.</a:t>
            </a:r>
            <a:endParaRPr lang="en-US" sz="1050" dirty="0"/>
          </a:p>
        </p:txBody>
      </p:sp>
      <p:sp>
        <p:nvSpPr>
          <p:cNvPr id="10" name="Shape 6"/>
          <p:cNvSpPr/>
          <p:nvPr/>
        </p:nvSpPr>
        <p:spPr>
          <a:xfrm>
            <a:off x="5706085" y="4458589"/>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list · the patients she keeps rebooking</a:t>
            </a:r>
            <a:endParaRPr lang="en-US" sz="1000" dirty="0"/>
          </a:p>
        </p:txBody>
      </p:sp>
      <p:sp>
        <p:nvSpPr>
          <p:cNvPr id="13" name="Shape 9"/>
          <p:cNvSpPr/>
          <p:nvPr/>
        </p:nvSpPr>
        <p:spPr>
          <a:xfrm>
            <a:off x="6739814" y="4458589"/>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missed appointment · the structural problem</a:t>
            </a:r>
            <a:endParaRPr lang="en-US" sz="1000" dirty="0"/>
          </a:p>
        </p:txBody>
      </p:sp>
      <p:sp>
        <p:nvSpPr>
          <p:cNvPr id="16" name="Shape 12"/>
          <p:cNvSpPr/>
          <p:nvPr/>
        </p:nvSpPr>
        <p:spPr>
          <a:xfrm>
            <a:off x="7773543" y="4458589"/>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model's offer · kit out</a:t>
            </a:r>
            <a:endParaRPr lang="en-US" sz="1000" dirty="0"/>
          </a:p>
        </p:txBody>
      </p:sp>
      <p:sp>
        <p:nvSpPr>
          <p:cNvPr id="19" name="Shape 15"/>
          <p:cNvSpPr/>
          <p:nvPr/>
        </p:nvSpPr>
        <p:spPr>
          <a:xfrm>
            <a:off x="8807272" y="4458589"/>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First home prescriptions · Layla and the early cohort</a:t>
            </a:r>
            <a:endParaRPr lang="en-US" sz="1000" dirty="0"/>
          </a:p>
        </p:txBody>
      </p:sp>
      <p:sp>
        <p:nvSpPr>
          <p:cNvPr id="22" name="Shape 18"/>
          <p:cNvSpPr/>
          <p:nvPr/>
        </p:nvSpPr>
        <p:spPr>
          <a:xfrm>
            <a:off x="9841001" y="4458589"/>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Routine monitoring in flight · FBCs in the record</a:t>
            </a:r>
            <a:endParaRPr lang="en-US" sz="1000" dirty="0"/>
          </a:p>
        </p:txBody>
      </p:sp>
      <p:sp>
        <p:nvSpPr>
          <p:cNvPr id="25" name="Shape 21"/>
          <p:cNvSpPr/>
          <p:nvPr/>
        </p:nvSpPr>
        <p:spPr>
          <a:xfrm>
            <a:off x="10874731" y="4458589"/>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458589"/>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5016373"/>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The practice shape now · slots for the patients who need clinic</a:t>
            </a:r>
            <a:endParaRPr lang="en-US" sz="1000" dirty="0"/>
          </a:p>
        </p:txBody>
      </p:sp>
      <p:sp>
        <p:nvSpPr>
          <p:cNvPr id="28" name="Shape 24"/>
          <p:cNvSpPr/>
          <p:nvPr/>
        </p:nvSpPr>
        <p:spPr>
          <a:xfrm>
            <a:off x="5440680" y="5601589"/>
            <a:ext cx="6202375" cy="689483"/>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711317"/>
            <a:ext cx="5745175" cy="470027"/>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The clinical accountability does not move. The venue does.</a:t>
            </a:r>
            <a:pPr indent="0" marL="0">
              <a:buNone/>
            </a:pPr>
            <a:r>
              <a:rPr lang="en-US" sz="950" dirty="0">
                <a:solidFill>
                  <a:srgbClr val="212B32"/>
                </a:solidFill>
                <a:latin typeface="Segoe UI" pitchFamily="34" charset="0"/>
                <a:ea typeface="Segoe UI" pitchFamily="34" charset="-122"/>
                <a:cs typeface="Segoe UI" pitchFamily="34" charset="-120"/>
              </a:rPr>
              <a:t>  Hannah is not interested in a model that bypasses her record or sends raw numbers to a patient. The FBC result lands in her GP system as if it had been drawn at the practice. The kit changes where the blood is taken. It does not change who reads the trend or who decides what happens next.</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2-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SUPPLIER · A SUPPLIER'S STORY THROUGH THE OPERATING MODEL</a:t>
            </a:r>
            <a:endParaRPr lang="en-US" sz="1000" dirty="0"/>
          </a:p>
        </p:txBody>
      </p:sp>
      <p:pic>
        <p:nvPicPr>
          <p:cNvPr id="5" name="Image 1" descr="/sessions/quirky-zen-galileo/mnt/outputs/jd/img/joe-portrait.jpg">    </p:cNvPr>
          <p:cNvPicPr>
            <a:picLocks noChangeAspect="1"/>
          </p:cNvPicPr>
          <p:nvPr/>
        </p:nvPicPr>
        <p:blipFill>
          <a:blip r:embed="rId2"/>
          <a:stretch>
            <a:fillRect/>
          </a:stretch>
        </p:blipFill>
        <p:spPr>
          <a:xfrm>
            <a:off x="5440680" y="777240"/>
            <a:ext cx="1005840" cy="1005840"/>
          </a:xfrm>
          <a:prstGeom prst="ellipse">
            <a:avLst/>
          </a:prstGeom>
        </p:spPr>
      </p:pic>
      <p:sp>
        <p:nvSpPr>
          <p:cNvPr id="6" name="Text 2"/>
          <p:cNvSpPr/>
          <p:nvPr/>
        </p:nvSpPr>
        <p:spPr>
          <a:xfrm>
            <a:off x="6629400" y="731520"/>
            <a:ext cx="5013655" cy="548640"/>
          </a:xfrm>
          <a:prstGeom prst="rect">
            <a:avLst/>
          </a:prstGeom>
          <a:noFill/>
          <a:ln/>
        </p:spPr>
        <p:txBody>
          <a:bodyPr wrap="square" lIns="0" tIns="0" rIns="0" bIns="0" rtlCol="0" anchor="ctr"/>
          <a:lstStyle/>
          <a:p>
            <a:pPr indent="0" marL="0">
              <a:buNone/>
            </a:pPr>
            <a:r>
              <a:rPr lang="en-US" sz="3000" b="1" dirty="0">
                <a:solidFill>
                  <a:srgbClr val="003087"/>
                </a:solidFill>
                <a:latin typeface="Segoe UI" pitchFamily="34" charset="0"/>
                <a:ea typeface="Segoe UI" pitchFamily="34" charset="-122"/>
                <a:cs typeface="Segoe UI" pitchFamily="34" charset="-120"/>
              </a:rPr>
              <a:t>Joe</a:t>
            </a:r>
            <a:endParaRPr lang="en-US" sz="3000" dirty="0"/>
          </a:p>
        </p:txBody>
      </p:sp>
      <p:sp>
        <p:nvSpPr>
          <p:cNvPr id="7" name="Text 3"/>
          <p:cNvSpPr/>
          <p:nvPr/>
        </p:nvSpPr>
        <p:spPr>
          <a:xfrm>
            <a:off x="6629400" y="1280160"/>
            <a:ext cx="5013655" cy="457200"/>
          </a:xfrm>
          <a:prstGeom prst="rect">
            <a:avLst/>
          </a:prstGeom>
          <a:noFill/>
          <a:ln/>
        </p:spPr>
        <p:txBody>
          <a:bodyPr wrap="square" lIns="0" tIns="0" rIns="0" bIns="0" rtlCol="0" anchor="t">
            <a:normAutofit/>
          </a:bodyPr>
          <a:lstStyle/>
          <a:p>
            <a:pPr indent="0" marL="0">
              <a:buNone/>
            </a:pPr>
            <a:r>
              <a:rPr lang="en-US" sz="1200" dirty="0">
                <a:solidFill>
                  <a:srgbClr val="4C6272"/>
                </a:solidFill>
                <a:latin typeface="Segoe UI" pitchFamily="34" charset="0"/>
                <a:ea typeface="Segoe UI" pitchFamily="34" charset="-122"/>
                <a:cs typeface="Segoe UI" pitchFamily="34" charset="-120"/>
              </a:rPr>
              <a:t>Self-sample supplier · Framework-admitted</a:t>
            </a:r>
            <a:endParaRPr lang="en-US" sz="1200" dirty="0"/>
          </a:p>
        </p:txBody>
      </p:sp>
      <p:sp>
        <p:nvSpPr>
          <p:cNvPr id="8" name="Text 4"/>
          <p:cNvSpPr/>
          <p:nvPr/>
        </p:nvSpPr>
        <p:spPr>
          <a:xfrm>
            <a:off x="5440680" y="1965960"/>
            <a:ext cx="6202375" cy="904240"/>
          </a:xfrm>
          <a:prstGeom prst="rect">
            <a:avLst/>
          </a:prstGeom>
          <a:noFill/>
          <a:ln/>
        </p:spPr>
        <p:txBody>
          <a:bodyPr wrap="square" lIns="0" tIns="0" rIns="0" bIns="0" rtlCol="0" anchor="t">
            <a:normAutofit/>
          </a:bodyPr>
          <a:lstStyle/>
          <a:p>
            <a:pPr indent="0" marL="0">
              <a:buNone/>
            </a:pPr>
            <a:r>
              <a:rPr lang="en-US" sz="2600" b="1" dirty="0">
                <a:solidFill>
                  <a:srgbClr val="006747"/>
                </a:solidFill>
                <a:latin typeface="Segoe UI" pitchFamily="34" charset="0"/>
                <a:ea typeface="Segoe UI" pitchFamily="34" charset="-122"/>
                <a:cs typeface="Segoe UI" pitchFamily="34" charset="-120"/>
              </a:rPr>
              <a:t>Admitted once. Reused everywhere.</a:t>
            </a:r>
            <a:endParaRPr lang="en-US" sz="2600" dirty="0"/>
          </a:p>
        </p:txBody>
      </p:sp>
      <p:sp>
        <p:nvSpPr>
          <p:cNvPr id="9" name="Text 5"/>
          <p:cNvSpPr/>
          <p:nvPr/>
        </p:nvSpPr>
        <p:spPr>
          <a:xfrm>
            <a:off x="5440680" y="3007360"/>
            <a:ext cx="6202375" cy="1194054"/>
          </a:xfrm>
          <a:prstGeom prst="rect">
            <a:avLst/>
          </a:prstGeom>
          <a:noFill/>
          <a:ln/>
        </p:spPr>
        <p:txBody>
          <a:bodyPr wrap="square" lIns="0" tIns="0" rIns="0" bIns="0" rtlCol="0" anchor="t">
            <a:normAutofit/>
          </a:bodyPr>
          <a:lstStyle/>
          <a:p>
            <a:pPr indent="0" marL="0">
              <a:buNone/>
            </a:pPr>
            <a:r>
              <a:rPr lang="en-US" sz="1150" dirty="0">
                <a:solidFill>
                  <a:srgbClr val="212B32"/>
                </a:solidFill>
                <a:latin typeface="Segoe UI" pitchFamily="34" charset="0"/>
                <a:ea typeface="Segoe UI" pitchFamily="34" charset="-122"/>
                <a:cs typeface="Segoe UI" pitchFamily="34" charset="-120"/>
              </a:rPr>
              <a:t>Joe runs a self-sample diagnostics business. Twenty staff, two labs, a kit, a clinical safety officer, the regulatory paperwork done. The market is fragmented, every commissioner wants their own DPIA, their own contract, their own assurance pack. </a:t>
            </a:r>
            <a:pPr indent="0" marL="0">
              <a:buNone/>
            </a:pPr>
            <a:r>
              <a:rPr lang="en-US" sz="1150" b="1" dirty="0">
                <a:solidFill>
                  <a:srgbClr val="212B32"/>
                </a:solidFill>
                <a:latin typeface="Segoe UI" pitchFamily="34" charset="0"/>
                <a:ea typeface="Segoe UI" pitchFamily="34" charset="-122"/>
                <a:cs typeface="Segoe UI" pitchFamily="34" charset="-120"/>
              </a:rPr>
              <a:t>This is the story of how the framework turns one admission into many deployments, without a fresh assurance pass each time.</a:t>
            </a:r>
            <a:endParaRPr lang="en-US" sz="1150" dirty="0"/>
          </a:p>
        </p:txBody>
      </p:sp>
      <p:sp>
        <p:nvSpPr>
          <p:cNvPr id="10" name="Shape 6"/>
          <p:cNvSpPr/>
          <p:nvPr/>
        </p:nvSpPr>
        <p:spPr>
          <a:xfrm>
            <a:off x="5706085" y="4384294"/>
            <a:ext cx="502920" cy="502920"/>
          </a:xfrm>
          <a:prstGeom prst="ellipse">
            <a:avLst/>
          </a:prstGeom>
          <a:solidFill>
            <a:srgbClr val="003087"/>
          </a:solidFill>
          <a:ln w="12700">
            <a:solidFill>
              <a:srgbClr val="003087"/>
            </a:solidFill>
            <a:prstDash val="solid"/>
          </a:ln>
        </p:spPr>
      </p:sp>
      <p:sp>
        <p:nvSpPr>
          <p:cNvPr id="11" name="Text 7"/>
          <p:cNvSpPr/>
          <p:nvPr/>
        </p:nvSpPr>
        <p:spPr>
          <a:xfrm>
            <a:off x="5706085" y="438429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2" name="Text 8"/>
          <p:cNvSpPr/>
          <p:nvPr/>
        </p:nvSpPr>
        <p:spPr>
          <a:xfrm>
            <a:off x="5440680" y="494207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Find the framework · the public criteria pack</a:t>
            </a:r>
            <a:endParaRPr lang="en-US" sz="1000" dirty="0"/>
          </a:p>
        </p:txBody>
      </p:sp>
      <p:sp>
        <p:nvSpPr>
          <p:cNvPr id="13" name="Shape 9"/>
          <p:cNvSpPr/>
          <p:nvPr/>
        </p:nvSpPr>
        <p:spPr>
          <a:xfrm>
            <a:off x="6739814" y="4384294"/>
            <a:ext cx="502920" cy="502920"/>
          </a:xfrm>
          <a:prstGeom prst="ellipse">
            <a:avLst/>
          </a:prstGeom>
          <a:solidFill>
            <a:srgbClr val="003087"/>
          </a:solidFill>
          <a:ln w="12700">
            <a:solidFill>
              <a:srgbClr val="003087"/>
            </a:solidFill>
            <a:prstDash val="solid"/>
          </a:ln>
        </p:spPr>
      </p:sp>
      <p:sp>
        <p:nvSpPr>
          <p:cNvPr id="14" name="Text 10"/>
          <p:cNvSpPr/>
          <p:nvPr/>
        </p:nvSpPr>
        <p:spPr>
          <a:xfrm>
            <a:off x="6739814" y="438429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1"/>
          <p:cNvSpPr/>
          <p:nvPr/>
        </p:nvSpPr>
        <p:spPr>
          <a:xfrm>
            <a:off x="6474409" y="494207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Self-assess · no NHSE meeting needed yet</a:t>
            </a:r>
            <a:endParaRPr lang="en-US" sz="1000" dirty="0"/>
          </a:p>
        </p:txBody>
      </p:sp>
      <p:sp>
        <p:nvSpPr>
          <p:cNvPr id="16" name="Shape 12"/>
          <p:cNvSpPr/>
          <p:nvPr/>
        </p:nvSpPr>
        <p:spPr>
          <a:xfrm>
            <a:off x="7773543" y="4384294"/>
            <a:ext cx="502920" cy="502920"/>
          </a:xfrm>
          <a:prstGeom prst="ellipse">
            <a:avLst/>
          </a:prstGeom>
          <a:solidFill>
            <a:srgbClr val="003087"/>
          </a:solidFill>
          <a:ln w="12700">
            <a:solidFill>
              <a:srgbClr val="003087"/>
            </a:solidFill>
            <a:prstDash val="solid"/>
          </a:ln>
        </p:spPr>
      </p:sp>
      <p:sp>
        <p:nvSpPr>
          <p:cNvPr id="17" name="Text 13"/>
          <p:cNvSpPr/>
          <p:nvPr/>
        </p:nvSpPr>
        <p:spPr>
          <a:xfrm>
            <a:off x="7773543" y="438429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8" name="Text 14"/>
          <p:cNvSpPr/>
          <p:nvPr/>
        </p:nvSpPr>
        <p:spPr>
          <a:xfrm>
            <a:off x="7508138" y="494207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Submit the EOI · structured</a:t>
            </a:r>
            <a:endParaRPr lang="en-US" sz="1000" dirty="0"/>
          </a:p>
        </p:txBody>
      </p:sp>
      <p:sp>
        <p:nvSpPr>
          <p:cNvPr id="19" name="Shape 15"/>
          <p:cNvSpPr/>
          <p:nvPr/>
        </p:nvSpPr>
        <p:spPr>
          <a:xfrm>
            <a:off x="8807272" y="4384294"/>
            <a:ext cx="502920" cy="502920"/>
          </a:xfrm>
          <a:prstGeom prst="ellipse">
            <a:avLst/>
          </a:prstGeom>
          <a:solidFill>
            <a:srgbClr val="003087"/>
          </a:solidFill>
          <a:ln w="12700">
            <a:solidFill>
              <a:srgbClr val="003087"/>
            </a:solidFill>
            <a:prstDash val="solid"/>
          </a:ln>
        </p:spPr>
      </p:sp>
      <p:sp>
        <p:nvSpPr>
          <p:cNvPr id="20" name="Text 16"/>
          <p:cNvSpPr/>
          <p:nvPr/>
        </p:nvSpPr>
        <p:spPr>
          <a:xfrm>
            <a:off x="8807272" y="438429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7"/>
          <p:cNvSpPr/>
          <p:nvPr/>
        </p:nvSpPr>
        <p:spPr>
          <a:xfrm>
            <a:off x="8541868" y="494207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Through the gate · triage</a:t>
            </a:r>
            <a:endParaRPr lang="en-US" sz="1000" dirty="0"/>
          </a:p>
        </p:txBody>
      </p:sp>
      <p:sp>
        <p:nvSpPr>
          <p:cNvPr id="22" name="Shape 18"/>
          <p:cNvSpPr/>
          <p:nvPr/>
        </p:nvSpPr>
        <p:spPr>
          <a:xfrm>
            <a:off x="9841001" y="4384294"/>
            <a:ext cx="502920" cy="502920"/>
          </a:xfrm>
          <a:prstGeom prst="ellipse">
            <a:avLst/>
          </a:prstGeom>
          <a:solidFill>
            <a:srgbClr val="003087"/>
          </a:solidFill>
          <a:ln w="12700">
            <a:solidFill>
              <a:srgbClr val="003087"/>
            </a:solidFill>
            <a:prstDash val="solid"/>
          </a:ln>
        </p:spPr>
      </p:sp>
      <p:sp>
        <p:nvSpPr>
          <p:cNvPr id="23" name="Text 19"/>
          <p:cNvSpPr/>
          <p:nvPr/>
        </p:nvSpPr>
        <p:spPr>
          <a:xfrm>
            <a:off x="9841001" y="438429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4" name="Text 20"/>
          <p:cNvSpPr/>
          <p:nvPr/>
        </p:nvSpPr>
        <p:spPr>
          <a:xfrm>
            <a:off x="9575597" y="494207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First commissioner calls off · no re-assurance</a:t>
            </a:r>
            <a:endParaRPr lang="en-US" sz="1000" dirty="0"/>
          </a:p>
        </p:txBody>
      </p:sp>
      <p:sp>
        <p:nvSpPr>
          <p:cNvPr id="25" name="Shape 21"/>
          <p:cNvSpPr/>
          <p:nvPr/>
        </p:nvSpPr>
        <p:spPr>
          <a:xfrm>
            <a:off x="10874731" y="4384294"/>
            <a:ext cx="502920" cy="502920"/>
          </a:xfrm>
          <a:prstGeom prst="ellipse">
            <a:avLst/>
          </a:prstGeom>
          <a:solidFill>
            <a:srgbClr val="003087"/>
          </a:solidFill>
          <a:ln w="12700">
            <a:solidFill>
              <a:srgbClr val="003087"/>
            </a:solidFill>
            <a:prstDash val="solid"/>
          </a:ln>
        </p:spPr>
      </p:sp>
      <p:sp>
        <p:nvSpPr>
          <p:cNvPr id="26" name="Text 22"/>
          <p:cNvSpPr/>
          <p:nvPr/>
        </p:nvSpPr>
        <p:spPr>
          <a:xfrm>
            <a:off x="10874731" y="438429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6</a:t>
            </a:r>
            <a:endParaRPr lang="en-US" sz="1400" dirty="0"/>
          </a:p>
        </p:txBody>
      </p:sp>
      <p:sp>
        <p:nvSpPr>
          <p:cNvPr id="27" name="Text 23"/>
          <p:cNvSpPr/>
          <p:nvPr/>
        </p:nvSpPr>
        <p:spPr>
          <a:xfrm>
            <a:off x="10609326" y="4942078"/>
            <a:ext cx="1033729" cy="502920"/>
          </a:xfrm>
          <a:prstGeom prst="rect">
            <a:avLst/>
          </a:prstGeom>
          <a:noFill/>
          <a:ln/>
        </p:spPr>
        <p:txBody>
          <a:bodyPr wrap="square" lIns="0" tIns="0" rIns="0" bIns="0" rtlCol="0" anchor="t">
            <a:normAutofit/>
          </a:bodyPr>
          <a:lstStyle/>
          <a:p>
            <a:pPr algn="ctr" indent="0" marL="0">
              <a:buNone/>
            </a:pPr>
            <a:r>
              <a:rPr lang="en-US" sz="1000" b="1" dirty="0">
                <a:solidFill>
                  <a:srgbClr val="003087"/>
                </a:solidFill>
                <a:latin typeface="Segoe UI" pitchFamily="34" charset="0"/>
                <a:ea typeface="Segoe UI" pitchFamily="34" charset="-122"/>
                <a:cs typeface="Segoe UI" pitchFamily="34" charset="-120"/>
              </a:rPr>
              <a:t>Reuse across the cohort · one certificate</a:t>
            </a:r>
            <a:endParaRPr lang="en-US" sz="1000" dirty="0"/>
          </a:p>
        </p:txBody>
      </p:sp>
      <p:sp>
        <p:nvSpPr>
          <p:cNvPr id="28" name="Shape 24"/>
          <p:cNvSpPr/>
          <p:nvPr/>
        </p:nvSpPr>
        <p:spPr>
          <a:xfrm>
            <a:off x="5440680" y="5527294"/>
            <a:ext cx="6202375" cy="763778"/>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9" name="Text 25"/>
          <p:cNvSpPr/>
          <p:nvPr/>
        </p:nvSpPr>
        <p:spPr>
          <a:xfrm>
            <a:off x="5669280" y="5637022"/>
            <a:ext cx="5745175" cy="544322"/>
          </a:xfrm>
          <a:prstGeom prst="rect">
            <a:avLst/>
          </a:prstGeom>
          <a:noFill/>
          <a:ln/>
        </p:spPr>
        <p:txBody>
          <a:bodyPr wrap="square" lIns="0" tIns="0" rIns="0" bIns="0" rtlCol="0" anchor="ctr">
            <a:normAutofit/>
          </a:bodyPr>
          <a:lstStyle/>
          <a:p>
            <a:pPr indent="0" marL="0">
              <a:buNone/>
            </a:pPr>
            <a:r>
              <a:rPr lang="en-US" sz="950" b="1" dirty="0">
                <a:solidFill>
                  <a:srgbClr val="212B32"/>
                </a:solidFill>
                <a:latin typeface="Segoe UI" pitchFamily="34" charset="0"/>
                <a:ea typeface="Segoe UI" pitchFamily="34" charset="-122"/>
                <a:cs typeface="Segoe UI" pitchFamily="34" charset="-120"/>
              </a:rPr>
              <a:t>Assure once. Reuse nationally.</a:t>
            </a:r>
            <a:pPr indent="0" marL="0">
              <a:buNone/>
            </a:pPr>
            <a:r>
              <a:rPr lang="en-US" sz="950" dirty="0">
                <a:solidFill>
                  <a:srgbClr val="212B32"/>
                </a:solidFill>
                <a:latin typeface="Segoe UI" pitchFamily="34" charset="0"/>
                <a:ea typeface="Segoe UI" pitchFamily="34" charset="-122"/>
                <a:cs typeface="Segoe UI" pitchFamily="34" charset="-120"/>
              </a:rPr>
              <a:t>  A supplier evidences core compliance once per API they connect to. Adding a new test under an onboarded API is a lightweight check, not a full repeat. The clinical safety case, the IG package and the lab assurance are then portable across every commissioner who calls them off. The local body acts as the deployment authority. Not as a re-assurer.</a:t>
            </a:r>
            <a:endParaRPr lang="en-US" sz="950" dirty="0"/>
          </a:p>
        </p:txBody>
      </p:sp>
      <p:sp>
        <p:nvSpPr>
          <p:cNvPr id="30" name="Text 26"/>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31" name="Text 27"/>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32" name="Text 28"/>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Text 1"/>
          <p:cNvSpPr/>
          <p:nvPr/>
        </p:nvSpPr>
        <p:spPr>
          <a:xfrm>
            <a:off x="548640" y="548640"/>
            <a:ext cx="731520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a:t>
            </a:r>
            <a:endParaRPr lang="en-US" sz="1000" dirty="0"/>
          </a:p>
        </p:txBody>
      </p:sp>
      <p:sp>
        <p:nvSpPr>
          <p:cNvPr id="5" name="Shape 2"/>
          <p:cNvSpPr/>
          <p:nvPr/>
        </p:nvSpPr>
        <p:spPr>
          <a:xfrm>
            <a:off x="887959" y="1517904"/>
            <a:ext cx="1170432" cy="1170432"/>
          </a:xfrm>
          <a:prstGeom prst="ellipse">
            <a:avLst/>
          </a:prstGeom>
          <a:solidFill>
            <a:srgbClr val="FFFFFF"/>
          </a:solidFill>
          <a:ln w="12700">
            <a:solidFill>
              <a:srgbClr val="FFFFFF"/>
            </a:solidFill>
            <a:prstDash val="solid"/>
          </a:ln>
        </p:spPr>
      </p:sp>
      <p:pic>
        <p:nvPicPr>
          <p:cNvPr id="6" name="Image 1" descr="/sessions/quirky-zen-galileo/mnt/outputs/jd/img/abdul-portrait.jpg">    </p:cNvPr>
          <p:cNvPicPr>
            <a:picLocks noChangeAspect="1"/>
          </p:cNvPicPr>
          <p:nvPr/>
        </p:nvPicPr>
        <p:blipFill>
          <a:blip r:embed="rId2"/>
          <a:stretch>
            <a:fillRect/>
          </a:stretch>
        </p:blipFill>
        <p:spPr>
          <a:xfrm>
            <a:off x="924535" y="1554480"/>
            <a:ext cx="1097280" cy="1097280"/>
          </a:xfrm>
          <a:prstGeom prst="ellipse">
            <a:avLst/>
          </a:prstGeom>
        </p:spPr>
      </p:pic>
      <p:sp>
        <p:nvSpPr>
          <p:cNvPr id="7" name="Text 3"/>
          <p:cNvSpPr/>
          <p:nvPr/>
        </p:nvSpPr>
        <p:spPr>
          <a:xfrm>
            <a:off x="548640" y="269748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Abdul</a:t>
            </a:r>
            <a:endParaRPr lang="en-US" sz="1200" dirty="0"/>
          </a:p>
        </p:txBody>
      </p:sp>
      <p:sp>
        <p:nvSpPr>
          <p:cNvPr id="8" name="Shape 4"/>
          <p:cNvSpPr/>
          <p:nvPr/>
        </p:nvSpPr>
        <p:spPr>
          <a:xfrm>
            <a:off x="2737028" y="1517904"/>
            <a:ext cx="1170432" cy="1170432"/>
          </a:xfrm>
          <a:prstGeom prst="ellipse">
            <a:avLst/>
          </a:prstGeom>
          <a:solidFill>
            <a:srgbClr val="FFFFFF"/>
          </a:solidFill>
          <a:ln w="12700">
            <a:solidFill>
              <a:srgbClr val="FFFFFF"/>
            </a:solidFill>
            <a:prstDash val="solid"/>
          </a:ln>
        </p:spPr>
      </p:sp>
      <p:pic>
        <p:nvPicPr>
          <p:cNvPr id="9" name="Image 2" descr="/sessions/quirky-zen-galileo/mnt/outputs/jd/img/devi-portrait.jpg">    </p:cNvPr>
          <p:cNvPicPr>
            <a:picLocks noChangeAspect="1"/>
          </p:cNvPicPr>
          <p:nvPr/>
        </p:nvPicPr>
        <p:blipFill>
          <a:blip r:embed="rId3"/>
          <a:stretch>
            <a:fillRect/>
          </a:stretch>
        </p:blipFill>
        <p:spPr>
          <a:xfrm>
            <a:off x="2773604" y="1554480"/>
            <a:ext cx="1097280" cy="1097280"/>
          </a:xfrm>
          <a:prstGeom prst="ellipse">
            <a:avLst/>
          </a:prstGeom>
        </p:spPr>
      </p:pic>
      <p:sp>
        <p:nvSpPr>
          <p:cNvPr id="10" name="Text 5"/>
          <p:cNvSpPr/>
          <p:nvPr/>
        </p:nvSpPr>
        <p:spPr>
          <a:xfrm>
            <a:off x="2397709" y="269748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Devi</a:t>
            </a:r>
            <a:endParaRPr lang="en-US" sz="1200" dirty="0"/>
          </a:p>
        </p:txBody>
      </p:sp>
      <p:sp>
        <p:nvSpPr>
          <p:cNvPr id="11" name="Shape 6"/>
          <p:cNvSpPr/>
          <p:nvPr/>
        </p:nvSpPr>
        <p:spPr>
          <a:xfrm>
            <a:off x="4586097" y="1517904"/>
            <a:ext cx="1170432" cy="1170432"/>
          </a:xfrm>
          <a:prstGeom prst="ellipse">
            <a:avLst/>
          </a:prstGeom>
          <a:solidFill>
            <a:srgbClr val="FFFFFF"/>
          </a:solidFill>
          <a:ln w="12700">
            <a:solidFill>
              <a:srgbClr val="FFFFFF"/>
            </a:solidFill>
            <a:prstDash val="solid"/>
          </a:ln>
        </p:spPr>
      </p:sp>
      <p:pic>
        <p:nvPicPr>
          <p:cNvPr id="12" name="Image 3" descr="/sessions/quirky-zen-galileo/mnt/outputs/jd/img/layla-portrait.jpg">    </p:cNvPr>
          <p:cNvPicPr>
            <a:picLocks noChangeAspect="1"/>
          </p:cNvPicPr>
          <p:nvPr/>
        </p:nvPicPr>
        <p:blipFill>
          <a:blip r:embed="rId4"/>
          <a:stretch>
            <a:fillRect/>
          </a:stretch>
        </p:blipFill>
        <p:spPr>
          <a:xfrm>
            <a:off x="4622673" y="1554480"/>
            <a:ext cx="1097280" cy="1097280"/>
          </a:xfrm>
          <a:prstGeom prst="ellipse">
            <a:avLst/>
          </a:prstGeom>
        </p:spPr>
      </p:pic>
      <p:sp>
        <p:nvSpPr>
          <p:cNvPr id="13" name="Text 7"/>
          <p:cNvSpPr/>
          <p:nvPr/>
        </p:nvSpPr>
        <p:spPr>
          <a:xfrm>
            <a:off x="4246778" y="269748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Layla</a:t>
            </a:r>
            <a:endParaRPr lang="en-US" sz="1200" dirty="0"/>
          </a:p>
        </p:txBody>
      </p:sp>
      <p:sp>
        <p:nvSpPr>
          <p:cNvPr id="14" name="Shape 8"/>
          <p:cNvSpPr/>
          <p:nvPr/>
        </p:nvSpPr>
        <p:spPr>
          <a:xfrm>
            <a:off x="6435166" y="1517904"/>
            <a:ext cx="1170432" cy="1170432"/>
          </a:xfrm>
          <a:prstGeom prst="ellipse">
            <a:avLst/>
          </a:prstGeom>
          <a:solidFill>
            <a:srgbClr val="FFFFFF"/>
          </a:solidFill>
          <a:ln w="12700">
            <a:solidFill>
              <a:srgbClr val="FFFFFF"/>
            </a:solidFill>
            <a:prstDash val="solid"/>
          </a:ln>
        </p:spPr>
      </p:sp>
      <p:pic>
        <p:nvPicPr>
          <p:cNvPr id="15" name="Image 4" descr="/sessions/quirky-zen-galileo/mnt/outputs/jd/img/mark-portrait.jpg">    </p:cNvPr>
          <p:cNvPicPr>
            <a:picLocks noChangeAspect="1"/>
          </p:cNvPicPr>
          <p:nvPr/>
        </p:nvPicPr>
        <p:blipFill>
          <a:blip r:embed="rId5"/>
          <a:stretch>
            <a:fillRect/>
          </a:stretch>
        </p:blipFill>
        <p:spPr>
          <a:xfrm>
            <a:off x="6471742" y="1554480"/>
            <a:ext cx="1097280" cy="1097280"/>
          </a:xfrm>
          <a:prstGeom prst="ellipse">
            <a:avLst/>
          </a:prstGeom>
        </p:spPr>
      </p:pic>
      <p:sp>
        <p:nvSpPr>
          <p:cNvPr id="16" name="Text 9"/>
          <p:cNvSpPr/>
          <p:nvPr/>
        </p:nvSpPr>
        <p:spPr>
          <a:xfrm>
            <a:off x="6095848" y="269748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Mark</a:t>
            </a:r>
            <a:endParaRPr lang="en-US" sz="1200" dirty="0"/>
          </a:p>
        </p:txBody>
      </p:sp>
      <p:sp>
        <p:nvSpPr>
          <p:cNvPr id="17" name="Shape 10"/>
          <p:cNvSpPr/>
          <p:nvPr/>
        </p:nvSpPr>
        <p:spPr>
          <a:xfrm>
            <a:off x="8284235" y="1517904"/>
            <a:ext cx="1170432" cy="1170432"/>
          </a:xfrm>
          <a:prstGeom prst="ellipse">
            <a:avLst/>
          </a:prstGeom>
          <a:solidFill>
            <a:srgbClr val="FFFFFF"/>
          </a:solidFill>
          <a:ln w="12700">
            <a:solidFill>
              <a:srgbClr val="FFFFFF"/>
            </a:solidFill>
            <a:prstDash val="solid"/>
          </a:ln>
        </p:spPr>
      </p:sp>
      <p:pic>
        <p:nvPicPr>
          <p:cNvPr id="18" name="Image 5" descr="/sessions/quirky-zen-galileo/mnt/outputs/jd/img/sean-portrait.jpg">    </p:cNvPr>
          <p:cNvPicPr>
            <a:picLocks noChangeAspect="1"/>
          </p:cNvPicPr>
          <p:nvPr/>
        </p:nvPicPr>
        <p:blipFill>
          <a:blip r:embed="rId6"/>
          <a:stretch>
            <a:fillRect/>
          </a:stretch>
        </p:blipFill>
        <p:spPr>
          <a:xfrm>
            <a:off x="8320811" y="1554480"/>
            <a:ext cx="1097280" cy="1097280"/>
          </a:xfrm>
          <a:prstGeom prst="ellipse">
            <a:avLst/>
          </a:prstGeom>
        </p:spPr>
      </p:pic>
      <p:sp>
        <p:nvSpPr>
          <p:cNvPr id="19" name="Text 11"/>
          <p:cNvSpPr/>
          <p:nvPr/>
        </p:nvSpPr>
        <p:spPr>
          <a:xfrm>
            <a:off x="7944917" y="269748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Sean</a:t>
            </a:r>
            <a:endParaRPr lang="en-US" sz="1200" dirty="0"/>
          </a:p>
        </p:txBody>
      </p:sp>
      <p:sp>
        <p:nvSpPr>
          <p:cNvPr id="20" name="Shape 12"/>
          <p:cNvSpPr/>
          <p:nvPr/>
        </p:nvSpPr>
        <p:spPr>
          <a:xfrm>
            <a:off x="10133305" y="1517904"/>
            <a:ext cx="1170432" cy="1170432"/>
          </a:xfrm>
          <a:prstGeom prst="ellipse">
            <a:avLst/>
          </a:prstGeom>
          <a:solidFill>
            <a:srgbClr val="FFFFFF"/>
          </a:solidFill>
          <a:ln w="12700">
            <a:solidFill>
              <a:srgbClr val="FFFFFF"/>
            </a:solidFill>
            <a:prstDash val="solid"/>
          </a:ln>
        </p:spPr>
      </p:sp>
      <p:pic>
        <p:nvPicPr>
          <p:cNvPr id="21" name="Image 6" descr="/sessions/quirky-zen-galileo/mnt/outputs/jd/img/anita-portrait.jpg">    </p:cNvPr>
          <p:cNvPicPr>
            <a:picLocks noChangeAspect="1"/>
          </p:cNvPicPr>
          <p:nvPr/>
        </p:nvPicPr>
        <p:blipFill>
          <a:blip r:embed="rId7"/>
          <a:stretch>
            <a:fillRect/>
          </a:stretch>
        </p:blipFill>
        <p:spPr>
          <a:xfrm>
            <a:off x="10169881" y="1554480"/>
            <a:ext cx="1097280" cy="1097280"/>
          </a:xfrm>
          <a:prstGeom prst="ellipse">
            <a:avLst/>
          </a:prstGeom>
        </p:spPr>
      </p:pic>
      <p:sp>
        <p:nvSpPr>
          <p:cNvPr id="22" name="Text 13"/>
          <p:cNvSpPr/>
          <p:nvPr/>
        </p:nvSpPr>
        <p:spPr>
          <a:xfrm>
            <a:off x="9793986" y="269748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Anita</a:t>
            </a:r>
            <a:endParaRPr lang="en-US" sz="1200" dirty="0"/>
          </a:p>
        </p:txBody>
      </p:sp>
      <p:sp>
        <p:nvSpPr>
          <p:cNvPr id="23" name="Shape 14"/>
          <p:cNvSpPr/>
          <p:nvPr/>
        </p:nvSpPr>
        <p:spPr>
          <a:xfrm>
            <a:off x="887959" y="3163824"/>
            <a:ext cx="1170432" cy="1170432"/>
          </a:xfrm>
          <a:prstGeom prst="ellipse">
            <a:avLst/>
          </a:prstGeom>
          <a:solidFill>
            <a:srgbClr val="FFFFFF"/>
          </a:solidFill>
          <a:ln w="12700">
            <a:solidFill>
              <a:srgbClr val="FFFFFF"/>
            </a:solidFill>
            <a:prstDash val="solid"/>
          </a:ln>
        </p:spPr>
      </p:sp>
      <p:pic>
        <p:nvPicPr>
          <p:cNvPr id="24" name="Image 7" descr="/sessions/quirky-zen-galileo/mnt/outputs/jd/img/catherine-portrait.jpg">    </p:cNvPr>
          <p:cNvPicPr>
            <a:picLocks noChangeAspect="1"/>
          </p:cNvPicPr>
          <p:nvPr/>
        </p:nvPicPr>
        <p:blipFill>
          <a:blip r:embed="rId8"/>
          <a:stretch>
            <a:fillRect/>
          </a:stretch>
        </p:blipFill>
        <p:spPr>
          <a:xfrm>
            <a:off x="924535" y="3200400"/>
            <a:ext cx="1097280" cy="1097280"/>
          </a:xfrm>
          <a:prstGeom prst="ellipse">
            <a:avLst/>
          </a:prstGeom>
        </p:spPr>
      </p:pic>
      <p:sp>
        <p:nvSpPr>
          <p:cNvPr id="25" name="Text 15"/>
          <p:cNvSpPr/>
          <p:nvPr/>
        </p:nvSpPr>
        <p:spPr>
          <a:xfrm>
            <a:off x="548640" y="434340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Catherine</a:t>
            </a:r>
            <a:endParaRPr lang="en-US" sz="1200" dirty="0"/>
          </a:p>
        </p:txBody>
      </p:sp>
      <p:sp>
        <p:nvSpPr>
          <p:cNvPr id="26" name="Shape 16"/>
          <p:cNvSpPr/>
          <p:nvPr/>
        </p:nvSpPr>
        <p:spPr>
          <a:xfrm>
            <a:off x="2737028" y="3163824"/>
            <a:ext cx="1170432" cy="1170432"/>
          </a:xfrm>
          <a:prstGeom prst="ellipse">
            <a:avLst/>
          </a:prstGeom>
          <a:solidFill>
            <a:srgbClr val="FFFFFF"/>
          </a:solidFill>
          <a:ln w="12700">
            <a:solidFill>
              <a:srgbClr val="FFFFFF"/>
            </a:solidFill>
            <a:prstDash val="solid"/>
          </a:ln>
        </p:spPr>
      </p:sp>
      <p:pic>
        <p:nvPicPr>
          <p:cNvPr id="27" name="Image 8" descr="/sessions/quirky-zen-galileo/mnt/outputs/jd/img/ruth-portrait.jpg">    </p:cNvPr>
          <p:cNvPicPr>
            <a:picLocks noChangeAspect="1"/>
          </p:cNvPicPr>
          <p:nvPr/>
        </p:nvPicPr>
        <p:blipFill>
          <a:blip r:embed="rId9"/>
          <a:stretch>
            <a:fillRect/>
          </a:stretch>
        </p:blipFill>
        <p:spPr>
          <a:xfrm>
            <a:off x="2773604" y="3200400"/>
            <a:ext cx="1097280" cy="1097280"/>
          </a:xfrm>
          <a:prstGeom prst="ellipse">
            <a:avLst/>
          </a:prstGeom>
        </p:spPr>
      </p:pic>
      <p:sp>
        <p:nvSpPr>
          <p:cNvPr id="28" name="Text 17"/>
          <p:cNvSpPr/>
          <p:nvPr/>
        </p:nvSpPr>
        <p:spPr>
          <a:xfrm>
            <a:off x="2397709" y="434340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Ruth</a:t>
            </a:r>
            <a:endParaRPr lang="en-US" sz="1200" dirty="0"/>
          </a:p>
        </p:txBody>
      </p:sp>
      <p:sp>
        <p:nvSpPr>
          <p:cNvPr id="29" name="Shape 18"/>
          <p:cNvSpPr/>
          <p:nvPr/>
        </p:nvSpPr>
        <p:spPr>
          <a:xfrm>
            <a:off x="4586097" y="3163824"/>
            <a:ext cx="1170432" cy="1170432"/>
          </a:xfrm>
          <a:prstGeom prst="ellipse">
            <a:avLst/>
          </a:prstGeom>
          <a:solidFill>
            <a:srgbClr val="FFFFFF"/>
          </a:solidFill>
          <a:ln w="12700">
            <a:solidFill>
              <a:srgbClr val="FFFFFF"/>
            </a:solidFill>
            <a:prstDash val="solid"/>
          </a:ln>
        </p:spPr>
      </p:sp>
      <p:pic>
        <p:nvPicPr>
          <p:cNvPr id="30" name="Image 9" descr="/sessions/quirky-zen-galileo/mnt/outputs/jd/img/sarah-portrait.jpg">    </p:cNvPr>
          <p:cNvPicPr>
            <a:picLocks noChangeAspect="1"/>
          </p:cNvPicPr>
          <p:nvPr/>
        </p:nvPicPr>
        <p:blipFill>
          <a:blip r:embed="rId10"/>
          <a:stretch>
            <a:fillRect/>
          </a:stretch>
        </p:blipFill>
        <p:spPr>
          <a:xfrm>
            <a:off x="4622673" y="3200400"/>
            <a:ext cx="1097280" cy="1097280"/>
          </a:xfrm>
          <a:prstGeom prst="ellipse">
            <a:avLst/>
          </a:prstGeom>
        </p:spPr>
      </p:pic>
      <p:sp>
        <p:nvSpPr>
          <p:cNvPr id="31" name="Text 19"/>
          <p:cNvSpPr/>
          <p:nvPr/>
        </p:nvSpPr>
        <p:spPr>
          <a:xfrm>
            <a:off x="4246778" y="434340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Sarah</a:t>
            </a:r>
            <a:endParaRPr lang="en-US" sz="1200" dirty="0"/>
          </a:p>
        </p:txBody>
      </p:sp>
      <p:sp>
        <p:nvSpPr>
          <p:cNvPr id="32" name="Shape 20"/>
          <p:cNvSpPr/>
          <p:nvPr/>
        </p:nvSpPr>
        <p:spPr>
          <a:xfrm>
            <a:off x="6435166" y="3163824"/>
            <a:ext cx="1170432" cy="1170432"/>
          </a:xfrm>
          <a:prstGeom prst="ellipse">
            <a:avLst/>
          </a:prstGeom>
          <a:solidFill>
            <a:srgbClr val="FFFFFF"/>
          </a:solidFill>
          <a:ln w="12700">
            <a:solidFill>
              <a:srgbClr val="FFFFFF"/>
            </a:solidFill>
            <a:prstDash val="solid"/>
          </a:ln>
        </p:spPr>
      </p:sp>
      <p:pic>
        <p:nvPicPr>
          <p:cNvPr id="33" name="Image 10" descr="/sessions/quirky-zen-galileo/mnt/outputs/jd/img/adam-portrait.jpg">    </p:cNvPr>
          <p:cNvPicPr>
            <a:picLocks noChangeAspect="1"/>
          </p:cNvPicPr>
          <p:nvPr/>
        </p:nvPicPr>
        <p:blipFill>
          <a:blip r:embed="rId11"/>
          <a:stretch>
            <a:fillRect/>
          </a:stretch>
        </p:blipFill>
        <p:spPr>
          <a:xfrm>
            <a:off x="6471742" y="3200400"/>
            <a:ext cx="1097280" cy="1097280"/>
          </a:xfrm>
          <a:prstGeom prst="ellipse">
            <a:avLst/>
          </a:prstGeom>
        </p:spPr>
      </p:pic>
      <p:sp>
        <p:nvSpPr>
          <p:cNvPr id="34" name="Text 21"/>
          <p:cNvSpPr/>
          <p:nvPr/>
        </p:nvSpPr>
        <p:spPr>
          <a:xfrm>
            <a:off x="6095848" y="434340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Adam</a:t>
            </a:r>
            <a:endParaRPr lang="en-US" sz="1200" dirty="0"/>
          </a:p>
        </p:txBody>
      </p:sp>
      <p:sp>
        <p:nvSpPr>
          <p:cNvPr id="35" name="Shape 22"/>
          <p:cNvSpPr/>
          <p:nvPr/>
        </p:nvSpPr>
        <p:spPr>
          <a:xfrm>
            <a:off x="8284235" y="3163824"/>
            <a:ext cx="1170432" cy="1170432"/>
          </a:xfrm>
          <a:prstGeom prst="ellipse">
            <a:avLst/>
          </a:prstGeom>
          <a:solidFill>
            <a:srgbClr val="FFFFFF"/>
          </a:solidFill>
          <a:ln w="12700">
            <a:solidFill>
              <a:srgbClr val="FFFFFF"/>
            </a:solidFill>
            <a:prstDash val="solid"/>
          </a:ln>
        </p:spPr>
      </p:sp>
      <p:pic>
        <p:nvPicPr>
          <p:cNvPr id="36" name="Image 11" descr="/sessions/quirky-zen-galileo/mnt/outputs/jd/img/hannah-portrait.jpg">    </p:cNvPr>
          <p:cNvPicPr>
            <a:picLocks noChangeAspect="1"/>
          </p:cNvPicPr>
          <p:nvPr/>
        </p:nvPicPr>
        <p:blipFill>
          <a:blip r:embed="rId12"/>
          <a:stretch>
            <a:fillRect/>
          </a:stretch>
        </p:blipFill>
        <p:spPr>
          <a:xfrm>
            <a:off x="8320811" y="3200400"/>
            <a:ext cx="1097280" cy="1097280"/>
          </a:xfrm>
          <a:prstGeom prst="ellipse">
            <a:avLst/>
          </a:prstGeom>
        </p:spPr>
      </p:pic>
      <p:sp>
        <p:nvSpPr>
          <p:cNvPr id="37" name="Text 23"/>
          <p:cNvSpPr/>
          <p:nvPr/>
        </p:nvSpPr>
        <p:spPr>
          <a:xfrm>
            <a:off x="7944917" y="434340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Hannah</a:t>
            </a:r>
            <a:endParaRPr lang="en-US" sz="1200" dirty="0"/>
          </a:p>
        </p:txBody>
      </p:sp>
      <p:sp>
        <p:nvSpPr>
          <p:cNvPr id="38" name="Shape 24"/>
          <p:cNvSpPr/>
          <p:nvPr/>
        </p:nvSpPr>
        <p:spPr>
          <a:xfrm>
            <a:off x="10133305" y="3163824"/>
            <a:ext cx="1170432" cy="1170432"/>
          </a:xfrm>
          <a:prstGeom prst="ellipse">
            <a:avLst/>
          </a:prstGeom>
          <a:solidFill>
            <a:srgbClr val="FFFFFF"/>
          </a:solidFill>
          <a:ln w="12700">
            <a:solidFill>
              <a:srgbClr val="FFFFFF"/>
            </a:solidFill>
            <a:prstDash val="solid"/>
          </a:ln>
        </p:spPr>
      </p:sp>
      <p:pic>
        <p:nvPicPr>
          <p:cNvPr id="39" name="Image 12" descr="/sessions/quirky-zen-galileo/mnt/outputs/jd/img/joe-portrait.jpg">    </p:cNvPr>
          <p:cNvPicPr>
            <a:picLocks noChangeAspect="1"/>
          </p:cNvPicPr>
          <p:nvPr/>
        </p:nvPicPr>
        <p:blipFill>
          <a:blip r:embed="rId13"/>
          <a:stretch>
            <a:fillRect/>
          </a:stretch>
        </p:blipFill>
        <p:spPr>
          <a:xfrm>
            <a:off x="10169881" y="3200400"/>
            <a:ext cx="1097280" cy="1097280"/>
          </a:xfrm>
          <a:prstGeom prst="ellipse">
            <a:avLst/>
          </a:prstGeom>
        </p:spPr>
      </p:pic>
      <p:sp>
        <p:nvSpPr>
          <p:cNvPr id="40" name="Text 25"/>
          <p:cNvSpPr/>
          <p:nvPr/>
        </p:nvSpPr>
        <p:spPr>
          <a:xfrm>
            <a:off x="9793986" y="4343400"/>
            <a:ext cx="1849069"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Joe</a:t>
            </a:r>
            <a:endParaRPr lang="en-US" sz="1200" dirty="0"/>
          </a:p>
        </p:txBody>
      </p:sp>
      <p:sp>
        <p:nvSpPr>
          <p:cNvPr id="41" name="Text 26"/>
          <p:cNvSpPr/>
          <p:nvPr/>
        </p:nvSpPr>
        <p:spPr>
          <a:xfrm>
            <a:off x="822960" y="5029200"/>
            <a:ext cx="10545775" cy="822960"/>
          </a:xfrm>
          <a:prstGeom prst="rect">
            <a:avLst/>
          </a:prstGeom>
          <a:noFill/>
          <a:ln/>
        </p:spPr>
        <p:txBody>
          <a:bodyPr wrap="square" lIns="0" tIns="0" rIns="0" bIns="0" rtlCol="0" anchor="ctr"/>
          <a:lstStyle/>
          <a:p>
            <a:pPr algn="ctr" indent="0" marL="0">
              <a:buNone/>
            </a:pPr>
            <a:r>
              <a:rPr lang="en-US" sz="2800" b="1" dirty="0">
                <a:solidFill>
                  <a:srgbClr val="FFD66B"/>
                </a:solidFill>
                <a:latin typeface="Segoe UI" pitchFamily="34" charset="0"/>
                <a:ea typeface="Segoe UI" pitchFamily="34" charset="-122"/>
                <a:cs typeface="Segoe UI" pitchFamily="34" charset="-120"/>
              </a:rPr>
              <a:t>Built around people. Bought without pain. Live today.</a:t>
            </a:r>
            <a:endParaRPr lang="en-US" sz="2800" dirty="0"/>
          </a:p>
        </p:txBody>
      </p:sp>
      <p:sp>
        <p:nvSpPr>
          <p:cNvPr id="42" name="Text 27"/>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the whole cast, one deck · HomeTest operating model · September 2026</a:t>
            </a:r>
            <a:endParaRPr lang="en-US" sz="800" dirty="0"/>
          </a:p>
        </p:txBody>
      </p:sp>
      <p:sp>
        <p:nvSpPr>
          <p:cNvPr id="43" name="Text 28"/>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4" name="Text 29"/>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the whole cast</dc:title>
  <dc:subject>PptxGenJS Presentation</dc:subject>
  <dc:creator>HomeTest Commercial</dc:creator>
  <cp:lastModifiedBy>HomeTest Commercial</cp:lastModifiedBy>
  <cp:revision>1</cp:revision>
  <dcterms:created xsi:type="dcterms:W3CDTF">2026-09-05T10:53:01Z</dcterms:created>
  <dcterms:modified xsi:type="dcterms:W3CDTF">2026-09-05T10:53:01Z</dcterms:modified>
</cp:coreProperties>
</file>