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Layla's story, told through the operating model. Open on the person, not the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Stratification. NICE clinical knowledge summaries place IDA prevalence at around 8% in adult UK women. Treatment response is monitored by full blood count and ferritin, typically at six-monthly intervals for a patient on long-term iron. The cohort is already known to primary care; the risk is the interval quietly stretching, not the diagnosis being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Identification. Around 15 million general-practice appointments are missed each year, costing the NHS £216 million. The GP-initiated pattern removes the appointment rather than chasing it: the order originates in the practice system as part of the review cycle, the kit is dispatched against it, and the result is written back to the GP record. Layla is the sample provider, not the orderer or the recipient.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Diagnosis. The home capillary FBC and ferritin are a recognised route for routine monitoring. The sample is processed at a UKAS-accredited lab on the same assay platform that processes in-clinic samples, and the result writes back to the practice EPR through the framework integration. Nothing about the clinical standard changes; only the venue and the timing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Treatment. The treatment pathway is NICE-guideline-aligned and unchanged by the home venue: iron supplementation is titrated to the FBC and ferritin response, and the GP holds prescribing accountability. What the home cycle adds is timeliness. A dose that needs changing gets changed at six months, not at fourteen.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Long-term optimisation. Sustained monitoring is the clinical outcome for a treated long-term condition. The home cycle keeps the interval honest, surfaces a falling ferritin at the point it can be corrected cheaply, and frees the practice nurse slot for patients who clinically need the room. The illustration ends where the configuration stands: held, low priority under the framework, and able to run on the same rails as every other primary-care cycle if the gate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interlude-0.787.jpg">    </p:cNvPr>
          <p:cNvPicPr>
            <a:picLocks noChangeAspect="1"/>
          </p:cNvPicPr>
          <p:nvPr/>
        </p:nvPicPr>
        <p:blipFill>
          <a:blip r:embed="rId1"/>
          <a:stretch>
            <a:fillRect/>
          </a:stretch>
        </p:blipFill>
        <p:spPr>
          <a:xfrm>
            <a:off x="6796735" y="0"/>
            <a:ext cx="5394960" cy="6858000"/>
          </a:xfrm>
          <a:prstGeom prst="rect">
            <a:avLst/>
          </a:prstGeom>
        </p:spPr>
      </p:pic>
      <p:sp>
        <p:nvSpPr>
          <p:cNvPr id="3" name="Shape 0"/>
          <p:cNvSpPr/>
          <p:nvPr/>
        </p:nvSpPr>
        <p:spPr>
          <a:xfrm>
            <a:off x="6632143" y="0"/>
            <a:ext cx="164592" cy="6858000"/>
          </a:xfrm>
          <a:prstGeom prst="rect">
            <a:avLst/>
          </a:prstGeom>
          <a:solidFill>
            <a:srgbClr val="FFB91D"/>
          </a:solidFill>
          <a:ln w="12700">
            <a:solidFill>
              <a:srgbClr val="FFB91D"/>
            </a:solidFill>
            <a:prstDash val="solid"/>
          </a:ln>
        </p:spPr>
      </p:sp>
      <p:sp>
        <p:nvSpPr>
          <p:cNvPr id="4" name="Shape 1"/>
          <p:cNvSpPr/>
          <p:nvPr/>
        </p:nvSpPr>
        <p:spPr>
          <a:xfrm>
            <a:off x="548640" y="457200"/>
            <a:ext cx="860532" cy="658368"/>
          </a:xfrm>
          <a:prstGeom prst="roundRect">
            <a:avLst>
              <a:gd name="adj" fmla="val 11111"/>
            </a:avLst>
          </a:prstGeom>
          <a:solidFill>
            <a:srgbClr val="FFFFFF"/>
          </a:solidFill>
          <a:ln w="12700">
            <a:solidFill>
              <a:srgbClr val="FFFFFF"/>
            </a:solidFill>
            <a:prstDash val="solid"/>
          </a:ln>
        </p:spPr>
      </p:sp>
      <p:pic>
        <p:nvPicPr>
          <p:cNvPr id="5" name="Image 1" descr="/sessions/quirky-zen-galileo/mnt/NHS/07 Sites &amp; Repos/dtx-ecosystem/hearts-and-minds/_generators/assets/nhs-logo.png">    </p:cNvPr>
          <p:cNvPicPr>
            <a:picLocks noChangeAspect="1"/>
          </p:cNvPicPr>
          <p:nvPr/>
        </p:nvPicPr>
        <p:blipFill>
          <a:blip r:embed="rId2"/>
          <a:stretch>
            <a:fillRect/>
          </a:stretch>
        </p:blipFill>
        <p:spPr>
          <a:xfrm>
            <a:off x="685800" y="557784"/>
            <a:ext cx="586212" cy="457200"/>
          </a:xfrm>
          <a:prstGeom prst="rect">
            <a:avLst/>
          </a:prstGeom>
        </p:spPr>
      </p:pic>
      <p:sp>
        <p:nvSpPr>
          <p:cNvPr id="6" name="Text 2"/>
          <p:cNvSpPr/>
          <p:nvPr/>
        </p:nvSpPr>
        <p:spPr>
          <a:xfrm>
            <a:off x="548640" y="1371600"/>
            <a:ext cx="5852160" cy="274320"/>
          </a:xfrm>
          <a:prstGeom prst="rect">
            <a:avLst/>
          </a:prstGeom>
          <a:noFill/>
          <a:ln/>
        </p:spPr>
        <p:txBody>
          <a:bodyPr wrap="square" lIns="0" tIns="0" rIns="0" bIns="0" rtlCol="0" anchor="ctr"/>
          <a:lstStyle/>
          <a:p>
            <a:pPr indent="0" marL="0">
              <a:buNone/>
            </a:pPr>
            <a:r>
              <a:rPr lang="en-US" sz="1000" b="1" spc="260" kern="0" dirty="0">
                <a:solidFill>
                  <a:srgbClr val="FFB91D"/>
                </a:solidFill>
                <a:latin typeface="Segoe UI" pitchFamily="34" charset="0"/>
                <a:ea typeface="Segoe UI" pitchFamily="34" charset="-122"/>
                <a:cs typeface="Segoe UI" pitchFamily="34" charset="-120"/>
              </a:rPr>
              <a:t>HEARTS AND MINDS · A PATIENT'S STORY THROUGH THE OPERATING MODEL, GP-INITIATED, TOLD AS AN ILLUSTRATION</a:t>
            </a:r>
            <a:endParaRPr lang="en-US" sz="1000" dirty="0"/>
          </a:p>
        </p:txBody>
      </p:sp>
      <p:sp>
        <p:nvSpPr>
          <p:cNvPr id="7" name="Text 3"/>
          <p:cNvSpPr/>
          <p:nvPr/>
        </p:nvSpPr>
        <p:spPr>
          <a:xfrm>
            <a:off x="548640" y="1691640"/>
            <a:ext cx="5760720" cy="822960"/>
          </a:xfrm>
          <a:prstGeom prst="rect">
            <a:avLst/>
          </a:prstGeom>
          <a:noFill/>
          <a:ln/>
        </p:spPr>
        <p:txBody>
          <a:bodyPr wrap="square" lIns="0" tIns="0" rIns="0" bIns="0"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Layla.</a:t>
            </a:r>
            <a:endParaRPr lang="en-US" sz="4800" dirty="0"/>
          </a:p>
        </p:txBody>
      </p:sp>
      <p:sp>
        <p:nvSpPr>
          <p:cNvPr id="8" name="Text 4"/>
          <p:cNvSpPr/>
          <p:nvPr/>
        </p:nvSpPr>
        <p:spPr>
          <a:xfrm>
            <a:off x="548640" y="2560320"/>
            <a:ext cx="5760720" cy="1358265"/>
          </a:xfrm>
          <a:prstGeom prst="rect">
            <a:avLst/>
          </a:prstGeom>
          <a:noFill/>
          <a:ln/>
        </p:spPr>
        <p:txBody>
          <a:bodyPr wrap="square" lIns="0" tIns="0" rIns="0" bIns="0" rtlCol="0" anchor="t"/>
          <a:lstStyle/>
          <a:p>
            <a:pPr indent="0" marL="0">
              <a:buNone/>
            </a:pPr>
            <a:r>
              <a:rPr lang="en-US" sz="2650" b="1" dirty="0">
                <a:solidFill>
                  <a:srgbClr val="FFD66B"/>
                </a:solidFill>
                <a:latin typeface="Segoe UI" pitchFamily="34" charset="0"/>
                <a:ea typeface="Segoe UI" pitchFamily="34" charset="-122"/>
                <a:cs typeface="Segoe UI" pitchFamily="34" charset="-120"/>
              </a:rPr>
              <a:t>Three years on the tablets. The trend is the treatment.</a:t>
            </a:r>
            <a:endParaRPr lang="en-US" sz="2650" dirty="0"/>
          </a:p>
        </p:txBody>
      </p:sp>
      <p:sp>
        <p:nvSpPr>
          <p:cNvPr id="9" name="Text 5"/>
          <p:cNvSpPr/>
          <p:nvPr/>
        </p:nvSpPr>
        <p:spPr>
          <a:xfrm>
            <a:off x="548640" y="4101465"/>
            <a:ext cx="5669280" cy="1019175"/>
          </a:xfrm>
          <a:prstGeom prst="rect">
            <a:avLst/>
          </a:prstGeom>
          <a:noFill/>
          <a:ln/>
        </p:spPr>
        <p:txBody>
          <a:bodyPr wrap="square" lIns="0" tIns="0" rIns="0" bIns="0" rtlCol="0" anchor="t">
            <a:normAutofit/>
          </a:bodyPr>
          <a:lstStyle/>
          <a:p>
            <a:pPr indent="0" marL="0">
              <a:buNone/>
            </a:pPr>
            <a:r>
              <a:rPr lang="en-US" sz="800" dirty="0">
                <a:solidFill>
                  <a:srgbClr val="CFE0F5"/>
                </a:solidFill>
                <a:latin typeface="Segoe UI" pitchFamily="34" charset="0"/>
                <a:ea typeface="Segoe UI" pitchFamily="34" charset="-122"/>
                <a:cs typeface="Segoe UI" pitchFamily="34" charset="-120"/>
              </a:rPr>
              <a:t>Layla is 42, a single parent with two school-age kids and two part-time jobs, one of them on shifts. Her iron deficiency anaemia was diagnosed three years ago; she has been on ferrous sulphate since, and her GP, Hannah, needs a full blood count and ferritin every six months to know whether it is still working. Nobody doubts Layla will take the tablets. The question is whether anyone will see the trend. </a:t>
            </a:r>
            <a:pPr indent="0" marL="0">
              <a:buNone/>
            </a:pPr>
            <a:r>
              <a:rPr lang="en-US" sz="800" b="1" dirty="0">
                <a:solidFill>
                  <a:srgbClr val="CFE0F5"/>
                </a:solidFill>
                <a:latin typeface="Segoe UI" pitchFamily="34" charset="0"/>
                <a:ea typeface="Segoe UI" pitchFamily="34" charset="-122"/>
                <a:cs typeface="Segoe UI" pitchFamily="34" charset="-120"/>
              </a:rPr>
              <a:t>This is the story of a monitoring cycle that holds because it stopped asking for her working hours. It is told as an illustration: the anaemia configuration is held under the Prioritisation Framework, not in build.</a:t>
            </a:r>
            <a:endParaRPr lang="en-US" sz="800" dirty="0"/>
          </a:p>
        </p:txBody>
      </p:sp>
      <p:pic>
        <p:nvPicPr>
          <p:cNvPr id="10" name="Image 2" descr="/sessions/quirky-zen-galileo/mnt/outputs/jd/img/layla-portrait.jpg">    </p:cNvPr>
          <p:cNvPicPr>
            <a:picLocks noChangeAspect="1"/>
          </p:cNvPicPr>
          <p:nvPr/>
        </p:nvPicPr>
        <p:blipFill>
          <a:blip r:embed="rId3"/>
          <a:stretch>
            <a:fillRect/>
          </a:stretch>
        </p:blipFill>
        <p:spPr>
          <a:xfrm>
            <a:off x="548640" y="5303520"/>
            <a:ext cx="914400" cy="914400"/>
          </a:xfrm>
          <a:prstGeom prst="ellipse">
            <a:avLst/>
          </a:prstGeom>
        </p:spPr>
      </p:pic>
      <p:sp>
        <p:nvSpPr>
          <p:cNvPr id="11" name="Text 6"/>
          <p:cNvSpPr/>
          <p:nvPr/>
        </p:nvSpPr>
        <p:spPr>
          <a:xfrm>
            <a:off x="1645920" y="5376672"/>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Layla</a:t>
            </a:r>
            <a:endParaRPr lang="en-US" sz="1600" dirty="0"/>
          </a:p>
        </p:txBody>
      </p:sp>
      <p:sp>
        <p:nvSpPr>
          <p:cNvPr id="12" name="Text 7"/>
          <p:cNvSpPr/>
          <p:nvPr/>
        </p:nvSpPr>
        <p:spPr>
          <a:xfrm>
            <a:off x="1645920" y="5742432"/>
            <a:ext cx="4480560" cy="411480"/>
          </a:xfrm>
          <a:prstGeom prst="rect">
            <a:avLst/>
          </a:prstGeom>
          <a:noFill/>
          <a:ln/>
        </p:spPr>
        <p:txBody>
          <a:bodyPr wrap="square" lIns="0" tIns="0" rIns="0" bIns="0" rtlCol="0" anchor="ctr">
            <a:normAutofit/>
          </a:bodyPr>
          <a:lstStyle/>
          <a:p>
            <a:pPr indent="0" marL="0">
              <a:buNone/>
            </a:pPr>
            <a:r>
              <a:rPr lang="en-US" sz="1100" dirty="0">
                <a:solidFill>
                  <a:srgbClr val="CFE0F5"/>
                </a:solidFill>
                <a:latin typeface="Segoe UI" pitchFamily="34" charset="0"/>
                <a:ea typeface="Segoe UI" pitchFamily="34" charset="-122"/>
                <a:cs typeface="Segoe UI" pitchFamily="34" charset="-120"/>
              </a:rPr>
              <a:t>GP-initiated patient · Iron deficiency anaemia · held configuration</a:t>
            </a:r>
            <a:endParaRPr lang="en-US" sz="1100" dirty="0"/>
          </a:p>
        </p:txBody>
      </p:sp>
      <p:sp>
        <p:nvSpPr>
          <p:cNvPr id="13" name="Text 8"/>
          <p:cNvSpPr/>
          <p:nvPr/>
        </p:nvSpPr>
        <p:spPr>
          <a:xfrm>
            <a:off x="548640" y="6473952"/>
            <a:ext cx="2858872"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14" name="Text 9"/>
          <p:cNvSpPr/>
          <p:nvPr/>
        </p:nvSpPr>
        <p:spPr>
          <a:xfrm>
            <a:off x="3407512" y="6473952"/>
            <a:ext cx="2401672" cy="274320"/>
          </a:xfrm>
          <a:prstGeom prst="rect">
            <a:avLst/>
          </a:prstGeom>
          <a:noFill/>
          <a:ln/>
        </p:spPr>
        <p:txBody>
          <a:bodyPr wrap="square" lIns="0" tIns="0" rIns="0" bIns="0" rtlCol="0" anchor="ctr">
            <a:normAutofit/>
          </a:bodyPr>
          <a:lstStyle/>
          <a:p>
            <a:pPr algn="r" indent="0" marL="0">
              <a:buNone/>
            </a:pPr>
            <a:r>
              <a:rPr lang="en-US" sz="7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JOURNEY AT A GLANCE</a:t>
            </a:r>
            <a:endParaRPr lang="en-US" sz="1000" dirty="0"/>
          </a:p>
        </p:txBody>
      </p:sp>
      <p:sp>
        <p:nvSpPr>
          <p:cNvPr id="3" name="Text 1"/>
          <p:cNvSpPr/>
          <p:nvPr/>
        </p:nvSpPr>
        <p:spPr>
          <a:xfrm>
            <a:off x="548640" y="731520"/>
            <a:ext cx="11064240" cy="532765"/>
          </a:xfrm>
          <a:prstGeom prst="rect">
            <a:avLst/>
          </a:prstGeom>
          <a:noFill/>
          <a:ln/>
        </p:spPr>
        <p:txBody>
          <a:bodyPr wrap="square" lIns="0" tIns="0" rIns="0" bIns="0" rtlCol="0" anchor="t">
            <a:normAutofit/>
          </a:bodyPr>
          <a:lstStyle/>
          <a:p>
            <a:pPr indent="0" marL="0">
              <a:buNone/>
            </a:pPr>
            <a:r>
              <a:rPr lang="en-US" sz="2950" b="1" dirty="0">
                <a:solidFill>
                  <a:srgbClr val="003087"/>
                </a:solidFill>
                <a:latin typeface="Segoe UI" pitchFamily="34" charset="0"/>
                <a:ea typeface="Segoe UI" pitchFamily="34" charset="-122"/>
                <a:cs typeface="Segoe UI" pitchFamily="34" charset="-120"/>
              </a:rPr>
              <a:t>Known, treated, and never quietly lost.</a:t>
            </a:r>
            <a:endParaRPr lang="en-US" sz="2950" dirty="0"/>
          </a:p>
        </p:txBody>
      </p:sp>
      <p:sp>
        <p:nvSpPr>
          <p:cNvPr id="4" name="Shape 2"/>
          <p:cNvSpPr/>
          <p:nvPr/>
        </p:nvSpPr>
        <p:spPr>
          <a:xfrm>
            <a:off x="1335024" y="1584325"/>
            <a:ext cx="640080" cy="640080"/>
          </a:xfrm>
          <a:prstGeom prst="ellipse">
            <a:avLst/>
          </a:prstGeom>
          <a:solidFill>
            <a:srgbClr val="003087"/>
          </a:solidFill>
          <a:ln w="12700">
            <a:solidFill>
              <a:srgbClr val="003087"/>
            </a:solidFill>
            <a:prstDash val="solid"/>
          </a:ln>
        </p:spPr>
      </p:sp>
      <p:sp>
        <p:nvSpPr>
          <p:cNvPr id="5" name="Text 3"/>
          <p:cNvSpPr/>
          <p:nvPr/>
        </p:nvSpPr>
        <p:spPr>
          <a:xfrm>
            <a:off x="1335024" y="1584325"/>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6" name="Text 4"/>
          <p:cNvSpPr/>
          <p:nvPr/>
        </p:nvSpPr>
        <p:spPr>
          <a:xfrm>
            <a:off x="2441448" y="1675765"/>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7" name="Text 5"/>
          <p:cNvSpPr/>
          <p:nvPr/>
        </p:nvSpPr>
        <p:spPr>
          <a:xfrm>
            <a:off x="548640" y="2334133"/>
            <a:ext cx="2212848" cy="365760"/>
          </a:xfrm>
          <a:prstGeom prst="rect">
            <a:avLst/>
          </a:prstGeom>
          <a:noFill/>
          <a:ln/>
        </p:spPr>
        <p:txBody>
          <a:bodyPr wrap="square" lIns="0" tIns="0" rIns="0" bIns="0" rtlCol="0" anchor="t">
            <a:normAutofit/>
          </a:bodyPr>
          <a:lstStyle/>
          <a:p>
            <a:pPr algn="ctr" indent="0" marL="0">
              <a:buNone/>
            </a:pPr>
            <a:r>
              <a:rPr lang="en-US" sz="1400" b="1" dirty="0">
                <a:solidFill>
                  <a:srgbClr val="003087"/>
                </a:solidFill>
                <a:latin typeface="Segoe UI" pitchFamily="34" charset="0"/>
                <a:ea typeface="Segoe UI" pitchFamily="34" charset="-122"/>
                <a:cs typeface="Segoe UI" pitchFamily="34" charset="-120"/>
              </a:rPr>
              <a:t>Stratification</a:t>
            </a:r>
            <a:endParaRPr lang="en-US" sz="1400" dirty="0"/>
          </a:p>
        </p:txBody>
      </p:sp>
      <p:sp>
        <p:nvSpPr>
          <p:cNvPr id="8" name="Text 6"/>
          <p:cNvSpPr/>
          <p:nvPr/>
        </p:nvSpPr>
        <p:spPr>
          <a:xfrm>
            <a:off x="640080" y="2727325"/>
            <a:ext cx="2029968" cy="525399"/>
          </a:xfrm>
          <a:prstGeom prst="rect">
            <a:avLst/>
          </a:prstGeom>
          <a:noFill/>
          <a:ln/>
        </p:spPr>
        <p:txBody>
          <a:bodyPr wrap="square" lIns="0" tIns="0" rIns="0" bIns="0" rtlCol="0" anchor="t">
            <a:normAutofit/>
          </a:bodyPr>
          <a:lstStyle/>
          <a:p>
            <a:pPr algn="ctr" indent="0" marL="0">
              <a:buNone/>
            </a:pPr>
            <a:r>
              <a:rPr lang="en-US" sz="950" dirty="0">
                <a:solidFill>
                  <a:srgbClr val="4C6272"/>
                </a:solidFill>
                <a:latin typeface="Segoe UI" pitchFamily="34" charset="0"/>
                <a:ea typeface="Segoe UI" pitchFamily="34" charset="-122"/>
                <a:cs typeface="Segoe UI" pitchFamily="34" charset="-120"/>
              </a:rPr>
              <a:t>a treated condition and a cycle nobody can see slipping</a:t>
            </a:r>
            <a:endParaRPr lang="en-US" sz="950" dirty="0"/>
          </a:p>
        </p:txBody>
      </p:sp>
      <p:sp>
        <p:nvSpPr>
          <p:cNvPr id="9" name="Shape 7"/>
          <p:cNvSpPr/>
          <p:nvPr/>
        </p:nvSpPr>
        <p:spPr>
          <a:xfrm>
            <a:off x="3547872" y="1584325"/>
            <a:ext cx="640080" cy="640080"/>
          </a:xfrm>
          <a:prstGeom prst="ellipse">
            <a:avLst/>
          </a:prstGeom>
          <a:solidFill>
            <a:srgbClr val="003087"/>
          </a:solidFill>
          <a:ln w="12700">
            <a:solidFill>
              <a:srgbClr val="003087"/>
            </a:solidFill>
            <a:prstDash val="solid"/>
          </a:ln>
        </p:spPr>
      </p:sp>
      <p:sp>
        <p:nvSpPr>
          <p:cNvPr id="10" name="Text 8"/>
          <p:cNvSpPr/>
          <p:nvPr/>
        </p:nvSpPr>
        <p:spPr>
          <a:xfrm>
            <a:off x="3547872" y="1584325"/>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1" name="Text 9"/>
          <p:cNvSpPr/>
          <p:nvPr/>
        </p:nvSpPr>
        <p:spPr>
          <a:xfrm>
            <a:off x="4654296" y="1675765"/>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2" name="Text 10"/>
          <p:cNvSpPr/>
          <p:nvPr/>
        </p:nvSpPr>
        <p:spPr>
          <a:xfrm>
            <a:off x="2761488" y="2334133"/>
            <a:ext cx="2212848" cy="365760"/>
          </a:xfrm>
          <a:prstGeom prst="rect">
            <a:avLst/>
          </a:prstGeom>
          <a:noFill/>
          <a:ln/>
        </p:spPr>
        <p:txBody>
          <a:bodyPr wrap="square" lIns="0" tIns="0" rIns="0" bIns="0" rtlCol="0" anchor="t">
            <a:normAutofit/>
          </a:bodyPr>
          <a:lstStyle/>
          <a:p>
            <a:pPr algn="ctr" indent="0" marL="0">
              <a:buNone/>
            </a:pPr>
            <a:r>
              <a:rPr lang="en-US" sz="1400" b="1" dirty="0">
                <a:solidFill>
                  <a:srgbClr val="003087"/>
                </a:solidFill>
                <a:latin typeface="Segoe UI" pitchFamily="34" charset="0"/>
                <a:ea typeface="Segoe UI" pitchFamily="34" charset="-122"/>
                <a:cs typeface="Segoe UI" pitchFamily="34" charset="-120"/>
              </a:rPr>
              <a:t>Identification</a:t>
            </a:r>
            <a:endParaRPr lang="en-US" sz="1400" dirty="0"/>
          </a:p>
        </p:txBody>
      </p:sp>
      <p:sp>
        <p:nvSpPr>
          <p:cNvPr id="13" name="Text 11"/>
          <p:cNvSpPr/>
          <p:nvPr/>
        </p:nvSpPr>
        <p:spPr>
          <a:xfrm>
            <a:off x="2852928" y="2727325"/>
            <a:ext cx="2029968" cy="368554"/>
          </a:xfrm>
          <a:prstGeom prst="rect">
            <a:avLst/>
          </a:prstGeom>
          <a:noFill/>
          <a:ln/>
        </p:spPr>
        <p:txBody>
          <a:bodyPr wrap="square" lIns="0" tIns="0" rIns="0" bIns="0" rtlCol="0" anchor="t">
            <a:normAutofit/>
          </a:bodyPr>
          <a:lstStyle/>
          <a:p>
            <a:pPr algn="ctr" indent="0" marL="0">
              <a:buNone/>
            </a:pPr>
            <a:r>
              <a:rPr lang="en-US" sz="950" dirty="0">
                <a:solidFill>
                  <a:srgbClr val="4C6272"/>
                </a:solidFill>
                <a:latin typeface="Segoe UI" pitchFamily="34" charset="0"/>
                <a:ea typeface="Segoe UI" pitchFamily="34" charset="-122"/>
                <a:cs typeface="Segoe UI" pitchFamily="34" charset="-120"/>
              </a:rPr>
              <a:t>the practice system orders and nobody has to ask</a:t>
            </a:r>
            <a:endParaRPr lang="en-US" sz="950" dirty="0"/>
          </a:p>
        </p:txBody>
      </p:sp>
      <p:sp>
        <p:nvSpPr>
          <p:cNvPr id="14" name="Shape 12"/>
          <p:cNvSpPr/>
          <p:nvPr/>
        </p:nvSpPr>
        <p:spPr>
          <a:xfrm>
            <a:off x="5760720" y="1584325"/>
            <a:ext cx="640080" cy="640080"/>
          </a:xfrm>
          <a:prstGeom prst="ellipse">
            <a:avLst/>
          </a:prstGeom>
          <a:solidFill>
            <a:srgbClr val="003087"/>
          </a:solidFill>
          <a:ln w="12700">
            <a:solidFill>
              <a:srgbClr val="003087"/>
            </a:solidFill>
            <a:prstDash val="solid"/>
          </a:ln>
        </p:spPr>
      </p:sp>
      <p:sp>
        <p:nvSpPr>
          <p:cNvPr id="15" name="Text 13"/>
          <p:cNvSpPr/>
          <p:nvPr/>
        </p:nvSpPr>
        <p:spPr>
          <a:xfrm>
            <a:off x="5760720" y="1584325"/>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6" name="Text 14"/>
          <p:cNvSpPr/>
          <p:nvPr/>
        </p:nvSpPr>
        <p:spPr>
          <a:xfrm>
            <a:off x="6867144" y="1675765"/>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7" name="Text 15"/>
          <p:cNvSpPr/>
          <p:nvPr/>
        </p:nvSpPr>
        <p:spPr>
          <a:xfrm>
            <a:off x="4974336" y="2334133"/>
            <a:ext cx="2212848" cy="365760"/>
          </a:xfrm>
          <a:prstGeom prst="rect">
            <a:avLst/>
          </a:prstGeom>
          <a:noFill/>
          <a:ln/>
        </p:spPr>
        <p:txBody>
          <a:bodyPr wrap="square" lIns="0" tIns="0" rIns="0" bIns="0" rtlCol="0" anchor="t">
            <a:normAutofit/>
          </a:bodyPr>
          <a:lstStyle/>
          <a:p>
            <a:pPr algn="ctr" indent="0" marL="0">
              <a:buNone/>
            </a:pPr>
            <a:r>
              <a:rPr lang="en-US" sz="1400" b="1" dirty="0">
                <a:solidFill>
                  <a:srgbClr val="003087"/>
                </a:solidFill>
                <a:latin typeface="Segoe UI" pitchFamily="34" charset="0"/>
                <a:ea typeface="Segoe UI" pitchFamily="34" charset="-122"/>
                <a:cs typeface="Segoe UI" pitchFamily="34" charset="-120"/>
              </a:rPr>
              <a:t>Diagnosis</a:t>
            </a:r>
            <a:endParaRPr lang="en-US" sz="1400" dirty="0"/>
          </a:p>
        </p:txBody>
      </p:sp>
      <p:sp>
        <p:nvSpPr>
          <p:cNvPr id="18" name="Text 16"/>
          <p:cNvSpPr/>
          <p:nvPr/>
        </p:nvSpPr>
        <p:spPr>
          <a:xfrm>
            <a:off x="5065776" y="2727325"/>
            <a:ext cx="2029968" cy="2199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a sample between shifts</a:t>
            </a:r>
            <a:endParaRPr lang="en-US" sz="1000" dirty="0"/>
          </a:p>
        </p:txBody>
      </p:sp>
      <p:sp>
        <p:nvSpPr>
          <p:cNvPr id="19" name="Shape 17"/>
          <p:cNvSpPr/>
          <p:nvPr/>
        </p:nvSpPr>
        <p:spPr>
          <a:xfrm>
            <a:off x="7973568" y="1584325"/>
            <a:ext cx="640080" cy="640080"/>
          </a:xfrm>
          <a:prstGeom prst="ellipse">
            <a:avLst/>
          </a:prstGeom>
          <a:solidFill>
            <a:srgbClr val="003087"/>
          </a:solidFill>
          <a:ln w="12700">
            <a:solidFill>
              <a:srgbClr val="003087"/>
            </a:solidFill>
            <a:prstDash val="solid"/>
          </a:ln>
        </p:spPr>
      </p:sp>
      <p:sp>
        <p:nvSpPr>
          <p:cNvPr id="20" name="Text 18"/>
          <p:cNvSpPr/>
          <p:nvPr/>
        </p:nvSpPr>
        <p:spPr>
          <a:xfrm>
            <a:off x="7973568" y="1584325"/>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1" name="Text 19"/>
          <p:cNvSpPr/>
          <p:nvPr/>
        </p:nvSpPr>
        <p:spPr>
          <a:xfrm>
            <a:off x="9079992" y="1675765"/>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22" name="Text 20"/>
          <p:cNvSpPr/>
          <p:nvPr/>
        </p:nvSpPr>
        <p:spPr>
          <a:xfrm>
            <a:off x="7187184" y="2334133"/>
            <a:ext cx="2212848" cy="365760"/>
          </a:xfrm>
          <a:prstGeom prst="rect">
            <a:avLst/>
          </a:prstGeom>
          <a:noFill/>
          <a:ln/>
        </p:spPr>
        <p:txBody>
          <a:bodyPr wrap="square" lIns="0" tIns="0" rIns="0" bIns="0" rtlCol="0" anchor="t">
            <a:normAutofit/>
          </a:bodyPr>
          <a:lstStyle/>
          <a:p>
            <a:pPr algn="ctr" indent="0" marL="0">
              <a:buNone/>
            </a:pPr>
            <a:r>
              <a:rPr lang="en-US" sz="1400" b="1" dirty="0">
                <a:solidFill>
                  <a:srgbClr val="003087"/>
                </a:solidFill>
                <a:latin typeface="Segoe UI" pitchFamily="34" charset="0"/>
                <a:ea typeface="Segoe UI" pitchFamily="34" charset="-122"/>
                <a:cs typeface="Segoe UI" pitchFamily="34" charset="-120"/>
              </a:rPr>
              <a:t>Treatment</a:t>
            </a:r>
            <a:endParaRPr lang="en-US" sz="1400" dirty="0"/>
          </a:p>
        </p:txBody>
      </p:sp>
      <p:sp>
        <p:nvSpPr>
          <p:cNvPr id="23" name="Text 21"/>
          <p:cNvSpPr/>
          <p:nvPr/>
        </p:nvSpPr>
        <p:spPr>
          <a:xfrm>
            <a:off x="7278624" y="2727325"/>
            <a:ext cx="2029968" cy="3850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the dose follows the ferritin</a:t>
            </a:r>
            <a:endParaRPr lang="en-US" sz="1000" dirty="0"/>
          </a:p>
        </p:txBody>
      </p:sp>
      <p:sp>
        <p:nvSpPr>
          <p:cNvPr id="24" name="Shape 22"/>
          <p:cNvSpPr/>
          <p:nvPr/>
        </p:nvSpPr>
        <p:spPr>
          <a:xfrm>
            <a:off x="10186416" y="1584325"/>
            <a:ext cx="640080" cy="640080"/>
          </a:xfrm>
          <a:prstGeom prst="ellipse">
            <a:avLst/>
          </a:prstGeom>
          <a:solidFill>
            <a:srgbClr val="003087"/>
          </a:solidFill>
          <a:ln w="12700">
            <a:solidFill>
              <a:srgbClr val="003087"/>
            </a:solidFill>
            <a:prstDash val="solid"/>
          </a:ln>
        </p:spPr>
      </p:sp>
      <p:sp>
        <p:nvSpPr>
          <p:cNvPr id="25" name="Text 23"/>
          <p:cNvSpPr/>
          <p:nvPr/>
        </p:nvSpPr>
        <p:spPr>
          <a:xfrm>
            <a:off x="10186416" y="1584325"/>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26" name="Text 24"/>
          <p:cNvSpPr/>
          <p:nvPr/>
        </p:nvSpPr>
        <p:spPr>
          <a:xfrm>
            <a:off x="9400032" y="2334133"/>
            <a:ext cx="2212848" cy="398018"/>
          </a:xfrm>
          <a:prstGeom prst="rect">
            <a:avLst/>
          </a:prstGeom>
          <a:noFill/>
          <a:ln/>
        </p:spPr>
        <p:txBody>
          <a:bodyPr wrap="square" lIns="0" tIns="0" rIns="0" bIns="0" rtlCol="0" anchor="t">
            <a:normAutofit/>
          </a:bodyPr>
          <a:lstStyle/>
          <a:p>
            <a:pPr algn="ctr" indent="0" marL="0">
              <a:buNone/>
            </a:pPr>
            <a:r>
              <a:rPr lang="en-US" sz="1150" b="1" dirty="0">
                <a:solidFill>
                  <a:srgbClr val="003087"/>
                </a:solidFill>
                <a:latin typeface="Segoe UI" pitchFamily="34" charset="0"/>
                <a:ea typeface="Segoe UI" pitchFamily="34" charset="-122"/>
                <a:cs typeface="Segoe UI" pitchFamily="34" charset="-120"/>
              </a:rPr>
              <a:t>Long-term optimisation</a:t>
            </a:r>
            <a:endParaRPr lang="en-US" sz="1150" dirty="0"/>
          </a:p>
        </p:txBody>
      </p:sp>
      <p:sp>
        <p:nvSpPr>
          <p:cNvPr id="27" name="Text 25"/>
          <p:cNvSpPr/>
          <p:nvPr/>
        </p:nvSpPr>
        <p:spPr>
          <a:xfrm>
            <a:off x="9491472" y="2759583"/>
            <a:ext cx="2029968" cy="3850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silence as the good result</a:t>
            </a:r>
            <a:endParaRPr lang="en-US" sz="1000" dirty="0"/>
          </a:p>
        </p:txBody>
      </p:sp>
      <p:pic>
        <p:nvPicPr>
          <p:cNvPr id="28" name="Image 0" descr="/sessions/quirky-zen-galileo/mnt/outputs/jd/img/layla-portrait.jpg">    </p:cNvPr>
          <p:cNvPicPr>
            <a:picLocks noChangeAspect="1"/>
          </p:cNvPicPr>
          <p:nvPr/>
        </p:nvPicPr>
        <p:blipFill>
          <a:blip r:embed="rId1"/>
          <a:stretch>
            <a:fillRect/>
          </a:stretch>
        </p:blipFill>
        <p:spPr>
          <a:xfrm>
            <a:off x="548640" y="3687445"/>
            <a:ext cx="1371600" cy="1371600"/>
          </a:xfrm>
          <a:prstGeom prst="ellipse">
            <a:avLst/>
          </a:prstGeom>
        </p:spPr>
      </p:pic>
      <p:sp>
        <p:nvSpPr>
          <p:cNvPr id="29" name="Text 26"/>
          <p:cNvSpPr/>
          <p:nvPr/>
        </p:nvSpPr>
        <p:spPr>
          <a:xfrm>
            <a:off x="274320" y="5104765"/>
            <a:ext cx="1920240" cy="320040"/>
          </a:xfrm>
          <a:prstGeom prst="rect">
            <a:avLst/>
          </a:prstGeom>
          <a:noFill/>
          <a:ln/>
        </p:spPr>
        <p:txBody>
          <a:bodyPr wrap="square" lIns="0" tIns="0" rIns="0" bIns="0" rtlCol="0" anchor="ctr"/>
          <a:lstStyle/>
          <a:p>
            <a:pPr algn="ctr" indent="0" marL="0">
              <a:buNone/>
            </a:pPr>
            <a:r>
              <a:rPr lang="en-US" sz="1400" b="1" dirty="0">
                <a:solidFill>
                  <a:srgbClr val="003087"/>
                </a:solidFill>
                <a:latin typeface="Segoe UI" pitchFamily="34" charset="0"/>
                <a:ea typeface="Segoe UI" pitchFamily="34" charset="-122"/>
                <a:cs typeface="Segoe UI" pitchFamily="34" charset="-120"/>
              </a:rPr>
              <a:t>Layla</a:t>
            </a:r>
            <a:endParaRPr lang="en-US" sz="1400" dirty="0"/>
          </a:p>
        </p:txBody>
      </p:sp>
      <p:sp>
        <p:nvSpPr>
          <p:cNvPr id="30" name="Text 27"/>
          <p:cNvSpPr/>
          <p:nvPr/>
        </p:nvSpPr>
        <p:spPr>
          <a:xfrm>
            <a:off x="228600" y="5424805"/>
            <a:ext cx="2011680" cy="774827"/>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GP-initiated patient · Iron deficiency anaemia · held configuration</a:t>
            </a:r>
            <a:endParaRPr lang="en-US" sz="1000" dirty="0"/>
          </a:p>
        </p:txBody>
      </p:sp>
      <p:sp>
        <p:nvSpPr>
          <p:cNvPr id="31" name="Shape 28"/>
          <p:cNvSpPr/>
          <p:nvPr/>
        </p:nvSpPr>
        <p:spPr>
          <a:xfrm>
            <a:off x="2514600" y="3596005"/>
            <a:ext cx="4427068" cy="2649347"/>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32" name="Text 29"/>
          <p:cNvSpPr/>
          <p:nvPr/>
        </p:nvSpPr>
        <p:spPr>
          <a:xfrm>
            <a:off x="2788920" y="3778885"/>
            <a:ext cx="3878428" cy="274320"/>
          </a:xfrm>
          <a:prstGeom prst="rect">
            <a:avLst/>
          </a:prstGeom>
          <a:noFill/>
          <a:ln/>
        </p:spPr>
        <p:txBody>
          <a:bodyPr wrap="square" lIns="0" tIns="0" rIns="0" bIns="0" rtlCol="0" anchor="ctr"/>
          <a:lstStyle/>
          <a:p>
            <a:pPr indent="0" marL="0">
              <a:buNone/>
            </a:pPr>
            <a:r>
              <a:rPr lang="en-US" sz="1000" b="1" spc="260" kern="0" dirty="0">
                <a:solidFill>
                  <a:srgbClr val="8A6D1F"/>
                </a:solidFill>
                <a:latin typeface="Segoe UI" pitchFamily="34" charset="0"/>
                <a:ea typeface="Segoe UI" pitchFamily="34" charset="-122"/>
                <a:cs typeface="Segoe UI" pitchFamily="34" charset="-120"/>
              </a:rPr>
              <a:t>THE PATIENT NORTH STAR</a:t>
            </a:r>
            <a:endParaRPr lang="en-US" sz="1000" dirty="0"/>
          </a:p>
        </p:txBody>
      </p:sp>
      <p:sp>
        <p:nvSpPr>
          <p:cNvPr id="33" name="Text 30"/>
          <p:cNvSpPr/>
          <p:nvPr/>
        </p:nvSpPr>
        <p:spPr>
          <a:xfrm>
            <a:off x="2788920" y="4098925"/>
            <a:ext cx="3878428" cy="441960"/>
          </a:xfrm>
          <a:prstGeom prst="rect">
            <a:avLst/>
          </a:prstGeom>
          <a:noFill/>
          <a:ln/>
        </p:spPr>
        <p:txBody>
          <a:bodyPr wrap="square" lIns="0" tIns="0" rIns="0" bIns="0" rtlCol="0" anchor="t"/>
          <a:lstStyle/>
          <a:p>
            <a:pPr indent="0" marL="0">
              <a:buNone/>
            </a:pPr>
            <a:r>
              <a:rPr lang="en-US" sz="1200" b="1" dirty="0">
                <a:solidFill>
                  <a:srgbClr val="003087"/>
                </a:solidFill>
                <a:latin typeface="Segoe UI" pitchFamily="34" charset="0"/>
                <a:ea typeface="Segoe UI" pitchFamily="34" charset="-122"/>
                <a:cs typeface="Segoe UI" pitchFamily="34" charset="-120"/>
              </a:rPr>
              <a:t>Known, treated, and never quietly lost.</a:t>
            </a:r>
            <a:endParaRPr lang="en-US" sz="1200" dirty="0"/>
          </a:p>
        </p:txBody>
      </p:sp>
      <p:sp>
        <p:nvSpPr>
          <p:cNvPr id="34" name="Text 31"/>
          <p:cNvSpPr/>
          <p:nvPr/>
        </p:nvSpPr>
        <p:spPr>
          <a:xfrm>
            <a:off x="2788920" y="4632325"/>
            <a:ext cx="3878428" cy="1375664"/>
          </a:xfrm>
          <a:prstGeom prst="rect">
            <a:avLst/>
          </a:prstGeom>
          <a:noFill/>
          <a:ln/>
        </p:spPr>
        <p:txBody>
          <a:bodyPr wrap="square" lIns="0" tIns="0" rIns="0" bIns="0" rtlCol="0" anchor="t">
            <a:normAutofit/>
          </a:bodyPr>
          <a:lstStyle/>
          <a:p>
            <a:pPr indent="0" marL="0">
              <a:buNone/>
            </a:pPr>
            <a:r>
              <a:rPr lang="en-US" sz="1000" dirty="0">
                <a:solidFill>
                  <a:srgbClr val="212B32"/>
                </a:solidFill>
                <a:latin typeface="Segoe UI" pitchFamily="34" charset="0"/>
                <a:ea typeface="Segoe UI" pitchFamily="34" charset="-122"/>
                <a:cs typeface="Segoe UI" pitchFamily="34" charset="-120"/>
              </a:rPr>
              <a:t>Layla is not a diagnosis waiting to happen. She is a patient the system already knows and already treats. The failure mode for someone like her is not a missed screen but a missed check: a six-month cycle that slips to nine, then twelve, while the iron dose that was right three years ago quietly stops being right. </a:t>
            </a:r>
            <a:pPr indent="0" marL="0">
              <a:buNone/>
            </a:pPr>
            <a:r>
              <a:rPr lang="en-US" sz="1000" b="1" dirty="0">
                <a:solidFill>
                  <a:srgbClr val="212B32"/>
                </a:solidFill>
                <a:latin typeface="Segoe UI" pitchFamily="34" charset="0"/>
                <a:ea typeface="Segoe UI" pitchFamily="34" charset="-122"/>
                <a:cs typeface="Segoe UI" pitchFamily="34" charset="-120"/>
              </a:rPr>
              <a:t>Hold the cycle and you hold the treatment.</a:t>
            </a:r>
            <a:endParaRPr lang="en-US" sz="1000" dirty="0"/>
          </a:p>
        </p:txBody>
      </p:sp>
      <p:sp>
        <p:nvSpPr>
          <p:cNvPr id="35" name="Shape 32"/>
          <p:cNvSpPr/>
          <p:nvPr/>
        </p:nvSpPr>
        <p:spPr>
          <a:xfrm>
            <a:off x="7215988" y="3596005"/>
            <a:ext cx="4427068" cy="2649347"/>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36" name="Shape 33"/>
          <p:cNvSpPr/>
          <p:nvPr/>
        </p:nvSpPr>
        <p:spPr>
          <a:xfrm>
            <a:off x="7215988" y="3596005"/>
            <a:ext cx="73152" cy="2649347"/>
          </a:xfrm>
          <a:prstGeom prst="rect">
            <a:avLst/>
          </a:prstGeom>
          <a:solidFill>
            <a:srgbClr val="005EB8"/>
          </a:solidFill>
          <a:ln w="12700">
            <a:solidFill>
              <a:srgbClr val="005EB8"/>
            </a:solidFill>
            <a:prstDash val="solid"/>
          </a:ln>
        </p:spPr>
      </p:sp>
      <p:sp>
        <p:nvSpPr>
          <p:cNvPr id="37" name="Text 34"/>
          <p:cNvSpPr/>
          <p:nvPr/>
        </p:nvSpPr>
        <p:spPr>
          <a:xfrm>
            <a:off x="7490308" y="3778885"/>
            <a:ext cx="3878428"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WHY THIS WORKS FOR HER</a:t>
            </a:r>
            <a:endParaRPr lang="en-US" sz="1000" dirty="0"/>
          </a:p>
        </p:txBody>
      </p:sp>
      <p:sp>
        <p:nvSpPr>
          <p:cNvPr id="38" name="Text 35"/>
          <p:cNvSpPr/>
          <p:nvPr/>
        </p:nvSpPr>
        <p:spPr>
          <a:xfrm>
            <a:off x="7490308" y="4098925"/>
            <a:ext cx="3878428" cy="441960"/>
          </a:xfrm>
          <a:prstGeom prst="rect">
            <a:avLst/>
          </a:prstGeom>
          <a:noFill/>
          <a:ln/>
        </p:spPr>
        <p:txBody>
          <a:bodyPr wrap="square" lIns="0" tIns="0" rIns="0" bIns="0" rtlCol="0" anchor="t"/>
          <a:lstStyle/>
          <a:p>
            <a:pPr indent="0" marL="0">
              <a:buNone/>
            </a:pPr>
            <a:r>
              <a:rPr lang="en-US" sz="1200" b="1" dirty="0">
                <a:solidFill>
                  <a:srgbClr val="003087"/>
                </a:solidFill>
                <a:latin typeface="Segoe UI" pitchFamily="34" charset="0"/>
                <a:ea typeface="Segoe UI" pitchFamily="34" charset="-122"/>
                <a:cs typeface="Segoe UI" pitchFamily="34" charset="-120"/>
              </a:rPr>
              <a:t>Her hours change every week. The kit does not care.</a:t>
            </a:r>
            <a:endParaRPr lang="en-US" sz="1200" dirty="0"/>
          </a:p>
        </p:txBody>
      </p:sp>
      <p:sp>
        <p:nvSpPr>
          <p:cNvPr id="39" name="Text 36"/>
          <p:cNvSpPr/>
          <p:nvPr/>
        </p:nvSpPr>
        <p:spPr>
          <a:xfrm>
            <a:off x="7490308" y="4632325"/>
            <a:ext cx="3878428" cy="1309624"/>
          </a:xfrm>
          <a:prstGeom prst="rect">
            <a:avLst/>
          </a:prstGeom>
          <a:noFill/>
          <a:ln/>
        </p:spPr>
        <p:txBody>
          <a:bodyPr wrap="square" lIns="0" tIns="0" rIns="0" bIns="0" rtlCol="0" anchor="t">
            <a:normAutofit/>
          </a:bodyPr>
          <a:lstStyle/>
          <a:p>
            <a:pPr indent="0" marL="0">
              <a:buNone/>
            </a:pPr>
            <a:r>
              <a:rPr lang="en-US" sz="950" dirty="0">
                <a:solidFill>
                  <a:srgbClr val="212B32"/>
                </a:solidFill>
                <a:latin typeface="Segoe UI" pitchFamily="34" charset="0"/>
                <a:ea typeface="Segoe UI" pitchFamily="34" charset="-122"/>
                <a:cs typeface="Segoe UI" pitchFamily="34" charset="-120"/>
              </a:rPr>
              <a:t>Two part-time jobs, one on a rota that moves, mean a fixed clinic slot is a bet against her own timetable, and an hour in a waiting room is an hour she is not paid for. A kit that arrives when the cycle is due and gets taken between shifts costs her nothing she cannot spare. </a:t>
            </a:r>
            <a:pPr indent="0" marL="0">
              <a:buNone/>
            </a:pPr>
            <a:r>
              <a:rPr lang="en-US" sz="950" b="1" dirty="0">
                <a:solidFill>
                  <a:srgbClr val="212B32"/>
                </a:solidFill>
                <a:latin typeface="Segoe UI" pitchFamily="34" charset="0"/>
                <a:ea typeface="Segoe UI" pitchFamily="34" charset="-122"/>
                <a:cs typeface="Segoe UI" pitchFamily="34" charset="-120"/>
              </a:rPr>
              <a:t>The result goes to Hannah. Layla hears from the practice only if the dose needs to change.</a:t>
            </a:r>
            <a:endParaRPr lang="en-US" sz="950" dirty="0"/>
          </a:p>
        </p:txBody>
      </p:sp>
      <p:sp>
        <p:nvSpPr>
          <p:cNvPr id="40" name="Text 37"/>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41" name="Text 38"/>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2" name="Text 39"/>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stage1-0.707.jpg">    </p:cNvPr>
          <p:cNvPicPr>
            <a:picLocks noChangeAspect="1"/>
          </p:cNvPicPr>
          <p:nvPr/>
        </p:nvPicPr>
        <p:blipFill>
          <a:blip r:embed="rId1"/>
          <a:stretch>
            <a:fillRect/>
          </a:stretch>
        </p:blipFill>
        <p:spPr>
          <a:xfrm>
            <a:off x="0" y="0"/>
            <a:ext cx="4846320" cy="6858000"/>
          </a:xfrm>
          <a:prstGeom prst="rect">
            <a:avLst/>
          </a:prstGeom>
        </p:spPr>
      </p:pic>
      <p:sp>
        <p:nvSpPr>
          <p:cNvPr id="3" name="Shape 0"/>
          <p:cNvSpPr/>
          <p:nvPr/>
        </p:nvSpPr>
        <p:spPr>
          <a:xfrm>
            <a:off x="4846320" y="0"/>
            <a:ext cx="164592" cy="6858000"/>
          </a:xfrm>
          <a:prstGeom prst="rect">
            <a:avLst/>
          </a:prstGeom>
          <a:solidFill>
            <a:srgbClr val="FFB91D"/>
          </a:solidFill>
          <a:ln w="12700">
            <a:solidFill>
              <a:srgbClr val="FFB91D"/>
            </a:solidFill>
            <a:prstDash val="solid"/>
          </a:ln>
        </p:spPr>
      </p:sp>
      <p:sp>
        <p:nvSpPr>
          <p:cNvPr id="4" name="Text 1"/>
          <p:cNvSpPr/>
          <p:nvPr/>
        </p:nvSpPr>
        <p:spPr>
          <a:xfrm>
            <a:off x="5440680" y="411480"/>
            <a:ext cx="620237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JOURNEY · STAGE 1 OF 5</a:t>
            </a:r>
            <a:endParaRPr lang="en-US" sz="1000" dirty="0"/>
          </a:p>
        </p:txBody>
      </p:sp>
      <p:sp>
        <p:nvSpPr>
          <p:cNvPr id="5" name="Text 2"/>
          <p:cNvSpPr/>
          <p:nvPr/>
        </p:nvSpPr>
        <p:spPr>
          <a:xfrm>
            <a:off x="544068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01</a:t>
            </a:r>
            <a:endParaRPr lang="en-US" sz="5400" dirty="0"/>
          </a:p>
        </p:txBody>
      </p:sp>
      <p:sp>
        <p:nvSpPr>
          <p:cNvPr id="6" name="Text 3"/>
          <p:cNvSpPr/>
          <p:nvPr/>
        </p:nvSpPr>
        <p:spPr>
          <a:xfrm>
            <a:off x="6537960" y="731520"/>
            <a:ext cx="5105095"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Stratification</a:t>
            </a:r>
            <a:endParaRPr lang="en-US" sz="3000" dirty="0"/>
          </a:p>
        </p:txBody>
      </p:sp>
      <p:sp>
        <p:nvSpPr>
          <p:cNvPr id="7" name="Text 4"/>
          <p:cNvSpPr/>
          <p:nvPr/>
        </p:nvSpPr>
        <p:spPr>
          <a:xfrm>
            <a:off x="6537960" y="1290828"/>
            <a:ext cx="5105095"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a treated condition and a cycle nobody can see slipping</a:t>
            </a:r>
            <a:endParaRPr lang="en-US" sz="1150" dirty="0"/>
          </a:p>
        </p:txBody>
      </p:sp>
      <p:sp>
        <p:nvSpPr>
          <p:cNvPr id="8" name="Text 5"/>
          <p:cNvSpPr/>
          <p:nvPr/>
        </p:nvSpPr>
        <p:spPr>
          <a:xfrm>
            <a:off x="5440680" y="1828800"/>
            <a:ext cx="6202375" cy="696773"/>
          </a:xfrm>
          <a:prstGeom prst="rect">
            <a:avLst/>
          </a:prstGeom>
          <a:noFill/>
          <a:ln/>
        </p:spPr>
        <p:txBody>
          <a:bodyPr wrap="square" lIns="0" tIns="0" rIns="0" bIns="0" rtlCol="0" anchor="t">
            <a:normAutofit/>
          </a:bodyPr>
          <a:lstStyle/>
          <a:p>
            <a:pPr indent="0" marL="0">
              <a:buNone/>
            </a:pPr>
            <a:r>
              <a:rPr lang="en-US" sz="972" dirty="0">
                <a:solidFill>
                  <a:srgbClr val="212B32"/>
                </a:solidFill>
                <a:latin typeface="Segoe UI" pitchFamily="34" charset="0"/>
                <a:ea typeface="Segoe UI" pitchFamily="34" charset="-122"/>
                <a:cs typeface="Segoe UI" pitchFamily="34" charset="-120"/>
              </a:rPr>
              <a:t>Around 8% of adult women in the UK live with iron deficiency anaemia. For most, treatment is a tablet and a blood test every six months. The test is the only way anyone knows whether the tablet is working, and it is the part that falls away when a life runs on shifts.</a:t>
            </a:r>
            <a:endParaRPr lang="en-US" sz="972" dirty="0"/>
          </a:p>
        </p:txBody>
      </p:sp>
      <p:sp>
        <p:nvSpPr>
          <p:cNvPr id="9" name="Shape 6"/>
          <p:cNvSpPr/>
          <p:nvPr/>
        </p:nvSpPr>
        <p:spPr>
          <a:xfrm>
            <a:off x="5440680" y="2662733"/>
            <a:ext cx="6202375" cy="65379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5669280" y="2772461"/>
            <a:ext cx="5745175" cy="434340"/>
          </a:xfrm>
          <a:prstGeom prst="rect">
            <a:avLst/>
          </a:prstGeom>
          <a:noFill/>
          <a:ln/>
        </p:spPr>
        <p:txBody>
          <a:bodyPr wrap="square" lIns="0" tIns="0" rIns="0" bIns="0" rtlCol="0" anchor="ctr">
            <a:normAutofit/>
          </a:bodyPr>
          <a:lstStyle/>
          <a:p>
            <a:pPr indent="0" marL="0">
              <a:buNone/>
            </a:pPr>
            <a:r>
              <a:rPr lang="en-US" sz="900" i="1" dirty="0">
                <a:solidFill>
                  <a:srgbClr val="212B32"/>
                </a:solidFill>
                <a:latin typeface="Segoe UI" pitchFamily="34" charset="0"/>
                <a:ea typeface="Segoe UI" pitchFamily="34" charset="-122"/>
                <a:cs typeface="Segoe UI" pitchFamily="34" charset="-120"/>
              </a:rPr>
              <a:t>“I take the tablets every day. It is the blood test I keep missing, and that is the bit that tells them whether the tablets are doing anything.”</a:t>
            </a:r>
            <a:pPr indent="0" marL="0">
              <a:buNone/>
            </a:pPr>
            <a:r>
              <a:rPr lang="en-US" sz="900" b="1" i="1" dirty="0">
                <a:solidFill>
                  <a:srgbClr val="212B32"/>
                </a:solidFill>
                <a:latin typeface="Segoe UI" pitchFamily="34" charset="0"/>
                <a:ea typeface="Segoe UI" pitchFamily="34" charset="-122"/>
                <a:cs typeface="Segoe UI" pitchFamily="34" charset="-120"/>
              </a:rPr>
              <a:t>  Layla</a:t>
            </a:r>
            <a:endParaRPr lang="en-US" sz="900" dirty="0"/>
          </a:p>
        </p:txBody>
      </p:sp>
      <p:sp>
        <p:nvSpPr>
          <p:cNvPr id="11" name="Shape 8"/>
          <p:cNvSpPr/>
          <p:nvPr/>
        </p:nvSpPr>
        <p:spPr>
          <a:xfrm>
            <a:off x="5440680" y="3453689"/>
            <a:ext cx="2986888" cy="292608"/>
          </a:xfrm>
          <a:prstGeom prst="rect">
            <a:avLst/>
          </a:prstGeom>
          <a:solidFill>
            <a:srgbClr val="003087"/>
          </a:solidFill>
          <a:ln w="12700">
            <a:solidFill>
              <a:srgbClr val="003087"/>
            </a:solidFill>
            <a:prstDash val="solid"/>
          </a:ln>
        </p:spPr>
      </p:sp>
      <p:sp>
        <p:nvSpPr>
          <p:cNvPr id="12" name="Text 9"/>
          <p:cNvSpPr/>
          <p:nvPr/>
        </p:nvSpPr>
        <p:spPr>
          <a:xfrm>
            <a:off x="5550408" y="3453689"/>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40680" y="3746297"/>
            <a:ext cx="2986888" cy="1858975"/>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5568696" y="3837737"/>
            <a:ext cx="2730856" cy="1481328"/>
          </a:xfrm>
          <a:prstGeom prst="rect">
            <a:avLst/>
          </a:prstGeom>
          <a:noFill/>
          <a:ln/>
        </p:spPr>
        <p:txBody>
          <a:bodyPr wrap="square" lIns="0" tIns="0" rIns="0" bIns="0" rtlCol="0" anchor="t">
            <a:normAutofit/>
          </a:bodyPr>
          <a:lstStyle/>
          <a:p>
            <a:pPr indent="0" marL="0">
              <a:buNone/>
            </a:pPr>
            <a:r>
              <a:rPr lang="en-US" sz="864" dirty="0">
                <a:solidFill>
                  <a:srgbClr val="212B32"/>
                </a:solidFill>
                <a:latin typeface="Segoe UI" pitchFamily="34" charset="0"/>
                <a:ea typeface="Segoe UI" pitchFamily="34" charset="-122"/>
                <a:cs typeface="Segoe UI" pitchFamily="34" charset="-120"/>
              </a:rPr>
              <a:t>NICE clinical knowledge summaries place IDA prevalence at around 8% in adult UK women. Treatment response is monitored by full blood count and ferritin, typically at six-monthly intervals for a patient on long-term iron. The cohort is already known to primary care; the risk is the interval quietly stretching, not the diagnosis being missed.</a:t>
            </a:r>
            <a:endParaRPr lang="en-US" sz="864" dirty="0"/>
          </a:p>
        </p:txBody>
      </p:sp>
      <p:sp>
        <p:nvSpPr>
          <p:cNvPr id="15" name="Shape 12"/>
          <p:cNvSpPr/>
          <p:nvPr/>
        </p:nvSpPr>
        <p:spPr>
          <a:xfrm>
            <a:off x="8656168" y="3453689"/>
            <a:ext cx="2986888" cy="292608"/>
          </a:xfrm>
          <a:prstGeom prst="rect">
            <a:avLst/>
          </a:prstGeom>
          <a:solidFill>
            <a:srgbClr val="5B6770"/>
          </a:solidFill>
          <a:ln w="12700">
            <a:solidFill>
              <a:srgbClr val="5B6770"/>
            </a:solidFill>
            <a:prstDash val="solid"/>
          </a:ln>
        </p:spPr>
      </p:sp>
      <p:sp>
        <p:nvSpPr>
          <p:cNvPr id="16" name="Text 13"/>
          <p:cNvSpPr/>
          <p:nvPr/>
        </p:nvSpPr>
        <p:spPr>
          <a:xfrm>
            <a:off x="8765896" y="3453689"/>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8656168" y="3746297"/>
            <a:ext cx="2986888" cy="1858975"/>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8784184" y="3837737"/>
            <a:ext cx="2730856" cy="910742"/>
          </a:xfrm>
          <a:prstGeom prst="rect">
            <a:avLst/>
          </a:prstGeom>
          <a:noFill/>
          <a:ln/>
        </p:spPr>
        <p:txBody>
          <a:bodyPr wrap="square" lIns="0" tIns="0" rIns="0" bIns="0" rtlCol="0" anchor="t">
            <a:normAutofit/>
          </a:bodyPr>
          <a:lstStyle/>
          <a:p>
            <a:pPr indent="0" marL="0">
              <a:buNone/>
            </a:pPr>
            <a:r>
              <a:rPr lang="en-US" sz="864" dirty="0">
                <a:solidFill>
                  <a:srgbClr val="212B32"/>
                </a:solidFill>
                <a:latin typeface="Segoe UI" pitchFamily="34" charset="0"/>
                <a:ea typeface="Segoe UI" pitchFamily="34" charset="-122"/>
                <a:cs typeface="Segoe UI" pitchFamily="34" charset="-120"/>
              </a:rPr>
              <a:t>Treat a treated cohort as if attendance were the patient's job. When the six-month check slips, send a letter. When the letter fails, close the recall and wait for her to come back symptomatic.</a:t>
            </a:r>
            <a:endParaRPr lang="en-US" sz="864" dirty="0"/>
          </a:p>
        </p:txBody>
      </p:sp>
      <p:sp>
        <p:nvSpPr>
          <p:cNvPr id="19" name="Shape 16"/>
          <p:cNvSpPr/>
          <p:nvPr/>
        </p:nvSpPr>
        <p:spPr>
          <a:xfrm>
            <a:off x="5440680" y="5742432"/>
            <a:ext cx="6202375" cy="457200"/>
          </a:xfrm>
          <a:prstGeom prst="rect">
            <a:avLst/>
          </a:prstGeom>
          <a:solidFill>
            <a:srgbClr val="E8F3EE"/>
          </a:solidFill>
          <a:ln w="12700">
            <a:solidFill>
              <a:srgbClr val="E8F3EE"/>
            </a:solidFill>
            <a:prstDash val="solid"/>
          </a:ln>
        </p:spPr>
      </p:sp>
      <p:sp>
        <p:nvSpPr>
          <p:cNvPr id="20" name="Text 17"/>
          <p:cNvSpPr/>
          <p:nvPr/>
        </p:nvSpPr>
        <p:spPr>
          <a:xfrm>
            <a:off x="5577840" y="5742432"/>
            <a:ext cx="5928055"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LAYLA'S CARE TEAM SEES  </a:t>
            </a:r>
            <a:pPr indent="0" marL="0">
              <a:buNone/>
            </a:pPr>
            <a:r>
              <a:rPr lang="en-US" sz="800" dirty="0">
                <a:solidFill>
                  <a:srgbClr val="212B32"/>
                </a:solidFill>
                <a:latin typeface="Segoe UI" pitchFamily="34" charset="0"/>
                <a:ea typeface="Segoe UI" pitchFamily="34" charset="-122"/>
                <a:cs typeface="Segoe UI" pitchFamily="34" charset="-120"/>
              </a:rPr>
              <a:t>Hannah, GP. Practice nurse. Anita on the ICB / GP commissioner side, watching a monitoring cycle nobody can measure.</a:t>
            </a:r>
            <a:endParaRPr lang="en-US" sz="850" dirty="0"/>
          </a:p>
        </p:txBody>
      </p:sp>
      <p:sp>
        <p:nvSpPr>
          <p:cNvPr id="21" name="Text 18"/>
          <p:cNvSpPr/>
          <p:nvPr/>
        </p:nvSpPr>
        <p:spPr>
          <a:xfrm>
            <a:off x="5440680" y="6473952"/>
            <a:ext cx="310118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22" name="Text 19"/>
          <p:cNvSpPr/>
          <p:nvPr/>
        </p:nvSpPr>
        <p:spPr>
          <a:xfrm>
            <a:off x="8541868" y="6473952"/>
            <a:ext cx="264398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stage2-0.707.jpg">    </p:cNvPr>
          <p:cNvPicPr>
            <a:picLocks noChangeAspect="1"/>
          </p:cNvPicPr>
          <p:nvPr/>
        </p:nvPicPr>
        <p:blipFill>
          <a:blip r:embed="rId1"/>
          <a:stretch>
            <a:fillRect/>
          </a:stretch>
        </p:blipFill>
        <p:spPr>
          <a:xfrm>
            <a:off x="7345375" y="0"/>
            <a:ext cx="4846320" cy="6858000"/>
          </a:xfrm>
          <a:prstGeom prst="rect">
            <a:avLst/>
          </a:prstGeom>
        </p:spPr>
      </p:pic>
      <p:sp>
        <p:nvSpPr>
          <p:cNvPr id="3" name="Shape 0"/>
          <p:cNvSpPr/>
          <p:nvPr/>
        </p:nvSpPr>
        <p:spPr>
          <a:xfrm>
            <a:off x="7180783" y="0"/>
            <a:ext cx="164592" cy="6858000"/>
          </a:xfrm>
          <a:prstGeom prst="rect">
            <a:avLst/>
          </a:prstGeom>
          <a:solidFill>
            <a:srgbClr val="FFB91D"/>
          </a:solidFill>
          <a:ln w="12700">
            <a:solidFill>
              <a:srgbClr val="FFB91D"/>
            </a:solidFill>
            <a:prstDash val="solid"/>
          </a:ln>
        </p:spPr>
      </p:sp>
      <p:sp>
        <p:nvSpPr>
          <p:cNvPr id="4" name="Text 1"/>
          <p:cNvSpPr/>
          <p:nvPr/>
        </p:nvSpPr>
        <p:spPr>
          <a:xfrm>
            <a:off x="548640" y="411480"/>
            <a:ext cx="622066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JOURNEY · STAGE 2 OF 5</a:t>
            </a:r>
            <a:endParaRPr lang="en-US" sz="1000" dirty="0"/>
          </a:p>
        </p:txBody>
      </p:sp>
      <p:sp>
        <p:nvSpPr>
          <p:cNvPr id="5" name="Text 2"/>
          <p:cNvSpPr/>
          <p:nvPr/>
        </p:nvSpPr>
        <p:spPr>
          <a:xfrm>
            <a:off x="54864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02</a:t>
            </a:r>
            <a:endParaRPr lang="en-US" sz="5400" dirty="0"/>
          </a:p>
        </p:txBody>
      </p:sp>
      <p:sp>
        <p:nvSpPr>
          <p:cNvPr id="6" name="Text 3"/>
          <p:cNvSpPr/>
          <p:nvPr/>
        </p:nvSpPr>
        <p:spPr>
          <a:xfrm>
            <a:off x="1645920" y="731520"/>
            <a:ext cx="5123383"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Identification</a:t>
            </a:r>
            <a:endParaRPr lang="en-US" sz="3000" dirty="0"/>
          </a:p>
        </p:txBody>
      </p:sp>
      <p:sp>
        <p:nvSpPr>
          <p:cNvPr id="7" name="Text 4"/>
          <p:cNvSpPr/>
          <p:nvPr/>
        </p:nvSpPr>
        <p:spPr>
          <a:xfrm>
            <a:off x="1645920" y="1290828"/>
            <a:ext cx="5123383"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the practice system orders and nobody has to ask</a:t>
            </a:r>
            <a:endParaRPr lang="en-US" sz="1150" dirty="0"/>
          </a:p>
        </p:txBody>
      </p:sp>
      <p:sp>
        <p:nvSpPr>
          <p:cNvPr id="8" name="Text 5"/>
          <p:cNvSpPr/>
          <p:nvPr/>
        </p:nvSpPr>
        <p:spPr>
          <a:xfrm>
            <a:off x="548640" y="1828800"/>
            <a:ext cx="6220663" cy="661111"/>
          </a:xfrm>
          <a:prstGeom prst="rect">
            <a:avLst/>
          </a:prstGeom>
          <a:noFill/>
          <a:ln/>
        </p:spPr>
        <p:txBody>
          <a:bodyPr wrap="square" lIns="0" tIns="0" rIns="0" bIns="0" rtlCol="0" anchor="t">
            <a:normAutofit/>
          </a:bodyPr>
          <a:lstStyle/>
          <a:p>
            <a:pPr indent="0" marL="0">
              <a:buNone/>
            </a:pPr>
            <a:r>
              <a:rPr lang="en-US" sz="918" dirty="0">
                <a:solidFill>
                  <a:srgbClr val="212B32"/>
                </a:solidFill>
                <a:latin typeface="Segoe UI" pitchFamily="34" charset="0"/>
                <a:ea typeface="Segoe UI" pitchFamily="34" charset="-122"/>
                <a:cs typeface="Segoe UI" pitchFamily="34" charset="-120"/>
              </a:rPr>
              <a:t>Hannah's recall search flags Layla as due. In the GP-initiated pattern the practice system raises the order for the FBC and ferritin, the platform ships the kit, and the appointment Layla could never keep is never booked. There is no conversation to have, because there is nothing for Layla to agree to yet.</a:t>
            </a:r>
            <a:endParaRPr lang="en-US" sz="918" dirty="0"/>
          </a:p>
        </p:txBody>
      </p:sp>
      <p:sp>
        <p:nvSpPr>
          <p:cNvPr id="9" name="Shape 6"/>
          <p:cNvSpPr/>
          <p:nvPr/>
        </p:nvSpPr>
        <p:spPr>
          <a:xfrm>
            <a:off x="548640" y="2627071"/>
            <a:ext cx="6220663" cy="63728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777240" y="2736799"/>
            <a:ext cx="5763463" cy="417830"/>
          </a:xfrm>
          <a:prstGeom prst="rect">
            <a:avLst/>
          </a:prstGeom>
          <a:noFill/>
          <a:ln/>
        </p:spPr>
        <p:txBody>
          <a:bodyPr wrap="square" lIns="0" tIns="0" rIns="0" bIns="0" rtlCol="0" anchor="ctr">
            <a:normAutofit/>
          </a:bodyPr>
          <a:lstStyle/>
          <a:p>
            <a:pPr indent="0" marL="0">
              <a:buNone/>
            </a:pPr>
            <a:r>
              <a:rPr lang="en-US" sz="850" i="1" dirty="0">
                <a:solidFill>
                  <a:srgbClr val="212B32"/>
                </a:solidFill>
                <a:latin typeface="Segoe UI" pitchFamily="34" charset="0"/>
                <a:ea typeface="Segoe UI" pitchFamily="34" charset="-122"/>
                <a:cs typeface="Segoe UI" pitchFamily="34" charset="-120"/>
              </a:rPr>
              <a:t>“Nobody rang me. A text said a kit was coming for my six-month bloods, and it came. That was the whole appointment.”</a:t>
            </a:r>
            <a:pPr indent="0" marL="0">
              <a:buNone/>
            </a:pPr>
            <a:r>
              <a:rPr lang="en-US" sz="850" b="1" i="1" dirty="0">
                <a:solidFill>
                  <a:srgbClr val="212B32"/>
                </a:solidFill>
                <a:latin typeface="Segoe UI" pitchFamily="34" charset="0"/>
                <a:ea typeface="Segoe UI" pitchFamily="34" charset="-122"/>
                <a:cs typeface="Segoe UI" pitchFamily="34" charset="-120"/>
              </a:rPr>
              <a:t>  Layla</a:t>
            </a:r>
            <a:endParaRPr lang="en-US" sz="850" dirty="0"/>
          </a:p>
        </p:txBody>
      </p:sp>
      <p:sp>
        <p:nvSpPr>
          <p:cNvPr id="11" name="Shape 8"/>
          <p:cNvSpPr/>
          <p:nvPr/>
        </p:nvSpPr>
        <p:spPr>
          <a:xfrm>
            <a:off x="548640" y="3401517"/>
            <a:ext cx="2996032" cy="292608"/>
          </a:xfrm>
          <a:prstGeom prst="rect">
            <a:avLst/>
          </a:prstGeom>
          <a:solidFill>
            <a:srgbClr val="003087"/>
          </a:solidFill>
          <a:ln w="12700">
            <a:solidFill>
              <a:srgbClr val="003087"/>
            </a:solidFill>
            <a:prstDash val="solid"/>
          </a:ln>
        </p:spPr>
      </p:sp>
      <p:sp>
        <p:nvSpPr>
          <p:cNvPr id="12" name="Text 9"/>
          <p:cNvSpPr/>
          <p:nvPr/>
        </p:nvSpPr>
        <p:spPr>
          <a:xfrm>
            <a:off x="658368" y="3401517"/>
            <a:ext cx="277657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8640" y="3694125"/>
            <a:ext cx="2996032" cy="1825803"/>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676656" y="3785565"/>
            <a:ext cx="2740000" cy="1536802"/>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Around 15 million general-practice appointments are missed each year, costing the NHS £216 million. The GP-initiated pattern removes the appointment rather than chasing it: the order originates in the practice system as part of the review cycle, the kit is dispatched against it, and the result is written back to the GP record. Layla is the sample provider, not the orderer or the recipient.</a:t>
            </a:r>
            <a:endParaRPr lang="en-US" sz="816" dirty="0"/>
          </a:p>
        </p:txBody>
      </p:sp>
      <p:sp>
        <p:nvSpPr>
          <p:cNvPr id="15" name="Shape 12"/>
          <p:cNvSpPr/>
          <p:nvPr/>
        </p:nvSpPr>
        <p:spPr>
          <a:xfrm>
            <a:off x="3773272" y="3401517"/>
            <a:ext cx="2996032" cy="292608"/>
          </a:xfrm>
          <a:prstGeom prst="rect">
            <a:avLst/>
          </a:prstGeom>
          <a:solidFill>
            <a:srgbClr val="5B6770"/>
          </a:solidFill>
          <a:ln w="12700">
            <a:solidFill>
              <a:srgbClr val="5B6770"/>
            </a:solidFill>
            <a:prstDash val="solid"/>
          </a:ln>
        </p:spPr>
      </p:sp>
      <p:sp>
        <p:nvSpPr>
          <p:cNvPr id="16" name="Text 13"/>
          <p:cNvSpPr/>
          <p:nvPr/>
        </p:nvSpPr>
        <p:spPr>
          <a:xfrm>
            <a:off x="3883000" y="3401517"/>
            <a:ext cx="277657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3773272" y="3694125"/>
            <a:ext cx="2996032" cy="1825803"/>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3901288" y="3785565"/>
            <a:ext cx="2740000" cy="593750"/>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Book, miss, re-book, miss, then a DNA code on the record that follows her into every future conversation about engagement.</a:t>
            </a:r>
            <a:endParaRPr lang="en-US" sz="816" dirty="0"/>
          </a:p>
        </p:txBody>
      </p:sp>
      <p:sp>
        <p:nvSpPr>
          <p:cNvPr id="19" name="Shape 16"/>
          <p:cNvSpPr/>
          <p:nvPr/>
        </p:nvSpPr>
        <p:spPr>
          <a:xfrm>
            <a:off x="548640" y="5657088"/>
            <a:ext cx="6220663" cy="542544"/>
          </a:xfrm>
          <a:prstGeom prst="rect">
            <a:avLst/>
          </a:prstGeom>
          <a:solidFill>
            <a:srgbClr val="E8F3EE"/>
          </a:solidFill>
          <a:ln w="12700">
            <a:solidFill>
              <a:srgbClr val="E8F3EE"/>
            </a:solidFill>
            <a:prstDash val="solid"/>
          </a:ln>
        </p:spPr>
      </p:sp>
      <p:sp>
        <p:nvSpPr>
          <p:cNvPr id="20" name="Text 17"/>
          <p:cNvSpPr/>
          <p:nvPr/>
        </p:nvSpPr>
        <p:spPr>
          <a:xfrm>
            <a:off x="685800" y="5657088"/>
            <a:ext cx="5946343" cy="542544"/>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LAYLA'S CARE TEAM SEES  </a:t>
            </a:r>
            <a:pPr indent="0" marL="0">
              <a:buNone/>
            </a:pPr>
            <a:r>
              <a:rPr lang="en-US" sz="800" dirty="0">
                <a:solidFill>
                  <a:srgbClr val="212B32"/>
                </a:solidFill>
                <a:latin typeface="Segoe UI" pitchFamily="34" charset="0"/>
                <a:ea typeface="Segoe UI" pitchFamily="34" charset="-122"/>
                <a:cs typeface="Segoe UI" pitchFamily="34" charset="-120"/>
              </a:rPr>
              <a:t>Hannah. The practice recall administrator. The supplier dispatching against the practice order. Anita, whose access figures stop counting Layla as a failure.</a:t>
            </a:r>
            <a:endParaRPr lang="en-US" sz="850" dirty="0"/>
          </a:p>
        </p:txBody>
      </p:sp>
      <p:sp>
        <p:nvSpPr>
          <p:cNvPr id="21" name="Text 18"/>
          <p:cNvSpPr/>
          <p:nvPr/>
        </p:nvSpPr>
        <p:spPr>
          <a:xfrm>
            <a:off x="548640" y="6473952"/>
            <a:ext cx="311033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22" name="Text 19"/>
          <p:cNvSpPr/>
          <p:nvPr/>
        </p:nvSpPr>
        <p:spPr>
          <a:xfrm>
            <a:off x="3658972" y="6473952"/>
            <a:ext cx="265313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635782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stage3-0.707.jpg">    </p:cNvPr>
          <p:cNvPicPr>
            <a:picLocks noChangeAspect="1"/>
          </p:cNvPicPr>
          <p:nvPr/>
        </p:nvPicPr>
        <p:blipFill>
          <a:blip r:embed="rId1"/>
          <a:stretch>
            <a:fillRect/>
          </a:stretch>
        </p:blipFill>
        <p:spPr>
          <a:xfrm>
            <a:off x="0" y="0"/>
            <a:ext cx="4846320" cy="6858000"/>
          </a:xfrm>
          <a:prstGeom prst="rect">
            <a:avLst/>
          </a:prstGeom>
        </p:spPr>
      </p:pic>
      <p:sp>
        <p:nvSpPr>
          <p:cNvPr id="3" name="Shape 0"/>
          <p:cNvSpPr/>
          <p:nvPr/>
        </p:nvSpPr>
        <p:spPr>
          <a:xfrm>
            <a:off x="4846320" y="0"/>
            <a:ext cx="164592" cy="6858000"/>
          </a:xfrm>
          <a:prstGeom prst="rect">
            <a:avLst/>
          </a:prstGeom>
          <a:solidFill>
            <a:srgbClr val="FFB91D"/>
          </a:solidFill>
          <a:ln w="12700">
            <a:solidFill>
              <a:srgbClr val="FFB91D"/>
            </a:solidFill>
            <a:prstDash val="solid"/>
          </a:ln>
        </p:spPr>
      </p:sp>
      <p:sp>
        <p:nvSpPr>
          <p:cNvPr id="4" name="Text 1"/>
          <p:cNvSpPr/>
          <p:nvPr/>
        </p:nvSpPr>
        <p:spPr>
          <a:xfrm>
            <a:off x="5440680" y="411480"/>
            <a:ext cx="620237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JOURNEY · STAGE 3 OF 5</a:t>
            </a:r>
            <a:endParaRPr lang="en-US" sz="1000" dirty="0"/>
          </a:p>
        </p:txBody>
      </p:sp>
      <p:sp>
        <p:nvSpPr>
          <p:cNvPr id="5" name="Text 2"/>
          <p:cNvSpPr/>
          <p:nvPr/>
        </p:nvSpPr>
        <p:spPr>
          <a:xfrm>
            <a:off x="544068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03</a:t>
            </a:r>
            <a:endParaRPr lang="en-US" sz="5400" dirty="0"/>
          </a:p>
        </p:txBody>
      </p:sp>
      <p:sp>
        <p:nvSpPr>
          <p:cNvPr id="6" name="Text 3"/>
          <p:cNvSpPr/>
          <p:nvPr/>
        </p:nvSpPr>
        <p:spPr>
          <a:xfrm>
            <a:off x="6537960" y="731520"/>
            <a:ext cx="5105095"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Diagnosis</a:t>
            </a:r>
            <a:endParaRPr lang="en-US" sz="3000" dirty="0"/>
          </a:p>
        </p:txBody>
      </p:sp>
      <p:sp>
        <p:nvSpPr>
          <p:cNvPr id="7" name="Text 4"/>
          <p:cNvSpPr/>
          <p:nvPr/>
        </p:nvSpPr>
        <p:spPr>
          <a:xfrm>
            <a:off x="6537960" y="1290828"/>
            <a:ext cx="5105095"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a sample between shifts</a:t>
            </a:r>
            <a:endParaRPr lang="en-US" sz="1150" dirty="0"/>
          </a:p>
        </p:txBody>
      </p:sp>
      <p:sp>
        <p:nvSpPr>
          <p:cNvPr id="8" name="Text 5"/>
          <p:cNvSpPr/>
          <p:nvPr/>
        </p:nvSpPr>
        <p:spPr>
          <a:xfrm>
            <a:off x="5440680" y="1828800"/>
            <a:ext cx="6202375" cy="661111"/>
          </a:xfrm>
          <a:prstGeom prst="rect">
            <a:avLst/>
          </a:prstGeom>
          <a:noFill/>
          <a:ln/>
        </p:spPr>
        <p:txBody>
          <a:bodyPr wrap="square" lIns="0" tIns="0" rIns="0" bIns="0" rtlCol="0" anchor="t">
            <a:normAutofit/>
          </a:bodyPr>
          <a:lstStyle/>
          <a:p>
            <a:pPr indent="0" marL="0">
              <a:buNone/>
            </a:pPr>
            <a:r>
              <a:rPr lang="en-US" sz="918" dirty="0">
                <a:solidFill>
                  <a:srgbClr val="212B32"/>
                </a:solidFill>
                <a:latin typeface="Segoe UI" pitchFamily="34" charset="0"/>
                <a:ea typeface="Segoe UI" pitchFamily="34" charset="-122"/>
                <a:cs typeface="Segoe UI" pitchFamily="34" charset="-120"/>
              </a:rPr>
              <a:t>The kit arrives on a Wednesday. Layla takes the capillary sample at the kitchen table while the kids finish their homework, before her evening shift, posts it on the way in and does not think about it again. The lab processes it on the same platform as any clinic sample and the result lands in Hannah's record on time.</a:t>
            </a:r>
            <a:endParaRPr lang="en-US" sz="918" dirty="0"/>
          </a:p>
        </p:txBody>
      </p:sp>
      <p:sp>
        <p:nvSpPr>
          <p:cNvPr id="9" name="Shape 6"/>
          <p:cNvSpPr/>
          <p:nvPr/>
        </p:nvSpPr>
        <p:spPr>
          <a:xfrm>
            <a:off x="5440680" y="2627071"/>
            <a:ext cx="6202375" cy="63728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5669280" y="2736799"/>
            <a:ext cx="5745175" cy="417830"/>
          </a:xfrm>
          <a:prstGeom prst="rect">
            <a:avLst/>
          </a:prstGeom>
          <a:noFill/>
          <a:ln/>
        </p:spPr>
        <p:txBody>
          <a:bodyPr wrap="square" lIns="0" tIns="0" rIns="0" bIns="0" rtlCol="0" anchor="ctr">
            <a:normAutofit/>
          </a:bodyPr>
          <a:lstStyle/>
          <a:p>
            <a:pPr indent="0" marL="0">
              <a:buNone/>
            </a:pPr>
            <a:r>
              <a:rPr lang="en-US" sz="850" i="1" dirty="0">
                <a:solidFill>
                  <a:srgbClr val="212B32"/>
                </a:solidFill>
                <a:latin typeface="Segoe UI" pitchFamily="34" charset="0"/>
                <a:ea typeface="Segoe UI" pitchFamily="34" charset="-122"/>
                <a:cs typeface="Segoe UI" pitchFamily="34" charset="-120"/>
              </a:rPr>
              <a:t>“Twenty minutes between the kids' homework and the start of my shift. I would not have got to the surgery and back in that gap, let alone waited.”</a:t>
            </a:r>
            <a:pPr indent="0" marL="0">
              <a:buNone/>
            </a:pPr>
            <a:r>
              <a:rPr lang="en-US" sz="850" b="1" i="1" dirty="0">
                <a:solidFill>
                  <a:srgbClr val="212B32"/>
                </a:solidFill>
                <a:latin typeface="Segoe UI" pitchFamily="34" charset="0"/>
                <a:ea typeface="Segoe UI" pitchFamily="34" charset="-122"/>
                <a:cs typeface="Segoe UI" pitchFamily="34" charset="-120"/>
              </a:rPr>
              <a:t>  Layla</a:t>
            </a:r>
            <a:endParaRPr lang="en-US" sz="850" dirty="0"/>
          </a:p>
        </p:txBody>
      </p:sp>
      <p:sp>
        <p:nvSpPr>
          <p:cNvPr id="11" name="Shape 8"/>
          <p:cNvSpPr/>
          <p:nvPr/>
        </p:nvSpPr>
        <p:spPr>
          <a:xfrm>
            <a:off x="5440680" y="3401517"/>
            <a:ext cx="2986888" cy="292608"/>
          </a:xfrm>
          <a:prstGeom prst="rect">
            <a:avLst/>
          </a:prstGeom>
          <a:solidFill>
            <a:srgbClr val="003087"/>
          </a:solidFill>
          <a:ln w="12700">
            <a:solidFill>
              <a:srgbClr val="003087"/>
            </a:solidFill>
            <a:prstDash val="solid"/>
          </a:ln>
        </p:spPr>
      </p:sp>
      <p:sp>
        <p:nvSpPr>
          <p:cNvPr id="12" name="Text 9"/>
          <p:cNvSpPr/>
          <p:nvPr/>
        </p:nvSpPr>
        <p:spPr>
          <a:xfrm>
            <a:off x="5550408" y="3401517"/>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40680" y="3694125"/>
            <a:ext cx="2986888" cy="1911147"/>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5568696" y="3785565"/>
            <a:ext cx="2730856" cy="1402080"/>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The home capillary FBC and ferritin are a recognised route for routine monitoring. The sample is processed at a UKAS-accredited lab on the same assay platform that processes in-clinic samples, and the result writes back to the practice EPR through the framework integration. Nothing about the clinical standard changes; only the venue and the timing do.</a:t>
            </a:r>
            <a:endParaRPr lang="en-US" sz="816" dirty="0"/>
          </a:p>
        </p:txBody>
      </p:sp>
      <p:sp>
        <p:nvSpPr>
          <p:cNvPr id="15" name="Shape 12"/>
          <p:cNvSpPr/>
          <p:nvPr/>
        </p:nvSpPr>
        <p:spPr>
          <a:xfrm>
            <a:off x="8656168" y="3401517"/>
            <a:ext cx="2986888" cy="292608"/>
          </a:xfrm>
          <a:prstGeom prst="rect">
            <a:avLst/>
          </a:prstGeom>
          <a:solidFill>
            <a:srgbClr val="5B6770"/>
          </a:solidFill>
          <a:ln w="12700">
            <a:solidFill>
              <a:srgbClr val="5B6770"/>
            </a:solidFill>
            <a:prstDash val="solid"/>
          </a:ln>
        </p:spPr>
      </p:sp>
      <p:sp>
        <p:nvSpPr>
          <p:cNvPr id="16" name="Text 13"/>
          <p:cNvSpPr/>
          <p:nvPr/>
        </p:nvSpPr>
        <p:spPr>
          <a:xfrm>
            <a:off x="8765896" y="3401517"/>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8656168" y="3694125"/>
            <a:ext cx="2986888" cy="1911147"/>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8784184" y="3785565"/>
            <a:ext cx="2730856" cy="728472"/>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An appointment at the surgery in working hours, which for Layla means an hour of unpaid time and a manager she has to ask twice a year, or a check that does not happen.</a:t>
            </a:r>
            <a:endParaRPr lang="en-US" sz="816" dirty="0"/>
          </a:p>
        </p:txBody>
      </p:sp>
      <p:sp>
        <p:nvSpPr>
          <p:cNvPr id="19" name="Shape 16"/>
          <p:cNvSpPr/>
          <p:nvPr/>
        </p:nvSpPr>
        <p:spPr>
          <a:xfrm>
            <a:off x="5440680" y="5742432"/>
            <a:ext cx="6202375" cy="457200"/>
          </a:xfrm>
          <a:prstGeom prst="rect">
            <a:avLst/>
          </a:prstGeom>
          <a:solidFill>
            <a:srgbClr val="E8F3EE"/>
          </a:solidFill>
          <a:ln w="12700">
            <a:solidFill>
              <a:srgbClr val="E8F3EE"/>
            </a:solidFill>
            <a:prstDash val="solid"/>
          </a:ln>
        </p:spPr>
      </p:sp>
      <p:sp>
        <p:nvSpPr>
          <p:cNvPr id="20" name="Text 17"/>
          <p:cNvSpPr/>
          <p:nvPr/>
        </p:nvSpPr>
        <p:spPr>
          <a:xfrm>
            <a:off x="5577840" y="5742432"/>
            <a:ext cx="5928055"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LAYLA'S CARE TEAM SEES  </a:t>
            </a:r>
            <a:pPr indent="0" marL="0">
              <a:buNone/>
            </a:pPr>
            <a:r>
              <a:rPr lang="en-US" sz="800" dirty="0">
                <a:solidFill>
                  <a:srgbClr val="212B32"/>
                </a:solidFill>
                <a:latin typeface="Segoe UI" pitchFamily="34" charset="0"/>
                <a:ea typeface="Segoe UI" pitchFamily="34" charset="-122"/>
                <a:cs typeface="Segoe UI" pitchFamily="34" charset="-120"/>
              </a:rPr>
              <a:t>The supplier shipping the kit. The lab. The platform writing the result back. Layla, on her own timetable.</a:t>
            </a:r>
            <a:endParaRPr lang="en-US" sz="850" dirty="0"/>
          </a:p>
        </p:txBody>
      </p:sp>
      <p:sp>
        <p:nvSpPr>
          <p:cNvPr id="21" name="Text 18"/>
          <p:cNvSpPr/>
          <p:nvPr/>
        </p:nvSpPr>
        <p:spPr>
          <a:xfrm>
            <a:off x="5440680" y="6473952"/>
            <a:ext cx="310118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22" name="Text 19"/>
          <p:cNvSpPr/>
          <p:nvPr/>
        </p:nvSpPr>
        <p:spPr>
          <a:xfrm>
            <a:off x="8541868" y="6473952"/>
            <a:ext cx="264398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stage4-0.707.jpg">    </p:cNvPr>
          <p:cNvPicPr>
            <a:picLocks noChangeAspect="1"/>
          </p:cNvPicPr>
          <p:nvPr/>
        </p:nvPicPr>
        <p:blipFill>
          <a:blip r:embed="rId1"/>
          <a:stretch>
            <a:fillRect/>
          </a:stretch>
        </p:blipFill>
        <p:spPr>
          <a:xfrm>
            <a:off x="7345375" y="0"/>
            <a:ext cx="4846320" cy="6858000"/>
          </a:xfrm>
          <a:prstGeom prst="rect">
            <a:avLst/>
          </a:prstGeom>
        </p:spPr>
      </p:pic>
      <p:sp>
        <p:nvSpPr>
          <p:cNvPr id="3" name="Shape 0"/>
          <p:cNvSpPr/>
          <p:nvPr/>
        </p:nvSpPr>
        <p:spPr>
          <a:xfrm>
            <a:off x="7180783" y="0"/>
            <a:ext cx="164592" cy="6858000"/>
          </a:xfrm>
          <a:prstGeom prst="rect">
            <a:avLst/>
          </a:prstGeom>
          <a:solidFill>
            <a:srgbClr val="FFB91D"/>
          </a:solidFill>
          <a:ln w="12700">
            <a:solidFill>
              <a:srgbClr val="FFB91D"/>
            </a:solidFill>
            <a:prstDash val="solid"/>
          </a:ln>
        </p:spPr>
      </p:sp>
      <p:sp>
        <p:nvSpPr>
          <p:cNvPr id="4" name="Text 1"/>
          <p:cNvSpPr/>
          <p:nvPr/>
        </p:nvSpPr>
        <p:spPr>
          <a:xfrm>
            <a:off x="548640" y="411480"/>
            <a:ext cx="622066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JOURNEY · STAGE 4 OF 5</a:t>
            </a:r>
            <a:endParaRPr lang="en-US" sz="1000" dirty="0"/>
          </a:p>
        </p:txBody>
      </p:sp>
      <p:sp>
        <p:nvSpPr>
          <p:cNvPr id="5" name="Text 2"/>
          <p:cNvSpPr/>
          <p:nvPr/>
        </p:nvSpPr>
        <p:spPr>
          <a:xfrm>
            <a:off x="54864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04</a:t>
            </a:r>
            <a:endParaRPr lang="en-US" sz="5400" dirty="0"/>
          </a:p>
        </p:txBody>
      </p:sp>
      <p:sp>
        <p:nvSpPr>
          <p:cNvPr id="6" name="Text 3"/>
          <p:cNvSpPr/>
          <p:nvPr/>
        </p:nvSpPr>
        <p:spPr>
          <a:xfrm>
            <a:off x="1645920" y="731520"/>
            <a:ext cx="5123383" cy="5410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Treatment</a:t>
            </a:r>
            <a:endParaRPr lang="en-US" sz="3000" dirty="0"/>
          </a:p>
        </p:txBody>
      </p:sp>
      <p:sp>
        <p:nvSpPr>
          <p:cNvPr id="7" name="Text 4"/>
          <p:cNvSpPr/>
          <p:nvPr/>
        </p:nvSpPr>
        <p:spPr>
          <a:xfrm>
            <a:off x="1645920" y="1290828"/>
            <a:ext cx="5123383"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the dose follows the ferritin</a:t>
            </a:r>
            <a:endParaRPr lang="en-US" sz="1150" dirty="0"/>
          </a:p>
        </p:txBody>
      </p:sp>
      <p:sp>
        <p:nvSpPr>
          <p:cNvPr id="8" name="Text 5"/>
          <p:cNvSpPr/>
          <p:nvPr/>
        </p:nvSpPr>
        <p:spPr>
          <a:xfrm>
            <a:off x="548640" y="1828800"/>
            <a:ext cx="6220663" cy="901827"/>
          </a:xfrm>
          <a:prstGeom prst="rect">
            <a:avLst/>
          </a:prstGeom>
          <a:noFill/>
          <a:ln/>
        </p:spPr>
        <p:txBody>
          <a:bodyPr wrap="square" lIns="0" tIns="0" rIns="0" bIns="0" rtlCol="0" anchor="t">
            <a:normAutofit/>
          </a:bodyPr>
          <a:lstStyle/>
          <a:p>
            <a:pPr indent="0" marL="0">
              <a:buNone/>
            </a:pPr>
            <a:r>
              <a:rPr lang="en-US" sz="1026" dirty="0">
                <a:solidFill>
                  <a:srgbClr val="212B32"/>
                </a:solidFill>
                <a:latin typeface="Segoe UI" pitchFamily="34" charset="0"/>
                <a:ea typeface="Segoe UI" pitchFamily="34" charset="-122"/>
                <a:cs typeface="Segoe UI" pitchFamily="34" charset="-120"/>
              </a:rPr>
              <a:t>Hannah reviews the haemoglobin and ferritin against the previous cycles. This time the ferritin has plateaued below target, so the dose is adjusted and a note goes to Layla. Same clinical decision as an in-clinic sample would have prompted, with one difference: it happened on time, so the trend was still readable.</a:t>
            </a:r>
            <a:endParaRPr lang="en-US" sz="1026" dirty="0"/>
          </a:p>
        </p:txBody>
      </p:sp>
      <p:sp>
        <p:nvSpPr>
          <p:cNvPr id="9" name="Shape 6"/>
          <p:cNvSpPr/>
          <p:nvPr/>
        </p:nvSpPr>
        <p:spPr>
          <a:xfrm>
            <a:off x="548640" y="2867787"/>
            <a:ext cx="6220663" cy="67030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777240" y="2977515"/>
            <a:ext cx="5763463" cy="450850"/>
          </a:xfrm>
          <a:prstGeom prst="rect">
            <a:avLst/>
          </a:prstGeom>
          <a:noFill/>
          <a:ln/>
        </p:spPr>
        <p:txBody>
          <a:bodyPr wrap="square" lIns="0" tIns="0" rIns="0" bIns="0" rtlCol="0" anchor="ctr">
            <a:normAutofit/>
          </a:bodyPr>
          <a:lstStyle/>
          <a:p>
            <a:pPr indent="0" marL="0">
              <a:buNone/>
            </a:pPr>
            <a:r>
              <a:rPr lang="en-US" sz="950" i="1" dirty="0">
                <a:solidFill>
                  <a:srgbClr val="212B32"/>
                </a:solidFill>
                <a:latin typeface="Segoe UI" pitchFamily="34" charset="0"/>
                <a:ea typeface="Segoe UI" pitchFamily="34" charset="-122"/>
                <a:cs typeface="Segoe UI" pitchFamily="34" charset="-120"/>
              </a:rPr>
              <a:t>“A message from the practice: we are changing your dose, here is why, the new prescription is at the pharmacy. I read it on my break.”</a:t>
            </a:r>
            <a:pPr indent="0" marL="0">
              <a:buNone/>
            </a:pPr>
            <a:r>
              <a:rPr lang="en-US" sz="950" b="1" i="1" dirty="0">
                <a:solidFill>
                  <a:srgbClr val="212B32"/>
                </a:solidFill>
                <a:latin typeface="Segoe UI" pitchFamily="34" charset="0"/>
                <a:ea typeface="Segoe UI" pitchFamily="34" charset="-122"/>
                <a:cs typeface="Segoe UI" pitchFamily="34" charset="-120"/>
              </a:rPr>
              <a:t>  Layla</a:t>
            </a:r>
            <a:endParaRPr lang="en-US" sz="950" dirty="0"/>
          </a:p>
        </p:txBody>
      </p:sp>
      <p:sp>
        <p:nvSpPr>
          <p:cNvPr id="11" name="Shape 8"/>
          <p:cNvSpPr/>
          <p:nvPr/>
        </p:nvSpPr>
        <p:spPr>
          <a:xfrm>
            <a:off x="548640" y="3675253"/>
            <a:ext cx="2996032" cy="292608"/>
          </a:xfrm>
          <a:prstGeom prst="rect">
            <a:avLst/>
          </a:prstGeom>
          <a:solidFill>
            <a:srgbClr val="003087"/>
          </a:solidFill>
          <a:ln w="12700">
            <a:solidFill>
              <a:srgbClr val="003087"/>
            </a:solidFill>
            <a:prstDash val="solid"/>
          </a:ln>
        </p:spPr>
      </p:sp>
      <p:sp>
        <p:nvSpPr>
          <p:cNvPr id="12" name="Text 9"/>
          <p:cNvSpPr/>
          <p:nvPr/>
        </p:nvSpPr>
        <p:spPr>
          <a:xfrm>
            <a:off x="658368" y="3675253"/>
            <a:ext cx="277657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8640" y="3967861"/>
            <a:ext cx="2996032" cy="163741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676656" y="4059301"/>
            <a:ext cx="2740000" cy="1410005"/>
          </a:xfrm>
          <a:prstGeom prst="rect">
            <a:avLst/>
          </a:prstGeom>
          <a:noFill/>
          <a:ln/>
        </p:spPr>
        <p:txBody>
          <a:bodyPr wrap="square" lIns="0" tIns="0" rIns="0" bIns="0" rtlCol="0" anchor="t">
            <a:normAutofit/>
          </a:bodyPr>
          <a:lstStyle/>
          <a:p>
            <a:pPr indent="0" marL="0">
              <a:buNone/>
            </a:pPr>
            <a:r>
              <a:rPr lang="en-US" sz="912" dirty="0">
                <a:solidFill>
                  <a:srgbClr val="212B32"/>
                </a:solidFill>
                <a:latin typeface="Segoe UI" pitchFamily="34" charset="0"/>
                <a:ea typeface="Segoe UI" pitchFamily="34" charset="-122"/>
                <a:cs typeface="Segoe UI" pitchFamily="34" charset="-120"/>
              </a:rPr>
              <a:t>The treatment pathway is NICE-guideline-aligned and unchanged by the home venue: iron supplementation is titrated to the FBC and ferritin response, and the GP holds prescribing accountability. What the home cycle adds is timeliness. A dose that needs changing gets changed at six months, not at fourteen.</a:t>
            </a:r>
            <a:endParaRPr lang="en-US" sz="912" dirty="0"/>
          </a:p>
        </p:txBody>
      </p:sp>
      <p:sp>
        <p:nvSpPr>
          <p:cNvPr id="15" name="Shape 12"/>
          <p:cNvSpPr/>
          <p:nvPr/>
        </p:nvSpPr>
        <p:spPr>
          <a:xfrm>
            <a:off x="3773272" y="3675253"/>
            <a:ext cx="2996032" cy="292608"/>
          </a:xfrm>
          <a:prstGeom prst="rect">
            <a:avLst/>
          </a:prstGeom>
          <a:solidFill>
            <a:srgbClr val="5B6770"/>
          </a:solidFill>
          <a:ln w="12700">
            <a:solidFill>
              <a:srgbClr val="5B6770"/>
            </a:solidFill>
            <a:prstDash val="solid"/>
          </a:ln>
        </p:spPr>
      </p:sp>
      <p:sp>
        <p:nvSpPr>
          <p:cNvPr id="16" name="Text 13"/>
          <p:cNvSpPr/>
          <p:nvPr/>
        </p:nvSpPr>
        <p:spPr>
          <a:xfrm>
            <a:off x="3883000" y="3675253"/>
            <a:ext cx="277657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3773272" y="3967861"/>
            <a:ext cx="2996032" cy="163741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3901288" y="4059301"/>
            <a:ext cx="2740000" cy="506578"/>
          </a:xfrm>
          <a:prstGeom prst="rect">
            <a:avLst/>
          </a:prstGeom>
          <a:noFill/>
          <a:ln/>
        </p:spPr>
        <p:txBody>
          <a:bodyPr wrap="square" lIns="0" tIns="0" rIns="0" bIns="0" rtlCol="0" anchor="t">
            <a:normAutofit/>
          </a:bodyPr>
          <a:lstStyle/>
          <a:p>
            <a:pPr indent="0" marL="0">
              <a:buNone/>
            </a:pPr>
            <a:r>
              <a:rPr lang="en-US" sz="912" dirty="0">
                <a:solidFill>
                  <a:srgbClr val="212B32"/>
                </a:solidFill>
                <a:latin typeface="Segoe UI" pitchFamily="34" charset="0"/>
                <a:ea typeface="Segoe UI" pitchFamily="34" charset="-122"/>
                <a:cs typeface="Segoe UI" pitchFamily="34" charset="-120"/>
              </a:rPr>
              <a:t>A result reviewed months late, if at all, and a dose change made on a trend with a hole in it.</a:t>
            </a:r>
            <a:endParaRPr lang="en-US" sz="912" dirty="0"/>
          </a:p>
        </p:txBody>
      </p:sp>
      <p:sp>
        <p:nvSpPr>
          <p:cNvPr id="19" name="Shape 16"/>
          <p:cNvSpPr/>
          <p:nvPr/>
        </p:nvSpPr>
        <p:spPr>
          <a:xfrm>
            <a:off x="548640" y="5742432"/>
            <a:ext cx="6220663" cy="457200"/>
          </a:xfrm>
          <a:prstGeom prst="rect">
            <a:avLst/>
          </a:prstGeom>
          <a:solidFill>
            <a:srgbClr val="E8F3EE"/>
          </a:solidFill>
          <a:ln w="12700">
            <a:solidFill>
              <a:srgbClr val="E8F3EE"/>
            </a:solidFill>
            <a:prstDash val="solid"/>
          </a:ln>
        </p:spPr>
      </p:sp>
      <p:sp>
        <p:nvSpPr>
          <p:cNvPr id="20" name="Text 17"/>
          <p:cNvSpPr/>
          <p:nvPr/>
        </p:nvSpPr>
        <p:spPr>
          <a:xfrm>
            <a:off x="685800" y="5742432"/>
            <a:ext cx="5946343"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LAYLA'S CARE TEAM SEES  </a:t>
            </a:r>
            <a:pPr indent="0" marL="0">
              <a:buNone/>
            </a:pPr>
            <a:r>
              <a:rPr lang="en-US" sz="800" dirty="0">
                <a:solidFill>
                  <a:srgbClr val="212B32"/>
                </a:solidFill>
                <a:latin typeface="Segoe UI" pitchFamily="34" charset="0"/>
                <a:ea typeface="Segoe UI" pitchFamily="34" charset="-122"/>
                <a:cs typeface="Segoe UI" pitchFamily="34" charset="-120"/>
              </a:rPr>
              <a:t>Hannah. Practice pharmacist for the dose change. The community pharmacy that already has her prescription.</a:t>
            </a:r>
            <a:endParaRPr lang="en-US" sz="850" dirty="0"/>
          </a:p>
        </p:txBody>
      </p:sp>
      <p:sp>
        <p:nvSpPr>
          <p:cNvPr id="21" name="Text 18"/>
          <p:cNvSpPr/>
          <p:nvPr/>
        </p:nvSpPr>
        <p:spPr>
          <a:xfrm>
            <a:off x="548640" y="6473952"/>
            <a:ext cx="311033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22" name="Text 19"/>
          <p:cNvSpPr/>
          <p:nvPr/>
        </p:nvSpPr>
        <p:spPr>
          <a:xfrm>
            <a:off x="3658972" y="6473952"/>
            <a:ext cx="265313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635782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layla-stage5-0.707.jpg">    </p:cNvPr>
          <p:cNvPicPr>
            <a:picLocks noChangeAspect="1"/>
          </p:cNvPicPr>
          <p:nvPr/>
        </p:nvPicPr>
        <p:blipFill>
          <a:blip r:embed="rId1"/>
          <a:stretch>
            <a:fillRect/>
          </a:stretch>
        </p:blipFill>
        <p:spPr>
          <a:xfrm>
            <a:off x="0" y="0"/>
            <a:ext cx="4846320" cy="6858000"/>
          </a:xfrm>
          <a:prstGeom prst="rect">
            <a:avLst/>
          </a:prstGeom>
        </p:spPr>
      </p:pic>
      <p:sp>
        <p:nvSpPr>
          <p:cNvPr id="3" name="Shape 0"/>
          <p:cNvSpPr/>
          <p:nvPr/>
        </p:nvSpPr>
        <p:spPr>
          <a:xfrm>
            <a:off x="4846320" y="0"/>
            <a:ext cx="164592" cy="6858000"/>
          </a:xfrm>
          <a:prstGeom prst="rect">
            <a:avLst/>
          </a:prstGeom>
          <a:solidFill>
            <a:srgbClr val="FFB91D"/>
          </a:solidFill>
          <a:ln w="12700">
            <a:solidFill>
              <a:srgbClr val="FFB91D"/>
            </a:solidFill>
            <a:prstDash val="solid"/>
          </a:ln>
        </p:spPr>
      </p:sp>
      <p:sp>
        <p:nvSpPr>
          <p:cNvPr id="4" name="Text 1"/>
          <p:cNvSpPr/>
          <p:nvPr/>
        </p:nvSpPr>
        <p:spPr>
          <a:xfrm>
            <a:off x="5440680" y="411480"/>
            <a:ext cx="620237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JOURNEY · STAGE 5 OF 5</a:t>
            </a:r>
            <a:endParaRPr lang="en-US" sz="1000" dirty="0"/>
          </a:p>
        </p:txBody>
      </p:sp>
      <p:sp>
        <p:nvSpPr>
          <p:cNvPr id="5" name="Text 2"/>
          <p:cNvSpPr/>
          <p:nvPr/>
        </p:nvSpPr>
        <p:spPr>
          <a:xfrm>
            <a:off x="544068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05</a:t>
            </a:r>
            <a:endParaRPr lang="en-US" sz="5400" dirty="0"/>
          </a:p>
        </p:txBody>
      </p:sp>
      <p:sp>
        <p:nvSpPr>
          <p:cNvPr id="6" name="Text 3"/>
          <p:cNvSpPr/>
          <p:nvPr/>
        </p:nvSpPr>
        <p:spPr>
          <a:xfrm>
            <a:off x="6537960" y="731520"/>
            <a:ext cx="5105095" cy="441960"/>
          </a:xfrm>
          <a:prstGeom prst="rect">
            <a:avLst/>
          </a:prstGeom>
          <a:noFill/>
          <a:ln/>
        </p:spPr>
        <p:txBody>
          <a:bodyPr wrap="square" lIns="0" tIns="0" rIns="0" bIns="0" rtlCol="0" anchor="t">
            <a:normAutofit/>
          </a:bodyPr>
          <a:lstStyle/>
          <a:p>
            <a:pPr indent="0" marL="0">
              <a:buNone/>
            </a:pPr>
            <a:r>
              <a:rPr lang="en-US" sz="2400" b="1" dirty="0">
                <a:solidFill>
                  <a:srgbClr val="003087"/>
                </a:solidFill>
                <a:latin typeface="Segoe UI" pitchFamily="34" charset="0"/>
                <a:ea typeface="Segoe UI" pitchFamily="34" charset="-122"/>
                <a:cs typeface="Segoe UI" pitchFamily="34" charset="-120"/>
              </a:rPr>
              <a:t>Long-term optimisation</a:t>
            </a:r>
            <a:endParaRPr lang="en-US" sz="2400" dirty="0"/>
          </a:p>
        </p:txBody>
      </p:sp>
      <p:sp>
        <p:nvSpPr>
          <p:cNvPr id="7" name="Text 4"/>
          <p:cNvSpPr/>
          <p:nvPr/>
        </p:nvSpPr>
        <p:spPr>
          <a:xfrm>
            <a:off x="6537960" y="1191768"/>
            <a:ext cx="5105095"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silence as the good result</a:t>
            </a:r>
            <a:endParaRPr lang="en-US" sz="1150" dirty="0"/>
          </a:p>
        </p:txBody>
      </p:sp>
      <p:sp>
        <p:nvSpPr>
          <p:cNvPr id="8" name="Text 5"/>
          <p:cNvSpPr/>
          <p:nvPr/>
        </p:nvSpPr>
        <p:spPr>
          <a:xfrm>
            <a:off x="5440680" y="1828800"/>
            <a:ext cx="6202375" cy="661111"/>
          </a:xfrm>
          <a:prstGeom prst="rect">
            <a:avLst/>
          </a:prstGeom>
          <a:noFill/>
          <a:ln/>
        </p:spPr>
        <p:txBody>
          <a:bodyPr wrap="square" lIns="0" tIns="0" rIns="0" bIns="0" rtlCol="0" anchor="t">
            <a:normAutofit/>
          </a:bodyPr>
          <a:lstStyle/>
          <a:p>
            <a:pPr indent="0" marL="0">
              <a:buNone/>
            </a:pPr>
            <a:r>
              <a:rPr lang="en-US" sz="918" dirty="0">
                <a:solidFill>
                  <a:srgbClr val="212B32"/>
                </a:solidFill>
                <a:latin typeface="Segoe UI" pitchFamily="34" charset="0"/>
                <a:ea typeface="Segoe UI" pitchFamily="34" charset="-122"/>
                <a:cs typeface="Segoe UI" pitchFamily="34" charset="-120"/>
              </a:rPr>
              <a:t>The cycle holds. The next kit is dated for six months, tied to the practice recall rather than to Layla's memory or her rota. If the trend is steady she hears nothing, and nothing is the right answer. If it moves, she hears from Hannah. Either way the practice knows, which is the whole point.</a:t>
            </a:r>
            <a:endParaRPr lang="en-US" sz="918" dirty="0"/>
          </a:p>
        </p:txBody>
      </p:sp>
      <p:sp>
        <p:nvSpPr>
          <p:cNvPr id="9" name="Shape 6"/>
          <p:cNvSpPr/>
          <p:nvPr/>
        </p:nvSpPr>
        <p:spPr>
          <a:xfrm>
            <a:off x="5440680" y="2627071"/>
            <a:ext cx="6202375" cy="63728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5669280" y="2736799"/>
            <a:ext cx="5745175" cy="417830"/>
          </a:xfrm>
          <a:prstGeom prst="rect">
            <a:avLst/>
          </a:prstGeom>
          <a:noFill/>
          <a:ln/>
        </p:spPr>
        <p:txBody>
          <a:bodyPr wrap="square" lIns="0" tIns="0" rIns="0" bIns="0" rtlCol="0" anchor="ctr">
            <a:normAutofit/>
          </a:bodyPr>
          <a:lstStyle/>
          <a:p>
            <a:pPr indent="0" marL="0">
              <a:buNone/>
            </a:pPr>
            <a:r>
              <a:rPr lang="en-US" sz="850" i="1" dirty="0">
                <a:solidFill>
                  <a:srgbClr val="212B32"/>
                </a:solidFill>
                <a:latin typeface="Segoe UI" pitchFamily="34" charset="0"/>
                <a:ea typeface="Segoe UI" pitchFamily="34" charset="-122"/>
                <a:cs typeface="Segoe UI" pitchFamily="34" charset="-120"/>
              </a:rPr>
              <a:t>“I used to feel like I was always about to be in trouble with the surgery. Now the only time I hear from them is when there is actually something to say.”</a:t>
            </a:r>
            <a:pPr indent="0" marL="0">
              <a:buNone/>
            </a:pPr>
            <a:r>
              <a:rPr lang="en-US" sz="850" b="1" i="1" dirty="0">
                <a:solidFill>
                  <a:srgbClr val="212B32"/>
                </a:solidFill>
                <a:latin typeface="Segoe UI" pitchFamily="34" charset="0"/>
                <a:ea typeface="Segoe UI" pitchFamily="34" charset="-122"/>
                <a:cs typeface="Segoe UI" pitchFamily="34" charset="-120"/>
              </a:rPr>
              <a:t>  Layla</a:t>
            </a:r>
            <a:endParaRPr lang="en-US" sz="850" dirty="0"/>
          </a:p>
        </p:txBody>
      </p:sp>
      <p:sp>
        <p:nvSpPr>
          <p:cNvPr id="11" name="Shape 8"/>
          <p:cNvSpPr/>
          <p:nvPr/>
        </p:nvSpPr>
        <p:spPr>
          <a:xfrm>
            <a:off x="5440680" y="3401517"/>
            <a:ext cx="2986888" cy="292608"/>
          </a:xfrm>
          <a:prstGeom prst="rect">
            <a:avLst/>
          </a:prstGeom>
          <a:solidFill>
            <a:srgbClr val="003087"/>
          </a:solidFill>
          <a:ln w="12700">
            <a:solidFill>
              <a:srgbClr val="003087"/>
            </a:solidFill>
            <a:prstDash val="solid"/>
          </a:ln>
        </p:spPr>
      </p:sp>
      <p:sp>
        <p:nvSpPr>
          <p:cNvPr id="12" name="Text 9"/>
          <p:cNvSpPr/>
          <p:nvPr/>
        </p:nvSpPr>
        <p:spPr>
          <a:xfrm>
            <a:off x="5550408" y="3401517"/>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40680" y="3694125"/>
            <a:ext cx="2986888" cy="1911147"/>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5568696" y="3785565"/>
            <a:ext cx="2730856" cy="1671523"/>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Sustained monitoring is the clinical outcome for a treated long-term condition. The home cycle keeps the interval honest, surfaces a falling ferritin at the point it can be corrected cheaply, and frees the practice nurse slot for patients who clinically need the room. The illustration ends where the configuration stands: held, low priority under the framework, and able to run on the same rails as every other primary-care cycle if the gate opens.</a:t>
            </a:r>
            <a:endParaRPr lang="en-US" sz="816" dirty="0"/>
          </a:p>
        </p:txBody>
      </p:sp>
      <p:sp>
        <p:nvSpPr>
          <p:cNvPr id="15" name="Shape 12"/>
          <p:cNvSpPr/>
          <p:nvPr/>
        </p:nvSpPr>
        <p:spPr>
          <a:xfrm>
            <a:off x="8656168" y="3401517"/>
            <a:ext cx="2986888" cy="292608"/>
          </a:xfrm>
          <a:prstGeom prst="rect">
            <a:avLst/>
          </a:prstGeom>
          <a:solidFill>
            <a:srgbClr val="5B6770"/>
          </a:solidFill>
          <a:ln w="12700">
            <a:solidFill>
              <a:srgbClr val="5B6770"/>
            </a:solidFill>
            <a:prstDash val="solid"/>
          </a:ln>
        </p:spPr>
      </p:sp>
      <p:sp>
        <p:nvSpPr>
          <p:cNvPr id="16" name="Text 13"/>
          <p:cNvSpPr/>
          <p:nvPr/>
        </p:nvSpPr>
        <p:spPr>
          <a:xfrm>
            <a:off x="8765896" y="3401517"/>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8656168" y="3694125"/>
            <a:ext cx="2986888" cy="1911147"/>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8784184" y="3785565"/>
            <a:ext cx="2730856" cy="728472"/>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Drift out of the cycle for a year or two and re-present with a haemoglobin far lower than it needed to be. The risk was always in the interval, not in the patient.</a:t>
            </a:r>
            <a:endParaRPr lang="en-US" sz="816" dirty="0"/>
          </a:p>
        </p:txBody>
      </p:sp>
      <p:sp>
        <p:nvSpPr>
          <p:cNvPr id="19" name="Shape 16"/>
          <p:cNvSpPr/>
          <p:nvPr/>
        </p:nvSpPr>
        <p:spPr>
          <a:xfrm>
            <a:off x="5440680" y="5742432"/>
            <a:ext cx="6202375" cy="457200"/>
          </a:xfrm>
          <a:prstGeom prst="rect">
            <a:avLst/>
          </a:prstGeom>
          <a:solidFill>
            <a:srgbClr val="E8F3EE"/>
          </a:solidFill>
          <a:ln w="12700">
            <a:solidFill>
              <a:srgbClr val="E8F3EE"/>
            </a:solidFill>
            <a:prstDash val="solid"/>
          </a:ln>
        </p:spPr>
      </p:sp>
      <p:sp>
        <p:nvSpPr>
          <p:cNvPr id="20" name="Text 17"/>
          <p:cNvSpPr/>
          <p:nvPr/>
        </p:nvSpPr>
        <p:spPr>
          <a:xfrm>
            <a:off x="5577840" y="5742432"/>
            <a:ext cx="5928055"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LAYLA'S CARE TEAM SEES  </a:t>
            </a:r>
            <a:pPr indent="0" marL="0">
              <a:buNone/>
            </a:pPr>
            <a:r>
              <a:rPr lang="en-US" sz="800" dirty="0">
                <a:solidFill>
                  <a:srgbClr val="212B32"/>
                </a:solidFill>
                <a:latin typeface="Segoe UI" pitchFamily="34" charset="0"/>
                <a:ea typeface="Segoe UI" pitchFamily="34" charset="-122"/>
                <a:cs typeface="Segoe UI" pitchFamily="34" charset="-120"/>
              </a:rPr>
              <a:t>Layla. Hannah. The practice nurse. The platform holding the recall date.</a:t>
            </a:r>
            <a:endParaRPr lang="en-US" sz="850" dirty="0"/>
          </a:p>
        </p:txBody>
      </p:sp>
      <p:sp>
        <p:nvSpPr>
          <p:cNvPr id="21" name="Text 18"/>
          <p:cNvSpPr/>
          <p:nvPr/>
        </p:nvSpPr>
        <p:spPr>
          <a:xfrm>
            <a:off x="5440680" y="6473952"/>
            <a:ext cx="310118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22" name="Text 19"/>
          <p:cNvSpPr/>
          <p:nvPr/>
        </p:nvSpPr>
        <p:spPr>
          <a:xfrm>
            <a:off x="8541868" y="6473952"/>
            <a:ext cx="264398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LAYLA'S WIN</a:t>
            </a:r>
            <a:endParaRPr lang="en-US" sz="1000" dirty="0"/>
          </a:p>
        </p:txBody>
      </p:sp>
      <p:sp>
        <p:nvSpPr>
          <p:cNvPr id="3" name="Text 1"/>
          <p:cNvSpPr/>
          <p:nvPr/>
        </p:nvSpPr>
        <p:spPr>
          <a:xfrm>
            <a:off x="548640" y="731520"/>
            <a:ext cx="6933895" cy="1993900"/>
          </a:xfrm>
          <a:prstGeom prst="rect">
            <a:avLst/>
          </a:prstGeom>
          <a:noFill/>
          <a:ln/>
        </p:spPr>
        <p:txBody>
          <a:bodyPr wrap="square" lIns="0" tIns="0" rIns="0" bIns="0" rtlCol="0" anchor="t">
            <a:normAutofit/>
          </a:bodyPr>
          <a:lstStyle/>
          <a:p>
            <a:pPr indent="0" marL="0">
              <a:buNone/>
            </a:pPr>
            <a:r>
              <a:rPr lang="en-US" sz="2950" b="1" dirty="0">
                <a:solidFill>
                  <a:srgbClr val="003087"/>
                </a:solidFill>
                <a:latin typeface="Segoe UI" pitchFamily="34" charset="0"/>
                <a:ea typeface="Segoe UI" pitchFamily="34" charset="-122"/>
                <a:cs typeface="Segoe UI" pitchFamily="34" charset="-120"/>
              </a:rPr>
              <a:t>Monitored on time. Paid for every shift. Known to the practice as a patient, not as a DNA code.</a:t>
            </a:r>
            <a:endParaRPr lang="en-US" sz="2950" dirty="0"/>
          </a:p>
        </p:txBody>
      </p:sp>
      <p:sp>
        <p:nvSpPr>
          <p:cNvPr id="4" name="Text 2"/>
          <p:cNvSpPr/>
          <p:nvPr/>
        </p:nvSpPr>
        <p:spPr>
          <a:xfrm>
            <a:off x="548640" y="2954020"/>
            <a:ext cx="6933895" cy="1441704"/>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Layla does not see the framework or the platform. She sees a text, a kit, twenty minutes between homework and a shift, and a message from Hannah only when something needs to change. The trend that tells the practice whether three years of tablets are still working stays readable, because the cycle stopped asking for the one thing she cannot give it: a fixed hour in a working week. </a:t>
            </a:r>
            <a:pPr indent="0" marL="0">
              <a:buNone/>
            </a:pPr>
            <a:r>
              <a:rPr lang="en-US" sz="1050" b="1" dirty="0">
                <a:solidFill>
                  <a:srgbClr val="212B32"/>
                </a:solidFill>
                <a:latin typeface="Segoe UI" pitchFamily="34" charset="0"/>
                <a:ea typeface="Segoe UI" pitchFamily="34" charset="-122"/>
                <a:cs typeface="Segoe UI" pitchFamily="34" charset="-120"/>
              </a:rPr>
              <a:t>The configuration is held, so this is an illustration of the GP-initiated pattern, not a live pathway. The point stands: hold the cycle and you hold the treatment.</a:t>
            </a:r>
            <a:endParaRPr lang="en-US" sz="1050" dirty="0"/>
          </a:p>
        </p:txBody>
      </p:sp>
      <p:pic>
        <p:nvPicPr>
          <p:cNvPr id="5" name="Image 0" descr="/sessions/quirky-zen-galileo/mnt/NHS/07 Sites &amp; Repos/dtx-ecosystem/hearts-and-minds/_generators/assets/crops/layla-stage5-1.780.jpg">    </p:cNvPr>
          <p:cNvPicPr>
            <a:picLocks noChangeAspect="1"/>
          </p:cNvPicPr>
          <p:nvPr/>
        </p:nvPicPr>
        <p:blipFill>
          <a:blip r:embed="rId1"/>
          <a:stretch>
            <a:fillRect/>
          </a:stretch>
        </p:blipFill>
        <p:spPr>
          <a:xfrm>
            <a:off x="548640" y="4670044"/>
            <a:ext cx="2804048" cy="1575308"/>
          </a:xfrm>
          <a:prstGeom prst="rect">
            <a:avLst/>
          </a:prstGeom>
        </p:spPr>
      </p:pic>
      <p:sp>
        <p:nvSpPr>
          <p:cNvPr id="6" name="Shape 3"/>
          <p:cNvSpPr/>
          <p:nvPr/>
        </p:nvSpPr>
        <p:spPr>
          <a:xfrm>
            <a:off x="3627008" y="4670044"/>
            <a:ext cx="3855527" cy="85191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7" name="Text 4"/>
          <p:cNvSpPr/>
          <p:nvPr/>
        </p:nvSpPr>
        <p:spPr>
          <a:xfrm>
            <a:off x="3855608" y="4779772"/>
            <a:ext cx="3398327" cy="632460"/>
          </a:xfrm>
          <a:prstGeom prst="rect">
            <a:avLst/>
          </a:prstGeom>
          <a:noFill/>
          <a:ln/>
        </p:spPr>
        <p:txBody>
          <a:bodyPr wrap="square" lIns="0" tIns="0" rIns="0" bIns="0" rtlCol="0" anchor="ctr">
            <a:normAutofit/>
          </a:bodyPr>
          <a:lstStyle/>
          <a:p>
            <a:pPr indent="0" marL="0">
              <a:buNone/>
            </a:pPr>
            <a:r>
              <a:rPr lang="en-US" sz="1500" b="1" dirty="0">
                <a:solidFill>
                  <a:srgbClr val="212B32"/>
                </a:solidFill>
                <a:latin typeface="Segoe UI" pitchFamily="34" charset="0"/>
                <a:ea typeface="Segoe UI" pitchFamily="34" charset="-122"/>
                <a:cs typeface="Segoe UI" pitchFamily="34" charset="-120"/>
              </a:rPr>
              <a:t>Known, treated, and never quietly lost.</a:t>
            </a:r>
            <a:endParaRPr lang="en-US" sz="1500" dirty="0"/>
          </a:p>
        </p:txBody>
      </p:sp>
      <p:sp>
        <p:nvSpPr>
          <p:cNvPr id="8" name="Shape 5"/>
          <p:cNvSpPr/>
          <p:nvPr/>
        </p:nvSpPr>
        <p:spPr>
          <a:xfrm>
            <a:off x="7802575" y="731520"/>
            <a:ext cx="3840480" cy="5513832"/>
          </a:xfrm>
          <a:prstGeom prst="rect">
            <a:avLst/>
          </a:prstGeom>
          <a:solidFill>
            <a:srgbClr val="006747"/>
          </a:solidFill>
          <a:ln w="12700">
            <a:solidFill>
              <a:srgbClr val="006747"/>
            </a:solidFill>
            <a:prstDash val="solid"/>
          </a:ln>
        </p:spPr>
      </p:sp>
      <p:sp>
        <p:nvSpPr>
          <p:cNvPr id="9" name="Text 6"/>
          <p:cNvSpPr/>
          <p:nvPr/>
        </p:nvSpPr>
        <p:spPr>
          <a:xfrm>
            <a:off x="8076895" y="914400"/>
            <a:ext cx="3291840" cy="274320"/>
          </a:xfrm>
          <a:prstGeom prst="rect">
            <a:avLst/>
          </a:prstGeom>
          <a:noFill/>
          <a:ln/>
        </p:spPr>
        <p:txBody>
          <a:bodyPr wrap="square" lIns="0" tIns="0" rIns="0" bIns="0" rtlCol="0" anchor="ctr"/>
          <a:lstStyle/>
          <a:p>
            <a:pPr indent="0" marL="0">
              <a:buNone/>
            </a:pPr>
            <a:r>
              <a:rPr lang="en-US" sz="1000" b="1" spc="260" kern="0" dirty="0">
                <a:solidFill>
                  <a:srgbClr val="CDE8D8"/>
                </a:solidFill>
                <a:latin typeface="Segoe UI" pitchFamily="34" charset="0"/>
                <a:ea typeface="Segoe UI" pitchFamily="34" charset="-122"/>
                <a:cs typeface="Segoe UI" pitchFamily="34" charset="-120"/>
              </a:rPr>
              <a:t>THE MONEY IN THIS STORY</a:t>
            </a:r>
            <a:endParaRPr lang="en-US" sz="1000" dirty="0"/>
          </a:p>
        </p:txBody>
      </p:sp>
      <p:sp>
        <p:nvSpPr>
          <p:cNvPr id="10" name="Text 7"/>
          <p:cNvSpPr/>
          <p:nvPr/>
        </p:nvSpPr>
        <p:spPr>
          <a:xfrm>
            <a:off x="8076895" y="1280160"/>
            <a:ext cx="3291840" cy="3224784"/>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Segoe UI" pitchFamily="34" charset="0"/>
                <a:ea typeface="Segoe UI" pitchFamily="34" charset="-122"/>
                <a:cs typeface="Segoe UI" pitchFamily="34" charset="-120"/>
              </a:rPr>
              <a:t>If the iron deficiency configuration opens under a roadmap gate, the money would work the way every other primary-care cycle does: a cost per activity for each completed test, paid by the commissioner direct to the supplier, against a national ceiling. Nothing about Layla's economics is exotic. The saving is the string of missed and re-booked appointments the practice stops paying for in slots, letters and chased bookings, and the dose change that stops being fourteen months late.</a:t>
            </a:r>
            <a:endParaRPr lang="en-US" sz="1200" dirty="0"/>
          </a:p>
        </p:txBody>
      </p:sp>
      <p:pic>
        <p:nvPicPr>
          <p:cNvPr id="11" name="Image 1" descr="/sessions/quirky-zen-galileo/mnt/outputs/jd/img/layla-portrait.jpg">    </p:cNvPr>
          <p:cNvPicPr>
            <a:picLocks noChangeAspect="1"/>
          </p:cNvPicPr>
          <p:nvPr/>
        </p:nvPicPr>
        <p:blipFill>
          <a:blip r:embed="rId2"/>
          <a:stretch>
            <a:fillRect/>
          </a:stretch>
        </p:blipFill>
        <p:spPr>
          <a:xfrm>
            <a:off x="8076895" y="5148072"/>
            <a:ext cx="822960" cy="822960"/>
          </a:xfrm>
          <a:prstGeom prst="ellipse">
            <a:avLst/>
          </a:prstGeom>
        </p:spPr>
      </p:pic>
      <p:sp>
        <p:nvSpPr>
          <p:cNvPr id="12" name="Text 8"/>
          <p:cNvSpPr/>
          <p:nvPr/>
        </p:nvSpPr>
        <p:spPr>
          <a:xfrm>
            <a:off x="9037015" y="5239512"/>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Layla</a:t>
            </a:r>
            <a:endParaRPr lang="en-US" sz="1400" dirty="0"/>
          </a:p>
        </p:txBody>
      </p:sp>
      <p:sp>
        <p:nvSpPr>
          <p:cNvPr id="13" name="Text 9"/>
          <p:cNvSpPr/>
          <p:nvPr/>
        </p:nvSpPr>
        <p:spPr>
          <a:xfrm>
            <a:off x="9037015" y="5559552"/>
            <a:ext cx="2377440" cy="365760"/>
          </a:xfrm>
          <a:prstGeom prst="rect">
            <a:avLst/>
          </a:prstGeom>
          <a:noFill/>
          <a:ln/>
        </p:spPr>
        <p:txBody>
          <a:bodyPr wrap="square" lIns="0" tIns="0" rIns="0" bIns="0" rtlCol="0" anchor="ctr">
            <a:normAutofit/>
          </a:bodyPr>
          <a:lstStyle/>
          <a:p>
            <a:pPr indent="0" marL="0">
              <a:buNone/>
            </a:pPr>
            <a:r>
              <a:rPr lang="en-US" sz="950" dirty="0">
                <a:solidFill>
                  <a:srgbClr val="CDE8D8"/>
                </a:solidFill>
                <a:latin typeface="Segoe UI" pitchFamily="34" charset="0"/>
                <a:ea typeface="Segoe UI" pitchFamily="34" charset="-122"/>
                <a:cs typeface="Segoe UI" pitchFamily="34" charset="-120"/>
              </a:rPr>
              <a:t>GP-initiated patient · Iron deficiency anaemia · held configuration</a:t>
            </a:r>
            <a:endParaRPr lang="en-US" sz="950" dirty="0"/>
          </a:p>
        </p:txBody>
      </p:sp>
      <p:sp>
        <p:nvSpPr>
          <p:cNvPr id="14" name="Text 10"/>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15" name="Text 11"/>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6" name="Text 12"/>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3" name="Image 0" descr="/sessions/quirky-zen-galileo/mnt/NHS/07 Sites &amp; Repos/dtx-ecosystem/hearts-and-minds/_generators/assets/nhs-logo.png">    </p:cNvPr>
          <p:cNvPicPr>
            <a:picLocks noChangeAspect="1"/>
          </p:cNvPicPr>
          <p:nvPr/>
        </p:nvPicPr>
        <p:blipFill>
          <a:blip r:embed="rId1"/>
          <a:stretch>
            <a:fillRect/>
          </a:stretch>
        </p:blipFill>
        <p:spPr>
          <a:xfrm>
            <a:off x="10919683" y="557784"/>
            <a:ext cx="586212" cy="457200"/>
          </a:xfrm>
          <a:prstGeom prst="rect">
            <a:avLst/>
          </a:prstGeom>
        </p:spPr>
      </p:pic>
      <p:sp>
        <p:nvSpPr>
          <p:cNvPr id="4" name="Shape 1"/>
          <p:cNvSpPr/>
          <p:nvPr/>
        </p:nvSpPr>
        <p:spPr>
          <a:xfrm>
            <a:off x="5044288" y="1371600"/>
            <a:ext cx="2103120" cy="2103120"/>
          </a:xfrm>
          <a:prstGeom prst="ellipse">
            <a:avLst/>
          </a:prstGeom>
          <a:solidFill>
            <a:srgbClr val="FFFFFF"/>
          </a:solidFill>
          <a:ln w="12700">
            <a:solidFill>
              <a:srgbClr val="FFFFFF"/>
            </a:solidFill>
            <a:prstDash val="solid"/>
          </a:ln>
        </p:spPr>
      </p:sp>
      <p:pic>
        <p:nvPicPr>
          <p:cNvPr id="5" name="Image 1" descr="/sessions/quirky-zen-galileo/mnt/outputs/jd/img/layla-portrait.jpg">    </p:cNvPr>
          <p:cNvPicPr>
            <a:picLocks noChangeAspect="1"/>
          </p:cNvPicPr>
          <p:nvPr/>
        </p:nvPicPr>
        <p:blipFill>
          <a:blip r:embed="rId2"/>
          <a:stretch>
            <a:fillRect/>
          </a:stretch>
        </p:blipFill>
        <p:spPr>
          <a:xfrm>
            <a:off x="5090008" y="1417320"/>
            <a:ext cx="2011680" cy="2011680"/>
          </a:xfrm>
          <a:prstGeom prst="ellipse">
            <a:avLst/>
          </a:prstGeom>
        </p:spPr>
      </p:pic>
      <p:sp>
        <p:nvSpPr>
          <p:cNvPr id="6" name="Text 2"/>
          <p:cNvSpPr/>
          <p:nvPr/>
        </p:nvSpPr>
        <p:spPr>
          <a:xfrm>
            <a:off x="548640" y="3611880"/>
            <a:ext cx="11094415"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Layla</a:t>
            </a:r>
            <a:endParaRPr lang="en-US" sz="2400" dirty="0"/>
          </a:p>
        </p:txBody>
      </p:sp>
      <p:sp>
        <p:nvSpPr>
          <p:cNvPr id="7" name="Text 3"/>
          <p:cNvSpPr/>
          <p:nvPr/>
        </p:nvSpPr>
        <p:spPr>
          <a:xfrm>
            <a:off x="548640" y="4069080"/>
            <a:ext cx="11094415" cy="320040"/>
          </a:xfrm>
          <a:prstGeom prst="rect">
            <a:avLst/>
          </a:prstGeom>
          <a:noFill/>
          <a:ln/>
        </p:spPr>
        <p:txBody>
          <a:bodyPr wrap="square" lIns="0" tIns="0" rIns="0" bIns="0" rtlCol="0" anchor="ctr"/>
          <a:lstStyle/>
          <a:p>
            <a:pPr algn="ctr" indent="0" marL="0">
              <a:buNone/>
            </a:pPr>
            <a:r>
              <a:rPr lang="en-US" sz="1200" dirty="0">
                <a:solidFill>
                  <a:srgbClr val="CFE0F5"/>
                </a:solidFill>
                <a:latin typeface="Segoe UI" pitchFamily="34" charset="0"/>
                <a:ea typeface="Segoe UI" pitchFamily="34" charset="-122"/>
                <a:cs typeface="Segoe UI" pitchFamily="34" charset="-120"/>
              </a:rPr>
              <a:t>GP-initiated patient · Iron deficiency anaemia · held configuration</a:t>
            </a:r>
            <a:endParaRPr lang="en-US" sz="1200" dirty="0"/>
          </a:p>
        </p:txBody>
      </p:sp>
      <p:sp>
        <p:nvSpPr>
          <p:cNvPr id="8" name="Text 4"/>
          <p:cNvSpPr/>
          <p:nvPr/>
        </p:nvSpPr>
        <p:spPr>
          <a:xfrm>
            <a:off x="1097280" y="4617720"/>
            <a:ext cx="9997135" cy="914400"/>
          </a:xfrm>
          <a:prstGeom prst="rect">
            <a:avLst/>
          </a:prstGeom>
          <a:noFill/>
          <a:ln/>
        </p:spPr>
        <p:txBody>
          <a:bodyPr wrap="square" lIns="0" tIns="0" rIns="0" bIns="0" rtlCol="0" anchor="ctr">
            <a:normAutofit/>
          </a:bodyPr>
          <a:lstStyle/>
          <a:p>
            <a:pPr algn="ctr" indent="0" marL="0">
              <a:buNone/>
            </a:pPr>
            <a:r>
              <a:rPr lang="en-US" sz="2600" b="1" dirty="0">
                <a:solidFill>
                  <a:srgbClr val="FFD66B"/>
                </a:solidFill>
                <a:latin typeface="Segoe UI" pitchFamily="34" charset="0"/>
                <a:ea typeface="Segoe UI" pitchFamily="34" charset="-122"/>
                <a:cs typeface="Segoe UI" pitchFamily="34" charset="-120"/>
              </a:rPr>
              <a:t>Known, treated, and never quietly lost.</a:t>
            </a:r>
            <a:endParaRPr lang="en-US" sz="2600" dirty="0"/>
          </a:p>
        </p:txBody>
      </p:sp>
      <p:sp>
        <p:nvSpPr>
          <p:cNvPr id="9" name="Text 5"/>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Layla's journey · HomeTest operating model · September 2026</a:t>
            </a:r>
            <a:endParaRPr lang="en-US" sz="800" dirty="0"/>
          </a:p>
        </p:txBody>
      </p:sp>
      <p:sp>
        <p:nvSpPr>
          <p:cNvPr id="10" name="Text 6"/>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1" name="Text 7"/>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9FB6D9"/>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Hearts and Minds · Layla's journey</dc:title>
  <dc:subject>PptxGenJS Presentation</dc:subject>
  <dc:creator>HomeTest Commercial</dc:creator>
  <cp:lastModifiedBy>HomeTest Commercial</cp:lastModifiedBy>
  <cp:revision>1</cp:revision>
  <dcterms:created xsi:type="dcterms:W3CDTF">2026-09-05T10:52:58Z</dcterms:created>
  <dcterms:modified xsi:type="dcterms:W3CDTF">2026-09-05T10:52:58Z</dcterms:modified>
</cp:coreProperties>
</file>