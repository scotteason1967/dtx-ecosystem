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clinic finds hardest to keep
Around 8% of UK adult women live with iron-deficiency anaemia. They are concentrated in cohorts the system serves least well, women in work, women with caring responsibilities, women in shift patterns. The clinical condition is straightforward. The venue mismatch is structural.
Quote: I have had this for years. I take the tablets, I do the blood test, I get the result. Every part of that works except finding the time to do the blood test.
What the model is doing underneath: NICE clinical knowledge summaries place IDA prevalence at around 8% in adult UK women. The standard monitoring cycle is a six-monthly FBC. The cohort is well-defined; the access problem is the failure to attend appointments at clinic-friendly hours.
The old way: Treat the cohort the same as a 9-to-5 retired patient cohort. Watch DNA rates climb. Send rebooking letters. Blame the patient for not engaging.
What the care team sees: Hannah, GP. Practice nurse. Anita on the ICB / GP commissioner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Hannah's practice flags her
Hannah is reviewing the IDA cohort. Layla is overdue her six-month FBC, with a flag on the record for previously missed appointments. The practice opens the conversation about doing the next blood at home. The friction was always the venue; the offer changes the venue.
Quote: Hannah said: do you want to try doing the next blood at home? I said yes faster than she could finish the sentence.
What the model is doing underneath: Around 15 million general-practice appointments are missed each year, costing the NHS £216 million. The cohort that DNAs is the cohort the clinic-only model fails by design. The home pathway is the structural answer, not a service-recovery patch.
The old way: Re-book, re-book, re-book, miss, discharge from the cycle, see her again at A&amp;E or in a re-presentation that costs ten times more.
What the care team sees: Hannah. Practice nurse. Practice manager. Anita.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the FBC on a Saturday morning
The kit arrives. Layla takes the sample at the kitchen table on a Saturday morning while the kids are watching TV. She posts it back. The lab processes it. The result lands in Hannah's GP system in time for the cycle that the clinic would have run.
Quote: It was a Saturday job. I did it before the kids were up. I posted it on the way to the shops. I forgot about it until the result came through on the app.
What the model is doing underneath: The home capillary FBC is a recognised pathway for routine monitoring. The sample is processed at a UKAS-accredited lab on the same assay platform that processes in-clinic samples. The result writes back to the practice EPR via the framework integration.
The old way: Take a half-day off work. Find childcare. Sit in the waiting room. Get the blood drawn in 90 seconds. Drive home. The friction is the day, not the test.
What the care team sees: The supplier shipping the kit. The lab. The platform writing the result back. Layla.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prescription adjusted on the trend
The result confirms her haemoglobin and ferritin trends. Hannah reviews the result alongside the prior cycles. The iron prescription stays unchanged or is adjusted on the basis of the trend, exactly as it would have been from an in-clinic sample. The clinical conversation, if needed, happens by phone or message.
Quote: Hannah sent me a message. Same prescription, see you in six months. That was the entire appointment. I was at work.
What the model is doing underneath: The treatment pathway is NICE-guideline-aligned and unchanged by the home venue. Iron supplementation continues, with dose adjustments based on the haemoglobin and ferritin response. The GP holds the prescribing accountability.
The old way: Drag the patient back into clinic to discuss a result that was always going to be a prescription continuation. The visit was the cost; the message was the value.
What the care team sees: Hannah. Practice pharmacist if dose changes. NICE guidelines.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cycle that fits her life
Layla stays in the cycle. The next FBC is on a calendar reminder in six months. The kit will arrive. The Saturday morning will happen. The trend will be reviewed. Layla's anaemia is monitored to the same clinical standard, and the practice no longer carries her DNA history.
Quote: I do not feel like the patient who keeps letting them down anymore. I just feel like a patient.
What the model is doing underneath: Sustained engagement with monitoring is the outcome that matters clinically. The home cycle holds the patient in the cohort, surfaces threshold breaches on time, and frees the practice nurse slot for the patients who clinically need clinic.
The old way: Drift out of the cycle. Re-present in a year or two with a haemoglobin much lower than it should have been. The clinical risk was always in the model, not the patient.
What the care team sees: Layla. Hannah. The practice nurse. The platform holding the cycle reminder.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Layla.</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A Saturday,</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a sick day.</a:t>
            </a:r>
            <a:endParaRPr lang="en-US" sz="2400" dirty="0"/>
          </a:p>
        </p:txBody>
      </p:sp>
      <p:sp>
        <p:nvSpPr>
          <p:cNvPr id="7" name="Text 4"/>
          <p:cNvSpPr/>
          <p:nvPr/>
        </p:nvSpPr>
        <p:spPr>
          <a:xfrm>
            <a:off x="640080" y="3258312"/>
            <a:ext cx="6949440" cy="83515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Layla is 42, works full-time, has two children and a mother she helps care for. Her GP, Hannah, manages her iron-deficiency anaemia. The six-monthly FBC is routine. The Tuesday-morning slot is impossible. </a:t>
            </a:r>
            <a:pPr indent="0" marL="0">
              <a:buNone/>
            </a:pPr>
            <a:r>
              <a:rPr lang="en-US" sz="1200" b="1" dirty="0">
                <a:solidFill>
                  <a:srgbClr val="DCE7F0"/>
                </a:solidFill>
                <a:latin typeface="Arial" pitchFamily="34" charset="0"/>
                <a:ea typeface="Arial" pitchFamily="34" charset="-122"/>
                <a:cs typeface="Arial" pitchFamily="34" charset="-120"/>
              </a:rPr>
              <a:t>This is the story of how she stays in monitoring without staying out of work.</a:t>
            </a:r>
            <a:endParaRPr lang="en-US" sz="1200" dirty="0"/>
          </a:p>
        </p:txBody>
      </p:sp>
      <p:sp>
        <p:nvSpPr>
          <p:cNvPr id="8" name="Text 5"/>
          <p:cNvSpPr/>
          <p:nvPr/>
        </p:nvSpPr>
        <p:spPr>
          <a:xfrm>
            <a:off x="640080" y="423062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FFB91D"/>
          </a:solidFill>
          <a:ln w="12700">
            <a:solidFill>
              <a:srgbClr val="FFB91D"/>
            </a:solidFill>
            <a:prstDash val="solid"/>
          </a:ln>
        </p:spPr>
      </p:sp>
      <p:pic>
        <p:nvPicPr>
          <p:cNvPr id="10" name="Image 1" descr="/sessions/quirky-zen-galileo/mnt/outputs/hmdecks/img/layla-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Layla</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Patient on iron supplementation · Primary-care monitoring cohort</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Layla's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clinic finds hardest to keep</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Hannah's practice flags her</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FBC on a Saturday morning</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prescription adjusted on the trend</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her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bloods need doing. The clinic visit never needed to be the way to do them.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Layla has the condition. The condition needs monitoring. The clinic is where the monitoring has always happened, but the clinic is exactly the venue that does not work for her life. </a:t>
            </a:r>
            <a:pPr indent="0" marL="0">
              <a:buNone/>
            </a:pPr>
            <a:r>
              <a:rPr lang="en-US" sz="1100" b="1" dirty="0">
                <a:solidFill>
                  <a:srgbClr val="231F20"/>
                </a:solidFill>
                <a:latin typeface="Arial" pitchFamily="34" charset="0"/>
                <a:ea typeface="Arial" pitchFamily="34" charset="-122"/>
                <a:cs typeface="Arial" pitchFamily="34" charset="-120"/>
              </a:rPr>
              <a:t>Move the venue. Keep the monitoring.</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HER</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No half-day off. No childcare juggle. No DNA letter saying she is the problem.</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Saturday-morning sample. The result back in Hannah's system on time. The next iron prescription unchanged or adjusted as the trend says. </a:t>
            </a:r>
            <a:pPr indent="0" marL="0">
              <a:buNone/>
            </a:pPr>
            <a:r>
              <a:rPr lang="en-US" sz="1100" b="1" dirty="0">
                <a:solidFill>
                  <a:srgbClr val="231F20"/>
                </a:solidFill>
                <a:latin typeface="Arial" pitchFamily="34" charset="0"/>
                <a:ea typeface="Arial" pitchFamily="34" charset="-122"/>
                <a:cs typeface="Arial" pitchFamily="34" charset="-120"/>
              </a:rPr>
              <a:t>The system stops blaming her for the venue being wrong.</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the clinic finds hardest to keep</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09855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Arial" pitchFamily="34" charset="0"/>
                <a:ea typeface="Arial" pitchFamily="34" charset="-122"/>
                <a:cs typeface="Arial" pitchFamily="34" charset="-120"/>
              </a:rPr>
              <a:t>Around 8% of UK adult women live with iron-deficiency anaemia. They are concentrated in cohorts the system serves least well, women in work, women with caring responsibilities, women in shift patterns. The clinical condition is straightforward. The venue mismatch is structural.</a:t>
            </a:r>
            <a:endParaRPr lang="en-US" sz="1300" dirty="0"/>
          </a:p>
        </p:txBody>
      </p:sp>
      <p:sp>
        <p:nvSpPr>
          <p:cNvPr id="9" name="Shape 6"/>
          <p:cNvSpPr/>
          <p:nvPr/>
        </p:nvSpPr>
        <p:spPr>
          <a:xfrm>
            <a:off x="457200" y="312851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28518"/>
            <a:ext cx="82296" cy="944499"/>
          </a:xfrm>
          <a:prstGeom prst="rect">
            <a:avLst/>
          </a:prstGeom>
          <a:solidFill>
            <a:srgbClr val="FFB91D"/>
          </a:solidFill>
          <a:ln w="12700">
            <a:solidFill>
              <a:srgbClr val="FFB91D"/>
            </a:solidFill>
            <a:prstDash val="solid"/>
          </a:ln>
        </p:spPr>
      </p:sp>
      <p:sp>
        <p:nvSpPr>
          <p:cNvPr id="11" name="Text 8"/>
          <p:cNvSpPr/>
          <p:nvPr/>
        </p:nvSpPr>
        <p:spPr>
          <a:xfrm>
            <a:off x="685800" y="318338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have had this for years. I take the tablets, I do the blood test, I get the result. Every part of that works except finding the time to do the blood test.”</a:t>
            </a:r>
            <a:endParaRPr lang="en-US" sz="950" dirty="0"/>
          </a:p>
        </p:txBody>
      </p:sp>
      <p:sp>
        <p:nvSpPr>
          <p:cNvPr id="12" name="Text 9"/>
          <p:cNvSpPr/>
          <p:nvPr/>
        </p:nvSpPr>
        <p:spPr>
          <a:xfrm>
            <a:off x="685800" y="376212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img/layla-stage1.jpg">    </p:cNvPr>
          <p:cNvPicPr>
            <a:picLocks noChangeAspect="1"/>
          </p:cNvPicPr>
          <p:nvPr/>
        </p:nvPicPr>
        <p:blipFill>
          <a:blip r:embed="rId2"/>
          <a:stretch>
            <a:fillRect/>
          </a:stretch>
        </p:blipFill>
        <p:spPr>
          <a:xfrm>
            <a:off x="457200" y="4237609"/>
            <a:ext cx="3679121" cy="205346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clinical knowledge summaries place IDA prevalence at around 8% in adult UK women. The standard monitoring cycle is a six-monthly FBC. The cohort is well-defined; the access problem is the failure to attend appointments at clinic-friendly hours.</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Treat the cohort the same as a 9-to-5 retired patient cohort. Watch DNA rates climb. Send rebooking letters. Blame the patient for not engaging.</a:t>
            </a:r>
            <a:endParaRPr lang="en-US" sz="1100" dirty="0"/>
          </a:p>
        </p:txBody>
      </p:sp>
      <p:sp>
        <p:nvSpPr>
          <p:cNvPr id="22" name="Shape 18"/>
          <p:cNvSpPr/>
          <p:nvPr/>
        </p:nvSpPr>
        <p:spPr>
          <a:xfrm>
            <a:off x="5669280" y="315645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15645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430778"/>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467354"/>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GP. Practice nurse. Anita on the ICB / GP commissioner side.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Hannah's practice flags her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137285"/>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Arial" pitchFamily="34" charset="0"/>
                <a:ea typeface="Arial" pitchFamily="34" charset="-122"/>
                <a:cs typeface="Arial" pitchFamily="34" charset="-120"/>
              </a:rPr>
              <a:t>Hannah is reviewing the IDA cohort. Layla is overdue her six-month FBC, with a flag on the record for previously missed appointments. The practice opens the conversation about doing the next blood at home. The friction was always the venue; the offer changes the venue.</a:t>
            </a:r>
            <a:endParaRPr lang="en-US" sz="1350" dirty="0"/>
          </a:p>
        </p:txBody>
      </p:sp>
      <p:sp>
        <p:nvSpPr>
          <p:cNvPr id="9" name="Shape 6"/>
          <p:cNvSpPr/>
          <p:nvPr/>
        </p:nvSpPr>
        <p:spPr>
          <a:xfrm>
            <a:off x="457200" y="3167253"/>
            <a:ext cx="4892040" cy="859282"/>
          </a:xfrm>
          <a:prstGeom prst="rect">
            <a:avLst/>
          </a:prstGeom>
          <a:solidFill>
            <a:srgbClr val="F0F4F5"/>
          </a:solidFill>
          <a:ln w="12700">
            <a:solidFill>
              <a:srgbClr val="F0F4F5"/>
            </a:solidFill>
            <a:prstDash val="solid"/>
          </a:ln>
        </p:spPr>
      </p:sp>
      <p:sp>
        <p:nvSpPr>
          <p:cNvPr id="10" name="Shape 7"/>
          <p:cNvSpPr/>
          <p:nvPr/>
        </p:nvSpPr>
        <p:spPr>
          <a:xfrm>
            <a:off x="457200" y="3167253"/>
            <a:ext cx="82296" cy="859282"/>
          </a:xfrm>
          <a:prstGeom prst="rect">
            <a:avLst/>
          </a:prstGeom>
          <a:solidFill>
            <a:srgbClr val="FFB91D"/>
          </a:solidFill>
          <a:ln w="12700">
            <a:solidFill>
              <a:srgbClr val="FFB91D"/>
            </a:solidFill>
            <a:prstDash val="solid"/>
          </a:ln>
        </p:spPr>
      </p:sp>
      <p:sp>
        <p:nvSpPr>
          <p:cNvPr id="11" name="Text 8"/>
          <p:cNvSpPr/>
          <p:nvPr/>
        </p:nvSpPr>
        <p:spPr>
          <a:xfrm>
            <a:off x="685800" y="3222117"/>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“Hannah said: do you want to try doing the next blood at home? I said yes faster than she could finish the sentence.”</a:t>
            </a:r>
            <a:endParaRPr lang="en-US" sz="1150" dirty="0"/>
          </a:p>
        </p:txBody>
      </p:sp>
      <p:sp>
        <p:nvSpPr>
          <p:cNvPr id="12" name="Text 9"/>
          <p:cNvSpPr/>
          <p:nvPr/>
        </p:nvSpPr>
        <p:spPr>
          <a:xfrm>
            <a:off x="685800" y="3715639"/>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img/layla-stage2.jpg">    </p:cNvPr>
          <p:cNvPicPr>
            <a:picLocks noChangeAspect="1"/>
          </p:cNvPicPr>
          <p:nvPr/>
        </p:nvPicPr>
        <p:blipFill>
          <a:blip r:embed="rId2"/>
          <a:stretch>
            <a:fillRect/>
          </a:stretch>
        </p:blipFill>
        <p:spPr>
          <a:xfrm>
            <a:off x="457200" y="4191127"/>
            <a:ext cx="3762401" cy="209994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Around 15 million general-practice appointments are missed each year, costing the NHS £216 million. The cohort that DNAs is the cohort the clinic-only model fails by design. The home pathway is the structural answer, not a service-recovery patch.</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Re-book, re-book, re-book, miss, discharge from the cycle, see her again at A&amp;E or in a re-presentation that costs ten times more.</a:t>
            </a:r>
            <a:endParaRPr lang="en-US" sz="1100" dirty="0"/>
          </a:p>
        </p:txBody>
      </p:sp>
      <p:sp>
        <p:nvSpPr>
          <p:cNvPr id="22" name="Shape 18"/>
          <p:cNvSpPr/>
          <p:nvPr/>
        </p:nvSpPr>
        <p:spPr>
          <a:xfrm>
            <a:off x="5669280" y="315645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15645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430778"/>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467354"/>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Practice nurse. Practice manager. Anita.</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Diagnosis, the FBC on a Saturday morning</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The kit arrives. Layla takes the sample at the kitchen table on a Saturday morning while the kids are watching TV. She posts it back. The lab processes it. The result lands in Hannah's GP system in time for the cycle that the clinic would have run.</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FFB91D"/>
          </a:solidFill>
          <a:ln w="12700">
            <a:solidFill>
              <a:srgbClr val="FFB91D"/>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“It was a Saturday job. I did it before the kids were up. I posted it on the way to the shops. I forgot about it until the result came through on the app.”</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img/layla-stage3.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home capillary FBC is a recognised pathway for routine monitoring. The sample is processed at a UKAS-accredited lab on the same assay platform that processes in-clinic samples. The result writes back to the practice EPR via the framework integration.</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Take a half-day off work. Find childcare. Sit in the waiting room. Get the blood drawn in 90 seconds. Drive home. The friction is the day, not the test.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supplier shipping the kit. The lab. The platform writing the result back. Layla.</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Treatment, the prescription adjusted on the trend</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result confirms her haemoglobin and ferritin trends. Hannah reviews the result alongside the prior cycles. The iron prescription stays unchanged or is adjusted on the basis of the trend, exactly as it would have been from an in-clinic sample. The clinical conversation, if needed, happens by phone or message.</a:t>
            </a:r>
            <a:endParaRPr lang="en-US" sz="1200" dirty="0"/>
          </a:p>
        </p:txBody>
      </p:sp>
      <p:sp>
        <p:nvSpPr>
          <p:cNvPr id="9" name="Shape 6"/>
          <p:cNvSpPr/>
          <p:nvPr/>
        </p:nvSpPr>
        <p:spPr>
          <a:xfrm>
            <a:off x="457200" y="3236976"/>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36976"/>
            <a:ext cx="82296" cy="859282"/>
          </a:xfrm>
          <a:prstGeom prst="rect">
            <a:avLst/>
          </a:prstGeom>
          <a:solidFill>
            <a:srgbClr val="FFB91D"/>
          </a:solidFill>
          <a:ln w="12700">
            <a:solidFill>
              <a:srgbClr val="FFB91D"/>
            </a:solidFill>
            <a:prstDash val="solid"/>
          </a:ln>
        </p:spPr>
      </p:sp>
      <p:sp>
        <p:nvSpPr>
          <p:cNvPr id="11" name="Text 8"/>
          <p:cNvSpPr/>
          <p:nvPr/>
        </p:nvSpPr>
        <p:spPr>
          <a:xfrm>
            <a:off x="685800" y="3291840"/>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“Hannah sent me a message. Same prescription, see you in six months. That was the entire appointment. I was at work.”</a:t>
            </a:r>
            <a:endParaRPr lang="en-US" sz="1150" dirty="0"/>
          </a:p>
        </p:txBody>
      </p:sp>
      <p:sp>
        <p:nvSpPr>
          <p:cNvPr id="12" name="Text 9"/>
          <p:cNvSpPr/>
          <p:nvPr/>
        </p:nvSpPr>
        <p:spPr>
          <a:xfrm>
            <a:off x="685800" y="3785362"/>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img/layla-stage4.jpg">    </p:cNvPr>
          <p:cNvPicPr>
            <a:picLocks noChangeAspect="1"/>
          </p:cNvPicPr>
          <p:nvPr/>
        </p:nvPicPr>
        <p:blipFill>
          <a:blip r:embed="rId2"/>
          <a:stretch>
            <a:fillRect/>
          </a:stretch>
        </p:blipFill>
        <p:spPr>
          <a:xfrm>
            <a:off x="457200" y="4260850"/>
            <a:ext cx="3637481" cy="203022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treatment pathway is NICE-guideline-aligned and unchanged by the home venue. Iron supplementation continues, with dose adjustments based on the haemoglobin and ferritin response. The GP holds the prescribing accountability.</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Drag the patient back into clinic to discuss a result that was always going to be a prescription continuation. The visit was the cost; the message was the value.</a:t>
            </a:r>
            <a:endParaRPr lang="en-US" sz="1100" dirty="0"/>
          </a:p>
        </p:txBody>
      </p:sp>
      <p:sp>
        <p:nvSpPr>
          <p:cNvPr id="22" name="Shape 18"/>
          <p:cNvSpPr/>
          <p:nvPr/>
        </p:nvSpPr>
        <p:spPr>
          <a:xfrm>
            <a:off x="5669280" y="315645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15645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430778"/>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467354"/>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Hannah. Practice pharmacist if dose changes. NICE guidelines.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cycle that fits her life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098550"/>
          </a:xfrm>
          <a:prstGeom prst="rect">
            <a:avLst/>
          </a:prstGeom>
          <a:noFill/>
          <a:ln/>
        </p:spPr>
        <p:txBody>
          <a:bodyPr wrap="square" lIns="0" tIns="0" rIns="0" bIns="0" rtlCol="0" anchor="t">
            <a:normAutofit/>
          </a:bodyPr>
          <a:lstStyle/>
          <a:p>
            <a:pPr indent="0" marL="0">
              <a:buNone/>
            </a:pPr>
            <a:r>
              <a:rPr lang="en-US" sz="1300" b="1" dirty="0">
                <a:solidFill>
                  <a:srgbClr val="003087"/>
                </a:solidFill>
                <a:latin typeface="Arial" pitchFamily="34" charset="0"/>
                <a:ea typeface="Arial" pitchFamily="34" charset="-122"/>
                <a:cs typeface="Arial" pitchFamily="34" charset="-120"/>
              </a:rPr>
              <a:t>Layla stays in the cycle. The next FBC is on a calendar reminder in six months. The kit will arrive. The Saturday morning will happen. The trend will be reviewed. Layla's anaemia is monitored to the same clinical standard, and the practice no longer carries her DNA history.</a:t>
            </a:r>
            <a:endParaRPr lang="en-US" sz="1300" dirty="0"/>
          </a:p>
        </p:txBody>
      </p:sp>
      <p:sp>
        <p:nvSpPr>
          <p:cNvPr id="9" name="Shape 6"/>
          <p:cNvSpPr/>
          <p:nvPr/>
        </p:nvSpPr>
        <p:spPr>
          <a:xfrm>
            <a:off x="457200" y="3128518"/>
            <a:ext cx="4892040" cy="859282"/>
          </a:xfrm>
          <a:prstGeom prst="rect">
            <a:avLst/>
          </a:prstGeom>
          <a:solidFill>
            <a:srgbClr val="F0F4F5"/>
          </a:solidFill>
          <a:ln w="12700">
            <a:solidFill>
              <a:srgbClr val="F0F4F5"/>
            </a:solidFill>
            <a:prstDash val="solid"/>
          </a:ln>
        </p:spPr>
      </p:sp>
      <p:sp>
        <p:nvSpPr>
          <p:cNvPr id="10" name="Shape 7"/>
          <p:cNvSpPr/>
          <p:nvPr/>
        </p:nvSpPr>
        <p:spPr>
          <a:xfrm>
            <a:off x="457200" y="3128518"/>
            <a:ext cx="82296" cy="859282"/>
          </a:xfrm>
          <a:prstGeom prst="rect">
            <a:avLst/>
          </a:prstGeom>
          <a:solidFill>
            <a:srgbClr val="FFB91D"/>
          </a:solidFill>
          <a:ln w="12700">
            <a:solidFill>
              <a:srgbClr val="FFB91D"/>
            </a:solidFill>
            <a:prstDash val="solid"/>
          </a:ln>
        </p:spPr>
      </p:sp>
      <p:sp>
        <p:nvSpPr>
          <p:cNvPr id="11" name="Text 8"/>
          <p:cNvSpPr/>
          <p:nvPr/>
        </p:nvSpPr>
        <p:spPr>
          <a:xfrm>
            <a:off x="685800" y="3183382"/>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do not feel like the patient who keeps letting them down anymore. I just feel like a patient.”</a:t>
            </a:r>
            <a:endParaRPr lang="en-US" sz="1150" dirty="0"/>
          </a:p>
        </p:txBody>
      </p:sp>
      <p:sp>
        <p:nvSpPr>
          <p:cNvPr id="12" name="Text 9"/>
          <p:cNvSpPr/>
          <p:nvPr/>
        </p:nvSpPr>
        <p:spPr>
          <a:xfrm>
            <a:off x="685800" y="3676904"/>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Layla</a:t>
            </a:r>
            <a:endParaRPr lang="en-US" sz="950" dirty="0"/>
          </a:p>
        </p:txBody>
      </p:sp>
      <p:pic>
        <p:nvPicPr>
          <p:cNvPr id="13" name="Image 1" descr="/sessions/quirky-zen-galileo/mnt/outputs/hmdecks/img/layla-stage5.jpg">    </p:cNvPr>
          <p:cNvPicPr>
            <a:picLocks noChangeAspect="1"/>
          </p:cNvPicPr>
          <p:nvPr/>
        </p:nvPicPr>
        <p:blipFill>
          <a:blip r:embed="rId2"/>
          <a:stretch>
            <a:fillRect/>
          </a:stretch>
        </p:blipFill>
        <p:spPr>
          <a:xfrm>
            <a:off x="457200" y="4152392"/>
            <a:ext cx="3831802" cy="2138680"/>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Sustained engagement with monitoring is the outcome that matters clinically. The home cycle holds the patient in the cohort, surfaces threshold breaches on time, and frees the practice nurse slot for the patients who clinically need clinic.</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Drift out of the cycle. Re-present in a year or two with a haemoglobin much lower than it should have been. The clinical risk was always in the model, not the patient.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Layla. Hannah. The practice nurse. The platform holding the cycle reminder.</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LAYLA'S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Layla's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In monitoring. In work. In the cohort the system actually holds, not the cohort the system quietly drops.</a:t>
            </a:r>
            <a:endParaRPr lang="en-US" sz="2200" dirty="0"/>
          </a:p>
        </p:txBody>
      </p:sp>
      <p:sp>
        <p:nvSpPr>
          <p:cNvPr id="8" name="Text 5"/>
          <p:cNvSpPr/>
          <p:nvPr/>
        </p:nvSpPr>
        <p:spPr>
          <a:xfrm>
            <a:off x="457200" y="2011680"/>
            <a:ext cx="11277295" cy="463296"/>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Layla does not see commissioning, frameworks or platforms. She sees a kit through the door, a Saturday morning sample, and a message from Hannah saying see you in six months. </a:t>
            </a:r>
            <a:pPr indent="0" marL="0">
              <a:buNone/>
            </a:pPr>
            <a:r>
              <a:rPr lang="en-US" sz="1200" b="1" dirty="0">
                <a:solidFill>
                  <a:srgbClr val="231F20"/>
                </a:solidFill>
                <a:latin typeface="Arial" pitchFamily="34" charset="0"/>
                <a:ea typeface="Arial" pitchFamily="34" charset="-122"/>
                <a:cs typeface="Arial" pitchFamily="34" charset="-120"/>
              </a:rPr>
              <a:t>The half-day off she did not take is the half-day she got with her family instead.</a:t>
            </a:r>
            <a:pPr indent="0" marL="0">
              <a:buNone/>
            </a:pPr>
            <a:r>
              <a:rPr lang="en-US" sz="1200" dirty="0">
                <a:solidFill>
                  <a:srgbClr val="231F20"/>
                </a:solidFill>
                <a:latin typeface="Arial" pitchFamily="34" charset="0"/>
                <a:ea typeface="Arial" pitchFamily="34" charset="-122"/>
                <a:cs typeface="Arial" pitchFamily="34" charset="-120"/>
              </a:rPr>
              <a:t> The cycle holds.</a:t>
            </a:r>
            <a:endParaRPr lang="en-US" sz="1200" dirty="0"/>
          </a:p>
        </p:txBody>
      </p:sp>
      <p:sp>
        <p:nvSpPr>
          <p:cNvPr id="9" name="Shape 6"/>
          <p:cNvSpPr/>
          <p:nvPr/>
        </p:nvSpPr>
        <p:spPr>
          <a:xfrm>
            <a:off x="457200" y="2749296"/>
            <a:ext cx="11277295" cy="1737360"/>
          </a:xfrm>
          <a:prstGeom prst="roundRect">
            <a:avLst>
              <a:gd name="adj" fmla="val 5263"/>
            </a:avLst>
          </a:prstGeom>
          <a:solidFill>
            <a:srgbClr val="FFFFFF"/>
          </a:solidFill>
          <a:ln w="9525">
            <a:solidFill>
              <a:srgbClr val="DDE3E8"/>
            </a:solidFill>
            <a:prstDash val="solid"/>
          </a:ln>
        </p:spPr>
      </p:sp>
      <p:sp>
        <p:nvSpPr>
          <p:cNvPr id="10" name="Shape 7"/>
          <p:cNvSpPr/>
          <p:nvPr/>
        </p:nvSpPr>
        <p:spPr>
          <a:xfrm>
            <a:off x="457200" y="2749296"/>
            <a:ext cx="11277295" cy="73152"/>
          </a:xfrm>
          <a:prstGeom prst="rect">
            <a:avLst/>
          </a:prstGeom>
          <a:solidFill>
            <a:srgbClr val="006747"/>
          </a:solidFill>
          <a:ln w="12700">
            <a:solidFill>
              <a:srgbClr val="006747"/>
            </a:solidFill>
            <a:prstDash val="solid"/>
          </a:ln>
        </p:spPr>
      </p:sp>
      <p:sp>
        <p:nvSpPr>
          <p:cNvPr id="11" name="Text 8"/>
          <p:cNvSpPr/>
          <p:nvPr/>
        </p:nvSpPr>
        <p:spPr>
          <a:xfrm>
            <a:off x="731520" y="2932176"/>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252216"/>
            <a:ext cx="10728655" cy="77724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When the iron deficiency landing opens under a roadmap gate, the money will work the way Devi's already does: a set price per completed test, paid by the commissioner direct to the supplier, against a national ceiling. Nothing about Layla's economics is exotic. The saving is the string of missed appointments the practice stops paying for in slots, letters and chased bookings, and the diagnosis that stops being late.</a:t>
            </a:r>
            <a:endParaRPr lang="en-US" sz="1150" dirty="0"/>
          </a:p>
        </p:txBody>
      </p:sp>
      <p:sp>
        <p:nvSpPr>
          <p:cNvPr id="13" name="Text 10"/>
          <p:cNvSpPr/>
          <p:nvPr/>
        </p:nvSpPr>
        <p:spPr>
          <a:xfrm>
            <a:off x="731520" y="407517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Layla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Layla's story: HomeTest Hearts and Minds</dc:title>
  <dc:subject>PptxGenJS Presentation</dc:subject>
  <dc:creator>HomeTest Programme</dc:creator>
  <cp:lastModifiedBy>HomeTest Programme</cp:lastModifiedBy>
  <cp:revision>1</cp:revision>
  <dcterms:created xsi:type="dcterms:W3CDTF">2026-09-05T07:23:52Z</dcterms:created>
  <dcterms:modified xsi:type="dcterms:W3CDTF">2026-09-05T07:23:52Z</dcterms:modified>
</cp:coreProperties>
</file>