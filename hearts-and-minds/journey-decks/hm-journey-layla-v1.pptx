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a treated condition and a cycle nobody can see slipping
Around 8% of adult women in the UK live with iron deficiency anaemia. For most, treatment is a tablet and a blood test every six months. The test is the only way anyone knows whether the tablet is working, and it is the part that falls away when a life runs on shifts.
Quote: I take the tablets every day. It is the blood test I keep missing, and that is the bit that tells them whether the tablets are doing anything.
What the model is doing underneath: NICE clinical knowledge summaries place IDA prevalence at around 8% in adult UK women. Treatment response is monitored by full blood count and ferritin, typically at six-monthly intervals for a patient on long-term iron. The cohort is already known to primary care; the risk is the interval quietly stretching, not the diagnosis being missed.
The old way: Treat a treated cohort as if attendance were the patient's job. When the six-month check slips, send a letter. When the letter fails, close the recall and wait for her to come back symptomatic.
What the care team sees: Hannah, GP. Practice nurse. Anita on the ICB / GP commissioner side, watching a monitoring cycle nobody can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the practice system orders and nobody has to ask
Hannah's recall search flags Layla as due. In the GP-initiated pattern the practice system raises the order for the FBC and ferritin, the platform ships the kit, and the appointment Layla could never keep is never booked. There is no conversation to have, because there is nothing for Layla to agree to yet.
Quote: Nobody rang me. A text said a kit was coming for my six-month bloods, and it came. That was the whole appointment.
What the model is doing underneath: Around 15 million general-practice appointments are missed each year, costing the NHS £216 million. The GP-initiated pattern removes the appointment rather than chasing it: the order originates in the practice system as part of the review cycle, the kit is dispatched against it, and the result is written back to the GP record. Layla is the sample provider, not the orderer or the recipient.
The old way: Book, miss, re-book, miss, then a DNA code on the record that follows her into every future conversation about engagement.
What the care team sees: Hannah. The practice recall administrator. The supplier dispatching against the practice order. Anita, whose access figures stop counting Layla as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a sample between shifts
The kit arrives on a Wednesday. Layla takes the capillary sample at the kitchen table while the kids finish their homework, before her evening shift, posts it on the way in and does not think about it again. The lab processes it on the same platform as any clinic sample and the result lands in Hannah's record on time.
Quote: Twenty minutes between the kids' homework and the start of my shift. I would not have got to the surgery and back in that gap, let alone waited.
What the model is doing underneath: The home capillary FBC and ferritin are a recognised route for routine monitoring. The sample is processed at a UKAS-accredited lab on the same assay platform that processes in-clinic samples, and the result writes back to the practice EPR through the framework integration. Nothing about the clinical standard changes; only the venue and the timing do.
The old way: An appointment at the surgery in working hours, which for Layla means an hour of unpaid time and a manager she has to ask twice a year, or a check that does not happen.
What the care team sees: The supplier shipping the kit. The lab. The platform writing the result back. Layla, on her own timetable.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dose follows the ferritin
Hannah reviews the haemoglobin and ferritin against the previous cycles. This time the ferritin has plateaued below target, so the dose is adjusted and a note goes to Layla. Same clinical decision as an in-clinic sample would have prompted, with one difference: it happened on time, so the trend was still readable.
Quote: A message from the practice: we are changing your dose, here is why, the new prescription is at the pharmacy. I read it on my break.
What the model is doing underneath: The treatment pathway is NICE-guideline-aligned and unchanged by the home venue: iron supplementation is titrated to the FBC and ferritin response, and the GP holds prescribing accountability. What the home cycle adds is timeliness. A dose that needs changing gets changed at six months, not at fourteen.
The old way: A result reviewed months late, if at all, and a dose change made on a trend with a hole in it.
What the care team sees: Hannah. Practice pharmacist for the dose change. The community pharmacy that already has her prescription.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silence as the good result
The cycle holds. The next kit is dated for six months, tied to the practice recall rather than to Layla's memory or her rota. If the trend is steady she hears nothing, and nothing is the right answer. If it moves, she hears from Hannah. Either way the practice knows, which is the whole point.
Quote: I used to feel like I was always about to be in trouble with the surgery. Now the only time I hear from them is when there is actually something to say.
What the model is doing underneath: Sustained monitoring is the clinical outcome for a treated long-term condition. The home cycle keeps the interval honest, surfaces a falling ferritin at the point it can be corrected cheaply, and frees the practice nurse slot for patients who clinically need the room. The illustration ends where the configuration stands: held, low priority under the framework, and able to run on the same rails as every other primary-care cycle if the gate opens.
The old way: Drift out of the cycle for a year or two and re-present with a haemoglobin far lower than it needed to be. The risk was always in the interval, not in the patient.
What the care team sees: Layla. Hannah. The practice nurse. The platform holding the recall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Layla.</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Three years on the tablets.</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The trend is the treatment.</a:t>
            </a:r>
            <a:endParaRPr lang="en-US" sz="2400" dirty="0"/>
          </a:p>
        </p:txBody>
      </p:sp>
      <p:sp>
        <p:nvSpPr>
          <p:cNvPr id="7" name="Text 4"/>
          <p:cNvSpPr/>
          <p:nvPr/>
        </p:nvSpPr>
        <p:spPr>
          <a:xfrm>
            <a:off x="640080" y="3258312"/>
            <a:ext cx="6949440" cy="1578864"/>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Layla is 42, a single parent with two school-age kids and two part-time jobs, one of them on shifts. Her iron deficiency anaemia was diagnosed three years ago; she has been on ferrous sulphate since, and her GP, Hannah, needs a full blood count and ferritin every six months to know whether it is still working. Nobody doubts Layla will take the tablets. The question is whether anyone will see the trend. </a:t>
            </a:r>
            <a:pPr indent="0" marL="0">
              <a:buNone/>
            </a:pPr>
            <a:r>
              <a:rPr lang="en-US" sz="1200" b="1" dirty="0">
                <a:solidFill>
                  <a:srgbClr val="DCE7F0"/>
                </a:solidFill>
                <a:latin typeface="Arial" pitchFamily="34" charset="0"/>
                <a:ea typeface="Arial" pitchFamily="34" charset="-122"/>
                <a:cs typeface="Arial" pitchFamily="34" charset="-120"/>
              </a:rPr>
              <a:t>This is the story of a monitoring cycle that holds because it stopped asking for her working hours. It is told as an illustration: the anaemia configuration is held under the Prioritisation Framework, not in build.</a:t>
            </a:r>
            <a:endParaRPr lang="en-US" sz="1200" dirty="0"/>
          </a:p>
        </p:txBody>
      </p:sp>
      <p:sp>
        <p:nvSpPr>
          <p:cNvPr id="8" name="Text 5"/>
          <p:cNvSpPr/>
          <p:nvPr/>
        </p:nvSpPr>
        <p:spPr>
          <a:xfrm>
            <a:off x="640080" y="4974336"/>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 GP-initiated, told as an illustration</a:t>
            </a:r>
            <a:endParaRPr lang="en-US" sz="1050" dirty="0"/>
          </a:p>
        </p:txBody>
      </p:sp>
      <p:sp>
        <p:nvSpPr>
          <p:cNvPr id="9" name="Shape 6"/>
          <p:cNvSpPr/>
          <p:nvPr/>
        </p:nvSpPr>
        <p:spPr>
          <a:xfrm>
            <a:off x="8476488" y="1344168"/>
            <a:ext cx="2889504" cy="2889504"/>
          </a:xfrm>
          <a:prstGeom prst="ellipse">
            <a:avLst/>
          </a:prstGeom>
          <a:solidFill>
            <a:srgbClr val="FFB91D"/>
          </a:solidFill>
          <a:ln w="12700">
            <a:solidFill>
              <a:srgbClr val="FFB91D"/>
            </a:solidFill>
            <a:prstDash val="solid"/>
          </a:ln>
        </p:spPr>
      </p:sp>
      <p:pic>
        <p:nvPicPr>
          <p:cNvPr id="10" name="Image 1" descr="/sessions/quirky-zen-galileo/mnt/outputs/hmdecks5/img/layla-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Layla</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GP-initiated patient · Iron deficiency anaemia · held configuration</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Layla's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treated condition, a cycle nobody can see slipping</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practice system orders, nobody has to ask</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sample between shifts</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dose follows the ferritin</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silence as the good result</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Known, treated, and never quietly lost.</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Layla is not a diagnosis waiting to happen. She is a patient the system already knows and already treats. The failure mode for someone like her is not a missed screen but a missed check: a six-month cycle that slips to nine, then twelve, while the iron dose that was right three years ago quietly stops being right. </a:t>
            </a:r>
            <a:pPr indent="0" marL="0">
              <a:buNone/>
            </a:pPr>
            <a:r>
              <a:rPr lang="en-US" sz="1100" b="1" dirty="0">
                <a:solidFill>
                  <a:srgbClr val="231F20"/>
                </a:solidFill>
                <a:latin typeface="Arial" pitchFamily="34" charset="0"/>
                <a:ea typeface="Arial" pitchFamily="34" charset="-122"/>
                <a:cs typeface="Arial" pitchFamily="34" charset="-120"/>
              </a:rPr>
              <a:t>Hold the cycle and you hold the treatment.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Her hours change every week. The kit does not care.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Two part-time jobs, one on a rota that moves, mean a fixed clinic slot is a bet against her own timetable, and an hour in a waiting room is an hour she is not paid for. A kit that arrives when the cycle is due and gets taken between shifts costs her nothing she cannot spare. </a:t>
            </a:r>
            <a:pPr indent="0" marL="0">
              <a:buNone/>
            </a:pPr>
            <a:r>
              <a:rPr lang="en-US" sz="1100" b="1" dirty="0">
                <a:solidFill>
                  <a:srgbClr val="231F20"/>
                </a:solidFill>
                <a:latin typeface="Arial" pitchFamily="34" charset="0"/>
                <a:ea typeface="Arial" pitchFamily="34" charset="-122"/>
                <a:cs typeface="Arial" pitchFamily="34" charset="-120"/>
              </a:rPr>
              <a:t>The result goes to Hannah. Layla hears from the practice only if the dose needs to change.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a treated condition and a cycle nobody can see slipping</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137285"/>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Arial" pitchFamily="34" charset="0"/>
                <a:ea typeface="Arial" pitchFamily="34" charset="-122"/>
                <a:cs typeface="Arial" pitchFamily="34" charset="-120"/>
              </a:rPr>
              <a:t>Around 8% of adult women in the UK live with iron deficiency anaemia. For most, treatment is a tablet and a blood test every six months. The test is the only way anyone knows whether the tablet is working, and it is the part that falls away when a life runs on shifts.</a:t>
            </a:r>
            <a:endParaRPr lang="en-US" sz="1350" dirty="0"/>
          </a:p>
        </p:txBody>
      </p:sp>
      <p:sp>
        <p:nvSpPr>
          <p:cNvPr id="9" name="Shape 6"/>
          <p:cNvSpPr/>
          <p:nvPr/>
        </p:nvSpPr>
        <p:spPr>
          <a:xfrm>
            <a:off x="457200" y="3167253"/>
            <a:ext cx="4892040" cy="797306"/>
          </a:xfrm>
          <a:prstGeom prst="rect">
            <a:avLst/>
          </a:prstGeom>
          <a:solidFill>
            <a:srgbClr val="F0F4F5"/>
          </a:solidFill>
          <a:ln w="12700">
            <a:solidFill>
              <a:srgbClr val="F0F4F5"/>
            </a:solidFill>
            <a:prstDash val="solid"/>
          </a:ln>
        </p:spPr>
      </p:sp>
      <p:sp>
        <p:nvSpPr>
          <p:cNvPr id="10" name="Shape 7"/>
          <p:cNvSpPr/>
          <p:nvPr/>
        </p:nvSpPr>
        <p:spPr>
          <a:xfrm>
            <a:off x="457200" y="3167253"/>
            <a:ext cx="82296" cy="797306"/>
          </a:xfrm>
          <a:prstGeom prst="rect">
            <a:avLst/>
          </a:prstGeom>
          <a:solidFill>
            <a:srgbClr val="FFB91D"/>
          </a:solidFill>
          <a:ln w="12700">
            <a:solidFill>
              <a:srgbClr val="FFB91D"/>
            </a:solidFill>
            <a:prstDash val="solid"/>
          </a:ln>
        </p:spPr>
      </p:sp>
      <p:sp>
        <p:nvSpPr>
          <p:cNvPr id="11" name="Text 8"/>
          <p:cNvSpPr/>
          <p:nvPr/>
        </p:nvSpPr>
        <p:spPr>
          <a:xfrm>
            <a:off x="685800" y="3222117"/>
            <a:ext cx="4526280" cy="431546"/>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take the tablets every day. It is the blood test I keep missing, and that is the bit that tells them whether the tablets are doing anything.”</a:t>
            </a:r>
            <a:endParaRPr lang="en-US" sz="950" dirty="0"/>
          </a:p>
        </p:txBody>
      </p:sp>
      <p:sp>
        <p:nvSpPr>
          <p:cNvPr id="12" name="Text 9"/>
          <p:cNvSpPr/>
          <p:nvPr/>
        </p:nvSpPr>
        <p:spPr>
          <a:xfrm>
            <a:off x="685800" y="3653663"/>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5/img/layla-stage1.jpg">    </p:cNvPr>
          <p:cNvPicPr>
            <a:picLocks noChangeAspect="1"/>
          </p:cNvPicPr>
          <p:nvPr/>
        </p:nvPicPr>
        <p:blipFill>
          <a:blip r:embed="rId2"/>
          <a:stretch>
            <a:fillRect/>
          </a:stretch>
        </p:blipFill>
        <p:spPr>
          <a:xfrm>
            <a:off x="457200" y="4129151"/>
            <a:ext cx="3873442" cy="2161921"/>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 clinical knowledge summaries place IDA prevalence at around 8% in adult UK women. Treatment response is monitored by full blood count and ferritin, typically at six-monthly intervals for a patient on long-term iron. The cohort is already known to primary care; the risk is the interval quietly stretching, not the diagnosis being missed.</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Treat a treated cohort as if attendance were the patient's job. When the six-month check slips, send a letter. When the letter fails, close the recall and wait for her to come back symptomatic.</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GP. Practice nurse. Anita on the ICB / GP commissioner side, watching a monitoring cycle nobody can measure.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the practice system orders and nobody has to ask</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Hannah's recall search flags Layla as due. In the GP-initiated pattern the practice system raises the order for the FBC and ferritin, the platform ships the kit, and the appointment Layla could never keep is never booked. There is no conversation to have, because there is nothing for Layla to agree to yet.</a:t>
            </a:r>
            <a:endParaRPr lang="en-US" sz="1200" dirty="0"/>
          </a:p>
        </p:txBody>
      </p:sp>
      <p:sp>
        <p:nvSpPr>
          <p:cNvPr id="9" name="Shape 6"/>
          <p:cNvSpPr/>
          <p:nvPr/>
        </p:nvSpPr>
        <p:spPr>
          <a:xfrm>
            <a:off x="457200" y="3236976"/>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36976"/>
            <a:ext cx="82296" cy="859282"/>
          </a:xfrm>
          <a:prstGeom prst="rect">
            <a:avLst/>
          </a:prstGeom>
          <a:solidFill>
            <a:srgbClr val="FFB91D"/>
          </a:solidFill>
          <a:ln w="12700">
            <a:solidFill>
              <a:srgbClr val="FFB91D"/>
            </a:solidFill>
            <a:prstDash val="solid"/>
          </a:ln>
        </p:spPr>
      </p:sp>
      <p:sp>
        <p:nvSpPr>
          <p:cNvPr id="11" name="Text 8"/>
          <p:cNvSpPr/>
          <p:nvPr/>
        </p:nvSpPr>
        <p:spPr>
          <a:xfrm>
            <a:off x="685800" y="3291840"/>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“Nobody rang me. A text said a kit was coming for my six-month bloods, and it came. That was the whole appointment.”</a:t>
            </a:r>
            <a:endParaRPr lang="en-US" sz="1150" dirty="0"/>
          </a:p>
        </p:txBody>
      </p:sp>
      <p:sp>
        <p:nvSpPr>
          <p:cNvPr id="12" name="Text 9"/>
          <p:cNvSpPr/>
          <p:nvPr/>
        </p:nvSpPr>
        <p:spPr>
          <a:xfrm>
            <a:off x="685800" y="3785362"/>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5/img/layla-stage2.jpg">    </p:cNvPr>
          <p:cNvPicPr>
            <a:picLocks noChangeAspect="1"/>
          </p:cNvPicPr>
          <p:nvPr/>
        </p:nvPicPr>
        <p:blipFill>
          <a:blip r:embed="rId2"/>
          <a:stretch>
            <a:fillRect/>
          </a:stretch>
        </p:blipFill>
        <p:spPr>
          <a:xfrm>
            <a:off x="457200" y="4260850"/>
            <a:ext cx="3637481" cy="2030222"/>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Around 15 million general-practice appointments are missed each year, costing the NHS £216 million. The GP-initiated pattern removes the appointment rather than chasing it: the order originates in the practice system as part of the review cycle, the kit is dispatched against it, and the result is written back to the GP record. Layla is the sample provider, not the orderer or the recipient.</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Book, miss, re-book, miss, then a DNA code on the record that follows her into every future conversation about engagement.</a:t>
            </a:r>
            <a:endParaRPr lang="en-US" sz="1100" dirty="0"/>
          </a:p>
        </p:txBody>
      </p:sp>
      <p:sp>
        <p:nvSpPr>
          <p:cNvPr id="22" name="Shape 18"/>
          <p:cNvSpPr/>
          <p:nvPr/>
        </p:nvSpPr>
        <p:spPr>
          <a:xfrm>
            <a:off x="5669280" y="3497326"/>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49732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771646"/>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80822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The practice recall administrator. The supplier dispatching against the practice order. Anita, whose access figures stop counting Layla as a failure.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Diagnosis, a sample between shifts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kit arrives on a Wednesday. Layla takes the capillary sample at the kitchen table while the kids finish their homework, before her evening shift, posts it on the way in and does not think about it again. The lab processes it on the same platform as any clinic sample and the result lands in Hannah's record on time.</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FFB91D"/>
          </a:solidFill>
          <a:ln w="12700">
            <a:solidFill>
              <a:srgbClr val="FFB91D"/>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“Twenty minutes between the kids' homework and the start of my shift. I would not have got to the surgery and back in that gap, let alone waited.”</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5/img/layla-stage3.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home capillary FBC and ferritin are a recognised route for routine monitoring. The sample is processed at a UKAS-accredited lab on the same assay platform that processes in-clinic samples, and the result writes back to the practice EPR through the framework integration. Nothing about the clinical standard changes; only the venue and the timing do.</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An appointment at the surgery in working hours, which for Layla means an hour of unpaid time and a manager she has to ask twice a year, or a check that does not happen.</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supplier shipping the kit. The lab. The platform writing the result back. Layla, on her own timetable.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Treatment, the dose follows the ferritin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Hannah reviews the haemoglobin and ferritin against the previous cycles. This time the ferritin has plateaued below target, so the dose is adjusted and a note goes to Layla. Same clinical decision as an in-clinic sample would have prompted, with one difference: it happened on time, so the trend was still readable.</a:t>
            </a:r>
            <a:endParaRPr lang="en-US" sz="1200" dirty="0"/>
          </a:p>
        </p:txBody>
      </p:sp>
      <p:sp>
        <p:nvSpPr>
          <p:cNvPr id="9" name="Shape 6"/>
          <p:cNvSpPr/>
          <p:nvPr/>
        </p:nvSpPr>
        <p:spPr>
          <a:xfrm>
            <a:off x="457200" y="3236976"/>
            <a:ext cx="4892040" cy="812800"/>
          </a:xfrm>
          <a:prstGeom prst="rect">
            <a:avLst/>
          </a:prstGeom>
          <a:solidFill>
            <a:srgbClr val="F0F4F5"/>
          </a:solidFill>
          <a:ln w="12700">
            <a:solidFill>
              <a:srgbClr val="F0F4F5"/>
            </a:solidFill>
            <a:prstDash val="solid"/>
          </a:ln>
        </p:spPr>
      </p:sp>
      <p:sp>
        <p:nvSpPr>
          <p:cNvPr id="10" name="Shape 7"/>
          <p:cNvSpPr/>
          <p:nvPr/>
        </p:nvSpPr>
        <p:spPr>
          <a:xfrm>
            <a:off x="457200" y="3236976"/>
            <a:ext cx="82296" cy="812800"/>
          </a:xfrm>
          <a:prstGeom prst="rect">
            <a:avLst/>
          </a:prstGeom>
          <a:solidFill>
            <a:srgbClr val="FFB91D"/>
          </a:solidFill>
          <a:ln w="12700">
            <a:solidFill>
              <a:srgbClr val="FFB91D"/>
            </a:solidFill>
            <a:prstDash val="solid"/>
          </a:ln>
        </p:spPr>
      </p:sp>
      <p:sp>
        <p:nvSpPr>
          <p:cNvPr id="11" name="Text 8"/>
          <p:cNvSpPr/>
          <p:nvPr/>
        </p:nvSpPr>
        <p:spPr>
          <a:xfrm>
            <a:off x="685800" y="3291840"/>
            <a:ext cx="4526280" cy="447040"/>
          </a:xfrm>
          <a:prstGeom prst="rect">
            <a:avLst/>
          </a:prstGeom>
          <a:noFill/>
          <a:ln/>
        </p:spPr>
        <p:txBody>
          <a:bodyPr wrap="square" lIns="0" tIns="0" rIns="0" bIns="0" rtlCol="0" anchor="t">
            <a:normAutofit/>
          </a:bodyPr>
          <a:lstStyle/>
          <a:p>
            <a:pPr indent="0" marL="0">
              <a:buNone/>
            </a:pPr>
            <a:r>
              <a:rPr lang="en-US" sz="1000" i="1" dirty="0">
                <a:solidFill>
                  <a:srgbClr val="231F20"/>
                </a:solidFill>
                <a:latin typeface="Arial" pitchFamily="34" charset="0"/>
                <a:ea typeface="Arial" pitchFamily="34" charset="-122"/>
                <a:cs typeface="Arial" pitchFamily="34" charset="-120"/>
              </a:rPr>
              <a:t>“A message from the practice: we are changing your dose, here is why, the new prescription is at the pharmacy. I read it on my break.”</a:t>
            </a:r>
            <a:endParaRPr lang="en-US" sz="1000" dirty="0"/>
          </a:p>
        </p:txBody>
      </p:sp>
      <p:sp>
        <p:nvSpPr>
          <p:cNvPr id="12" name="Text 9"/>
          <p:cNvSpPr/>
          <p:nvPr/>
        </p:nvSpPr>
        <p:spPr>
          <a:xfrm>
            <a:off x="685800" y="3738880"/>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5/img/layla-stage4.jpg">    </p:cNvPr>
          <p:cNvPicPr>
            <a:picLocks noChangeAspect="1"/>
          </p:cNvPicPr>
          <p:nvPr/>
        </p:nvPicPr>
        <p:blipFill>
          <a:blip r:embed="rId2"/>
          <a:stretch>
            <a:fillRect/>
          </a:stretch>
        </p:blipFill>
        <p:spPr>
          <a:xfrm>
            <a:off x="457200" y="4214368"/>
            <a:ext cx="3720761" cy="2076704"/>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treatment pathway is NICE-guideline-aligned and unchanged by the home venue: iron supplementation is titrated to the FBC and ferritin response, and the GP holds prescribing accountability. What the home cycle adds is timeliness. A dose that needs changing gets changed at six months, not at fourteen.</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result reviewed months late, if at all, and a dose change made on a trend with a hole in it.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Practice pharmacist for the dose change. The community pharmacy that already has her prescription.</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silence as the good result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021080"/>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cycle holds. The next kit is dated for six months, tied to the practice recall rather than to Layla's memory or her rota. If the trend is steady she hears nothing, and nothing is the right answer. If it moves, she hears from Hannah. Either way the practice knows, which is the whole point.</a:t>
            </a:r>
            <a:endParaRPr lang="en-US" sz="1200" dirty="0"/>
          </a:p>
        </p:txBody>
      </p:sp>
      <p:sp>
        <p:nvSpPr>
          <p:cNvPr id="9" name="Shape 6"/>
          <p:cNvSpPr/>
          <p:nvPr/>
        </p:nvSpPr>
        <p:spPr>
          <a:xfrm>
            <a:off x="457200" y="305104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051048"/>
            <a:ext cx="82296" cy="944499"/>
          </a:xfrm>
          <a:prstGeom prst="rect">
            <a:avLst/>
          </a:prstGeom>
          <a:solidFill>
            <a:srgbClr val="FFB91D"/>
          </a:solidFill>
          <a:ln w="12700">
            <a:solidFill>
              <a:srgbClr val="FFB91D"/>
            </a:solidFill>
            <a:prstDash val="solid"/>
          </a:ln>
        </p:spPr>
      </p:sp>
      <p:sp>
        <p:nvSpPr>
          <p:cNvPr id="11" name="Text 8"/>
          <p:cNvSpPr/>
          <p:nvPr/>
        </p:nvSpPr>
        <p:spPr>
          <a:xfrm>
            <a:off x="685800" y="310591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used to feel like I was always about to be in trouble with the surgery. Now the only time I hear from them is when there is actually something to say.”</a:t>
            </a:r>
            <a:endParaRPr lang="en-US" sz="950" dirty="0"/>
          </a:p>
        </p:txBody>
      </p:sp>
      <p:sp>
        <p:nvSpPr>
          <p:cNvPr id="12" name="Text 9"/>
          <p:cNvSpPr/>
          <p:nvPr/>
        </p:nvSpPr>
        <p:spPr>
          <a:xfrm>
            <a:off x="685800" y="3684651"/>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5/img/layla-stage5.jpg">    </p:cNvPr>
          <p:cNvPicPr>
            <a:picLocks noChangeAspect="1"/>
          </p:cNvPicPr>
          <p:nvPr/>
        </p:nvPicPr>
        <p:blipFill>
          <a:blip r:embed="rId2"/>
          <a:stretch>
            <a:fillRect/>
          </a:stretch>
        </p:blipFill>
        <p:spPr>
          <a:xfrm>
            <a:off x="457200" y="4160139"/>
            <a:ext cx="3817922" cy="213093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Sustained monitoring is the clinical outcome for a treated long-term condition. The home cycle keeps the interval honest, surfaces a falling ferritin at the point it can be corrected cheaply, and frees the practice nurse slot for patients who clinically need the room. The illustration ends where the configuration stands: held, low priority under the framework, and able to run on the same rails as every other primary-care cycle if the gate opens.</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542036"/>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Drift out of the cycle for a year or two and re-present with a haemoglobin far lower than it needed to be. The risk was always in the interval, not in the patient.</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Layla. Hannah. The practice nurse. The platform holding the recall date.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Layla's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Monitored on time. Paid for every shift. Known to the practice as a patient, not as a DNA code.</a:t>
            </a:r>
            <a:endParaRPr lang="en-US" sz="2200" dirty="0"/>
          </a:p>
        </p:txBody>
      </p:sp>
      <p:sp>
        <p:nvSpPr>
          <p:cNvPr id="8" name="Text 5"/>
          <p:cNvSpPr/>
          <p:nvPr/>
        </p:nvSpPr>
        <p:spPr>
          <a:xfrm>
            <a:off x="457200" y="2011680"/>
            <a:ext cx="11277295" cy="835152"/>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Layla does not see the framework or the platform. She sees a text, a kit, twenty minutes between homework and a shift, and a message from Hannah only when something needs to change. The trend that tells the practice whether three years of tablets are still working stays readable, because the cycle stopped asking for the one thing she cannot give it: a fixed hour in a working week. </a:t>
            </a:r>
            <a:pPr indent="0" marL="0">
              <a:buNone/>
            </a:pPr>
            <a:r>
              <a:rPr lang="en-US" sz="1200" b="1" dirty="0">
                <a:solidFill>
                  <a:srgbClr val="231F20"/>
                </a:solidFill>
                <a:latin typeface="Arial" pitchFamily="34" charset="0"/>
                <a:ea typeface="Arial" pitchFamily="34" charset="-122"/>
                <a:cs typeface="Arial" pitchFamily="34" charset="-120"/>
              </a:rPr>
              <a:t>The configuration is held, so this is an illustration of the GP-initiated pattern, not a live pathway. The point stands: hold the cycle and you hold the treatment.</a:t>
            </a:r>
            <a:endParaRPr lang="en-US" sz="1200" dirty="0"/>
          </a:p>
        </p:txBody>
      </p:sp>
      <p:sp>
        <p:nvSpPr>
          <p:cNvPr id="9" name="Shape 6"/>
          <p:cNvSpPr/>
          <p:nvPr/>
        </p:nvSpPr>
        <p:spPr>
          <a:xfrm>
            <a:off x="457200" y="3121152"/>
            <a:ext cx="11277295" cy="1874012"/>
          </a:xfrm>
          <a:prstGeom prst="roundRect">
            <a:avLst>
              <a:gd name="adj" fmla="val 4879"/>
            </a:avLst>
          </a:prstGeom>
          <a:solidFill>
            <a:srgbClr val="FFFFFF"/>
          </a:solidFill>
          <a:ln w="9525">
            <a:solidFill>
              <a:srgbClr val="DDE3E8"/>
            </a:solidFill>
            <a:prstDash val="solid"/>
          </a:ln>
        </p:spPr>
      </p:sp>
      <p:sp>
        <p:nvSpPr>
          <p:cNvPr id="10" name="Shape 7"/>
          <p:cNvSpPr/>
          <p:nvPr/>
        </p:nvSpPr>
        <p:spPr>
          <a:xfrm>
            <a:off x="457200" y="3121152"/>
            <a:ext cx="11277295" cy="73152"/>
          </a:xfrm>
          <a:prstGeom prst="rect">
            <a:avLst/>
          </a:prstGeom>
          <a:solidFill>
            <a:srgbClr val="006747"/>
          </a:solidFill>
          <a:ln w="12700">
            <a:solidFill>
              <a:srgbClr val="006747"/>
            </a:solidFill>
            <a:prstDash val="solid"/>
          </a:ln>
        </p:spPr>
      </p:sp>
      <p:sp>
        <p:nvSpPr>
          <p:cNvPr id="11" name="Text 8"/>
          <p:cNvSpPr/>
          <p:nvPr/>
        </p:nvSpPr>
        <p:spPr>
          <a:xfrm>
            <a:off x="731520" y="3304032"/>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624072"/>
            <a:ext cx="10728655" cy="91389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If the iron deficiency configuration opens under a roadmap gate, the money would work the way every other primary-care cycle does: a cost per activity for each completed test, paid by the commissioner direct to the supplier, against a national ceiling. Nothing about Layla's economics is exotic. The saving is the string of missed and re-booked appointments the practice stops paying for in slots, letters and chased bookings, and the dose change that stops being fourteen months late.</a:t>
            </a:r>
            <a:endParaRPr lang="en-US" sz="1150" dirty="0"/>
          </a:p>
        </p:txBody>
      </p:sp>
      <p:sp>
        <p:nvSpPr>
          <p:cNvPr id="13" name="Text 10"/>
          <p:cNvSpPr/>
          <p:nvPr/>
        </p:nvSpPr>
        <p:spPr>
          <a:xfrm>
            <a:off x="731520" y="4583684"/>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Layla's story: HomeTest Hearts and Minds</dc:title>
  <dc:subject>PptxGenJS Presentation</dc:subject>
  <dc:creator>HomeTest Programme</dc:creator>
  <cp:lastModifiedBy>HomeTest Programme</cp:lastModifiedBy>
  <cp:revision>1</cp:revision>
  <dcterms:created xsi:type="dcterms:W3CDTF">2026-09-05T08:28:25Z</dcterms:created>
  <dcterms:modified xsi:type="dcterms:W3CDTF">2026-09-05T08:28:25Z</dcterms:modified>
</cp:coreProperties>
</file>