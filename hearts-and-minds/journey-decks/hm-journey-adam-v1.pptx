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cohort · the patients in front of him
Adam runs a PSA Active Surveillance clinic at a large acute trust. The cohort grows, the clinic doesn't. Some patients live far from the hospital, some work shifts, some care for someone at home. The drop-outs are the patients he worries about most.
Quote: I do not need a new tool. I need the patients I cannot see in clinic to stay in surveillance. Give me a reliable way to monitor them at home and put the result back in front of me, and I will use it.
What the model is doing underneath: A PSA Active Surveillance cohort growing year on year as more men are eligible. A quarterly clinic cycle. A list of patients who repeatedly miss appointments and a smaller list of patients who have stopped attending altogether. NICE NG131 surveillance guidance in his head. The clinical question is: how do I keep these men in surveillance without my clinic capacity being the limit?
The old way: Quarterly in-clinic phlebotomy and consultant review. The patient comes to the hospital, has a PSA drawn, and waits to be seen. The cohort that drops out is the cohort that loses surveillance. The clinical risk lands on the dropped patients, not on the model.
What the care team sees: His clinical nurse specialist on the cohort. His MDT. His Trust's outpatient lead on capacity. The radiologist on the imaging follow-on. The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drop-outs · the clinic-only model's blind spot
Follow-up appointments are fifty-four per cent of NHS outpatient activity. The PSA-AS quarterly review is exactly the kind of follow-up that never needed a room. The patients who drop out are the ones the clinic-only model was never going to hold.
Quote: The patients who miss the appointment are not refusing care. They are keeping their jobs, getting their kids to school, looking after a parent. The clinic was always the wrong venue for routine bloods. The risk was always in the model, not in them.
What the model is doing underneath: Follow-up appointments account for around 54% of NHS outpatient activity. Eight million outpatient appointments went unattended in England in 2023/24. The PSA-AS quarterly review is precisely the kind of follow-up that, done remotely, releases clinic capacity for the patients who clinically need clinic time. Surveillance attrition is a known clinical problem in active surveillance cohorts.
The old way: Patients who fall out of surveillance lose the safety net the surveillance provides. PSA trends are not detected. Disease progression is found later, sometimes too late. The clinical risk is invisible to the clinic and lands on the patient.
What the care team sees: Catherine, the Acute Trust commissioner who pays for the outpatient capacity Adam burns. The MDT colleagues with the same drop-out curve in their cohorts. The patient who stopped coming.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model's offer · kit out, result back to him
The home pathway sends the kit to the patient. The sample comes back to the lab. The PSA result lands on Adam's desk before the next clinic, in trend with everything that came before. The clinical role is preserved, the venue is not.
Quote: I am not interested in a model that sends raw numbers to a patient without clinical interpretation. I am interested in a model where the kit changes the venue and the clinical accountability does not move. That is what this is.
What the model is doing underneath: The PSA result returns to Adam first, in trend, not to the patient as a raw number. The clinical review remains his. Threshold alerts (built on NICE NG131 surveillance guidance) escalate to him; routine in-range results are reviewed in the same MDT rhythm he uses now. The kit changes where the blood is drawn. It does not change who reads the trend.
The old way: A model that bypasses the consultant, sends results direct to the patient, and removes the clinical interpretation step. Adam would not have adopted that. Most of his consultant colleagues would not have either. Clinician-initiated only works if the clinician's role is held.
What the care team sees: Aisha, the Clinical Safety Group lead, owning the safety case and the threshold-alert rules. The MHRA-cleared kit supplier on lab assurance. The Trust's clinical governance lead on local sign-off.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home prescriptions · right patient, right cycle
Adam picks the first patients carefully. Stable surveillance trajectory. Comfortable with the kit. Comfortable with the clinical safety net behind it. Mark is one of the first. The kit goes home, the result comes back, the next clinic does not.
Quote: I am picking patients I would already trust with their own monitoring if the tooling existed. Stable trend, comfortable with the kit, family at home who can help if needed. The model meets them where they already are.
What the model is doing underneath: A short conversation at the end of the in-clinic appointment: would you be comfortable doing the next blood at home? Almost every patient says yes. The kit ships from the supplier. The patient takes the sample on the date the clinic would have happened. The lab processes it. The result lands in Adam's system before he would have seen the patient. The clinic visit that did not happen is one he did not have capacity for anyway.
The old way: Every patient comes in every quarter. No tier of patients reading their trend remotely. No clinic time freed for the patients whose disease behaviour means clinic is the right venue. The clinic-only model treats every patient as if they need clinic time, regardless of whether they clinically do.
What the care team sees: The clinical nurse specialist coordinating onboarding. The supplier shipping the kit. The lab processing the sample. The platform delivering the result back. The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Surveillance in flight · trends, not appointments
The cohort settles into a new rhythm. Results arrive on Adam's desk in trend. Stable patients stay in surveillance. Threshold breaches escalate. The clinic now sees the patients who clinically need to be seen, not every patient by default.
Quote: The silence is doing clinical work. Every result is reviewed in trend, and escalation happens when the line moves. Safety is the review, not the appointment. That is what surveillance was supposed to be all along.
What the model is doing underneath: Routine in-range PSA results are reviewed in trend by Adam in the same MDT rhythm. Threshold breaches (rate of change, absolute value) trigger an alert and an MDT discussion within a defined window. Patients who would benefit from clinic are seen in clinic. Patients whose disease is stable stay home for the next quarterly cycle. The model surfaces clinical signal, not appointment volume.
The old way: Every quarter, every patient, in clinic regardless of trend. The signal-to-noise ratio of in-clinic surveillance was poor because most appointments confirmed stability rather than detecting change. The clinically interesting patients shared clinic time with the clinically uneventful ones.
What the care team sees: The MDT, holding the trend review. The CNS, coordinating between routine surveillance and escalation. Priya on the data layer, ensuring the result writes back to the Trust EPR cleanly. The patient, getting on with their life between cycles.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clinic shape now · time for the patients who need it
More patients in surveillance. Fewer drop-outs. The same consultant cohort. The clinic now sees the patients whose disease behaviour says clinic is the right venue. Capacity goes where the clinical need is, not where the diary template said.
Quote: The patients I worried about are still in surveillance. The clinic is full of the patients who clinically belong there. Same team, more reach, less attrition. That was the only version of this worth doing.
What the model is doing underneath: PSA-AS cohort size up; surveillance attrition down (drop-out curve flatter across cycles); clinic capacity reallocated from routine PSA reviews to active concerns and imaging follow-on. Outpatient slots returned to the Trust's elective recovery target. The same consultant team holds more patients in surveillance than the clinic-only model could have, with no extra clinic time. The model passes the test that mattered to him: clinical accountability preserved, reach extended, capacity released.
The old way: Cohort capped by clinic capacity. Drop-outs growing with cohort age. Routine bloods consuming consultant time. The clinically interesting patients waiting for an appointment behind the clinically uneventful ones. Surveillance failing the patients it was designed to protect.
What the care team sees: Adam and his MDT, running a larger surveillance cohort with no clinic-capacity penalty. Catherine, his Trust commissioner, seeing released outpatient slots flow into elective recovery. Mark and the other men in the cohort, staying in surveillance, getting on with their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087"/>
        </a:solidFill>
      </p:bgPr>
    </p:bg>
    <p:spTree>
      <p:nvGrpSpPr>
        <p:cNvPr id="1" name=""/>
        <p:cNvGrpSpPr/>
        <p:nvPr/>
      </p:nvGrpSpPr>
      <p:grpSpPr>
        <a:xfrm>
          <a:off x="0" y="0"/>
          <a:ext cx="0" cy="0"/>
          <a:chOff x="0" y="0"/>
          <a:chExt cx="0" cy="0"/>
        </a:xfrm>
      </p:grpSpPr>
      <p:pic>
        <p:nvPicPr>
          <p:cNvPr id="2" name="Image 0" descr="/sessions/quirky-zen-galileo/mnt/outputs/deckbuild/nhs_logo.png">    </p:cNvPr>
          <p:cNvPicPr>
            <a:picLocks noChangeAspect="1"/>
          </p:cNvPicPr>
          <p:nvPr/>
        </p:nvPicPr>
        <p:blipFill>
          <a:blip r:embed="rId1"/>
          <a:stretch>
            <a:fillRect/>
          </a:stretch>
        </p:blipFill>
        <p:spPr>
          <a:xfrm>
            <a:off x="10591495" y="365760"/>
            <a:ext cx="1143000" cy="466344"/>
          </a:xfrm>
          <a:prstGeom prst="rect">
            <a:avLst/>
          </a:prstGeom>
        </p:spPr>
      </p:pic>
      <p:sp>
        <p:nvSpPr>
          <p:cNvPr id="3" name="Text 0"/>
          <p:cNvSpPr/>
          <p:nvPr/>
        </p:nvSpPr>
        <p:spPr>
          <a:xfrm>
            <a:off x="640080" y="502920"/>
            <a:ext cx="9326880" cy="274320"/>
          </a:xfrm>
          <a:prstGeom prst="rect">
            <a:avLst/>
          </a:prstGeom>
          <a:noFill/>
          <a:ln/>
        </p:spPr>
        <p:txBody>
          <a:bodyPr wrap="square" lIns="0" tIns="0" rIns="0" bIns="0" rtlCol="0" anchor="ctr"/>
          <a:lstStyle/>
          <a:p>
            <a:pPr indent="0" marL="0">
              <a:buNone/>
            </a:pPr>
            <a:r>
              <a:rPr lang="en-US" sz="1050" b="1" spc="300" kern="0" dirty="0">
                <a:solidFill>
                  <a:srgbClr val="7EC8E3"/>
                </a:solidFill>
                <a:latin typeface="Arial" pitchFamily="34" charset="0"/>
                <a:ea typeface="Arial" pitchFamily="34" charset="-122"/>
                <a:cs typeface="Arial" pitchFamily="34" charset="-120"/>
              </a:rPr>
              <a:t>HEARTS AND MINDS  ·  HOMETEST OPERATING MODEL  ·  CLINICIAN JOURNEY</a:t>
            </a:r>
            <a:endParaRPr lang="en-US" sz="1050" dirty="0"/>
          </a:p>
        </p:txBody>
      </p:sp>
      <p:sp>
        <p:nvSpPr>
          <p:cNvPr id="4" name="Shape 1"/>
          <p:cNvSpPr/>
          <p:nvPr/>
        </p:nvSpPr>
        <p:spPr>
          <a:xfrm>
            <a:off x="640080" y="914400"/>
            <a:ext cx="822960" cy="54864"/>
          </a:xfrm>
          <a:prstGeom prst="rect">
            <a:avLst/>
          </a:prstGeom>
          <a:solidFill>
            <a:srgbClr val="FFB91D"/>
          </a:solidFill>
          <a:ln w="12700">
            <a:solidFill>
              <a:srgbClr val="FFB91D"/>
            </a:solidFill>
            <a:prstDash val="solid"/>
          </a:ln>
        </p:spPr>
      </p:sp>
      <p:sp>
        <p:nvSpPr>
          <p:cNvPr id="5" name="Text 2"/>
          <p:cNvSpPr/>
          <p:nvPr/>
        </p:nvSpPr>
        <p:spPr>
          <a:xfrm>
            <a:off x="640080" y="1097280"/>
            <a:ext cx="7315200" cy="100584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Adam.</a:t>
            </a:r>
            <a:endParaRPr lang="en-US" sz="6000" dirty="0"/>
          </a:p>
        </p:txBody>
      </p:sp>
      <p:sp>
        <p:nvSpPr>
          <p:cNvPr id="6" name="Text 3"/>
          <p:cNvSpPr/>
          <p:nvPr/>
        </p:nvSpPr>
        <p:spPr>
          <a:xfrm>
            <a:off x="640080" y="2148840"/>
            <a:ext cx="6949440" cy="1207008"/>
          </a:xfrm>
          <a:prstGeom prst="rect">
            <a:avLst/>
          </a:prstGeom>
          <a:noFill/>
          <a:ln/>
        </p:spPr>
        <p:txBody>
          <a:bodyPr wrap="square" lIns="0" tIns="0" rIns="0" bIns="0" rtlCol="0" anchor="t">
            <a:normAutofit/>
          </a:bodyPr>
          <a:lstStyle/>
          <a:p>
            <a:pPr indent="0" marL="0">
              <a:buNone/>
            </a:pPr>
            <a:r>
              <a:rPr lang="en-US" sz="2400" dirty="0">
                <a:solidFill>
                  <a:srgbClr val="FFFFFF"/>
                </a:solidFill>
                <a:latin typeface="Arial" pitchFamily="34" charset="0"/>
                <a:ea typeface="Arial" pitchFamily="34" charset="-122"/>
                <a:cs typeface="Arial" pitchFamily="34" charset="-120"/>
              </a:rPr>
              <a:t>The patients</a:t>
            </a:r>
            <a:endParaRPr lang="en-US" sz="2400" dirty="0"/>
          </a:p>
          <a:p>
            <a:pPr indent="0" marL="0">
              <a:buNone/>
            </a:pPr>
            <a:r>
              <a:rPr lang="en-US" sz="2400" dirty="0">
                <a:solidFill>
                  <a:srgbClr val="FFFFFF"/>
                </a:solidFill>
                <a:latin typeface="Arial" pitchFamily="34" charset="0"/>
                <a:ea typeface="Arial" pitchFamily="34" charset="-122"/>
                <a:cs typeface="Arial" pitchFamily="34" charset="-120"/>
              </a:rPr>
              <a:t>he cannot see</a:t>
            </a:r>
            <a:endParaRPr lang="en-US" sz="2400" dirty="0"/>
          </a:p>
          <a:p>
            <a:pPr indent="0" marL="0">
              <a:buNone/>
            </a:pPr>
            <a:r>
              <a:rPr lang="en-US" sz="2400" dirty="0">
                <a:solidFill>
                  <a:srgbClr val="FFFFFF"/>
                </a:solidFill>
                <a:latin typeface="Arial" pitchFamily="34" charset="0"/>
                <a:ea typeface="Arial" pitchFamily="34" charset="-122"/>
                <a:cs typeface="Arial" pitchFamily="34" charset="-120"/>
              </a:rPr>
              <a:t>stay in surveillance.</a:t>
            </a:r>
            <a:endParaRPr lang="en-US" sz="2400" dirty="0"/>
          </a:p>
        </p:txBody>
      </p:sp>
      <p:sp>
        <p:nvSpPr>
          <p:cNvPr id="7" name="Text 4"/>
          <p:cNvSpPr/>
          <p:nvPr/>
        </p:nvSpPr>
        <p:spPr>
          <a:xfrm>
            <a:off x="640080" y="3630168"/>
            <a:ext cx="6949440" cy="1021080"/>
          </a:xfrm>
          <a:prstGeom prst="rect">
            <a:avLst/>
          </a:prstGeom>
          <a:noFill/>
          <a:ln/>
        </p:spPr>
        <p:txBody>
          <a:bodyPr wrap="square" lIns="0" tIns="0" rIns="0" bIns="0" rtlCol="0" anchor="t">
            <a:normAutofit/>
          </a:bodyPr>
          <a:lstStyle/>
          <a:p>
            <a:pPr indent="0" marL="0">
              <a:buNone/>
            </a:pPr>
            <a:r>
              <a:rPr lang="en-US" sz="1200" dirty="0">
                <a:solidFill>
                  <a:srgbClr val="DCE7F0"/>
                </a:solidFill>
                <a:latin typeface="Arial" pitchFamily="34" charset="0"/>
                <a:ea typeface="Arial" pitchFamily="34" charset="-122"/>
                <a:cs typeface="Arial" pitchFamily="34" charset="-120"/>
              </a:rPr>
              <a:t>Adam is a consultant urologist running a PSA Active Surveillance cohort at a large acute trust. He sees his patients on a quarterly cycle. Some miss appointments because of work, travel or caring responsibilities. Some drop out of surveillance entirely. The drop-outs are the patients he worries about most. </a:t>
            </a:r>
            <a:pPr indent="0" marL="0">
              <a:buNone/>
            </a:pPr>
            <a:r>
              <a:rPr lang="en-US" sz="1200" b="1" dirty="0">
                <a:solidFill>
                  <a:srgbClr val="DCE7F0"/>
                </a:solidFill>
                <a:latin typeface="Arial" pitchFamily="34" charset="0"/>
                <a:ea typeface="Arial" pitchFamily="34" charset="-122"/>
                <a:cs typeface="Arial" pitchFamily="34" charset="-120"/>
              </a:rPr>
              <a:t>This is the story of how the model lets him keep more patients in surveillance without his clinic growing.</a:t>
            </a:r>
            <a:endParaRPr lang="en-US" sz="1200" dirty="0"/>
          </a:p>
        </p:txBody>
      </p:sp>
      <p:sp>
        <p:nvSpPr>
          <p:cNvPr id="8" name="Text 5"/>
          <p:cNvSpPr/>
          <p:nvPr/>
        </p:nvSpPr>
        <p:spPr>
          <a:xfrm>
            <a:off x="640080" y="4788408"/>
            <a:ext cx="6949440" cy="365760"/>
          </a:xfrm>
          <a:prstGeom prst="rect">
            <a:avLst/>
          </a:prstGeom>
          <a:noFill/>
          <a:ln/>
        </p:spPr>
        <p:txBody>
          <a:bodyPr wrap="square" lIns="0" tIns="0" rIns="0" bIns="0" rtlCol="0" anchor="ctr"/>
          <a:lstStyle/>
          <a:p>
            <a:pPr indent="0" marL="0">
              <a:buNone/>
            </a:pPr>
            <a:r>
              <a:rPr lang="en-US" sz="1050" i="1" dirty="0">
                <a:solidFill>
                  <a:srgbClr val="7EC8E3"/>
                </a:solidFill>
                <a:latin typeface="Arial" pitchFamily="34" charset="0"/>
                <a:ea typeface="Arial" pitchFamily="34" charset="-122"/>
                <a:cs typeface="Arial" pitchFamily="34" charset="-120"/>
              </a:rPr>
              <a:t>A clinician's story through the operating model</a:t>
            </a:r>
            <a:endParaRPr lang="en-US" sz="1050" dirty="0"/>
          </a:p>
        </p:txBody>
      </p:sp>
      <p:sp>
        <p:nvSpPr>
          <p:cNvPr id="9" name="Shape 6"/>
          <p:cNvSpPr/>
          <p:nvPr/>
        </p:nvSpPr>
        <p:spPr>
          <a:xfrm>
            <a:off x="8476488" y="1344168"/>
            <a:ext cx="2889504" cy="2889504"/>
          </a:xfrm>
          <a:prstGeom prst="ellipse">
            <a:avLst/>
          </a:prstGeom>
          <a:solidFill>
            <a:srgbClr val="C9A0E3"/>
          </a:solidFill>
          <a:ln w="12700">
            <a:solidFill>
              <a:srgbClr val="C9A0E3"/>
            </a:solidFill>
            <a:prstDash val="solid"/>
          </a:ln>
        </p:spPr>
      </p:sp>
      <p:pic>
        <p:nvPicPr>
          <p:cNvPr id="10" name="Image 1" descr="/sessions/quirky-zen-galileo/mnt/outputs/hmdecks5/img/adam-portrait.jpg">    </p:cNvPr>
          <p:cNvPicPr>
            <a:picLocks noChangeAspect="1"/>
          </p:cNvPicPr>
          <p:nvPr/>
        </p:nvPicPr>
        <p:blipFill>
          <a:blip r:embed="rId2"/>
          <a:srcRect l="0" r="0" t="0" b="0"/>
          <a:stretch/>
        </p:blipFill>
        <p:spPr>
          <a:xfrm>
            <a:off x="8549640" y="1417320"/>
            <a:ext cx="2743200" cy="2743200"/>
          </a:xfrm>
          <a:prstGeom prst="ellipse">
            <a:avLst/>
          </a:prstGeom>
        </p:spPr>
      </p:pic>
      <p:sp>
        <p:nvSpPr>
          <p:cNvPr id="11" name="Text 7"/>
          <p:cNvSpPr/>
          <p:nvPr/>
        </p:nvSpPr>
        <p:spPr>
          <a:xfrm>
            <a:off x="8138160" y="4343400"/>
            <a:ext cx="356616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Adam</a:t>
            </a:r>
            <a:endParaRPr lang="en-US" sz="2000" dirty="0"/>
          </a:p>
        </p:txBody>
      </p:sp>
      <p:sp>
        <p:nvSpPr>
          <p:cNvPr id="12" name="Text 8"/>
          <p:cNvSpPr/>
          <p:nvPr/>
        </p:nvSpPr>
        <p:spPr>
          <a:xfrm>
            <a:off x="7955280" y="4754880"/>
            <a:ext cx="3931920" cy="640080"/>
          </a:xfrm>
          <a:prstGeom prst="rect">
            <a:avLst/>
          </a:prstGeom>
          <a:noFill/>
          <a:ln/>
        </p:spPr>
        <p:txBody>
          <a:bodyPr wrap="square" lIns="0" tIns="0" rIns="0" bIns="0" rtlCol="0" anchor="t"/>
          <a:lstStyle/>
          <a:p>
            <a:pPr algn="ctr" indent="0" marL="0">
              <a:buNone/>
            </a:pPr>
            <a:r>
              <a:rPr lang="en-US" sz="1100" dirty="0">
                <a:solidFill>
                  <a:srgbClr val="FFB91D"/>
                </a:solidFill>
                <a:latin typeface="Arial" pitchFamily="34" charset="0"/>
                <a:ea typeface="Arial" pitchFamily="34" charset="-122"/>
                <a:cs typeface="Arial" pitchFamily="34" charset="-120"/>
              </a:rPr>
              <a:t>Consultant urologist · PSA Active Surveillance</a:t>
            </a:r>
            <a:endParaRPr lang="en-US" sz="1100" dirty="0"/>
          </a:p>
        </p:txBody>
      </p:sp>
      <p:sp>
        <p:nvSpPr>
          <p:cNvPr id="13" name="Text 9"/>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C8E3"/>
                </a:solidFill>
                <a:latin typeface="Arial" pitchFamily="34" charset="0"/>
                <a:ea typeface="Arial" pitchFamily="34" charset="-122"/>
                <a:cs typeface="Arial" pitchFamily="34" charset="-120"/>
              </a:rPr>
              <a:t>HomeTest Operating Model  ·  Hearts and Minds</a:t>
            </a:r>
            <a:endParaRPr lang="en-US" sz="850" dirty="0"/>
          </a:p>
        </p:txBody>
      </p:sp>
      <p:sp>
        <p:nvSpPr>
          <p:cNvPr id="14" name="Text 10"/>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C8E3"/>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C9A0E3"/>
          </a:solidFill>
          <a:ln w="12700">
            <a:solidFill>
              <a:srgbClr val="C9A0E3"/>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CLINICIAN JOURNEY</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Adam's journey at a glance</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Shape 4"/>
          <p:cNvSpPr/>
          <p:nvPr/>
        </p:nvSpPr>
        <p:spPr>
          <a:xfrm>
            <a:off x="457200" y="1234440"/>
            <a:ext cx="1788109" cy="1234440"/>
          </a:xfrm>
          <a:prstGeom prst="roundRect">
            <a:avLst>
              <a:gd name="adj" fmla="val 5926"/>
            </a:avLst>
          </a:prstGeom>
          <a:solidFill>
            <a:srgbClr val="F0F4F5"/>
          </a:solidFill>
          <a:ln w="9525">
            <a:solidFill>
              <a:srgbClr val="DDE3E8"/>
            </a:solidFill>
            <a:prstDash val="solid"/>
          </a:ln>
        </p:spPr>
      </p:sp>
      <p:sp>
        <p:nvSpPr>
          <p:cNvPr id="8" name="Shape 5"/>
          <p:cNvSpPr/>
          <p:nvPr/>
        </p:nvSpPr>
        <p:spPr>
          <a:xfrm>
            <a:off x="457200" y="1234440"/>
            <a:ext cx="1788109" cy="54864"/>
          </a:xfrm>
          <a:prstGeom prst="rect">
            <a:avLst/>
          </a:prstGeom>
          <a:solidFill>
            <a:srgbClr val="C9A0E3"/>
          </a:solidFill>
          <a:ln w="12700">
            <a:solidFill>
              <a:srgbClr val="C9A0E3"/>
            </a:solidFill>
            <a:prstDash val="solid"/>
          </a:ln>
        </p:spPr>
      </p:sp>
      <p:sp>
        <p:nvSpPr>
          <p:cNvPr id="9" name="Shape 6"/>
          <p:cNvSpPr/>
          <p:nvPr/>
        </p:nvSpPr>
        <p:spPr>
          <a:xfrm>
            <a:off x="585216" y="1417320"/>
            <a:ext cx="347472" cy="347472"/>
          </a:xfrm>
          <a:prstGeom prst="ellipse">
            <a:avLst/>
          </a:prstGeom>
          <a:solidFill>
            <a:srgbClr val="003087"/>
          </a:solidFill>
          <a:ln w="12700">
            <a:solidFill>
              <a:srgbClr val="003087"/>
            </a:solidFill>
            <a:prstDash val="solid"/>
          </a:ln>
        </p:spPr>
      </p:sp>
      <p:sp>
        <p:nvSpPr>
          <p:cNvPr id="10" name="Text 7"/>
          <p:cNvSpPr/>
          <p:nvPr/>
        </p:nvSpPr>
        <p:spPr>
          <a:xfrm>
            <a:off x="585216"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1" name="Text 8"/>
          <p:cNvSpPr/>
          <p:nvPr/>
        </p:nvSpPr>
        <p:spPr>
          <a:xfrm>
            <a:off x="1005840" y="1380744"/>
            <a:ext cx="1148029"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The cohort</a:t>
            </a:r>
            <a:endParaRPr lang="en-US" sz="1100" dirty="0"/>
          </a:p>
        </p:txBody>
      </p:sp>
      <p:sp>
        <p:nvSpPr>
          <p:cNvPr id="12" name="Text 9"/>
          <p:cNvSpPr/>
          <p:nvPr/>
        </p:nvSpPr>
        <p:spPr>
          <a:xfrm>
            <a:off x="585216" y="1856232"/>
            <a:ext cx="1532077"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The patients in front of him</a:t>
            </a:r>
            <a:endParaRPr lang="en-US" sz="900" dirty="0"/>
          </a:p>
        </p:txBody>
      </p:sp>
      <p:sp>
        <p:nvSpPr>
          <p:cNvPr id="13" name="Shape 10"/>
          <p:cNvSpPr/>
          <p:nvPr/>
        </p:nvSpPr>
        <p:spPr>
          <a:xfrm>
            <a:off x="2355037" y="1234440"/>
            <a:ext cx="1788109" cy="1234440"/>
          </a:xfrm>
          <a:prstGeom prst="roundRect">
            <a:avLst>
              <a:gd name="adj" fmla="val 5926"/>
            </a:avLst>
          </a:prstGeom>
          <a:solidFill>
            <a:srgbClr val="F0F4F5"/>
          </a:solidFill>
          <a:ln w="9525">
            <a:solidFill>
              <a:srgbClr val="DDE3E8"/>
            </a:solidFill>
            <a:prstDash val="solid"/>
          </a:ln>
        </p:spPr>
      </p:sp>
      <p:sp>
        <p:nvSpPr>
          <p:cNvPr id="14" name="Shape 11"/>
          <p:cNvSpPr/>
          <p:nvPr/>
        </p:nvSpPr>
        <p:spPr>
          <a:xfrm>
            <a:off x="2355037" y="1234440"/>
            <a:ext cx="1788109" cy="54864"/>
          </a:xfrm>
          <a:prstGeom prst="rect">
            <a:avLst/>
          </a:prstGeom>
          <a:solidFill>
            <a:srgbClr val="C9A0E3"/>
          </a:solidFill>
          <a:ln w="12700">
            <a:solidFill>
              <a:srgbClr val="C9A0E3"/>
            </a:solidFill>
            <a:prstDash val="solid"/>
          </a:ln>
        </p:spPr>
      </p:sp>
      <p:sp>
        <p:nvSpPr>
          <p:cNvPr id="15" name="Shape 12"/>
          <p:cNvSpPr/>
          <p:nvPr/>
        </p:nvSpPr>
        <p:spPr>
          <a:xfrm>
            <a:off x="2483053" y="1417320"/>
            <a:ext cx="347472" cy="347472"/>
          </a:xfrm>
          <a:prstGeom prst="ellipse">
            <a:avLst/>
          </a:prstGeom>
          <a:solidFill>
            <a:srgbClr val="003087"/>
          </a:solidFill>
          <a:ln w="12700">
            <a:solidFill>
              <a:srgbClr val="003087"/>
            </a:solidFill>
            <a:prstDash val="solid"/>
          </a:ln>
        </p:spPr>
      </p:sp>
      <p:sp>
        <p:nvSpPr>
          <p:cNvPr id="16" name="Text 13"/>
          <p:cNvSpPr/>
          <p:nvPr/>
        </p:nvSpPr>
        <p:spPr>
          <a:xfrm>
            <a:off x="2483053"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7" name="Text 14"/>
          <p:cNvSpPr/>
          <p:nvPr/>
        </p:nvSpPr>
        <p:spPr>
          <a:xfrm>
            <a:off x="2903677" y="1380744"/>
            <a:ext cx="1148029"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The drop-outs</a:t>
            </a:r>
            <a:endParaRPr lang="en-US" sz="1100" dirty="0"/>
          </a:p>
        </p:txBody>
      </p:sp>
      <p:sp>
        <p:nvSpPr>
          <p:cNvPr id="18" name="Text 15"/>
          <p:cNvSpPr/>
          <p:nvPr/>
        </p:nvSpPr>
        <p:spPr>
          <a:xfrm>
            <a:off x="2483053" y="1856232"/>
            <a:ext cx="1532077"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The clinic-only model's blind spot</a:t>
            </a:r>
            <a:endParaRPr lang="en-US" sz="900" dirty="0"/>
          </a:p>
        </p:txBody>
      </p:sp>
      <p:sp>
        <p:nvSpPr>
          <p:cNvPr id="19" name="Shape 16"/>
          <p:cNvSpPr/>
          <p:nvPr/>
        </p:nvSpPr>
        <p:spPr>
          <a:xfrm>
            <a:off x="4252874" y="1234440"/>
            <a:ext cx="1788109" cy="1234440"/>
          </a:xfrm>
          <a:prstGeom prst="roundRect">
            <a:avLst>
              <a:gd name="adj" fmla="val 5926"/>
            </a:avLst>
          </a:prstGeom>
          <a:solidFill>
            <a:srgbClr val="F0F4F5"/>
          </a:solidFill>
          <a:ln w="9525">
            <a:solidFill>
              <a:srgbClr val="DDE3E8"/>
            </a:solidFill>
            <a:prstDash val="solid"/>
          </a:ln>
        </p:spPr>
      </p:sp>
      <p:sp>
        <p:nvSpPr>
          <p:cNvPr id="20" name="Shape 17"/>
          <p:cNvSpPr/>
          <p:nvPr/>
        </p:nvSpPr>
        <p:spPr>
          <a:xfrm>
            <a:off x="4252874" y="1234440"/>
            <a:ext cx="1788109" cy="54864"/>
          </a:xfrm>
          <a:prstGeom prst="rect">
            <a:avLst/>
          </a:prstGeom>
          <a:solidFill>
            <a:srgbClr val="C9A0E3"/>
          </a:solidFill>
          <a:ln w="12700">
            <a:solidFill>
              <a:srgbClr val="C9A0E3"/>
            </a:solidFill>
            <a:prstDash val="solid"/>
          </a:ln>
        </p:spPr>
      </p:sp>
      <p:sp>
        <p:nvSpPr>
          <p:cNvPr id="21" name="Shape 18"/>
          <p:cNvSpPr/>
          <p:nvPr/>
        </p:nvSpPr>
        <p:spPr>
          <a:xfrm>
            <a:off x="4380890" y="1417320"/>
            <a:ext cx="347472" cy="347472"/>
          </a:xfrm>
          <a:prstGeom prst="ellipse">
            <a:avLst/>
          </a:prstGeom>
          <a:solidFill>
            <a:srgbClr val="003087"/>
          </a:solidFill>
          <a:ln w="12700">
            <a:solidFill>
              <a:srgbClr val="003087"/>
            </a:solidFill>
            <a:prstDash val="solid"/>
          </a:ln>
        </p:spPr>
      </p:sp>
      <p:sp>
        <p:nvSpPr>
          <p:cNvPr id="22" name="Text 19"/>
          <p:cNvSpPr/>
          <p:nvPr/>
        </p:nvSpPr>
        <p:spPr>
          <a:xfrm>
            <a:off x="4380890"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3" name="Text 20"/>
          <p:cNvSpPr/>
          <p:nvPr/>
        </p:nvSpPr>
        <p:spPr>
          <a:xfrm>
            <a:off x="4801514" y="1380744"/>
            <a:ext cx="1148029"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The model's offer</a:t>
            </a:r>
            <a:endParaRPr lang="en-US" sz="1100" dirty="0"/>
          </a:p>
        </p:txBody>
      </p:sp>
      <p:sp>
        <p:nvSpPr>
          <p:cNvPr id="24" name="Text 21"/>
          <p:cNvSpPr/>
          <p:nvPr/>
        </p:nvSpPr>
        <p:spPr>
          <a:xfrm>
            <a:off x="4380890" y="1856232"/>
            <a:ext cx="1532077"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Kit out, result back to him</a:t>
            </a:r>
            <a:endParaRPr lang="en-US" sz="900" dirty="0"/>
          </a:p>
        </p:txBody>
      </p:sp>
      <p:sp>
        <p:nvSpPr>
          <p:cNvPr id="25" name="Shape 22"/>
          <p:cNvSpPr/>
          <p:nvPr/>
        </p:nvSpPr>
        <p:spPr>
          <a:xfrm>
            <a:off x="6150712" y="1234440"/>
            <a:ext cx="1788109" cy="1234440"/>
          </a:xfrm>
          <a:prstGeom prst="roundRect">
            <a:avLst>
              <a:gd name="adj" fmla="val 5926"/>
            </a:avLst>
          </a:prstGeom>
          <a:solidFill>
            <a:srgbClr val="F0F4F5"/>
          </a:solidFill>
          <a:ln w="9525">
            <a:solidFill>
              <a:srgbClr val="DDE3E8"/>
            </a:solidFill>
            <a:prstDash val="solid"/>
          </a:ln>
        </p:spPr>
      </p:sp>
      <p:sp>
        <p:nvSpPr>
          <p:cNvPr id="26" name="Shape 23"/>
          <p:cNvSpPr/>
          <p:nvPr/>
        </p:nvSpPr>
        <p:spPr>
          <a:xfrm>
            <a:off x="6150712" y="1234440"/>
            <a:ext cx="1788109" cy="54864"/>
          </a:xfrm>
          <a:prstGeom prst="rect">
            <a:avLst/>
          </a:prstGeom>
          <a:solidFill>
            <a:srgbClr val="C9A0E3"/>
          </a:solidFill>
          <a:ln w="12700">
            <a:solidFill>
              <a:srgbClr val="C9A0E3"/>
            </a:solidFill>
            <a:prstDash val="solid"/>
          </a:ln>
        </p:spPr>
      </p:sp>
      <p:sp>
        <p:nvSpPr>
          <p:cNvPr id="27" name="Shape 24"/>
          <p:cNvSpPr/>
          <p:nvPr/>
        </p:nvSpPr>
        <p:spPr>
          <a:xfrm>
            <a:off x="6278728" y="1417320"/>
            <a:ext cx="347472" cy="347472"/>
          </a:xfrm>
          <a:prstGeom prst="ellipse">
            <a:avLst/>
          </a:prstGeom>
          <a:solidFill>
            <a:srgbClr val="003087"/>
          </a:solidFill>
          <a:ln w="12700">
            <a:solidFill>
              <a:srgbClr val="003087"/>
            </a:solidFill>
            <a:prstDash val="solid"/>
          </a:ln>
        </p:spPr>
      </p:sp>
      <p:sp>
        <p:nvSpPr>
          <p:cNvPr id="28" name="Text 25"/>
          <p:cNvSpPr/>
          <p:nvPr/>
        </p:nvSpPr>
        <p:spPr>
          <a:xfrm>
            <a:off x="6278728"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9" name="Text 26"/>
          <p:cNvSpPr/>
          <p:nvPr/>
        </p:nvSpPr>
        <p:spPr>
          <a:xfrm>
            <a:off x="6699352" y="1380744"/>
            <a:ext cx="1148029"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First home prescriptions</a:t>
            </a:r>
            <a:endParaRPr lang="en-US" sz="1100" dirty="0"/>
          </a:p>
        </p:txBody>
      </p:sp>
      <p:sp>
        <p:nvSpPr>
          <p:cNvPr id="30" name="Text 27"/>
          <p:cNvSpPr/>
          <p:nvPr/>
        </p:nvSpPr>
        <p:spPr>
          <a:xfrm>
            <a:off x="6278728" y="1856232"/>
            <a:ext cx="1532077"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Right patient, right cycle</a:t>
            </a:r>
            <a:endParaRPr lang="en-US" sz="900" dirty="0"/>
          </a:p>
        </p:txBody>
      </p:sp>
      <p:sp>
        <p:nvSpPr>
          <p:cNvPr id="31" name="Shape 28"/>
          <p:cNvSpPr/>
          <p:nvPr/>
        </p:nvSpPr>
        <p:spPr>
          <a:xfrm>
            <a:off x="8048549" y="1234440"/>
            <a:ext cx="1788109" cy="1234440"/>
          </a:xfrm>
          <a:prstGeom prst="roundRect">
            <a:avLst>
              <a:gd name="adj" fmla="val 5926"/>
            </a:avLst>
          </a:prstGeom>
          <a:solidFill>
            <a:srgbClr val="F0F4F5"/>
          </a:solidFill>
          <a:ln w="9525">
            <a:solidFill>
              <a:srgbClr val="DDE3E8"/>
            </a:solidFill>
            <a:prstDash val="solid"/>
          </a:ln>
        </p:spPr>
      </p:sp>
      <p:sp>
        <p:nvSpPr>
          <p:cNvPr id="32" name="Shape 29"/>
          <p:cNvSpPr/>
          <p:nvPr/>
        </p:nvSpPr>
        <p:spPr>
          <a:xfrm>
            <a:off x="8048549" y="1234440"/>
            <a:ext cx="1788109" cy="54864"/>
          </a:xfrm>
          <a:prstGeom prst="rect">
            <a:avLst/>
          </a:prstGeom>
          <a:solidFill>
            <a:srgbClr val="C9A0E3"/>
          </a:solidFill>
          <a:ln w="12700">
            <a:solidFill>
              <a:srgbClr val="C9A0E3"/>
            </a:solidFill>
            <a:prstDash val="solid"/>
          </a:ln>
        </p:spPr>
      </p:sp>
      <p:sp>
        <p:nvSpPr>
          <p:cNvPr id="33" name="Shape 30"/>
          <p:cNvSpPr/>
          <p:nvPr/>
        </p:nvSpPr>
        <p:spPr>
          <a:xfrm>
            <a:off x="8176565" y="1417320"/>
            <a:ext cx="347472" cy="347472"/>
          </a:xfrm>
          <a:prstGeom prst="ellipse">
            <a:avLst/>
          </a:prstGeom>
          <a:solidFill>
            <a:srgbClr val="003087"/>
          </a:solidFill>
          <a:ln w="12700">
            <a:solidFill>
              <a:srgbClr val="003087"/>
            </a:solidFill>
            <a:prstDash val="solid"/>
          </a:ln>
        </p:spPr>
      </p:sp>
      <p:sp>
        <p:nvSpPr>
          <p:cNvPr id="34" name="Text 31"/>
          <p:cNvSpPr/>
          <p:nvPr/>
        </p:nvSpPr>
        <p:spPr>
          <a:xfrm>
            <a:off x="8176565"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35" name="Text 32"/>
          <p:cNvSpPr/>
          <p:nvPr/>
        </p:nvSpPr>
        <p:spPr>
          <a:xfrm>
            <a:off x="8597189" y="1380744"/>
            <a:ext cx="1148029"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Surveillance in flight</a:t>
            </a:r>
            <a:endParaRPr lang="en-US" sz="1100" dirty="0"/>
          </a:p>
        </p:txBody>
      </p:sp>
      <p:sp>
        <p:nvSpPr>
          <p:cNvPr id="36" name="Text 33"/>
          <p:cNvSpPr/>
          <p:nvPr/>
        </p:nvSpPr>
        <p:spPr>
          <a:xfrm>
            <a:off x="8176565" y="1856232"/>
            <a:ext cx="1532077"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Trends, not appointments</a:t>
            </a:r>
            <a:endParaRPr lang="en-US" sz="900" dirty="0"/>
          </a:p>
        </p:txBody>
      </p:sp>
      <p:sp>
        <p:nvSpPr>
          <p:cNvPr id="37" name="Shape 34"/>
          <p:cNvSpPr/>
          <p:nvPr/>
        </p:nvSpPr>
        <p:spPr>
          <a:xfrm>
            <a:off x="9946386" y="1234440"/>
            <a:ext cx="1788109" cy="1234440"/>
          </a:xfrm>
          <a:prstGeom prst="roundRect">
            <a:avLst>
              <a:gd name="adj" fmla="val 5926"/>
            </a:avLst>
          </a:prstGeom>
          <a:solidFill>
            <a:srgbClr val="F0F4F5"/>
          </a:solidFill>
          <a:ln w="9525">
            <a:solidFill>
              <a:srgbClr val="DDE3E8"/>
            </a:solidFill>
            <a:prstDash val="solid"/>
          </a:ln>
        </p:spPr>
      </p:sp>
      <p:sp>
        <p:nvSpPr>
          <p:cNvPr id="38" name="Shape 35"/>
          <p:cNvSpPr/>
          <p:nvPr/>
        </p:nvSpPr>
        <p:spPr>
          <a:xfrm>
            <a:off x="9946386" y="1234440"/>
            <a:ext cx="1788109" cy="54864"/>
          </a:xfrm>
          <a:prstGeom prst="rect">
            <a:avLst/>
          </a:prstGeom>
          <a:solidFill>
            <a:srgbClr val="C9A0E3"/>
          </a:solidFill>
          <a:ln w="12700">
            <a:solidFill>
              <a:srgbClr val="C9A0E3"/>
            </a:solidFill>
            <a:prstDash val="solid"/>
          </a:ln>
        </p:spPr>
      </p:sp>
      <p:sp>
        <p:nvSpPr>
          <p:cNvPr id="39" name="Shape 36"/>
          <p:cNvSpPr/>
          <p:nvPr/>
        </p:nvSpPr>
        <p:spPr>
          <a:xfrm>
            <a:off x="10074402" y="1417320"/>
            <a:ext cx="347472" cy="347472"/>
          </a:xfrm>
          <a:prstGeom prst="ellipse">
            <a:avLst/>
          </a:prstGeom>
          <a:solidFill>
            <a:srgbClr val="003087"/>
          </a:solidFill>
          <a:ln w="12700">
            <a:solidFill>
              <a:srgbClr val="003087"/>
            </a:solidFill>
            <a:prstDash val="solid"/>
          </a:ln>
        </p:spPr>
      </p:sp>
      <p:sp>
        <p:nvSpPr>
          <p:cNvPr id="40" name="Text 37"/>
          <p:cNvSpPr/>
          <p:nvPr/>
        </p:nvSpPr>
        <p:spPr>
          <a:xfrm>
            <a:off x="10074402" y="141732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41" name="Text 38"/>
          <p:cNvSpPr/>
          <p:nvPr/>
        </p:nvSpPr>
        <p:spPr>
          <a:xfrm>
            <a:off x="10495026" y="1380744"/>
            <a:ext cx="1148029" cy="420624"/>
          </a:xfrm>
          <a:prstGeom prst="rect">
            <a:avLst/>
          </a:prstGeom>
          <a:noFill/>
          <a:ln/>
        </p:spPr>
        <p:txBody>
          <a:bodyPr wrap="square" lIns="0" tIns="0" rIns="0" bIns="0" rtlCol="0" anchor="ctr">
            <a:normAutofit/>
          </a:bodyPr>
          <a:lstStyle/>
          <a:p>
            <a:pPr indent="0" marL="0">
              <a:buNone/>
            </a:pPr>
            <a:r>
              <a:rPr lang="en-US" sz="1100" b="1" dirty="0">
                <a:solidFill>
                  <a:srgbClr val="003087"/>
                </a:solidFill>
                <a:latin typeface="Arial" pitchFamily="34" charset="0"/>
                <a:ea typeface="Arial" pitchFamily="34" charset="-122"/>
                <a:cs typeface="Arial" pitchFamily="34" charset="-120"/>
              </a:rPr>
              <a:t>The clinic shape now</a:t>
            </a:r>
            <a:endParaRPr lang="en-US" sz="1100" dirty="0"/>
          </a:p>
        </p:txBody>
      </p:sp>
      <p:sp>
        <p:nvSpPr>
          <p:cNvPr id="42" name="Text 39"/>
          <p:cNvSpPr/>
          <p:nvPr/>
        </p:nvSpPr>
        <p:spPr>
          <a:xfrm>
            <a:off x="10074402" y="1856232"/>
            <a:ext cx="1532077" cy="539496"/>
          </a:xfrm>
          <a:prstGeom prst="rect">
            <a:avLst/>
          </a:prstGeom>
          <a:noFill/>
          <a:ln/>
        </p:spPr>
        <p:txBody>
          <a:bodyPr wrap="square" lIns="0" tIns="0" rIns="0" bIns="0" rtlCol="0" anchor="t">
            <a:normAutofit/>
          </a:bodyPr>
          <a:lstStyle/>
          <a:p>
            <a:pPr indent="0" marL="0">
              <a:buNone/>
            </a:pPr>
            <a:r>
              <a:rPr lang="en-US" sz="900" dirty="0">
                <a:solidFill>
                  <a:srgbClr val="4C6272"/>
                </a:solidFill>
                <a:latin typeface="Arial" pitchFamily="34" charset="0"/>
                <a:ea typeface="Arial" pitchFamily="34" charset="-122"/>
                <a:cs typeface="Arial" pitchFamily="34" charset="-120"/>
              </a:rPr>
              <a:t>Time for the patients who need it</a:t>
            </a:r>
            <a:endParaRPr lang="en-US" sz="900" dirty="0"/>
          </a:p>
        </p:txBody>
      </p:sp>
      <p:sp>
        <p:nvSpPr>
          <p:cNvPr id="43" name="Shape 40"/>
          <p:cNvSpPr/>
          <p:nvPr/>
        </p:nvSpPr>
        <p:spPr>
          <a:xfrm>
            <a:off x="457200" y="2788920"/>
            <a:ext cx="5501488" cy="3520440"/>
          </a:xfrm>
          <a:prstGeom prst="roundRect">
            <a:avLst>
              <a:gd name="adj" fmla="val 2597"/>
            </a:avLst>
          </a:prstGeom>
          <a:solidFill>
            <a:srgbClr val="D5E8F0"/>
          </a:solidFill>
          <a:ln w="9525">
            <a:solidFill>
              <a:srgbClr val="B8D3E6"/>
            </a:solidFill>
            <a:prstDash val="solid"/>
          </a:ln>
        </p:spPr>
      </p:sp>
      <p:sp>
        <p:nvSpPr>
          <p:cNvPr id="44" name="Text 41"/>
          <p:cNvSpPr/>
          <p:nvPr/>
        </p:nvSpPr>
        <p:spPr>
          <a:xfrm>
            <a:off x="685800" y="2953512"/>
            <a:ext cx="5044288" cy="256032"/>
          </a:xfrm>
          <a:prstGeom prst="rect">
            <a:avLst/>
          </a:prstGeom>
          <a:noFill/>
          <a:ln/>
        </p:spPr>
        <p:txBody>
          <a:bodyPr wrap="square" lIns="0" tIns="0" rIns="0" bIns="0" rtlCol="0" anchor="ctr"/>
          <a:lstStyle/>
          <a:p>
            <a:pPr indent="0" marL="0">
              <a:buNone/>
            </a:pPr>
            <a:r>
              <a:rPr lang="en-US" sz="900" b="1" spc="150" kern="0" dirty="0">
                <a:solidFill>
                  <a:srgbClr val="005EB8"/>
                </a:solidFill>
                <a:latin typeface="Arial" pitchFamily="34" charset="0"/>
                <a:ea typeface="Arial" pitchFamily="34" charset="-122"/>
                <a:cs typeface="Arial" pitchFamily="34" charset="-120"/>
              </a:rPr>
              <a:t>THE CLINICAL NORTH STAR</a:t>
            </a:r>
            <a:endParaRPr lang="en-US" sz="900" dirty="0"/>
          </a:p>
        </p:txBody>
      </p:sp>
      <p:sp>
        <p:nvSpPr>
          <p:cNvPr id="45" name="Text 42"/>
          <p:cNvSpPr/>
          <p:nvPr/>
        </p:nvSpPr>
        <p:spPr>
          <a:xfrm>
            <a:off x="685800" y="3227832"/>
            <a:ext cx="5044288" cy="685800"/>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Arial" pitchFamily="34" charset="0"/>
                <a:ea typeface="Arial" pitchFamily="34" charset="-122"/>
                <a:cs typeface="Arial" pitchFamily="34" charset="-120"/>
              </a:rPr>
              <a:t>Clinical accountability preserved. Reach extended. Clinic time freed for the patients who need it.</a:t>
            </a:r>
            <a:endParaRPr lang="en-US" sz="1500" dirty="0"/>
          </a:p>
        </p:txBody>
      </p:sp>
      <p:sp>
        <p:nvSpPr>
          <p:cNvPr id="46" name="Text 43"/>
          <p:cNvSpPr/>
          <p:nvPr/>
        </p:nvSpPr>
        <p:spPr>
          <a:xfrm>
            <a:off x="685800" y="3959352"/>
            <a:ext cx="5044288" cy="2194560"/>
          </a:xfrm>
          <a:prstGeom prst="rect">
            <a:avLst/>
          </a:prstGeom>
          <a:noFill/>
          <a:ln/>
        </p:spPr>
        <p:txBody>
          <a:bodyPr wrap="square" lIns="0" tIns="0" rIns="0" bIns="0" rtlCol="0" anchor="t">
            <a:normAutofit/>
          </a:bodyPr>
          <a:lstStyle/>
          <a:p>
            <a:pPr indent="0" marL="0">
              <a:buNone/>
            </a:pPr>
            <a:r>
              <a:rPr lang="en-US" sz="1100" dirty="0">
                <a:solidFill>
                  <a:srgbClr val="231F20"/>
                </a:solidFill>
                <a:latin typeface="Arial" pitchFamily="34" charset="0"/>
                <a:ea typeface="Arial" pitchFamily="34" charset="-122"/>
                <a:cs typeface="Arial" pitchFamily="34" charset="-120"/>
              </a:rPr>
              <a:t>Adam is not interested in a model that quietly removes him from the loop or sends raw numbers to patients without clinical interpretation. The result comes back to him first. He reads it against the PSA trajectory he is tracking. He decides what happens next. </a:t>
            </a:r>
            <a:pPr indent="0" marL="0">
              <a:buNone/>
            </a:pPr>
            <a:r>
              <a:rPr lang="en-US" sz="1100" b="1" dirty="0">
                <a:solidFill>
                  <a:srgbClr val="231F20"/>
                </a:solidFill>
                <a:latin typeface="Arial" pitchFamily="34" charset="0"/>
                <a:ea typeface="Arial" pitchFamily="34" charset="-122"/>
                <a:cs typeface="Arial" pitchFamily="34" charset="-120"/>
              </a:rPr>
              <a:t>The model that earns clinician adoption is the one that protects clinical accountability rather than routing around it.</a:t>
            </a:r>
            <a:endParaRPr lang="en-US" sz="1100" dirty="0"/>
          </a:p>
        </p:txBody>
      </p:sp>
      <p:sp>
        <p:nvSpPr>
          <p:cNvPr id="47" name="Shape 44"/>
          <p:cNvSpPr/>
          <p:nvPr/>
        </p:nvSpPr>
        <p:spPr>
          <a:xfrm>
            <a:off x="6233008" y="2788920"/>
            <a:ext cx="5501488" cy="3520440"/>
          </a:xfrm>
          <a:prstGeom prst="roundRect">
            <a:avLst>
              <a:gd name="adj" fmla="val 2597"/>
            </a:avLst>
          </a:prstGeom>
          <a:solidFill>
            <a:srgbClr val="FFF3CD"/>
          </a:solidFill>
          <a:ln w="9525">
            <a:solidFill>
              <a:srgbClr val="E6C96A"/>
            </a:solidFill>
            <a:prstDash val="solid"/>
          </a:ln>
        </p:spPr>
      </p:sp>
      <p:sp>
        <p:nvSpPr>
          <p:cNvPr id="48" name="Text 45"/>
          <p:cNvSpPr/>
          <p:nvPr/>
        </p:nvSpPr>
        <p:spPr>
          <a:xfrm>
            <a:off x="6461608" y="2953512"/>
            <a:ext cx="5044288" cy="256032"/>
          </a:xfrm>
          <a:prstGeom prst="rect">
            <a:avLst/>
          </a:prstGeom>
          <a:noFill/>
          <a:ln/>
        </p:spPr>
        <p:txBody>
          <a:bodyPr wrap="square" lIns="0" tIns="0" rIns="0" bIns="0" rtlCol="0" anchor="ctr"/>
          <a:lstStyle/>
          <a:p>
            <a:pPr indent="0" marL="0">
              <a:buNone/>
            </a:pPr>
            <a:r>
              <a:rPr lang="en-US" sz="900" b="1" spc="150" kern="0" dirty="0">
                <a:solidFill>
                  <a:srgbClr val="8A6D1F"/>
                </a:solidFill>
                <a:latin typeface="Arial" pitchFamily="34" charset="0"/>
                <a:ea typeface="Arial" pitchFamily="34" charset="-122"/>
                <a:cs typeface="Arial" pitchFamily="34" charset="-120"/>
              </a:rPr>
              <a:t>WHY THIS WORKS FOR HIM</a:t>
            </a:r>
            <a:endParaRPr lang="en-US" sz="900" dirty="0"/>
          </a:p>
        </p:txBody>
      </p:sp>
      <p:sp>
        <p:nvSpPr>
          <p:cNvPr id="49" name="Text 46"/>
          <p:cNvSpPr/>
          <p:nvPr/>
        </p:nvSpPr>
        <p:spPr>
          <a:xfrm>
            <a:off x="6461608" y="3227832"/>
            <a:ext cx="5044288" cy="685800"/>
          </a:xfrm>
          <a:prstGeom prst="rect">
            <a:avLst/>
          </a:prstGeom>
          <a:noFill/>
          <a:ln/>
        </p:spPr>
        <p:txBody>
          <a:bodyPr wrap="square" lIns="0" tIns="0" rIns="0" bIns="0" rtlCol="0" anchor="t">
            <a:normAutofit/>
          </a:bodyPr>
          <a:lstStyle/>
          <a:p>
            <a:pPr indent="0" marL="0">
              <a:buNone/>
            </a:pPr>
            <a:r>
              <a:rPr lang="en-US" sz="1500" b="1" dirty="0">
                <a:solidFill>
                  <a:srgbClr val="003087"/>
                </a:solidFill>
                <a:latin typeface="Arial" pitchFamily="34" charset="0"/>
                <a:ea typeface="Arial" pitchFamily="34" charset="-122"/>
                <a:cs typeface="Arial" pitchFamily="34" charset="-120"/>
              </a:rPr>
              <a:t>Reach, adherence, capacity. Three clinical wins in the same move.</a:t>
            </a:r>
            <a:endParaRPr lang="en-US" sz="1500" dirty="0"/>
          </a:p>
        </p:txBody>
      </p:sp>
      <p:sp>
        <p:nvSpPr>
          <p:cNvPr id="50" name="Text 47"/>
          <p:cNvSpPr/>
          <p:nvPr/>
        </p:nvSpPr>
        <p:spPr>
          <a:xfrm>
            <a:off x="6461608" y="3959352"/>
            <a:ext cx="5044288" cy="2194560"/>
          </a:xfrm>
          <a:prstGeom prst="rect">
            <a:avLst/>
          </a:prstGeom>
          <a:noFill/>
          <a:ln/>
        </p:spPr>
        <p:txBody>
          <a:bodyPr wrap="square" lIns="0" tIns="0" rIns="0" bIns="0" rtlCol="0" anchor="t">
            <a:normAutofit/>
          </a:bodyPr>
          <a:lstStyle/>
          <a:p>
            <a:pPr indent="0" marL="0">
              <a:buNone/>
            </a:pPr>
            <a:r>
              <a:rPr lang="en-US" sz="1100" b="1" dirty="0">
                <a:solidFill>
                  <a:srgbClr val="231F20"/>
                </a:solidFill>
                <a:latin typeface="Arial" pitchFamily="34" charset="0"/>
                <a:ea typeface="Arial" pitchFamily="34" charset="-122"/>
                <a:cs typeface="Arial" pitchFamily="34" charset="-120"/>
              </a:rPr>
              <a:t>Reach.</a:t>
            </a:r>
            <a:pPr indent="0" marL="0">
              <a:buNone/>
            </a:pPr>
            <a:r>
              <a:rPr lang="en-US" sz="1100" dirty="0">
                <a:solidFill>
                  <a:srgbClr val="231F20"/>
                </a:solidFill>
                <a:latin typeface="Arial" pitchFamily="34" charset="0"/>
                <a:ea typeface="Arial" pitchFamily="34" charset="-122"/>
                <a:cs typeface="Arial" pitchFamily="34" charset="-120"/>
              </a:rPr>
              <a:t> Patients the in-clinic service misses, rural travellers, shift workers, carers, the gradual drop-outs. </a:t>
            </a:r>
            <a:pPr indent="0" marL="0">
              <a:buNone/>
            </a:pPr>
            <a:r>
              <a:rPr lang="en-US" sz="1100" b="1" dirty="0">
                <a:solidFill>
                  <a:srgbClr val="231F20"/>
                </a:solidFill>
                <a:latin typeface="Arial" pitchFamily="34" charset="0"/>
                <a:ea typeface="Arial" pitchFamily="34" charset="-122"/>
                <a:cs typeface="Arial" pitchFamily="34" charset="-120"/>
              </a:rPr>
              <a:t>Adherence.</a:t>
            </a:r>
            <a:pPr indent="0" marL="0">
              <a:buNone/>
            </a:pPr>
            <a:r>
              <a:rPr lang="en-US" sz="1100" dirty="0">
                <a:solidFill>
                  <a:srgbClr val="231F20"/>
                </a:solidFill>
                <a:latin typeface="Arial" pitchFamily="34" charset="0"/>
                <a:ea typeface="Arial" pitchFamily="34" charset="-122"/>
                <a:cs typeface="Arial" pitchFamily="34" charset="-120"/>
              </a:rPr>
              <a:t> A kit at home does not get missed because of work, weather, transport or childcare. </a:t>
            </a:r>
            <a:pPr indent="0" marL="0">
              <a:buNone/>
            </a:pPr>
            <a:r>
              <a:rPr lang="en-US" sz="1100" b="1" dirty="0">
                <a:solidFill>
                  <a:srgbClr val="231F20"/>
                </a:solidFill>
                <a:latin typeface="Arial" pitchFamily="34" charset="0"/>
                <a:ea typeface="Arial" pitchFamily="34" charset="-122"/>
                <a:cs typeface="Arial" pitchFamily="34" charset="-120"/>
              </a:rPr>
              <a:t>Capacity.</a:t>
            </a:r>
            <a:pPr indent="0" marL="0">
              <a:buNone/>
            </a:pPr>
            <a:r>
              <a:rPr lang="en-US" sz="1100" dirty="0">
                <a:solidFill>
                  <a:srgbClr val="231F20"/>
                </a:solidFill>
                <a:latin typeface="Arial" pitchFamily="34" charset="0"/>
                <a:ea typeface="Arial" pitchFamily="34" charset="-122"/>
                <a:cs typeface="Arial" pitchFamily="34" charset="-120"/>
              </a:rPr>
              <a:t> Every routine quarterly monitoring done at home frees the slot for the patient who clinically needs the room. The pattern does not displace the clinical role. It changes which patients reach the clinic and why.</a:t>
            </a:r>
            <a:endParaRPr lang="en-US" sz="1100" dirty="0"/>
          </a:p>
        </p:txBody>
      </p:sp>
      <p:sp>
        <p:nvSpPr>
          <p:cNvPr id="51" name="Text 48"/>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Adam  ·  Hearts and Minds</a:t>
            </a:r>
            <a:endParaRPr lang="en-US" sz="850" dirty="0"/>
          </a:p>
        </p:txBody>
      </p:sp>
      <p:sp>
        <p:nvSpPr>
          <p:cNvPr id="52" name="Text 49"/>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53" name="Text 50"/>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C9A0E3"/>
          </a:solidFill>
          <a:ln w="12700">
            <a:solidFill>
              <a:srgbClr val="C9A0E3"/>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ADAM'S JOURNEY  ·  STAGE 1 OF 6</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The cohort · the patients in front of him</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C9A0E3"/>
                </a:solidFill>
                <a:latin typeface="Arial" pitchFamily="34" charset="0"/>
                <a:ea typeface="Arial" pitchFamily="34" charset="-122"/>
                <a:cs typeface="Arial" pitchFamily="34" charset="-120"/>
              </a:rPr>
              <a:t>01</a:t>
            </a:r>
            <a:endParaRPr lang="en-US" sz="5200" dirty="0"/>
          </a:p>
        </p:txBody>
      </p:sp>
      <p:sp>
        <p:nvSpPr>
          <p:cNvPr id="8" name="Text 5"/>
          <p:cNvSpPr/>
          <p:nvPr/>
        </p:nvSpPr>
        <p:spPr>
          <a:xfrm>
            <a:off x="457200" y="1920240"/>
            <a:ext cx="4892040" cy="1214755"/>
          </a:xfrm>
          <a:prstGeom prst="rect">
            <a:avLst/>
          </a:prstGeom>
          <a:noFill/>
          <a:ln/>
        </p:spPr>
        <p:txBody>
          <a:bodyPr wrap="square" lIns="0" tIns="0" rIns="0" bIns="0" rtlCol="0" anchor="t">
            <a:normAutofit/>
          </a:bodyPr>
          <a:lstStyle/>
          <a:p>
            <a:pPr indent="0" marL="0">
              <a:buNone/>
            </a:pPr>
            <a:r>
              <a:rPr lang="en-US" sz="1450" b="1" dirty="0">
                <a:solidFill>
                  <a:srgbClr val="003087"/>
                </a:solidFill>
                <a:latin typeface="Arial" pitchFamily="34" charset="0"/>
                <a:ea typeface="Arial" pitchFamily="34" charset="-122"/>
                <a:cs typeface="Arial" pitchFamily="34" charset="-120"/>
              </a:rPr>
              <a:t>Adam runs a PSA Active Surveillance clinic at a large acute trust. The cohort grows, the clinic doesn't. Some patients live far from the hospital, some work shifts, some care for someone at home. The drop-outs are the patients he worries about most.</a:t>
            </a:r>
            <a:endParaRPr lang="en-US" sz="1450" dirty="0"/>
          </a:p>
        </p:txBody>
      </p:sp>
      <p:sp>
        <p:nvSpPr>
          <p:cNvPr id="9" name="Shape 6"/>
          <p:cNvSpPr/>
          <p:nvPr/>
        </p:nvSpPr>
        <p:spPr>
          <a:xfrm>
            <a:off x="457200" y="3244723"/>
            <a:ext cx="4892040" cy="944499"/>
          </a:xfrm>
          <a:prstGeom prst="rect">
            <a:avLst/>
          </a:prstGeom>
          <a:solidFill>
            <a:srgbClr val="F0F4F5"/>
          </a:solidFill>
          <a:ln w="12700">
            <a:solidFill>
              <a:srgbClr val="F0F4F5"/>
            </a:solidFill>
            <a:prstDash val="solid"/>
          </a:ln>
        </p:spPr>
      </p:sp>
      <p:sp>
        <p:nvSpPr>
          <p:cNvPr id="10" name="Shape 7"/>
          <p:cNvSpPr/>
          <p:nvPr/>
        </p:nvSpPr>
        <p:spPr>
          <a:xfrm>
            <a:off x="457200" y="3244723"/>
            <a:ext cx="82296" cy="944499"/>
          </a:xfrm>
          <a:prstGeom prst="rect">
            <a:avLst/>
          </a:prstGeom>
          <a:solidFill>
            <a:srgbClr val="C9A0E3"/>
          </a:solidFill>
          <a:ln w="12700">
            <a:solidFill>
              <a:srgbClr val="C9A0E3"/>
            </a:solidFill>
            <a:prstDash val="solid"/>
          </a:ln>
        </p:spPr>
      </p:sp>
      <p:sp>
        <p:nvSpPr>
          <p:cNvPr id="11" name="Text 8"/>
          <p:cNvSpPr/>
          <p:nvPr/>
        </p:nvSpPr>
        <p:spPr>
          <a:xfrm>
            <a:off x="685800" y="3299587"/>
            <a:ext cx="4526280" cy="578739"/>
          </a:xfrm>
          <a:prstGeom prst="rect">
            <a:avLst/>
          </a:prstGeom>
          <a:noFill/>
          <a:ln/>
        </p:spPr>
        <p:txBody>
          <a:bodyPr wrap="square" lIns="0" tIns="0" rIns="0" bIns="0" rtlCol="0" anchor="t">
            <a:normAutofit/>
          </a:bodyPr>
          <a:lstStyle/>
          <a:p>
            <a:pPr indent="0" marL="0">
              <a:buNone/>
            </a:pPr>
            <a:r>
              <a:rPr lang="en-US" sz="950" i="1" dirty="0">
                <a:solidFill>
                  <a:srgbClr val="231F20"/>
                </a:solidFill>
                <a:latin typeface="Arial" pitchFamily="34" charset="0"/>
                <a:ea typeface="Arial" pitchFamily="34" charset="-122"/>
                <a:cs typeface="Arial" pitchFamily="34" charset="-120"/>
              </a:rPr>
              <a:t>“I do not need a new tool. I need the patients I cannot see in clinic to stay in surveillance. Give me a reliable way to monitor them at home and put the result back in front of me, and I will use it.”</a:t>
            </a:r>
            <a:endParaRPr lang="en-US" sz="950" dirty="0"/>
          </a:p>
        </p:txBody>
      </p:sp>
      <p:sp>
        <p:nvSpPr>
          <p:cNvPr id="12" name="Text 9"/>
          <p:cNvSpPr/>
          <p:nvPr/>
        </p:nvSpPr>
        <p:spPr>
          <a:xfrm>
            <a:off x="685800" y="3878326"/>
            <a:ext cx="4526280" cy="256032"/>
          </a:xfrm>
          <a:prstGeom prst="rect">
            <a:avLst/>
          </a:prstGeom>
          <a:noFill/>
          <a:ln/>
        </p:spPr>
        <p:txBody>
          <a:bodyPr wrap="square" lIns="0" tIns="0" rIns="0" bIns="0" rtlCol="0" anchor="ctr"/>
          <a:lstStyle/>
          <a:p>
            <a:pPr indent="0" marL="0">
              <a:buNone/>
            </a:pPr>
            <a:r>
              <a:rPr lang="en-US" sz="950" b="1" dirty="0">
                <a:solidFill>
                  <a:srgbClr val="C9A0E3"/>
                </a:solidFill>
                <a:latin typeface="Arial" pitchFamily="34" charset="0"/>
                <a:ea typeface="Arial" pitchFamily="34" charset="-122"/>
                <a:cs typeface="Arial" pitchFamily="34" charset="-120"/>
              </a:rPr>
              <a:t>Adam</a:t>
            </a:r>
            <a:endParaRPr lang="en-US" sz="950" dirty="0"/>
          </a:p>
        </p:txBody>
      </p:sp>
      <p:pic>
        <p:nvPicPr>
          <p:cNvPr id="13" name="Image 1" descr="/sessions/quirky-zen-galileo/mnt/outputs/hmdecks5/img/adam-stage1.jpg">    </p:cNvPr>
          <p:cNvPicPr>
            <a:picLocks noChangeAspect="1"/>
          </p:cNvPicPr>
          <p:nvPr/>
        </p:nvPicPr>
        <p:blipFill>
          <a:blip r:embed="rId2"/>
          <a:stretch>
            <a:fillRect/>
          </a:stretch>
        </p:blipFill>
        <p:spPr>
          <a:xfrm>
            <a:off x="457200" y="4353814"/>
            <a:ext cx="3470921" cy="1937258"/>
          </a:xfrm>
          <a:prstGeom prst="rect">
            <a:avLst/>
          </a:prstGeom>
        </p:spPr>
      </p:pic>
      <p:sp>
        <p:nvSpPr>
          <p:cNvPr id="14" name="Shape 10"/>
          <p:cNvSpPr/>
          <p:nvPr/>
        </p:nvSpPr>
        <p:spPr>
          <a:xfrm>
            <a:off x="5669280" y="1097280"/>
            <a:ext cx="6065215" cy="274320"/>
          </a:xfrm>
          <a:prstGeom prst="rect">
            <a:avLst/>
          </a:prstGeom>
          <a:solidFill>
            <a:srgbClr val="005EB8"/>
          </a:solidFill>
          <a:ln w="12700">
            <a:solidFill>
              <a:srgbClr val="005EB8"/>
            </a:solidFill>
            <a:prstDash val="solid"/>
          </a:ln>
        </p:spPr>
      </p:sp>
      <p:sp>
        <p:nvSpPr>
          <p:cNvPr id="15" name="Text 11"/>
          <p:cNvSpPr/>
          <p:nvPr/>
        </p:nvSpPr>
        <p:spPr>
          <a:xfrm>
            <a:off x="5779008" y="109728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6" name="Shape 12"/>
          <p:cNvSpPr/>
          <p:nvPr/>
        </p:nvSpPr>
        <p:spPr>
          <a:xfrm>
            <a:off x="5669280" y="1371600"/>
            <a:ext cx="6065215" cy="1053338"/>
          </a:xfrm>
          <a:prstGeom prst="rect">
            <a:avLst/>
          </a:prstGeom>
          <a:solidFill>
            <a:srgbClr val="D5E8F0"/>
          </a:solidFill>
          <a:ln w="12700">
            <a:solidFill>
              <a:srgbClr val="D5E8F0"/>
            </a:solidFill>
            <a:prstDash val="solid"/>
          </a:ln>
        </p:spPr>
      </p:sp>
      <p:sp>
        <p:nvSpPr>
          <p:cNvPr id="17" name="Text 13"/>
          <p:cNvSpPr/>
          <p:nvPr/>
        </p:nvSpPr>
        <p:spPr>
          <a:xfrm>
            <a:off x="5779008" y="1408176"/>
            <a:ext cx="5845759" cy="998474"/>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A PSA Active Surveillance cohort growing year on year as more men are eligible. A quarterly clinic cycle. A list of patients who repeatedly miss appointments and a smaller list of patients who have stopped attending altogether. NICE NG131 surveillance guidance in his head. </a:t>
            </a:r>
            <a:pPr indent="0" marL="0">
              <a:buNone/>
            </a:pPr>
            <a:r>
              <a:rPr lang="en-US" sz="1100" b="1" dirty="0">
                <a:solidFill>
                  <a:srgbClr val="231F20"/>
                </a:solidFill>
                <a:latin typeface="Arial" pitchFamily="34" charset="0"/>
                <a:ea typeface="Arial" pitchFamily="34" charset="-122"/>
                <a:cs typeface="Arial" pitchFamily="34" charset="-120"/>
              </a:rPr>
              <a:t>The clinical question is: how do I keep these men in surveillance without my clinic capacity being the limit?</a:t>
            </a:r>
            <a:endParaRPr lang="en-US" sz="1100" dirty="0"/>
          </a:p>
        </p:txBody>
      </p:sp>
      <p:sp>
        <p:nvSpPr>
          <p:cNvPr id="18" name="Shape 14"/>
          <p:cNvSpPr/>
          <p:nvPr/>
        </p:nvSpPr>
        <p:spPr>
          <a:xfrm>
            <a:off x="5669280" y="2552954"/>
            <a:ext cx="6065215" cy="274320"/>
          </a:xfrm>
          <a:prstGeom prst="rect">
            <a:avLst/>
          </a:prstGeom>
          <a:solidFill>
            <a:srgbClr val="4C6272"/>
          </a:solidFill>
          <a:ln w="12700">
            <a:solidFill>
              <a:srgbClr val="4C6272"/>
            </a:solidFill>
            <a:prstDash val="solid"/>
          </a:ln>
        </p:spPr>
      </p:sp>
      <p:sp>
        <p:nvSpPr>
          <p:cNvPr id="19" name="Text 15"/>
          <p:cNvSpPr/>
          <p:nvPr/>
        </p:nvSpPr>
        <p:spPr>
          <a:xfrm>
            <a:off x="5779008" y="2552954"/>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20" name="Shape 16"/>
          <p:cNvSpPr/>
          <p:nvPr/>
        </p:nvSpPr>
        <p:spPr>
          <a:xfrm>
            <a:off x="5669280" y="2827274"/>
            <a:ext cx="6065215" cy="882904"/>
          </a:xfrm>
          <a:prstGeom prst="rect">
            <a:avLst/>
          </a:prstGeom>
          <a:solidFill>
            <a:srgbClr val="F0F4F5"/>
          </a:solidFill>
          <a:ln w="12700">
            <a:solidFill>
              <a:srgbClr val="F0F4F5"/>
            </a:solidFill>
            <a:prstDash val="solid"/>
          </a:ln>
        </p:spPr>
      </p:sp>
      <p:sp>
        <p:nvSpPr>
          <p:cNvPr id="21" name="Text 17"/>
          <p:cNvSpPr/>
          <p:nvPr/>
        </p:nvSpPr>
        <p:spPr>
          <a:xfrm>
            <a:off x="5779008" y="2863850"/>
            <a:ext cx="5845759" cy="828040"/>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Quarterly in-clinic phlebotomy and consultant review. The patient comes to the hospital, has a PSA drawn, and waits to be seen. The cohort that drops out is the cohort that loses surveillance. The clinical risk lands on the dropped patients, not on the model.</a:t>
            </a:r>
            <a:endParaRPr lang="en-US" sz="1100" dirty="0"/>
          </a:p>
        </p:txBody>
      </p:sp>
      <p:sp>
        <p:nvSpPr>
          <p:cNvPr id="22" name="Shape 18"/>
          <p:cNvSpPr/>
          <p:nvPr/>
        </p:nvSpPr>
        <p:spPr>
          <a:xfrm>
            <a:off x="5669280" y="3838194"/>
            <a:ext cx="6065215" cy="274320"/>
          </a:xfrm>
          <a:prstGeom prst="rect">
            <a:avLst/>
          </a:prstGeom>
          <a:solidFill>
            <a:srgbClr val="006747"/>
          </a:solidFill>
          <a:ln w="12700">
            <a:solidFill>
              <a:srgbClr val="006747"/>
            </a:solidFill>
            <a:prstDash val="solid"/>
          </a:ln>
        </p:spPr>
      </p:sp>
      <p:sp>
        <p:nvSpPr>
          <p:cNvPr id="23" name="Text 19"/>
          <p:cNvSpPr/>
          <p:nvPr/>
        </p:nvSpPr>
        <p:spPr>
          <a:xfrm>
            <a:off x="5779008" y="3838194"/>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4" name="Shape 20"/>
          <p:cNvSpPr/>
          <p:nvPr/>
        </p:nvSpPr>
        <p:spPr>
          <a:xfrm>
            <a:off x="5669280" y="4112514"/>
            <a:ext cx="6065215" cy="542036"/>
          </a:xfrm>
          <a:prstGeom prst="rect">
            <a:avLst/>
          </a:prstGeom>
          <a:solidFill>
            <a:srgbClr val="E8F3EE"/>
          </a:solidFill>
          <a:ln w="12700">
            <a:solidFill>
              <a:srgbClr val="E8F3EE"/>
            </a:solidFill>
            <a:prstDash val="solid"/>
          </a:ln>
        </p:spPr>
      </p:sp>
      <p:sp>
        <p:nvSpPr>
          <p:cNvPr id="25" name="Text 21"/>
          <p:cNvSpPr/>
          <p:nvPr/>
        </p:nvSpPr>
        <p:spPr>
          <a:xfrm>
            <a:off x="5779008" y="4149090"/>
            <a:ext cx="5845759" cy="487172"/>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His clinical nurse specialist on the cohort. His MDT. His Trust's outpatient lead on capacity. The radiologist on the imaging follow-on. The patient.</a:t>
            </a:r>
            <a:endParaRPr lang="en-US" sz="1100" dirty="0"/>
          </a:p>
        </p:txBody>
      </p:sp>
      <p:sp>
        <p:nvSpPr>
          <p:cNvPr id="27"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Adam  ·  Hearts and Minds</a:t>
            </a:r>
            <a:endParaRPr lang="en-US" sz="850" dirty="0"/>
          </a:p>
        </p:txBody>
      </p:sp>
      <p:sp>
        <p:nvSpPr>
          <p:cNvPr id="28"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9"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C9A0E3"/>
          </a:solidFill>
          <a:ln w="12700">
            <a:solidFill>
              <a:srgbClr val="C9A0E3"/>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ADAM'S JOURNEY  ·  STAGE 2 OF 6</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The drop-outs · the clinic-only model's blind spot</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C9A0E3"/>
                </a:solidFill>
                <a:latin typeface="Arial" pitchFamily="34" charset="0"/>
                <a:ea typeface="Arial" pitchFamily="34" charset="-122"/>
                <a:cs typeface="Arial" pitchFamily="34" charset="-120"/>
              </a:rPr>
              <a:t>02</a:t>
            </a:r>
            <a:endParaRPr lang="en-US" sz="5200" dirty="0"/>
          </a:p>
        </p:txBody>
      </p:sp>
      <p:sp>
        <p:nvSpPr>
          <p:cNvPr id="8" name="Text 5"/>
          <p:cNvSpPr/>
          <p:nvPr/>
        </p:nvSpPr>
        <p:spPr>
          <a:xfrm>
            <a:off x="457200" y="1920240"/>
            <a:ext cx="4892040" cy="1214755"/>
          </a:xfrm>
          <a:prstGeom prst="rect">
            <a:avLst/>
          </a:prstGeom>
          <a:noFill/>
          <a:ln/>
        </p:spPr>
        <p:txBody>
          <a:bodyPr wrap="square" lIns="0" tIns="0" rIns="0" bIns="0" rtlCol="0" anchor="t">
            <a:normAutofit/>
          </a:bodyPr>
          <a:lstStyle/>
          <a:p>
            <a:pPr indent="0" marL="0">
              <a:buNone/>
            </a:pPr>
            <a:r>
              <a:rPr lang="en-US" sz="1450" b="1" dirty="0">
                <a:solidFill>
                  <a:srgbClr val="003087"/>
                </a:solidFill>
                <a:latin typeface="Arial" pitchFamily="34" charset="0"/>
                <a:ea typeface="Arial" pitchFamily="34" charset="-122"/>
                <a:cs typeface="Arial" pitchFamily="34" charset="-120"/>
              </a:rPr>
              <a:t>Follow-up appointments are fifty-four per cent of NHS outpatient activity. The PSA-AS quarterly review is exactly the kind of follow-up that never needed a room. The patients who drop out are the ones the clinic-only model was never going to hold.</a:t>
            </a:r>
            <a:endParaRPr lang="en-US" sz="1450" dirty="0"/>
          </a:p>
        </p:txBody>
      </p:sp>
      <p:sp>
        <p:nvSpPr>
          <p:cNvPr id="9" name="Shape 6"/>
          <p:cNvSpPr/>
          <p:nvPr/>
        </p:nvSpPr>
        <p:spPr>
          <a:xfrm>
            <a:off x="457200" y="3244723"/>
            <a:ext cx="4892040" cy="960120"/>
          </a:xfrm>
          <a:prstGeom prst="rect">
            <a:avLst/>
          </a:prstGeom>
          <a:solidFill>
            <a:srgbClr val="F0F4F5"/>
          </a:solidFill>
          <a:ln w="12700">
            <a:solidFill>
              <a:srgbClr val="F0F4F5"/>
            </a:solidFill>
            <a:prstDash val="solid"/>
          </a:ln>
        </p:spPr>
      </p:sp>
      <p:sp>
        <p:nvSpPr>
          <p:cNvPr id="10" name="Shape 7"/>
          <p:cNvSpPr/>
          <p:nvPr/>
        </p:nvSpPr>
        <p:spPr>
          <a:xfrm>
            <a:off x="457200" y="3244723"/>
            <a:ext cx="82296" cy="960120"/>
          </a:xfrm>
          <a:prstGeom prst="rect">
            <a:avLst/>
          </a:prstGeom>
          <a:solidFill>
            <a:srgbClr val="C9A0E3"/>
          </a:solidFill>
          <a:ln w="12700">
            <a:solidFill>
              <a:srgbClr val="C9A0E3"/>
            </a:solidFill>
            <a:prstDash val="solid"/>
          </a:ln>
        </p:spPr>
      </p:sp>
      <p:sp>
        <p:nvSpPr>
          <p:cNvPr id="11" name="Text 8"/>
          <p:cNvSpPr/>
          <p:nvPr/>
        </p:nvSpPr>
        <p:spPr>
          <a:xfrm>
            <a:off x="685800" y="3299587"/>
            <a:ext cx="4526280" cy="594360"/>
          </a:xfrm>
          <a:prstGeom prst="rect">
            <a:avLst/>
          </a:prstGeom>
          <a:noFill/>
          <a:ln/>
        </p:spPr>
        <p:txBody>
          <a:bodyPr wrap="square" lIns="0" tIns="0" rIns="0" bIns="0" rtlCol="0" anchor="t">
            <a:normAutofit/>
          </a:bodyPr>
          <a:lstStyle/>
          <a:p>
            <a:pPr indent="0" marL="0">
              <a:buNone/>
            </a:pPr>
            <a:r>
              <a:rPr lang="en-US" sz="900" i="1" dirty="0">
                <a:solidFill>
                  <a:srgbClr val="231F20"/>
                </a:solidFill>
                <a:latin typeface="Arial" pitchFamily="34" charset="0"/>
                <a:ea typeface="Arial" pitchFamily="34" charset="-122"/>
                <a:cs typeface="Arial" pitchFamily="34" charset="-120"/>
              </a:rPr>
              <a:t>“The patients who miss the appointment are not refusing care. They are keeping their jobs, getting their kids to school, looking after a parent. The clinic was always the wrong venue for routine bloods. The risk was always in the model, not in them.”</a:t>
            </a:r>
            <a:endParaRPr lang="en-US" sz="900" dirty="0"/>
          </a:p>
        </p:txBody>
      </p:sp>
      <p:sp>
        <p:nvSpPr>
          <p:cNvPr id="12" name="Text 9"/>
          <p:cNvSpPr/>
          <p:nvPr/>
        </p:nvSpPr>
        <p:spPr>
          <a:xfrm>
            <a:off x="685800" y="3893947"/>
            <a:ext cx="4526280" cy="256032"/>
          </a:xfrm>
          <a:prstGeom prst="rect">
            <a:avLst/>
          </a:prstGeom>
          <a:noFill/>
          <a:ln/>
        </p:spPr>
        <p:txBody>
          <a:bodyPr wrap="square" lIns="0" tIns="0" rIns="0" bIns="0" rtlCol="0" anchor="ctr"/>
          <a:lstStyle/>
          <a:p>
            <a:pPr indent="0" marL="0">
              <a:buNone/>
            </a:pPr>
            <a:r>
              <a:rPr lang="en-US" sz="950" b="1" dirty="0">
                <a:solidFill>
                  <a:srgbClr val="C9A0E3"/>
                </a:solidFill>
                <a:latin typeface="Arial" pitchFamily="34" charset="0"/>
                <a:ea typeface="Arial" pitchFamily="34" charset="-122"/>
                <a:cs typeface="Arial" pitchFamily="34" charset="-120"/>
              </a:rPr>
              <a:t>Adam</a:t>
            </a:r>
            <a:endParaRPr lang="en-US" sz="950" dirty="0"/>
          </a:p>
        </p:txBody>
      </p:sp>
      <p:pic>
        <p:nvPicPr>
          <p:cNvPr id="13" name="Image 1" descr="/sessions/quirky-zen-galileo/mnt/outputs/hmdecks5/img/adam-stage2.jpg">    </p:cNvPr>
          <p:cNvPicPr>
            <a:picLocks noChangeAspect="1"/>
          </p:cNvPicPr>
          <p:nvPr/>
        </p:nvPicPr>
        <p:blipFill>
          <a:blip r:embed="rId2"/>
          <a:stretch>
            <a:fillRect/>
          </a:stretch>
        </p:blipFill>
        <p:spPr>
          <a:xfrm>
            <a:off x="457200" y="4369435"/>
            <a:ext cx="3445435" cy="1921637"/>
          </a:xfrm>
          <a:prstGeom prst="rect">
            <a:avLst/>
          </a:prstGeom>
        </p:spPr>
      </p:pic>
      <p:sp>
        <p:nvSpPr>
          <p:cNvPr id="14" name="Shape 10"/>
          <p:cNvSpPr/>
          <p:nvPr/>
        </p:nvSpPr>
        <p:spPr>
          <a:xfrm>
            <a:off x="5669280" y="1097280"/>
            <a:ext cx="6065215" cy="274320"/>
          </a:xfrm>
          <a:prstGeom prst="rect">
            <a:avLst/>
          </a:prstGeom>
          <a:solidFill>
            <a:srgbClr val="005EB8"/>
          </a:solidFill>
          <a:ln w="12700">
            <a:solidFill>
              <a:srgbClr val="005EB8"/>
            </a:solidFill>
            <a:prstDash val="solid"/>
          </a:ln>
        </p:spPr>
      </p:sp>
      <p:sp>
        <p:nvSpPr>
          <p:cNvPr id="15" name="Text 11"/>
          <p:cNvSpPr/>
          <p:nvPr/>
        </p:nvSpPr>
        <p:spPr>
          <a:xfrm>
            <a:off x="5779008" y="109728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6" name="Shape 12"/>
          <p:cNvSpPr/>
          <p:nvPr/>
        </p:nvSpPr>
        <p:spPr>
          <a:xfrm>
            <a:off x="5669280" y="1371600"/>
            <a:ext cx="6065215" cy="1053338"/>
          </a:xfrm>
          <a:prstGeom prst="rect">
            <a:avLst/>
          </a:prstGeom>
          <a:solidFill>
            <a:srgbClr val="D5E8F0"/>
          </a:solidFill>
          <a:ln w="12700">
            <a:solidFill>
              <a:srgbClr val="D5E8F0"/>
            </a:solidFill>
            <a:prstDash val="solid"/>
          </a:ln>
        </p:spPr>
      </p:sp>
      <p:sp>
        <p:nvSpPr>
          <p:cNvPr id="17" name="Text 13"/>
          <p:cNvSpPr/>
          <p:nvPr/>
        </p:nvSpPr>
        <p:spPr>
          <a:xfrm>
            <a:off x="5779008" y="1408176"/>
            <a:ext cx="5845759" cy="998474"/>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Follow-up appointments account for around 54% of NHS outpatient activity. Eight million outpatient appointments went unattended in England in 2023/24. </a:t>
            </a:r>
            <a:pPr indent="0" marL="0">
              <a:buNone/>
            </a:pPr>
            <a:r>
              <a:rPr lang="en-US" sz="1100" b="1" dirty="0">
                <a:solidFill>
                  <a:srgbClr val="231F20"/>
                </a:solidFill>
                <a:latin typeface="Arial" pitchFamily="34" charset="0"/>
                <a:ea typeface="Arial" pitchFamily="34" charset="-122"/>
                <a:cs typeface="Arial" pitchFamily="34" charset="-120"/>
              </a:rPr>
              <a:t>The PSA-AS quarterly review is precisely the kind of follow-up that, done remotely, releases clinic capacity for the patients who clinically need clinic time.</a:t>
            </a:r>
            <a:pPr indent="0" marL="0">
              <a:buNone/>
            </a:pPr>
            <a:r>
              <a:rPr lang="en-US" sz="1100" dirty="0">
                <a:solidFill>
                  <a:srgbClr val="231F20"/>
                </a:solidFill>
                <a:latin typeface="Arial" pitchFamily="34" charset="0"/>
                <a:ea typeface="Arial" pitchFamily="34" charset="-122"/>
                <a:cs typeface="Arial" pitchFamily="34" charset="-120"/>
              </a:rPr>
              <a:t> Surveillance attrition is a known clinical problem in active surveillance cohorts.</a:t>
            </a:r>
            <a:endParaRPr lang="en-US" sz="1100" dirty="0"/>
          </a:p>
        </p:txBody>
      </p:sp>
      <p:sp>
        <p:nvSpPr>
          <p:cNvPr id="18" name="Shape 14"/>
          <p:cNvSpPr/>
          <p:nvPr/>
        </p:nvSpPr>
        <p:spPr>
          <a:xfrm>
            <a:off x="5669280" y="2552954"/>
            <a:ext cx="6065215" cy="274320"/>
          </a:xfrm>
          <a:prstGeom prst="rect">
            <a:avLst/>
          </a:prstGeom>
          <a:solidFill>
            <a:srgbClr val="4C6272"/>
          </a:solidFill>
          <a:ln w="12700">
            <a:solidFill>
              <a:srgbClr val="4C6272"/>
            </a:solidFill>
            <a:prstDash val="solid"/>
          </a:ln>
        </p:spPr>
      </p:sp>
      <p:sp>
        <p:nvSpPr>
          <p:cNvPr id="19" name="Text 15"/>
          <p:cNvSpPr/>
          <p:nvPr/>
        </p:nvSpPr>
        <p:spPr>
          <a:xfrm>
            <a:off x="5779008" y="2552954"/>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20" name="Shape 16"/>
          <p:cNvSpPr/>
          <p:nvPr/>
        </p:nvSpPr>
        <p:spPr>
          <a:xfrm>
            <a:off x="5669280" y="2827274"/>
            <a:ext cx="6065215" cy="712470"/>
          </a:xfrm>
          <a:prstGeom prst="rect">
            <a:avLst/>
          </a:prstGeom>
          <a:solidFill>
            <a:srgbClr val="F0F4F5"/>
          </a:solidFill>
          <a:ln w="12700">
            <a:solidFill>
              <a:srgbClr val="F0F4F5"/>
            </a:solidFill>
            <a:prstDash val="solid"/>
          </a:ln>
        </p:spPr>
      </p:sp>
      <p:sp>
        <p:nvSpPr>
          <p:cNvPr id="21" name="Text 17"/>
          <p:cNvSpPr/>
          <p:nvPr/>
        </p:nvSpPr>
        <p:spPr>
          <a:xfrm>
            <a:off x="5779008" y="2863850"/>
            <a:ext cx="5845759" cy="657606"/>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Patients who fall out of surveillance lose the safety net the surveillance provides. PSA trends are not detected. Disease progression is found later, sometimes too late. The clinical risk is invisible to the clinic and lands on the patient.</a:t>
            </a:r>
            <a:endParaRPr lang="en-US" sz="1100" dirty="0"/>
          </a:p>
        </p:txBody>
      </p:sp>
      <p:sp>
        <p:nvSpPr>
          <p:cNvPr id="22" name="Shape 18"/>
          <p:cNvSpPr/>
          <p:nvPr/>
        </p:nvSpPr>
        <p:spPr>
          <a:xfrm>
            <a:off x="5669280" y="3667760"/>
            <a:ext cx="6065215" cy="274320"/>
          </a:xfrm>
          <a:prstGeom prst="rect">
            <a:avLst/>
          </a:prstGeom>
          <a:solidFill>
            <a:srgbClr val="006747"/>
          </a:solidFill>
          <a:ln w="12700">
            <a:solidFill>
              <a:srgbClr val="006747"/>
            </a:solidFill>
            <a:prstDash val="solid"/>
          </a:ln>
        </p:spPr>
      </p:sp>
      <p:sp>
        <p:nvSpPr>
          <p:cNvPr id="23" name="Text 19"/>
          <p:cNvSpPr/>
          <p:nvPr/>
        </p:nvSpPr>
        <p:spPr>
          <a:xfrm>
            <a:off x="5779008" y="366776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4" name="Shape 20"/>
          <p:cNvSpPr/>
          <p:nvPr/>
        </p:nvSpPr>
        <p:spPr>
          <a:xfrm>
            <a:off x="5669280" y="3942080"/>
            <a:ext cx="6065215" cy="712470"/>
          </a:xfrm>
          <a:prstGeom prst="rect">
            <a:avLst/>
          </a:prstGeom>
          <a:solidFill>
            <a:srgbClr val="E8F3EE"/>
          </a:solidFill>
          <a:ln w="12700">
            <a:solidFill>
              <a:srgbClr val="E8F3EE"/>
            </a:solidFill>
            <a:prstDash val="solid"/>
          </a:ln>
        </p:spPr>
      </p:sp>
      <p:sp>
        <p:nvSpPr>
          <p:cNvPr id="25" name="Text 21"/>
          <p:cNvSpPr/>
          <p:nvPr/>
        </p:nvSpPr>
        <p:spPr>
          <a:xfrm>
            <a:off x="5779008" y="3978656"/>
            <a:ext cx="5845759" cy="657606"/>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Catherine, the Acute Trust commissioner who pays for the outpatient capacity Adam burns. The MDT colleagues with the same drop-out curve in their cohorts. The patient who stopped coming.</a:t>
            </a:r>
            <a:endParaRPr lang="en-US" sz="1100" dirty="0"/>
          </a:p>
        </p:txBody>
      </p:sp>
      <p:sp>
        <p:nvSpPr>
          <p:cNvPr id="27"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Adam  ·  Hearts and Minds</a:t>
            </a:r>
            <a:endParaRPr lang="en-US" sz="850" dirty="0"/>
          </a:p>
        </p:txBody>
      </p:sp>
      <p:sp>
        <p:nvSpPr>
          <p:cNvPr id="28"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9"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C9A0E3"/>
          </a:solidFill>
          <a:ln w="12700">
            <a:solidFill>
              <a:srgbClr val="C9A0E3"/>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ADAM'S JOURNEY  ·  STAGE 3 OF 6</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The model's offer · kit out, result back to him</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C9A0E3"/>
                </a:solidFill>
                <a:latin typeface="Arial" pitchFamily="34" charset="0"/>
                <a:ea typeface="Arial" pitchFamily="34" charset="-122"/>
                <a:cs typeface="Arial" pitchFamily="34" charset="-120"/>
              </a:rPr>
              <a:t>03</a:t>
            </a:r>
            <a:endParaRPr lang="en-US" sz="5200" dirty="0"/>
          </a:p>
        </p:txBody>
      </p:sp>
      <p:sp>
        <p:nvSpPr>
          <p:cNvPr id="8" name="Text 5"/>
          <p:cNvSpPr/>
          <p:nvPr/>
        </p:nvSpPr>
        <p:spPr>
          <a:xfrm>
            <a:off x="457200" y="1920240"/>
            <a:ext cx="4892040" cy="1214755"/>
          </a:xfrm>
          <a:prstGeom prst="rect">
            <a:avLst/>
          </a:prstGeom>
          <a:noFill/>
          <a:ln/>
        </p:spPr>
        <p:txBody>
          <a:bodyPr wrap="square" lIns="0" tIns="0" rIns="0" bIns="0" rtlCol="0" anchor="t">
            <a:normAutofit/>
          </a:bodyPr>
          <a:lstStyle/>
          <a:p>
            <a:pPr indent="0" marL="0">
              <a:buNone/>
            </a:pPr>
            <a:r>
              <a:rPr lang="en-US" sz="1450" b="1" dirty="0">
                <a:solidFill>
                  <a:srgbClr val="003087"/>
                </a:solidFill>
                <a:latin typeface="Arial" pitchFamily="34" charset="0"/>
                <a:ea typeface="Arial" pitchFamily="34" charset="-122"/>
                <a:cs typeface="Arial" pitchFamily="34" charset="-120"/>
              </a:rPr>
              <a:t>The home pathway sends the kit to the patient. The sample comes back to the lab. The PSA result lands on Adam's desk before the next clinic, in trend with everything that came before. The clinical role is preserved, the venue is not.</a:t>
            </a:r>
            <a:endParaRPr lang="en-US" sz="1450" dirty="0"/>
          </a:p>
        </p:txBody>
      </p:sp>
      <p:sp>
        <p:nvSpPr>
          <p:cNvPr id="9" name="Shape 6"/>
          <p:cNvSpPr/>
          <p:nvPr/>
        </p:nvSpPr>
        <p:spPr>
          <a:xfrm>
            <a:off x="457200" y="3244723"/>
            <a:ext cx="4892040" cy="960120"/>
          </a:xfrm>
          <a:prstGeom prst="rect">
            <a:avLst/>
          </a:prstGeom>
          <a:solidFill>
            <a:srgbClr val="F0F4F5"/>
          </a:solidFill>
          <a:ln w="12700">
            <a:solidFill>
              <a:srgbClr val="F0F4F5"/>
            </a:solidFill>
            <a:prstDash val="solid"/>
          </a:ln>
        </p:spPr>
      </p:sp>
      <p:sp>
        <p:nvSpPr>
          <p:cNvPr id="10" name="Shape 7"/>
          <p:cNvSpPr/>
          <p:nvPr/>
        </p:nvSpPr>
        <p:spPr>
          <a:xfrm>
            <a:off x="457200" y="3244723"/>
            <a:ext cx="82296" cy="960120"/>
          </a:xfrm>
          <a:prstGeom prst="rect">
            <a:avLst/>
          </a:prstGeom>
          <a:solidFill>
            <a:srgbClr val="C9A0E3"/>
          </a:solidFill>
          <a:ln w="12700">
            <a:solidFill>
              <a:srgbClr val="C9A0E3"/>
            </a:solidFill>
            <a:prstDash val="solid"/>
          </a:ln>
        </p:spPr>
      </p:sp>
      <p:sp>
        <p:nvSpPr>
          <p:cNvPr id="11" name="Text 8"/>
          <p:cNvSpPr/>
          <p:nvPr/>
        </p:nvSpPr>
        <p:spPr>
          <a:xfrm>
            <a:off x="685800" y="3299587"/>
            <a:ext cx="4526280" cy="594360"/>
          </a:xfrm>
          <a:prstGeom prst="rect">
            <a:avLst/>
          </a:prstGeom>
          <a:noFill/>
          <a:ln/>
        </p:spPr>
        <p:txBody>
          <a:bodyPr wrap="square" lIns="0" tIns="0" rIns="0" bIns="0" rtlCol="0" anchor="t">
            <a:normAutofit/>
          </a:bodyPr>
          <a:lstStyle/>
          <a:p>
            <a:pPr indent="0" marL="0">
              <a:buNone/>
            </a:pPr>
            <a:r>
              <a:rPr lang="en-US" sz="900" i="1" dirty="0">
                <a:solidFill>
                  <a:srgbClr val="231F20"/>
                </a:solidFill>
                <a:latin typeface="Arial" pitchFamily="34" charset="0"/>
                <a:ea typeface="Arial" pitchFamily="34" charset="-122"/>
                <a:cs typeface="Arial" pitchFamily="34" charset="-120"/>
              </a:rPr>
              <a:t>“I am not interested in a model that sends raw numbers to a patient without clinical interpretation. I am interested in a model where the kit changes the venue and the clinical accountability does not move. That is what this is.”</a:t>
            </a:r>
            <a:endParaRPr lang="en-US" sz="900" dirty="0"/>
          </a:p>
        </p:txBody>
      </p:sp>
      <p:sp>
        <p:nvSpPr>
          <p:cNvPr id="12" name="Text 9"/>
          <p:cNvSpPr/>
          <p:nvPr/>
        </p:nvSpPr>
        <p:spPr>
          <a:xfrm>
            <a:off x="685800" y="3893947"/>
            <a:ext cx="4526280" cy="256032"/>
          </a:xfrm>
          <a:prstGeom prst="rect">
            <a:avLst/>
          </a:prstGeom>
          <a:noFill/>
          <a:ln/>
        </p:spPr>
        <p:txBody>
          <a:bodyPr wrap="square" lIns="0" tIns="0" rIns="0" bIns="0" rtlCol="0" anchor="ctr"/>
          <a:lstStyle/>
          <a:p>
            <a:pPr indent="0" marL="0">
              <a:buNone/>
            </a:pPr>
            <a:r>
              <a:rPr lang="en-US" sz="950" b="1" dirty="0">
                <a:solidFill>
                  <a:srgbClr val="C9A0E3"/>
                </a:solidFill>
                <a:latin typeface="Arial" pitchFamily="34" charset="0"/>
                <a:ea typeface="Arial" pitchFamily="34" charset="-122"/>
                <a:cs typeface="Arial" pitchFamily="34" charset="-120"/>
              </a:rPr>
              <a:t>Adam</a:t>
            </a:r>
            <a:endParaRPr lang="en-US" sz="950" dirty="0"/>
          </a:p>
        </p:txBody>
      </p:sp>
      <p:pic>
        <p:nvPicPr>
          <p:cNvPr id="13" name="Image 1" descr="/sessions/quirky-zen-galileo/mnt/outputs/hmdecks5/img/adam-stage3.jpg">    </p:cNvPr>
          <p:cNvPicPr>
            <a:picLocks noChangeAspect="1"/>
          </p:cNvPicPr>
          <p:nvPr/>
        </p:nvPicPr>
        <p:blipFill>
          <a:blip r:embed="rId2"/>
          <a:stretch>
            <a:fillRect/>
          </a:stretch>
        </p:blipFill>
        <p:spPr>
          <a:xfrm>
            <a:off x="457200" y="4369435"/>
            <a:ext cx="3442933" cy="1921637"/>
          </a:xfrm>
          <a:prstGeom prst="rect">
            <a:avLst/>
          </a:prstGeom>
        </p:spPr>
      </p:pic>
      <p:sp>
        <p:nvSpPr>
          <p:cNvPr id="14" name="Shape 10"/>
          <p:cNvSpPr/>
          <p:nvPr/>
        </p:nvSpPr>
        <p:spPr>
          <a:xfrm>
            <a:off x="5669280" y="1097280"/>
            <a:ext cx="6065215" cy="274320"/>
          </a:xfrm>
          <a:prstGeom prst="rect">
            <a:avLst/>
          </a:prstGeom>
          <a:solidFill>
            <a:srgbClr val="005EB8"/>
          </a:solidFill>
          <a:ln w="12700">
            <a:solidFill>
              <a:srgbClr val="005EB8"/>
            </a:solidFill>
            <a:prstDash val="solid"/>
          </a:ln>
        </p:spPr>
      </p:sp>
      <p:sp>
        <p:nvSpPr>
          <p:cNvPr id="15" name="Text 11"/>
          <p:cNvSpPr/>
          <p:nvPr/>
        </p:nvSpPr>
        <p:spPr>
          <a:xfrm>
            <a:off x="5779008" y="109728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6" name="Shape 12"/>
          <p:cNvSpPr/>
          <p:nvPr/>
        </p:nvSpPr>
        <p:spPr>
          <a:xfrm>
            <a:off x="5669280" y="1371600"/>
            <a:ext cx="6065215" cy="1053338"/>
          </a:xfrm>
          <a:prstGeom prst="rect">
            <a:avLst/>
          </a:prstGeom>
          <a:solidFill>
            <a:srgbClr val="D5E8F0"/>
          </a:solidFill>
          <a:ln w="12700">
            <a:solidFill>
              <a:srgbClr val="D5E8F0"/>
            </a:solidFill>
            <a:prstDash val="solid"/>
          </a:ln>
        </p:spPr>
      </p:sp>
      <p:sp>
        <p:nvSpPr>
          <p:cNvPr id="17" name="Text 13"/>
          <p:cNvSpPr/>
          <p:nvPr/>
        </p:nvSpPr>
        <p:spPr>
          <a:xfrm>
            <a:off x="5779008" y="1408176"/>
            <a:ext cx="5845759" cy="998474"/>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The PSA result returns to Adam first, in trend, not to the patient as a raw number. The clinical review remains his. Threshold alerts (built on NICE NG131 surveillance guidance) escalate to him; routine in-range results are reviewed in the same MDT rhythm he uses now. </a:t>
            </a:r>
            <a:pPr indent="0" marL="0">
              <a:buNone/>
            </a:pPr>
            <a:r>
              <a:rPr lang="en-US" sz="1100" b="1" dirty="0">
                <a:solidFill>
                  <a:srgbClr val="231F20"/>
                </a:solidFill>
                <a:latin typeface="Arial" pitchFamily="34" charset="0"/>
                <a:ea typeface="Arial" pitchFamily="34" charset="-122"/>
                <a:cs typeface="Arial" pitchFamily="34" charset="-120"/>
              </a:rPr>
              <a:t>The kit changes where the blood is drawn. It does not change who reads the trend.</a:t>
            </a:r>
            <a:endParaRPr lang="en-US" sz="1100" dirty="0"/>
          </a:p>
        </p:txBody>
      </p:sp>
      <p:sp>
        <p:nvSpPr>
          <p:cNvPr id="18" name="Shape 14"/>
          <p:cNvSpPr/>
          <p:nvPr/>
        </p:nvSpPr>
        <p:spPr>
          <a:xfrm>
            <a:off x="5669280" y="2552954"/>
            <a:ext cx="6065215" cy="274320"/>
          </a:xfrm>
          <a:prstGeom prst="rect">
            <a:avLst/>
          </a:prstGeom>
          <a:solidFill>
            <a:srgbClr val="4C6272"/>
          </a:solidFill>
          <a:ln w="12700">
            <a:solidFill>
              <a:srgbClr val="4C6272"/>
            </a:solidFill>
            <a:prstDash val="solid"/>
          </a:ln>
        </p:spPr>
      </p:sp>
      <p:sp>
        <p:nvSpPr>
          <p:cNvPr id="19" name="Text 15"/>
          <p:cNvSpPr/>
          <p:nvPr/>
        </p:nvSpPr>
        <p:spPr>
          <a:xfrm>
            <a:off x="5779008" y="2552954"/>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20" name="Shape 16"/>
          <p:cNvSpPr/>
          <p:nvPr/>
        </p:nvSpPr>
        <p:spPr>
          <a:xfrm>
            <a:off x="5669280" y="2827274"/>
            <a:ext cx="6065215" cy="882904"/>
          </a:xfrm>
          <a:prstGeom prst="rect">
            <a:avLst/>
          </a:prstGeom>
          <a:solidFill>
            <a:srgbClr val="F0F4F5"/>
          </a:solidFill>
          <a:ln w="12700">
            <a:solidFill>
              <a:srgbClr val="F0F4F5"/>
            </a:solidFill>
            <a:prstDash val="solid"/>
          </a:ln>
        </p:spPr>
      </p:sp>
      <p:sp>
        <p:nvSpPr>
          <p:cNvPr id="21" name="Text 17"/>
          <p:cNvSpPr/>
          <p:nvPr/>
        </p:nvSpPr>
        <p:spPr>
          <a:xfrm>
            <a:off x="5779008" y="2863850"/>
            <a:ext cx="5845759" cy="828040"/>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A model that bypasses the consultant, sends results direct to the patient, and removes the clinical interpretation step. Adam would not have adopted that. Most of his consultant colleagues would not have either. Clinician-initiated only works if the clinician's role is held.</a:t>
            </a:r>
            <a:endParaRPr lang="en-US" sz="1100" dirty="0"/>
          </a:p>
        </p:txBody>
      </p:sp>
      <p:sp>
        <p:nvSpPr>
          <p:cNvPr id="22" name="Shape 18"/>
          <p:cNvSpPr/>
          <p:nvPr/>
        </p:nvSpPr>
        <p:spPr>
          <a:xfrm>
            <a:off x="5669280" y="3838194"/>
            <a:ext cx="6065215" cy="274320"/>
          </a:xfrm>
          <a:prstGeom prst="rect">
            <a:avLst/>
          </a:prstGeom>
          <a:solidFill>
            <a:srgbClr val="006747"/>
          </a:solidFill>
          <a:ln w="12700">
            <a:solidFill>
              <a:srgbClr val="006747"/>
            </a:solidFill>
            <a:prstDash val="solid"/>
          </a:ln>
        </p:spPr>
      </p:sp>
      <p:sp>
        <p:nvSpPr>
          <p:cNvPr id="23" name="Text 19"/>
          <p:cNvSpPr/>
          <p:nvPr/>
        </p:nvSpPr>
        <p:spPr>
          <a:xfrm>
            <a:off x="5779008" y="3838194"/>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4" name="Shape 20"/>
          <p:cNvSpPr/>
          <p:nvPr/>
        </p:nvSpPr>
        <p:spPr>
          <a:xfrm>
            <a:off x="5669280" y="4112514"/>
            <a:ext cx="6065215" cy="712470"/>
          </a:xfrm>
          <a:prstGeom prst="rect">
            <a:avLst/>
          </a:prstGeom>
          <a:solidFill>
            <a:srgbClr val="E8F3EE"/>
          </a:solidFill>
          <a:ln w="12700">
            <a:solidFill>
              <a:srgbClr val="E8F3EE"/>
            </a:solidFill>
            <a:prstDash val="solid"/>
          </a:ln>
        </p:spPr>
      </p:sp>
      <p:sp>
        <p:nvSpPr>
          <p:cNvPr id="25" name="Text 21"/>
          <p:cNvSpPr/>
          <p:nvPr/>
        </p:nvSpPr>
        <p:spPr>
          <a:xfrm>
            <a:off x="5779008" y="4149090"/>
            <a:ext cx="5845759" cy="657606"/>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Aisha, the Clinical Safety Group lead, owning the safety case and the threshold-alert rules. The MHRA-cleared kit supplier on lab assurance. The Trust's clinical governance lead on local sign-off.</a:t>
            </a:r>
            <a:endParaRPr lang="en-US" sz="1100" dirty="0"/>
          </a:p>
        </p:txBody>
      </p:sp>
      <p:sp>
        <p:nvSpPr>
          <p:cNvPr id="27"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Adam  ·  Hearts and Minds</a:t>
            </a:r>
            <a:endParaRPr lang="en-US" sz="850" dirty="0"/>
          </a:p>
        </p:txBody>
      </p:sp>
      <p:sp>
        <p:nvSpPr>
          <p:cNvPr id="28"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9"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C9A0E3"/>
          </a:solidFill>
          <a:ln w="12700">
            <a:solidFill>
              <a:srgbClr val="C9A0E3"/>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ADAM'S JOURNEY  ·  STAGE 4 OF 6</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First home prescriptions · right patient, right cycle</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C9A0E3"/>
                </a:solidFill>
                <a:latin typeface="Arial" pitchFamily="34" charset="0"/>
                <a:ea typeface="Arial" pitchFamily="34" charset="-122"/>
                <a:cs typeface="Arial" pitchFamily="34" charset="-120"/>
              </a:rPr>
              <a:t>04</a:t>
            </a:r>
            <a:endParaRPr lang="en-US" sz="5200" dirty="0"/>
          </a:p>
        </p:txBody>
      </p:sp>
      <p:sp>
        <p:nvSpPr>
          <p:cNvPr id="8" name="Text 5"/>
          <p:cNvSpPr/>
          <p:nvPr/>
        </p:nvSpPr>
        <p:spPr>
          <a:xfrm>
            <a:off x="457200" y="1920240"/>
            <a:ext cx="4892040" cy="1214755"/>
          </a:xfrm>
          <a:prstGeom prst="rect">
            <a:avLst/>
          </a:prstGeom>
          <a:noFill/>
          <a:ln/>
        </p:spPr>
        <p:txBody>
          <a:bodyPr wrap="square" lIns="0" tIns="0" rIns="0" bIns="0" rtlCol="0" anchor="t">
            <a:normAutofit/>
          </a:bodyPr>
          <a:lstStyle/>
          <a:p>
            <a:pPr indent="0" marL="0">
              <a:buNone/>
            </a:pPr>
            <a:r>
              <a:rPr lang="en-US" sz="1450" b="1" dirty="0">
                <a:solidFill>
                  <a:srgbClr val="003087"/>
                </a:solidFill>
                <a:latin typeface="Arial" pitchFamily="34" charset="0"/>
                <a:ea typeface="Arial" pitchFamily="34" charset="-122"/>
                <a:cs typeface="Arial" pitchFamily="34" charset="-120"/>
              </a:rPr>
              <a:t>Adam picks the first patients carefully. Stable surveillance trajectory. Comfortable with the kit. Comfortable with the clinical safety net behind it. Mark is one of the first. The kit goes home, the result comes back, the next clinic does not.</a:t>
            </a:r>
            <a:endParaRPr lang="en-US" sz="1450" dirty="0"/>
          </a:p>
        </p:txBody>
      </p:sp>
      <p:sp>
        <p:nvSpPr>
          <p:cNvPr id="9" name="Shape 6"/>
          <p:cNvSpPr/>
          <p:nvPr/>
        </p:nvSpPr>
        <p:spPr>
          <a:xfrm>
            <a:off x="457200" y="3244723"/>
            <a:ext cx="4892040" cy="921258"/>
          </a:xfrm>
          <a:prstGeom prst="rect">
            <a:avLst/>
          </a:prstGeom>
          <a:solidFill>
            <a:srgbClr val="F0F4F5"/>
          </a:solidFill>
          <a:ln w="12700">
            <a:solidFill>
              <a:srgbClr val="F0F4F5"/>
            </a:solidFill>
            <a:prstDash val="solid"/>
          </a:ln>
        </p:spPr>
      </p:sp>
      <p:sp>
        <p:nvSpPr>
          <p:cNvPr id="10" name="Shape 7"/>
          <p:cNvSpPr/>
          <p:nvPr/>
        </p:nvSpPr>
        <p:spPr>
          <a:xfrm>
            <a:off x="457200" y="3244723"/>
            <a:ext cx="82296" cy="921258"/>
          </a:xfrm>
          <a:prstGeom prst="rect">
            <a:avLst/>
          </a:prstGeom>
          <a:solidFill>
            <a:srgbClr val="C9A0E3"/>
          </a:solidFill>
          <a:ln w="12700">
            <a:solidFill>
              <a:srgbClr val="C9A0E3"/>
            </a:solidFill>
            <a:prstDash val="solid"/>
          </a:ln>
        </p:spPr>
      </p:sp>
      <p:sp>
        <p:nvSpPr>
          <p:cNvPr id="11" name="Text 8"/>
          <p:cNvSpPr/>
          <p:nvPr/>
        </p:nvSpPr>
        <p:spPr>
          <a:xfrm>
            <a:off x="685800" y="3299587"/>
            <a:ext cx="4526280" cy="555498"/>
          </a:xfrm>
          <a:prstGeom prst="rect">
            <a:avLst/>
          </a:prstGeom>
          <a:noFill/>
          <a:ln/>
        </p:spPr>
        <p:txBody>
          <a:bodyPr wrap="square" lIns="0" tIns="0" rIns="0" bIns="0" rtlCol="0" anchor="t">
            <a:normAutofit/>
          </a:bodyPr>
          <a:lstStyle/>
          <a:p>
            <a:pPr indent="0" marL="0">
              <a:buNone/>
            </a:pPr>
            <a:r>
              <a:rPr lang="en-US" sz="900" i="1" dirty="0">
                <a:solidFill>
                  <a:srgbClr val="231F20"/>
                </a:solidFill>
                <a:latin typeface="Arial" pitchFamily="34" charset="0"/>
                <a:ea typeface="Arial" pitchFamily="34" charset="-122"/>
                <a:cs typeface="Arial" pitchFamily="34" charset="-120"/>
              </a:rPr>
              <a:t>“I am picking patients I would already trust with their own monitoring if the tooling existed. Stable trend, comfortable with the kit, family at home who can help if needed. The model meets them where they already are.”</a:t>
            </a:r>
            <a:endParaRPr lang="en-US" sz="900" dirty="0"/>
          </a:p>
        </p:txBody>
      </p:sp>
      <p:sp>
        <p:nvSpPr>
          <p:cNvPr id="12" name="Text 9"/>
          <p:cNvSpPr/>
          <p:nvPr/>
        </p:nvSpPr>
        <p:spPr>
          <a:xfrm>
            <a:off x="685800" y="3855085"/>
            <a:ext cx="4526280" cy="256032"/>
          </a:xfrm>
          <a:prstGeom prst="rect">
            <a:avLst/>
          </a:prstGeom>
          <a:noFill/>
          <a:ln/>
        </p:spPr>
        <p:txBody>
          <a:bodyPr wrap="square" lIns="0" tIns="0" rIns="0" bIns="0" rtlCol="0" anchor="ctr"/>
          <a:lstStyle/>
          <a:p>
            <a:pPr indent="0" marL="0">
              <a:buNone/>
            </a:pPr>
            <a:r>
              <a:rPr lang="en-US" sz="950" b="1" dirty="0">
                <a:solidFill>
                  <a:srgbClr val="C9A0E3"/>
                </a:solidFill>
                <a:latin typeface="Arial" pitchFamily="34" charset="0"/>
                <a:ea typeface="Arial" pitchFamily="34" charset="-122"/>
                <a:cs typeface="Arial" pitchFamily="34" charset="-120"/>
              </a:rPr>
              <a:t>Adam</a:t>
            </a:r>
            <a:endParaRPr lang="en-US" sz="950" dirty="0"/>
          </a:p>
        </p:txBody>
      </p:sp>
      <p:pic>
        <p:nvPicPr>
          <p:cNvPr id="13" name="Image 1" descr="/sessions/quirky-zen-galileo/mnt/outputs/hmdecks5/img/adam-stage4.jpg">    </p:cNvPr>
          <p:cNvPicPr>
            <a:picLocks noChangeAspect="1"/>
          </p:cNvPicPr>
          <p:nvPr/>
        </p:nvPicPr>
        <p:blipFill>
          <a:blip r:embed="rId2"/>
          <a:stretch>
            <a:fillRect/>
          </a:stretch>
        </p:blipFill>
        <p:spPr>
          <a:xfrm>
            <a:off x="457200" y="4330573"/>
            <a:ext cx="3512561" cy="1960499"/>
          </a:xfrm>
          <a:prstGeom prst="rect">
            <a:avLst/>
          </a:prstGeom>
        </p:spPr>
      </p:pic>
      <p:sp>
        <p:nvSpPr>
          <p:cNvPr id="14" name="Shape 10"/>
          <p:cNvSpPr/>
          <p:nvPr/>
        </p:nvSpPr>
        <p:spPr>
          <a:xfrm>
            <a:off x="5669280" y="1097280"/>
            <a:ext cx="6065215" cy="274320"/>
          </a:xfrm>
          <a:prstGeom prst="rect">
            <a:avLst/>
          </a:prstGeom>
          <a:solidFill>
            <a:srgbClr val="005EB8"/>
          </a:solidFill>
          <a:ln w="12700">
            <a:solidFill>
              <a:srgbClr val="005EB8"/>
            </a:solidFill>
            <a:prstDash val="solid"/>
          </a:ln>
        </p:spPr>
      </p:sp>
      <p:sp>
        <p:nvSpPr>
          <p:cNvPr id="15" name="Text 11"/>
          <p:cNvSpPr/>
          <p:nvPr/>
        </p:nvSpPr>
        <p:spPr>
          <a:xfrm>
            <a:off x="5779008" y="109728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6" name="Shape 12"/>
          <p:cNvSpPr/>
          <p:nvPr/>
        </p:nvSpPr>
        <p:spPr>
          <a:xfrm>
            <a:off x="5669280" y="1371600"/>
            <a:ext cx="6065215" cy="1223772"/>
          </a:xfrm>
          <a:prstGeom prst="rect">
            <a:avLst/>
          </a:prstGeom>
          <a:solidFill>
            <a:srgbClr val="D5E8F0"/>
          </a:solidFill>
          <a:ln w="12700">
            <a:solidFill>
              <a:srgbClr val="D5E8F0"/>
            </a:solidFill>
            <a:prstDash val="solid"/>
          </a:ln>
        </p:spPr>
      </p:sp>
      <p:sp>
        <p:nvSpPr>
          <p:cNvPr id="17" name="Text 13"/>
          <p:cNvSpPr/>
          <p:nvPr/>
        </p:nvSpPr>
        <p:spPr>
          <a:xfrm>
            <a:off x="5779008" y="1408176"/>
            <a:ext cx="5845759" cy="1168908"/>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A short conversation at the end of the in-clinic appointment: would you be comfortable doing the next blood at home? Almost every patient says yes. The kit ships from the supplier. The patient takes the sample on the date the clinic would have happened. The lab processes it. The result lands in Adam's system before he would have seen the patient. </a:t>
            </a:r>
            <a:pPr indent="0" marL="0">
              <a:buNone/>
            </a:pPr>
            <a:r>
              <a:rPr lang="en-US" sz="1100" b="1" dirty="0">
                <a:solidFill>
                  <a:srgbClr val="231F20"/>
                </a:solidFill>
                <a:latin typeface="Arial" pitchFamily="34" charset="0"/>
                <a:ea typeface="Arial" pitchFamily="34" charset="-122"/>
                <a:cs typeface="Arial" pitchFamily="34" charset="-120"/>
              </a:rPr>
              <a:t>The clinic visit that did not happen is one he did not have capacity for anyway.</a:t>
            </a:r>
            <a:endParaRPr lang="en-US" sz="1100" dirty="0"/>
          </a:p>
        </p:txBody>
      </p:sp>
      <p:sp>
        <p:nvSpPr>
          <p:cNvPr id="18" name="Shape 14"/>
          <p:cNvSpPr/>
          <p:nvPr/>
        </p:nvSpPr>
        <p:spPr>
          <a:xfrm>
            <a:off x="5669280" y="2723388"/>
            <a:ext cx="6065215" cy="274320"/>
          </a:xfrm>
          <a:prstGeom prst="rect">
            <a:avLst/>
          </a:prstGeom>
          <a:solidFill>
            <a:srgbClr val="4C6272"/>
          </a:solidFill>
          <a:ln w="12700">
            <a:solidFill>
              <a:srgbClr val="4C6272"/>
            </a:solidFill>
            <a:prstDash val="solid"/>
          </a:ln>
        </p:spPr>
      </p:sp>
      <p:sp>
        <p:nvSpPr>
          <p:cNvPr id="19" name="Text 15"/>
          <p:cNvSpPr/>
          <p:nvPr/>
        </p:nvSpPr>
        <p:spPr>
          <a:xfrm>
            <a:off x="5779008" y="2723388"/>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20" name="Shape 16"/>
          <p:cNvSpPr/>
          <p:nvPr/>
        </p:nvSpPr>
        <p:spPr>
          <a:xfrm>
            <a:off x="5669280" y="2997708"/>
            <a:ext cx="6065215" cy="882904"/>
          </a:xfrm>
          <a:prstGeom prst="rect">
            <a:avLst/>
          </a:prstGeom>
          <a:solidFill>
            <a:srgbClr val="F0F4F5"/>
          </a:solidFill>
          <a:ln w="12700">
            <a:solidFill>
              <a:srgbClr val="F0F4F5"/>
            </a:solidFill>
            <a:prstDash val="solid"/>
          </a:ln>
        </p:spPr>
      </p:sp>
      <p:sp>
        <p:nvSpPr>
          <p:cNvPr id="21" name="Text 17"/>
          <p:cNvSpPr/>
          <p:nvPr/>
        </p:nvSpPr>
        <p:spPr>
          <a:xfrm>
            <a:off x="5779008" y="3034284"/>
            <a:ext cx="5845759" cy="828040"/>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Every patient comes in every quarter. No tier of patients reading their trend remotely. No clinic time freed for the patients whose disease behaviour means clinic is the right venue. The clinic-only model treats every patient as if they need clinic time, regardless of whether they clinically do.</a:t>
            </a:r>
            <a:endParaRPr lang="en-US" sz="1100" dirty="0"/>
          </a:p>
        </p:txBody>
      </p:sp>
      <p:sp>
        <p:nvSpPr>
          <p:cNvPr id="22" name="Shape 18"/>
          <p:cNvSpPr/>
          <p:nvPr/>
        </p:nvSpPr>
        <p:spPr>
          <a:xfrm>
            <a:off x="5669280" y="4008628"/>
            <a:ext cx="6065215" cy="274320"/>
          </a:xfrm>
          <a:prstGeom prst="rect">
            <a:avLst/>
          </a:prstGeom>
          <a:solidFill>
            <a:srgbClr val="006747"/>
          </a:solidFill>
          <a:ln w="12700">
            <a:solidFill>
              <a:srgbClr val="006747"/>
            </a:solidFill>
            <a:prstDash val="solid"/>
          </a:ln>
        </p:spPr>
      </p:sp>
      <p:sp>
        <p:nvSpPr>
          <p:cNvPr id="23" name="Text 19"/>
          <p:cNvSpPr/>
          <p:nvPr/>
        </p:nvSpPr>
        <p:spPr>
          <a:xfrm>
            <a:off x="5779008" y="4008628"/>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4" name="Shape 20"/>
          <p:cNvSpPr/>
          <p:nvPr/>
        </p:nvSpPr>
        <p:spPr>
          <a:xfrm>
            <a:off x="5669280" y="4282948"/>
            <a:ext cx="6065215" cy="712470"/>
          </a:xfrm>
          <a:prstGeom prst="rect">
            <a:avLst/>
          </a:prstGeom>
          <a:solidFill>
            <a:srgbClr val="E8F3EE"/>
          </a:solidFill>
          <a:ln w="12700">
            <a:solidFill>
              <a:srgbClr val="E8F3EE"/>
            </a:solidFill>
            <a:prstDash val="solid"/>
          </a:ln>
        </p:spPr>
      </p:sp>
      <p:sp>
        <p:nvSpPr>
          <p:cNvPr id="25" name="Text 21"/>
          <p:cNvSpPr/>
          <p:nvPr/>
        </p:nvSpPr>
        <p:spPr>
          <a:xfrm>
            <a:off x="5779008" y="4319524"/>
            <a:ext cx="5845759" cy="657606"/>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The clinical nurse specialist coordinating onboarding. The supplier shipping the kit. The lab processing the sample. The platform delivering the result back. The patient.</a:t>
            </a:r>
            <a:endParaRPr lang="en-US" sz="1100" dirty="0"/>
          </a:p>
        </p:txBody>
      </p:sp>
      <p:sp>
        <p:nvSpPr>
          <p:cNvPr id="27"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Adam  ·  Hearts and Minds</a:t>
            </a:r>
            <a:endParaRPr lang="en-US" sz="850" dirty="0"/>
          </a:p>
        </p:txBody>
      </p:sp>
      <p:sp>
        <p:nvSpPr>
          <p:cNvPr id="28"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9"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C9A0E3"/>
          </a:solidFill>
          <a:ln w="12700">
            <a:solidFill>
              <a:srgbClr val="C9A0E3"/>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ADAM'S JOURNEY  ·  STAGE 5 OF 6</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Surveillance in flight · trends, not appointments</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C9A0E3"/>
                </a:solidFill>
                <a:latin typeface="Arial" pitchFamily="34" charset="0"/>
                <a:ea typeface="Arial" pitchFamily="34" charset="-122"/>
                <a:cs typeface="Arial" pitchFamily="34" charset="-120"/>
              </a:rPr>
              <a:t>05</a:t>
            </a:r>
            <a:endParaRPr lang="en-US" sz="5200" dirty="0"/>
          </a:p>
        </p:txBody>
      </p:sp>
      <p:sp>
        <p:nvSpPr>
          <p:cNvPr id="8" name="Text 5"/>
          <p:cNvSpPr/>
          <p:nvPr/>
        </p:nvSpPr>
        <p:spPr>
          <a:xfrm>
            <a:off x="457200" y="1920240"/>
            <a:ext cx="4892040" cy="1214755"/>
          </a:xfrm>
          <a:prstGeom prst="rect">
            <a:avLst/>
          </a:prstGeom>
          <a:noFill/>
          <a:ln/>
        </p:spPr>
        <p:txBody>
          <a:bodyPr wrap="square" lIns="0" tIns="0" rIns="0" bIns="0" rtlCol="0" anchor="t">
            <a:normAutofit/>
          </a:bodyPr>
          <a:lstStyle/>
          <a:p>
            <a:pPr indent="0" marL="0">
              <a:buNone/>
            </a:pPr>
            <a:r>
              <a:rPr lang="en-US" sz="1450" b="1" dirty="0">
                <a:solidFill>
                  <a:srgbClr val="003087"/>
                </a:solidFill>
                <a:latin typeface="Arial" pitchFamily="34" charset="0"/>
                <a:ea typeface="Arial" pitchFamily="34" charset="-122"/>
                <a:cs typeface="Arial" pitchFamily="34" charset="-120"/>
              </a:rPr>
              <a:t>The cohort settles into a new rhythm. Results arrive on Adam's desk in trend. Stable patients stay in surveillance. Threshold breaches escalate. The clinic now sees the patients who clinically need to be seen, not every patient by default.</a:t>
            </a:r>
            <a:endParaRPr lang="en-US" sz="1450" dirty="0"/>
          </a:p>
        </p:txBody>
      </p:sp>
      <p:sp>
        <p:nvSpPr>
          <p:cNvPr id="9" name="Shape 6"/>
          <p:cNvSpPr/>
          <p:nvPr/>
        </p:nvSpPr>
        <p:spPr>
          <a:xfrm>
            <a:off x="457200" y="3244723"/>
            <a:ext cx="4892040" cy="944499"/>
          </a:xfrm>
          <a:prstGeom prst="rect">
            <a:avLst/>
          </a:prstGeom>
          <a:solidFill>
            <a:srgbClr val="F0F4F5"/>
          </a:solidFill>
          <a:ln w="12700">
            <a:solidFill>
              <a:srgbClr val="F0F4F5"/>
            </a:solidFill>
            <a:prstDash val="solid"/>
          </a:ln>
        </p:spPr>
      </p:sp>
      <p:sp>
        <p:nvSpPr>
          <p:cNvPr id="10" name="Shape 7"/>
          <p:cNvSpPr/>
          <p:nvPr/>
        </p:nvSpPr>
        <p:spPr>
          <a:xfrm>
            <a:off x="457200" y="3244723"/>
            <a:ext cx="82296" cy="944499"/>
          </a:xfrm>
          <a:prstGeom prst="rect">
            <a:avLst/>
          </a:prstGeom>
          <a:solidFill>
            <a:srgbClr val="C9A0E3"/>
          </a:solidFill>
          <a:ln w="12700">
            <a:solidFill>
              <a:srgbClr val="C9A0E3"/>
            </a:solidFill>
            <a:prstDash val="solid"/>
          </a:ln>
        </p:spPr>
      </p:sp>
      <p:sp>
        <p:nvSpPr>
          <p:cNvPr id="11" name="Text 8"/>
          <p:cNvSpPr/>
          <p:nvPr/>
        </p:nvSpPr>
        <p:spPr>
          <a:xfrm>
            <a:off x="685800" y="3299587"/>
            <a:ext cx="4526280" cy="578739"/>
          </a:xfrm>
          <a:prstGeom prst="rect">
            <a:avLst/>
          </a:prstGeom>
          <a:noFill/>
          <a:ln/>
        </p:spPr>
        <p:txBody>
          <a:bodyPr wrap="square" lIns="0" tIns="0" rIns="0" bIns="0" rtlCol="0" anchor="t">
            <a:normAutofit/>
          </a:bodyPr>
          <a:lstStyle/>
          <a:p>
            <a:pPr indent="0" marL="0">
              <a:buNone/>
            </a:pPr>
            <a:r>
              <a:rPr lang="en-US" sz="950" i="1" dirty="0">
                <a:solidFill>
                  <a:srgbClr val="231F20"/>
                </a:solidFill>
                <a:latin typeface="Arial" pitchFamily="34" charset="0"/>
                <a:ea typeface="Arial" pitchFamily="34" charset="-122"/>
                <a:cs typeface="Arial" pitchFamily="34" charset="-120"/>
              </a:rPr>
              <a:t>“The silence is doing clinical work. Every result is reviewed in trend, and escalation happens when the line moves. Safety is the review, not the appointment. That is what surveillance was supposed to be all along.”</a:t>
            </a:r>
            <a:endParaRPr lang="en-US" sz="950" dirty="0"/>
          </a:p>
        </p:txBody>
      </p:sp>
      <p:sp>
        <p:nvSpPr>
          <p:cNvPr id="12" name="Text 9"/>
          <p:cNvSpPr/>
          <p:nvPr/>
        </p:nvSpPr>
        <p:spPr>
          <a:xfrm>
            <a:off x="685800" y="3878326"/>
            <a:ext cx="4526280" cy="256032"/>
          </a:xfrm>
          <a:prstGeom prst="rect">
            <a:avLst/>
          </a:prstGeom>
          <a:noFill/>
          <a:ln/>
        </p:spPr>
        <p:txBody>
          <a:bodyPr wrap="square" lIns="0" tIns="0" rIns="0" bIns="0" rtlCol="0" anchor="ctr"/>
          <a:lstStyle/>
          <a:p>
            <a:pPr indent="0" marL="0">
              <a:buNone/>
            </a:pPr>
            <a:r>
              <a:rPr lang="en-US" sz="950" b="1" dirty="0">
                <a:solidFill>
                  <a:srgbClr val="C9A0E3"/>
                </a:solidFill>
                <a:latin typeface="Arial" pitchFamily="34" charset="0"/>
                <a:ea typeface="Arial" pitchFamily="34" charset="-122"/>
                <a:cs typeface="Arial" pitchFamily="34" charset="-120"/>
              </a:rPr>
              <a:t>Adam</a:t>
            </a:r>
            <a:endParaRPr lang="en-US" sz="950" dirty="0"/>
          </a:p>
        </p:txBody>
      </p:sp>
      <p:pic>
        <p:nvPicPr>
          <p:cNvPr id="13" name="Image 1" descr="/sessions/quirky-zen-galileo/mnt/outputs/hmdecks5/img/adam-stage5.jpg">    </p:cNvPr>
          <p:cNvPicPr>
            <a:picLocks noChangeAspect="1"/>
          </p:cNvPicPr>
          <p:nvPr/>
        </p:nvPicPr>
        <p:blipFill>
          <a:blip r:embed="rId2"/>
          <a:stretch>
            <a:fillRect/>
          </a:stretch>
        </p:blipFill>
        <p:spPr>
          <a:xfrm>
            <a:off x="457200" y="4353814"/>
            <a:ext cx="3470921" cy="1937258"/>
          </a:xfrm>
          <a:prstGeom prst="rect">
            <a:avLst/>
          </a:prstGeom>
        </p:spPr>
      </p:pic>
      <p:sp>
        <p:nvSpPr>
          <p:cNvPr id="14" name="Shape 10"/>
          <p:cNvSpPr/>
          <p:nvPr/>
        </p:nvSpPr>
        <p:spPr>
          <a:xfrm>
            <a:off x="5669280" y="1097280"/>
            <a:ext cx="6065215" cy="274320"/>
          </a:xfrm>
          <a:prstGeom prst="rect">
            <a:avLst/>
          </a:prstGeom>
          <a:solidFill>
            <a:srgbClr val="005EB8"/>
          </a:solidFill>
          <a:ln w="12700">
            <a:solidFill>
              <a:srgbClr val="005EB8"/>
            </a:solidFill>
            <a:prstDash val="solid"/>
          </a:ln>
        </p:spPr>
      </p:sp>
      <p:sp>
        <p:nvSpPr>
          <p:cNvPr id="15" name="Text 11"/>
          <p:cNvSpPr/>
          <p:nvPr/>
        </p:nvSpPr>
        <p:spPr>
          <a:xfrm>
            <a:off x="5779008" y="109728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6" name="Shape 12"/>
          <p:cNvSpPr/>
          <p:nvPr/>
        </p:nvSpPr>
        <p:spPr>
          <a:xfrm>
            <a:off x="5669280" y="1371600"/>
            <a:ext cx="6065215" cy="1053338"/>
          </a:xfrm>
          <a:prstGeom prst="rect">
            <a:avLst/>
          </a:prstGeom>
          <a:solidFill>
            <a:srgbClr val="D5E8F0"/>
          </a:solidFill>
          <a:ln w="12700">
            <a:solidFill>
              <a:srgbClr val="D5E8F0"/>
            </a:solidFill>
            <a:prstDash val="solid"/>
          </a:ln>
        </p:spPr>
      </p:sp>
      <p:sp>
        <p:nvSpPr>
          <p:cNvPr id="17" name="Text 13"/>
          <p:cNvSpPr/>
          <p:nvPr/>
        </p:nvSpPr>
        <p:spPr>
          <a:xfrm>
            <a:off x="5779008" y="1408176"/>
            <a:ext cx="5845759" cy="998474"/>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Routine in-range PSA results are reviewed in trend by Adam in the same MDT rhythm. Threshold breaches (rate of change, absolute value) trigger an alert and an MDT discussion within a defined window. Patients who would benefit from clinic are seen in clinic. Patients whose disease is stable stay home for the next quarterly cycle. </a:t>
            </a:r>
            <a:pPr indent="0" marL="0">
              <a:buNone/>
            </a:pPr>
            <a:r>
              <a:rPr lang="en-US" sz="1100" b="1" dirty="0">
                <a:solidFill>
                  <a:srgbClr val="231F20"/>
                </a:solidFill>
                <a:latin typeface="Arial" pitchFamily="34" charset="0"/>
                <a:ea typeface="Arial" pitchFamily="34" charset="-122"/>
                <a:cs typeface="Arial" pitchFamily="34" charset="-120"/>
              </a:rPr>
              <a:t>The model surfaces clinical signal, not appointment volume.</a:t>
            </a:r>
            <a:endParaRPr lang="en-US" sz="1100" dirty="0"/>
          </a:p>
        </p:txBody>
      </p:sp>
      <p:sp>
        <p:nvSpPr>
          <p:cNvPr id="18" name="Shape 14"/>
          <p:cNvSpPr/>
          <p:nvPr/>
        </p:nvSpPr>
        <p:spPr>
          <a:xfrm>
            <a:off x="5669280" y="2552954"/>
            <a:ext cx="6065215" cy="274320"/>
          </a:xfrm>
          <a:prstGeom prst="rect">
            <a:avLst/>
          </a:prstGeom>
          <a:solidFill>
            <a:srgbClr val="4C6272"/>
          </a:solidFill>
          <a:ln w="12700">
            <a:solidFill>
              <a:srgbClr val="4C6272"/>
            </a:solidFill>
            <a:prstDash val="solid"/>
          </a:ln>
        </p:spPr>
      </p:sp>
      <p:sp>
        <p:nvSpPr>
          <p:cNvPr id="19" name="Text 15"/>
          <p:cNvSpPr/>
          <p:nvPr/>
        </p:nvSpPr>
        <p:spPr>
          <a:xfrm>
            <a:off x="5779008" y="2552954"/>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20" name="Shape 16"/>
          <p:cNvSpPr/>
          <p:nvPr/>
        </p:nvSpPr>
        <p:spPr>
          <a:xfrm>
            <a:off x="5669280" y="2827274"/>
            <a:ext cx="6065215" cy="882904"/>
          </a:xfrm>
          <a:prstGeom prst="rect">
            <a:avLst/>
          </a:prstGeom>
          <a:solidFill>
            <a:srgbClr val="F0F4F5"/>
          </a:solidFill>
          <a:ln w="12700">
            <a:solidFill>
              <a:srgbClr val="F0F4F5"/>
            </a:solidFill>
            <a:prstDash val="solid"/>
          </a:ln>
        </p:spPr>
      </p:sp>
      <p:sp>
        <p:nvSpPr>
          <p:cNvPr id="21" name="Text 17"/>
          <p:cNvSpPr/>
          <p:nvPr/>
        </p:nvSpPr>
        <p:spPr>
          <a:xfrm>
            <a:off x="5779008" y="2863850"/>
            <a:ext cx="5845759" cy="828040"/>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Every quarter, every patient, in clinic regardless of trend. The signal-to-noise ratio of in-clinic surveillance was poor because most appointments confirmed stability rather than detecting change. The clinically interesting patients shared clinic time with the clinically uneventful ones.</a:t>
            </a:r>
            <a:endParaRPr lang="en-US" sz="1100" dirty="0"/>
          </a:p>
        </p:txBody>
      </p:sp>
      <p:sp>
        <p:nvSpPr>
          <p:cNvPr id="22" name="Shape 18"/>
          <p:cNvSpPr/>
          <p:nvPr/>
        </p:nvSpPr>
        <p:spPr>
          <a:xfrm>
            <a:off x="5669280" y="3838194"/>
            <a:ext cx="6065215" cy="274320"/>
          </a:xfrm>
          <a:prstGeom prst="rect">
            <a:avLst/>
          </a:prstGeom>
          <a:solidFill>
            <a:srgbClr val="006747"/>
          </a:solidFill>
          <a:ln w="12700">
            <a:solidFill>
              <a:srgbClr val="006747"/>
            </a:solidFill>
            <a:prstDash val="solid"/>
          </a:ln>
        </p:spPr>
      </p:sp>
      <p:sp>
        <p:nvSpPr>
          <p:cNvPr id="23" name="Text 19"/>
          <p:cNvSpPr/>
          <p:nvPr/>
        </p:nvSpPr>
        <p:spPr>
          <a:xfrm>
            <a:off x="5779008" y="3838194"/>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4" name="Shape 20"/>
          <p:cNvSpPr/>
          <p:nvPr/>
        </p:nvSpPr>
        <p:spPr>
          <a:xfrm>
            <a:off x="5669280" y="4112514"/>
            <a:ext cx="6065215" cy="712470"/>
          </a:xfrm>
          <a:prstGeom prst="rect">
            <a:avLst/>
          </a:prstGeom>
          <a:solidFill>
            <a:srgbClr val="E8F3EE"/>
          </a:solidFill>
          <a:ln w="12700">
            <a:solidFill>
              <a:srgbClr val="E8F3EE"/>
            </a:solidFill>
            <a:prstDash val="solid"/>
          </a:ln>
        </p:spPr>
      </p:sp>
      <p:sp>
        <p:nvSpPr>
          <p:cNvPr id="25" name="Text 21"/>
          <p:cNvSpPr/>
          <p:nvPr/>
        </p:nvSpPr>
        <p:spPr>
          <a:xfrm>
            <a:off x="5779008" y="4149090"/>
            <a:ext cx="5845759" cy="657606"/>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The MDT, holding the trend review. The CNS, coordinating between routine surveillance and escalation. Priya on the data layer, ensuring the result writes back to the Trust EPR cleanly. The patient, getting on with their life between cycles.</a:t>
            </a:r>
            <a:endParaRPr lang="en-US" sz="1100" dirty="0"/>
          </a:p>
        </p:txBody>
      </p:sp>
      <p:sp>
        <p:nvSpPr>
          <p:cNvPr id="27"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Adam  ·  Hearts and Minds</a:t>
            </a:r>
            <a:endParaRPr lang="en-US" sz="850" dirty="0"/>
          </a:p>
        </p:txBody>
      </p:sp>
      <p:sp>
        <p:nvSpPr>
          <p:cNvPr id="28"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9"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C9A0E3"/>
          </a:solidFill>
          <a:ln w="12700">
            <a:solidFill>
              <a:srgbClr val="C9A0E3"/>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ADAM'S JOURNEY  ·  STAGE 6 OF 6</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The clinic shape now · time for the patients who need it</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29768" y="1024128"/>
            <a:ext cx="1463040" cy="868680"/>
          </a:xfrm>
          <a:prstGeom prst="rect">
            <a:avLst/>
          </a:prstGeom>
          <a:noFill/>
          <a:ln/>
        </p:spPr>
        <p:txBody>
          <a:bodyPr wrap="square" lIns="0" tIns="0" rIns="0" bIns="0" rtlCol="0" anchor="ctr"/>
          <a:lstStyle/>
          <a:p>
            <a:pPr indent="0" marL="0">
              <a:buNone/>
            </a:pPr>
            <a:r>
              <a:rPr lang="en-US" sz="5200" b="1" dirty="0">
                <a:solidFill>
                  <a:srgbClr val="C9A0E3"/>
                </a:solidFill>
                <a:latin typeface="Arial" pitchFamily="34" charset="0"/>
                <a:ea typeface="Arial" pitchFamily="34" charset="-122"/>
                <a:cs typeface="Arial" pitchFamily="34" charset="-120"/>
              </a:rPr>
              <a:t>06</a:t>
            </a:r>
            <a:endParaRPr lang="en-US" sz="5200" dirty="0"/>
          </a:p>
        </p:txBody>
      </p:sp>
      <p:sp>
        <p:nvSpPr>
          <p:cNvPr id="8" name="Text 5"/>
          <p:cNvSpPr/>
          <p:nvPr/>
        </p:nvSpPr>
        <p:spPr>
          <a:xfrm>
            <a:off x="457200" y="1920240"/>
            <a:ext cx="4892040" cy="1214755"/>
          </a:xfrm>
          <a:prstGeom prst="rect">
            <a:avLst/>
          </a:prstGeom>
          <a:noFill/>
          <a:ln/>
        </p:spPr>
        <p:txBody>
          <a:bodyPr wrap="square" lIns="0" tIns="0" rIns="0" bIns="0" rtlCol="0" anchor="t">
            <a:normAutofit/>
          </a:bodyPr>
          <a:lstStyle/>
          <a:p>
            <a:pPr indent="0" marL="0">
              <a:buNone/>
            </a:pPr>
            <a:r>
              <a:rPr lang="en-US" sz="1450" b="1" dirty="0">
                <a:solidFill>
                  <a:srgbClr val="003087"/>
                </a:solidFill>
                <a:latin typeface="Arial" pitchFamily="34" charset="0"/>
                <a:ea typeface="Arial" pitchFamily="34" charset="-122"/>
                <a:cs typeface="Arial" pitchFamily="34" charset="-120"/>
              </a:rPr>
              <a:t>More patients in surveillance. Fewer drop-outs. The same consultant cohort. The clinic now sees the patients whose disease behaviour says clinic is the right venue. Capacity goes where the clinical need is, not where the diary template said.</a:t>
            </a:r>
            <a:endParaRPr lang="en-US" sz="1450" dirty="0"/>
          </a:p>
        </p:txBody>
      </p:sp>
      <p:sp>
        <p:nvSpPr>
          <p:cNvPr id="9" name="Shape 6"/>
          <p:cNvSpPr/>
          <p:nvPr/>
        </p:nvSpPr>
        <p:spPr>
          <a:xfrm>
            <a:off x="457200" y="3244723"/>
            <a:ext cx="4892040" cy="944499"/>
          </a:xfrm>
          <a:prstGeom prst="rect">
            <a:avLst/>
          </a:prstGeom>
          <a:solidFill>
            <a:srgbClr val="F0F4F5"/>
          </a:solidFill>
          <a:ln w="12700">
            <a:solidFill>
              <a:srgbClr val="F0F4F5"/>
            </a:solidFill>
            <a:prstDash val="solid"/>
          </a:ln>
        </p:spPr>
      </p:sp>
      <p:sp>
        <p:nvSpPr>
          <p:cNvPr id="10" name="Shape 7"/>
          <p:cNvSpPr/>
          <p:nvPr/>
        </p:nvSpPr>
        <p:spPr>
          <a:xfrm>
            <a:off x="457200" y="3244723"/>
            <a:ext cx="82296" cy="944499"/>
          </a:xfrm>
          <a:prstGeom prst="rect">
            <a:avLst/>
          </a:prstGeom>
          <a:solidFill>
            <a:srgbClr val="C9A0E3"/>
          </a:solidFill>
          <a:ln w="12700">
            <a:solidFill>
              <a:srgbClr val="C9A0E3"/>
            </a:solidFill>
            <a:prstDash val="solid"/>
          </a:ln>
        </p:spPr>
      </p:sp>
      <p:sp>
        <p:nvSpPr>
          <p:cNvPr id="11" name="Text 8"/>
          <p:cNvSpPr/>
          <p:nvPr/>
        </p:nvSpPr>
        <p:spPr>
          <a:xfrm>
            <a:off x="685800" y="3299587"/>
            <a:ext cx="4526280" cy="578739"/>
          </a:xfrm>
          <a:prstGeom prst="rect">
            <a:avLst/>
          </a:prstGeom>
          <a:noFill/>
          <a:ln/>
        </p:spPr>
        <p:txBody>
          <a:bodyPr wrap="square" lIns="0" tIns="0" rIns="0" bIns="0" rtlCol="0" anchor="t">
            <a:normAutofit/>
          </a:bodyPr>
          <a:lstStyle/>
          <a:p>
            <a:pPr indent="0" marL="0">
              <a:buNone/>
            </a:pPr>
            <a:r>
              <a:rPr lang="en-US" sz="950" i="1" dirty="0">
                <a:solidFill>
                  <a:srgbClr val="231F20"/>
                </a:solidFill>
                <a:latin typeface="Arial" pitchFamily="34" charset="0"/>
                <a:ea typeface="Arial" pitchFamily="34" charset="-122"/>
                <a:cs typeface="Arial" pitchFamily="34" charset="-120"/>
              </a:rPr>
              <a:t>“The patients I worried about are still in surveillance. The clinic is full of the patients who clinically belong there. Same team, more reach, less attrition. That was the only version of this worth doing.”</a:t>
            </a:r>
            <a:endParaRPr lang="en-US" sz="950" dirty="0"/>
          </a:p>
        </p:txBody>
      </p:sp>
      <p:sp>
        <p:nvSpPr>
          <p:cNvPr id="12" name="Text 9"/>
          <p:cNvSpPr/>
          <p:nvPr/>
        </p:nvSpPr>
        <p:spPr>
          <a:xfrm>
            <a:off x="685800" y="3878326"/>
            <a:ext cx="4526280" cy="256032"/>
          </a:xfrm>
          <a:prstGeom prst="rect">
            <a:avLst/>
          </a:prstGeom>
          <a:noFill/>
          <a:ln/>
        </p:spPr>
        <p:txBody>
          <a:bodyPr wrap="square" lIns="0" tIns="0" rIns="0" bIns="0" rtlCol="0" anchor="ctr"/>
          <a:lstStyle/>
          <a:p>
            <a:pPr indent="0" marL="0">
              <a:buNone/>
            </a:pPr>
            <a:r>
              <a:rPr lang="en-US" sz="950" b="1" dirty="0">
                <a:solidFill>
                  <a:srgbClr val="C9A0E3"/>
                </a:solidFill>
                <a:latin typeface="Arial" pitchFamily="34" charset="0"/>
                <a:ea typeface="Arial" pitchFamily="34" charset="-122"/>
                <a:cs typeface="Arial" pitchFamily="34" charset="-120"/>
              </a:rPr>
              <a:t>Adam</a:t>
            </a:r>
            <a:endParaRPr lang="en-US" sz="950" dirty="0"/>
          </a:p>
        </p:txBody>
      </p:sp>
      <p:pic>
        <p:nvPicPr>
          <p:cNvPr id="13" name="Image 1" descr="/sessions/quirky-zen-galileo/mnt/outputs/hmdecks5/img/adam-stage6.jpg">    </p:cNvPr>
          <p:cNvPicPr>
            <a:picLocks noChangeAspect="1"/>
          </p:cNvPicPr>
          <p:nvPr/>
        </p:nvPicPr>
        <p:blipFill>
          <a:blip r:embed="rId2"/>
          <a:stretch>
            <a:fillRect/>
          </a:stretch>
        </p:blipFill>
        <p:spPr>
          <a:xfrm>
            <a:off x="457200" y="4353814"/>
            <a:ext cx="3470921" cy="1937258"/>
          </a:xfrm>
          <a:prstGeom prst="rect">
            <a:avLst/>
          </a:prstGeom>
        </p:spPr>
      </p:pic>
      <p:sp>
        <p:nvSpPr>
          <p:cNvPr id="14" name="Shape 10"/>
          <p:cNvSpPr/>
          <p:nvPr/>
        </p:nvSpPr>
        <p:spPr>
          <a:xfrm>
            <a:off x="5669280" y="1097280"/>
            <a:ext cx="6065215" cy="274320"/>
          </a:xfrm>
          <a:prstGeom prst="rect">
            <a:avLst/>
          </a:prstGeom>
          <a:solidFill>
            <a:srgbClr val="005EB8"/>
          </a:solidFill>
          <a:ln w="12700">
            <a:solidFill>
              <a:srgbClr val="005EB8"/>
            </a:solidFill>
            <a:prstDash val="solid"/>
          </a:ln>
        </p:spPr>
      </p:sp>
      <p:sp>
        <p:nvSpPr>
          <p:cNvPr id="15" name="Text 11"/>
          <p:cNvSpPr/>
          <p:nvPr/>
        </p:nvSpPr>
        <p:spPr>
          <a:xfrm>
            <a:off x="5779008" y="1097280"/>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MODEL IS DOING UNDERNEATH</a:t>
            </a:r>
            <a:endParaRPr lang="en-US" sz="850" dirty="0"/>
          </a:p>
        </p:txBody>
      </p:sp>
      <p:sp>
        <p:nvSpPr>
          <p:cNvPr id="16" name="Shape 12"/>
          <p:cNvSpPr/>
          <p:nvPr/>
        </p:nvSpPr>
        <p:spPr>
          <a:xfrm>
            <a:off x="5669280" y="1371600"/>
            <a:ext cx="6065215" cy="1223772"/>
          </a:xfrm>
          <a:prstGeom prst="rect">
            <a:avLst/>
          </a:prstGeom>
          <a:solidFill>
            <a:srgbClr val="D5E8F0"/>
          </a:solidFill>
          <a:ln w="12700">
            <a:solidFill>
              <a:srgbClr val="D5E8F0"/>
            </a:solidFill>
            <a:prstDash val="solid"/>
          </a:ln>
        </p:spPr>
      </p:sp>
      <p:sp>
        <p:nvSpPr>
          <p:cNvPr id="17" name="Text 13"/>
          <p:cNvSpPr/>
          <p:nvPr/>
        </p:nvSpPr>
        <p:spPr>
          <a:xfrm>
            <a:off x="5779008" y="1408176"/>
            <a:ext cx="5845759" cy="1168908"/>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PSA-AS cohort size up; surveillance attrition down (drop-out curve flatter across cycles); clinic capacity reallocated from routine PSA reviews to active concerns and imaging follow-on. Outpatient slots returned to the Trust's elective recovery target. </a:t>
            </a:r>
            <a:pPr indent="0" marL="0">
              <a:buNone/>
            </a:pPr>
            <a:r>
              <a:rPr lang="en-US" sz="1100" b="1" dirty="0">
                <a:solidFill>
                  <a:srgbClr val="231F20"/>
                </a:solidFill>
                <a:latin typeface="Arial" pitchFamily="34" charset="0"/>
                <a:ea typeface="Arial" pitchFamily="34" charset="-122"/>
                <a:cs typeface="Arial" pitchFamily="34" charset="-120"/>
              </a:rPr>
              <a:t>The same consultant team holds more patients in surveillance than the clinic-only model could have, with no extra clinic time.</a:t>
            </a:r>
            <a:pPr indent="0" marL="0">
              <a:buNone/>
            </a:pPr>
            <a:r>
              <a:rPr lang="en-US" sz="1100" dirty="0">
                <a:solidFill>
                  <a:srgbClr val="231F20"/>
                </a:solidFill>
                <a:latin typeface="Arial" pitchFamily="34" charset="0"/>
                <a:ea typeface="Arial" pitchFamily="34" charset="-122"/>
                <a:cs typeface="Arial" pitchFamily="34" charset="-120"/>
              </a:rPr>
              <a:t> The model passes the test that mattered to him: clinical accountability preserved, reach extended, capacity released.</a:t>
            </a:r>
            <a:endParaRPr lang="en-US" sz="1100" dirty="0"/>
          </a:p>
        </p:txBody>
      </p:sp>
      <p:sp>
        <p:nvSpPr>
          <p:cNvPr id="18" name="Shape 14"/>
          <p:cNvSpPr/>
          <p:nvPr/>
        </p:nvSpPr>
        <p:spPr>
          <a:xfrm>
            <a:off x="5669280" y="2723388"/>
            <a:ext cx="6065215" cy="274320"/>
          </a:xfrm>
          <a:prstGeom prst="rect">
            <a:avLst/>
          </a:prstGeom>
          <a:solidFill>
            <a:srgbClr val="4C6272"/>
          </a:solidFill>
          <a:ln w="12700">
            <a:solidFill>
              <a:srgbClr val="4C6272"/>
            </a:solidFill>
            <a:prstDash val="solid"/>
          </a:ln>
        </p:spPr>
      </p:sp>
      <p:sp>
        <p:nvSpPr>
          <p:cNvPr id="19" name="Text 15"/>
          <p:cNvSpPr/>
          <p:nvPr/>
        </p:nvSpPr>
        <p:spPr>
          <a:xfrm>
            <a:off x="5779008" y="2723388"/>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THE OLD WAY</a:t>
            </a:r>
            <a:endParaRPr lang="en-US" sz="850" dirty="0"/>
          </a:p>
        </p:txBody>
      </p:sp>
      <p:sp>
        <p:nvSpPr>
          <p:cNvPr id="20" name="Shape 16"/>
          <p:cNvSpPr/>
          <p:nvPr/>
        </p:nvSpPr>
        <p:spPr>
          <a:xfrm>
            <a:off x="5669280" y="2997708"/>
            <a:ext cx="6065215" cy="882904"/>
          </a:xfrm>
          <a:prstGeom prst="rect">
            <a:avLst/>
          </a:prstGeom>
          <a:solidFill>
            <a:srgbClr val="F0F4F5"/>
          </a:solidFill>
          <a:ln w="12700">
            <a:solidFill>
              <a:srgbClr val="F0F4F5"/>
            </a:solidFill>
            <a:prstDash val="solid"/>
          </a:ln>
        </p:spPr>
      </p:sp>
      <p:sp>
        <p:nvSpPr>
          <p:cNvPr id="21" name="Text 17"/>
          <p:cNvSpPr/>
          <p:nvPr/>
        </p:nvSpPr>
        <p:spPr>
          <a:xfrm>
            <a:off x="5779008" y="3034284"/>
            <a:ext cx="5845759" cy="828040"/>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Cohort capped by clinic capacity. Drop-outs growing with cohort age. Routine bloods consuming consultant time. The clinically interesting patients waiting for an appointment behind the clinically uneventful ones. Surveillance failing the patients it was designed to protect.</a:t>
            </a:r>
            <a:endParaRPr lang="en-US" sz="1100" dirty="0"/>
          </a:p>
        </p:txBody>
      </p:sp>
      <p:sp>
        <p:nvSpPr>
          <p:cNvPr id="22" name="Shape 18"/>
          <p:cNvSpPr/>
          <p:nvPr/>
        </p:nvSpPr>
        <p:spPr>
          <a:xfrm>
            <a:off x="5669280" y="4008628"/>
            <a:ext cx="6065215" cy="274320"/>
          </a:xfrm>
          <a:prstGeom prst="rect">
            <a:avLst/>
          </a:prstGeom>
          <a:solidFill>
            <a:srgbClr val="006747"/>
          </a:solidFill>
          <a:ln w="12700">
            <a:solidFill>
              <a:srgbClr val="006747"/>
            </a:solidFill>
            <a:prstDash val="solid"/>
          </a:ln>
        </p:spPr>
      </p:sp>
      <p:sp>
        <p:nvSpPr>
          <p:cNvPr id="23" name="Text 19"/>
          <p:cNvSpPr/>
          <p:nvPr/>
        </p:nvSpPr>
        <p:spPr>
          <a:xfrm>
            <a:off x="5779008" y="4008628"/>
            <a:ext cx="5845759" cy="274320"/>
          </a:xfrm>
          <a:prstGeom prst="rect">
            <a:avLst/>
          </a:prstGeom>
          <a:noFill/>
          <a:ln/>
        </p:spPr>
        <p:txBody>
          <a:bodyPr wrap="square" lIns="0" tIns="0" rIns="0" bIns="0" rtlCol="0" anchor="ctr"/>
          <a:lstStyle/>
          <a:p>
            <a:pPr indent="0" marL="0">
              <a:buNone/>
            </a:pPr>
            <a:r>
              <a:rPr lang="en-US" sz="850" b="1" spc="150" kern="0" dirty="0">
                <a:solidFill>
                  <a:srgbClr val="FFFFFF"/>
                </a:solidFill>
                <a:latin typeface="Arial" pitchFamily="34" charset="0"/>
                <a:ea typeface="Arial" pitchFamily="34" charset="-122"/>
                <a:cs typeface="Arial" pitchFamily="34" charset="-120"/>
              </a:rPr>
              <a:t>WHAT THE CARE TEAM SEES</a:t>
            </a:r>
            <a:endParaRPr lang="en-US" sz="850" dirty="0"/>
          </a:p>
        </p:txBody>
      </p:sp>
      <p:sp>
        <p:nvSpPr>
          <p:cNvPr id="24" name="Shape 20"/>
          <p:cNvSpPr/>
          <p:nvPr/>
        </p:nvSpPr>
        <p:spPr>
          <a:xfrm>
            <a:off x="5669280" y="4282948"/>
            <a:ext cx="6065215" cy="882904"/>
          </a:xfrm>
          <a:prstGeom prst="rect">
            <a:avLst/>
          </a:prstGeom>
          <a:solidFill>
            <a:srgbClr val="E8F3EE"/>
          </a:solidFill>
          <a:ln w="12700">
            <a:solidFill>
              <a:srgbClr val="E8F3EE"/>
            </a:solidFill>
            <a:prstDash val="solid"/>
          </a:ln>
        </p:spPr>
      </p:sp>
      <p:sp>
        <p:nvSpPr>
          <p:cNvPr id="25" name="Text 21"/>
          <p:cNvSpPr/>
          <p:nvPr/>
        </p:nvSpPr>
        <p:spPr>
          <a:xfrm>
            <a:off x="5779008" y="4319524"/>
            <a:ext cx="5845759" cy="828040"/>
          </a:xfrm>
          <a:prstGeom prst="rect">
            <a:avLst/>
          </a:prstGeom>
          <a:noFill/>
          <a:ln/>
        </p:spPr>
        <p:txBody>
          <a:bodyPr wrap="square" lIns="0" tIns="0" rIns="0" bIns="0" rtlCol="0" anchor="t"/>
          <a:lstStyle/>
          <a:p>
            <a:pPr indent="0" marL="0">
              <a:buNone/>
            </a:pPr>
            <a:r>
              <a:rPr lang="en-US" sz="1100" dirty="0">
                <a:solidFill>
                  <a:srgbClr val="231F20"/>
                </a:solidFill>
                <a:latin typeface="Arial" pitchFamily="34" charset="0"/>
                <a:ea typeface="Arial" pitchFamily="34" charset="-122"/>
                <a:cs typeface="Arial" pitchFamily="34" charset="-120"/>
              </a:rPr>
              <a:t>Adam and his MDT, running a larger surveillance cohort with no clinic-capacity penalty. Catherine, his Trust commissioner, seeing released outpatient slots flow into elective recovery. Mark and the other men in the cohort, staying in surveillance, getting on with their lives.</a:t>
            </a:r>
            <a:endParaRPr lang="en-US" sz="1100" dirty="0"/>
          </a:p>
        </p:txBody>
      </p:sp>
      <p:sp>
        <p:nvSpPr>
          <p:cNvPr id="27" name="Text 22"/>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Adam  ·  Hearts and Minds</a:t>
            </a:r>
            <a:endParaRPr lang="en-US" sz="850" dirty="0"/>
          </a:p>
        </p:txBody>
      </p:sp>
      <p:sp>
        <p:nvSpPr>
          <p:cNvPr id="28" name="Text 23"/>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29" name="Text 24"/>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003087"/>
          </a:solidFill>
          <a:ln w="12700">
            <a:solidFill>
              <a:srgbClr val="003087"/>
            </a:solidFill>
            <a:prstDash val="solid"/>
          </a:ln>
        </p:spPr>
      </p:sp>
      <p:sp>
        <p:nvSpPr>
          <p:cNvPr id="3" name="Shape 1"/>
          <p:cNvSpPr/>
          <p:nvPr/>
        </p:nvSpPr>
        <p:spPr>
          <a:xfrm>
            <a:off x="0" y="868680"/>
            <a:ext cx="12191695" cy="54864"/>
          </a:xfrm>
          <a:prstGeom prst="rect">
            <a:avLst/>
          </a:prstGeom>
          <a:solidFill>
            <a:srgbClr val="C9A0E3"/>
          </a:solidFill>
          <a:ln w="12700">
            <a:solidFill>
              <a:srgbClr val="C9A0E3"/>
            </a:solidFill>
            <a:prstDash val="solid"/>
          </a:ln>
        </p:spPr>
      </p:sp>
      <p:sp>
        <p:nvSpPr>
          <p:cNvPr id="4" name="Text 2"/>
          <p:cNvSpPr/>
          <p:nvPr/>
        </p:nvSpPr>
        <p:spPr>
          <a:xfrm>
            <a:off x="457200" y="128016"/>
            <a:ext cx="8686800" cy="256032"/>
          </a:xfrm>
          <a:prstGeom prst="rect">
            <a:avLst/>
          </a:prstGeom>
          <a:noFill/>
          <a:ln/>
        </p:spPr>
        <p:txBody>
          <a:bodyPr wrap="square" lIns="0" tIns="0" rIns="0" bIns="0" rtlCol="0" anchor="ctr"/>
          <a:lstStyle/>
          <a:p>
            <a:pPr indent="0" marL="0">
              <a:buNone/>
            </a:pPr>
            <a:r>
              <a:rPr lang="en-US" sz="950" b="1" spc="200" kern="0" dirty="0">
                <a:solidFill>
                  <a:srgbClr val="7EC8E3"/>
                </a:solidFill>
                <a:latin typeface="Arial" pitchFamily="34" charset="0"/>
                <a:ea typeface="Arial" pitchFamily="34" charset="-122"/>
                <a:cs typeface="Arial" pitchFamily="34" charset="-120"/>
              </a:rPr>
              <a:t>HEARTS AND MINDS  ·  ADAM'S JOURNEY  ·  THE OUTCOME</a:t>
            </a:r>
            <a:endParaRPr lang="en-US" sz="950" dirty="0"/>
          </a:p>
        </p:txBody>
      </p:sp>
      <p:sp>
        <p:nvSpPr>
          <p:cNvPr id="5" name="Text 3"/>
          <p:cNvSpPr/>
          <p:nvPr/>
        </p:nvSpPr>
        <p:spPr>
          <a:xfrm>
            <a:off x="457200" y="384048"/>
            <a:ext cx="96012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Adam's win</a:t>
            </a:r>
            <a:endParaRPr lang="en-US" sz="2000" dirty="0"/>
          </a:p>
        </p:txBody>
      </p:sp>
      <p:pic>
        <p:nvPicPr>
          <p:cNvPr id="6" name="Image 0" descr="/sessions/quirky-zen-galileo/mnt/outputs/deckbuild/nhs_logo.png">    </p:cNvPr>
          <p:cNvPicPr>
            <a:picLocks noChangeAspect="1"/>
          </p:cNvPicPr>
          <p:nvPr/>
        </p:nvPicPr>
        <p:blipFill>
          <a:blip r:embed="rId1"/>
          <a:stretch>
            <a:fillRect/>
          </a:stretch>
        </p:blipFill>
        <p:spPr>
          <a:xfrm>
            <a:off x="10774375" y="201168"/>
            <a:ext cx="960120" cy="393192"/>
          </a:xfrm>
          <a:prstGeom prst="rect">
            <a:avLst/>
          </a:prstGeom>
        </p:spPr>
      </p:pic>
      <p:sp>
        <p:nvSpPr>
          <p:cNvPr id="7" name="Text 4"/>
          <p:cNvSpPr/>
          <p:nvPr/>
        </p:nvSpPr>
        <p:spPr>
          <a:xfrm>
            <a:off x="457200" y="1143000"/>
            <a:ext cx="11277295" cy="822960"/>
          </a:xfrm>
          <a:prstGeom prst="rect">
            <a:avLst/>
          </a:prstGeom>
          <a:noFill/>
          <a:ln/>
        </p:spPr>
        <p:txBody>
          <a:bodyPr wrap="square" lIns="0" tIns="0" rIns="0" bIns="0" rtlCol="0" anchor="t">
            <a:normAutofit/>
          </a:bodyPr>
          <a:lstStyle/>
          <a:p>
            <a:pPr indent="0" marL="0">
              <a:buNone/>
            </a:pPr>
            <a:r>
              <a:rPr lang="en-US" sz="2200" b="1" dirty="0">
                <a:solidFill>
                  <a:srgbClr val="003087"/>
                </a:solidFill>
                <a:latin typeface="Arial" pitchFamily="34" charset="0"/>
                <a:ea typeface="Arial" pitchFamily="34" charset="-122"/>
                <a:cs typeface="Arial" pitchFamily="34" charset="-120"/>
              </a:rPr>
              <a:t>More patients in surveillance. Fewer drop-outs. Same team. Clinic time for the patients who clinically need it.</a:t>
            </a:r>
            <a:endParaRPr lang="en-US" sz="2200" dirty="0"/>
          </a:p>
        </p:txBody>
      </p:sp>
      <p:sp>
        <p:nvSpPr>
          <p:cNvPr id="8" name="Text 5"/>
          <p:cNvSpPr/>
          <p:nvPr/>
        </p:nvSpPr>
        <p:spPr>
          <a:xfrm>
            <a:off x="457200" y="2011680"/>
            <a:ext cx="11277295" cy="649224"/>
          </a:xfrm>
          <a:prstGeom prst="rect">
            <a:avLst/>
          </a:prstGeom>
          <a:noFill/>
          <a:ln/>
        </p:spPr>
        <p:txBody>
          <a:bodyPr wrap="square" lIns="0" tIns="0" rIns="0" bIns="0" rtlCol="0" anchor="t">
            <a:normAutofit/>
          </a:bodyPr>
          <a:lstStyle/>
          <a:p>
            <a:pPr indent="0" marL="0">
              <a:buNone/>
            </a:pPr>
            <a:r>
              <a:rPr lang="en-US" sz="1200" dirty="0">
                <a:solidFill>
                  <a:srgbClr val="231F20"/>
                </a:solidFill>
                <a:latin typeface="Arial" pitchFamily="34" charset="0"/>
                <a:ea typeface="Arial" pitchFamily="34" charset="-122"/>
                <a:cs typeface="Arial" pitchFamily="34" charset="-120"/>
              </a:rPr>
              <a:t>The patients did not see a model. They saw a kit at home and a result that landed with a clinician who knew them. </a:t>
            </a:r>
            <a:pPr indent="0" marL="0">
              <a:buNone/>
            </a:pPr>
            <a:r>
              <a:rPr lang="en-US" sz="1200" b="1" dirty="0">
                <a:solidFill>
                  <a:srgbClr val="231F20"/>
                </a:solidFill>
                <a:latin typeface="Arial" pitchFamily="34" charset="0"/>
                <a:ea typeface="Arial" pitchFamily="34" charset="-122"/>
                <a:cs typeface="Arial" pitchFamily="34" charset="-120"/>
              </a:rPr>
              <a:t>The clinic that did not happen is the clinic Adam did not have capacity for anyway.</a:t>
            </a:r>
            <a:pPr indent="0" marL="0">
              <a:buNone/>
            </a:pPr>
            <a:r>
              <a:rPr lang="en-US" sz="1200" dirty="0">
                <a:solidFill>
                  <a:srgbClr val="231F20"/>
                </a:solidFill>
                <a:latin typeface="Arial" pitchFamily="34" charset="0"/>
                <a:ea typeface="Arial" pitchFamily="34" charset="-122"/>
                <a:cs typeface="Arial" pitchFamily="34" charset="-120"/>
              </a:rPr>
              <a:t> The cohort he worried about most is still in surveillance, and the patients who clinically belong in clinic now find a slot when they need one.</a:t>
            </a:r>
            <a:endParaRPr lang="en-US" sz="1200" dirty="0"/>
          </a:p>
        </p:txBody>
      </p:sp>
      <p:sp>
        <p:nvSpPr>
          <p:cNvPr id="9" name="Shape 6"/>
          <p:cNvSpPr/>
          <p:nvPr/>
        </p:nvSpPr>
        <p:spPr>
          <a:xfrm>
            <a:off x="457200" y="2935224"/>
            <a:ext cx="11277295" cy="1737360"/>
          </a:xfrm>
          <a:prstGeom prst="roundRect">
            <a:avLst>
              <a:gd name="adj" fmla="val 5263"/>
            </a:avLst>
          </a:prstGeom>
          <a:solidFill>
            <a:srgbClr val="FFFFFF"/>
          </a:solidFill>
          <a:ln w="9525">
            <a:solidFill>
              <a:srgbClr val="DDE3E8"/>
            </a:solidFill>
            <a:prstDash val="solid"/>
          </a:ln>
        </p:spPr>
      </p:sp>
      <p:sp>
        <p:nvSpPr>
          <p:cNvPr id="10" name="Shape 7"/>
          <p:cNvSpPr/>
          <p:nvPr/>
        </p:nvSpPr>
        <p:spPr>
          <a:xfrm>
            <a:off x="457200" y="2935224"/>
            <a:ext cx="11277295" cy="73152"/>
          </a:xfrm>
          <a:prstGeom prst="rect">
            <a:avLst/>
          </a:prstGeom>
          <a:solidFill>
            <a:srgbClr val="006747"/>
          </a:solidFill>
          <a:ln w="12700">
            <a:solidFill>
              <a:srgbClr val="006747"/>
            </a:solidFill>
            <a:prstDash val="solid"/>
          </a:ln>
        </p:spPr>
      </p:sp>
      <p:sp>
        <p:nvSpPr>
          <p:cNvPr id="11" name="Text 8"/>
          <p:cNvSpPr/>
          <p:nvPr/>
        </p:nvSpPr>
        <p:spPr>
          <a:xfrm>
            <a:off x="731520" y="3118104"/>
            <a:ext cx="5486400" cy="274320"/>
          </a:xfrm>
          <a:prstGeom prst="rect">
            <a:avLst/>
          </a:prstGeom>
          <a:noFill/>
          <a:ln/>
        </p:spPr>
        <p:txBody>
          <a:bodyPr wrap="square" lIns="0" tIns="0" rIns="0" bIns="0" rtlCol="0" anchor="ctr"/>
          <a:lstStyle/>
          <a:p>
            <a:pPr indent="0" marL="0">
              <a:buNone/>
            </a:pPr>
            <a:r>
              <a:rPr lang="en-US" sz="950" b="1" spc="200" kern="0" dirty="0">
                <a:solidFill>
                  <a:srgbClr val="006747"/>
                </a:solidFill>
                <a:latin typeface="Arial" pitchFamily="34" charset="0"/>
                <a:ea typeface="Arial" pitchFamily="34" charset="-122"/>
                <a:cs typeface="Arial" pitchFamily="34" charset="-120"/>
              </a:rPr>
              <a:t>THE MONEY IN THIS STORY</a:t>
            </a:r>
            <a:endParaRPr lang="en-US" sz="950" dirty="0"/>
          </a:p>
        </p:txBody>
      </p:sp>
      <p:sp>
        <p:nvSpPr>
          <p:cNvPr id="12" name="Text 9"/>
          <p:cNvSpPr/>
          <p:nvPr/>
        </p:nvSpPr>
        <p:spPr>
          <a:xfrm>
            <a:off x="731520" y="3438144"/>
            <a:ext cx="10728655" cy="777240"/>
          </a:xfrm>
          <a:prstGeom prst="rect">
            <a:avLst/>
          </a:prstGeom>
          <a:noFill/>
          <a:ln/>
        </p:spPr>
        <p:txBody>
          <a:bodyPr wrap="square" lIns="0" tIns="0" rIns="0" bIns="0" rtlCol="0" anchor="t">
            <a:normAutofit/>
          </a:bodyPr>
          <a:lstStyle/>
          <a:p>
            <a:pPr indent="0" marL="0">
              <a:spcAft>
                <a:spcPts val="600"/>
              </a:spcAft>
              <a:buNone/>
            </a:pPr>
            <a:r>
              <a:rPr lang="en-US" sz="1150" dirty="0">
                <a:solidFill>
                  <a:srgbClr val="4C6272"/>
                </a:solidFill>
                <a:latin typeface="Arial" pitchFamily="34" charset="0"/>
                <a:ea typeface="Arial" pitchFamily="34" charset="-122"/>
                <a:cs typeface="Arial" pitchFamily="34" charset="-120"/>
              </a:rPr>
              <a:t>No money passes through Adam's hands, which is the point. The tests his cohort needs are funded upstream at a cost per activity, so his surveillance list stops competing with his clinics for phlebotomy. What the model buys from Adam is the thing only he can do: the trend review and the escalation call. The economics free his time for exactly that, and the cohort is easier to hold without his job getting worse.</a:t>
            </a:r>
            <a:endParaRPr lang="en-US" sz="1150" dirty="0"/>
          </a:p>
        </p:txBody>
      </p:sp>
      <p:sp>
        <p:nvSpPr>
          <p:cNvPr id="13" name="Text 10"/>
          <p:cNvSpPr/>
          <p:nvPr/>
        </p:nvSpPr>
        <p:spPr>
          <a:xfrm>
            <a:off x="731520" y="4261104"/>
            <a:ext cx="10728655" cy="320040"/>
          </a:xfrm>
          <a:prstGeom prst="rect">
            <a:avLst/>
          </a:prstGeom>
          <a:noFill/>
          <a:ln/>
        </p:spPr>
        <p:txBody>
          <a:bodyPr wrap="square" lIns="0" tIns="0" rIns="0" bIns="0" rtlCol="0" anchor="ctr"/>
          <a:lstStyle/>
          <a:p>
            <a:pPr indent="0" marL="0">
              <a:buNone/>
            </a:pPr>
            <a:r>
              <a:rPr lang="en-US" sz="850" i="1" dirty="0">
                <a:solidFill>
                  <a:srgbClr val="7E8B97"/>
                </a:solidFill>
                <a:latin typeface="Arial" pitchFamily="34" charset="0"/>
                <a:ea typeface="Arial" pitchFamily="34" charset="-122"/>
                <a:cs typeface="Arial" pitchFamily="34" charset="-120"/>
              </a:rPr>
              <a:t>Commercial positions are agreed in principle and remain subject to the live procurement. See the Money Loop and How Commissioners Buy pages of the operating model.</a:t>
            </a:r>
            <a:endParaRPr lang="en-US" sz="850" dirty="0"/>
          </a:p>
        </p:txBody>
      </p:sp>
      <p:sp>
        <p:nvSpPr>
          <p:cNvPr id="14" name="Text 11"/>
          <p:cNvSpPr/>
          <p:nvPr/>
        </p:nvSpPr>
        <p:spPr>
          <a:xfrm>
            <a:off x="457200" y="6473952"/>
            <a:ext cx="3108960" cy="274320"/>
          </a:xfrm>
          <a:prstGeom prst="rect">
            <a:avLst/>
          </a:prstGeom>
          <a:noFill/>
          <a:ln/>
        </p:spPr>
        <p:txBody>
          <a:bodyPr wrap="square" lIns="0" tIns="0" rIns="0" bIns="0" rtlCol="0" anchor="ctr"/>
          <a:lstStyle/>
          <a:p>
            <a:pPr indent="0" marL="0">
              <a:buNone/>
            </a:pPr>
            <a:r>
              <a:rPr lang="en-US" sz="850" dirty="0">
                <a:solidFill>
                  <a:srgbClr val="7E8B97"/>
                </a:solidFill>
                <a:latin typeface="Arial" pitchFamily="34" charset="0"/>
                <a:ea typeface="Arial" pitchFamily="34" charset="-122"/>
                <a:cs typeface="Arial" pitchFamily="34" charset="-120"/>
              </a:rPr>
              <a:t>Adam  ·  Hearts and Minds</a:t>
            </a:r>
            <a:endParaRPr lang="en-US" sz="850" dirty="0"/>
          </a:p>
        </p:txBody>
      </p:sp>
      <p:sp>
        <p:nvSpPr>
          <p:cNvPr id="15" name="Text 12"/>
          <p:cNvSpPr/>
          <p:nvPr/>
        </p:nvSpPr>
        <p:spPr>
          <a:xfrm>
            <a:off x="3657600" y="6473952"/>
            <a:ext cx="7528255" cy="274320"/>
          </a:xfrm>
          <a:prstGeom prst="rect">
            <a:avLst/>
          </a:prstGeom>
          <a:noFill/>
          <a:ln/>
        </p:spPr>
        <p:txBody>
          <a:bodyPr wrap="square" lIns="0" tIns="0" rIns="0" bIns="0" rtlCol="0" anchor="ctr"/>
          <a:lstStyle/>
          <a:p>
            <a:pPr algn="r" indent="0" marL="0">
              <a:buNone/>
            </a:pPr>
            <a:r>
              <a:rPr lang="en-US" sz="800" dirty="0">
                <a:solidFill>
                  <a:srgbClr val="7E8B97"/>
                </a:solidFill>
                <a:latin typeface="Arial" pitchFamily="34" charset="0"/>
                <a:ea typeface="Arial" pitchFamily="34" charset="-122"/>
                <a:cs typeface="Arial" pitchFamily="34" charset="-120"/>
              </a:rPr>
              <a:t>Commercial positions are agreed in principle and remain subject to the live procurement.</a:t>
            </a:r>
            <a:endParaRPr lang="en-US" sz="800" dirty="0"/>
          </a:p>
        </p:txBody>
      </p:sp>
      <p:sp>
        <p:nvSpPr>
          <p:cNvPr id="16" name="Text 13"/>
          <p:cNvSpPr/>
          <p:nvPr/>
        </p:nvSpPr>
        <p:spPr>
          <a:xfrm>
            <a:off x="11368735" y="6473952"/>
            <a:ext cx="365760" cy="274320"/>
          </a:xfrm>
          <a:prstGeom prst="rect">
            <a:avLst/>
          </a:prstGeom>
          <a:noFill/>
          <a:ln/>
        </p:spPr>
        <p:txBody>
          <a:bodyPr wrap="square" lIns="0" tIns="0" rIns="0" bIns="0" rtlCol="0" anchor="ctr"/>
          <a:lstStyle/>
          <a:p>
            <a:pPr algn="r" indent="0" marL="0">
              <a:buNone/>
            </a:pPr>
            <a:r>
              <a:rPr lang="en-US" sz="850" b="1" dirty="0">
                <a:solidFill>
                  <a:srgbClr val="7E8B97"/>
                </a:solidFill>
                <a:latin typeface="Arial" pitchFamily="34" charset="0"/>
                <a:ea typeface="Arial" pitchFamily="34" charset="-122"/>
                <a:cs typeface="Arial" pitchFamily="34" charset="-120"/>
              </a:rPr>
              <a:t>9</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NHS England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Adam's story: HomeTest Hearts and Minds</dc:title>
  <dc:subject>PptxGenJS Presentation</dc:subject>
  <dc:creator>HomeTest Programme</dc:creator>
  <cp:lastModifiedBy>HomeTest Programme</cp:lastModifiedBy>
  <cp:revision>1</cp:revision>
  <dcterms:created xsi:type="dcterms:W3CDTF">2026-09-05T08:28:23Z</dcterms:created>
  <dcterms:modified xsi:type="dcterms:W3CDTF">2026-09-05T08:28:23Z</dcterms:modified>
</cp:coreProperties>
</file>