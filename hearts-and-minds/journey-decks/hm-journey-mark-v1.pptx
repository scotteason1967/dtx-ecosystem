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Stratification, the cohort eligible for active surveillance
More than 64,000 men a year are diagnosed with prostate cancer in the UK. Around 6,500 a year choose active surveillance; up to 5,000 more could. Mark sits in that cohort: low-risk disease, watch-and-wait, quarterly PSA. The surveillance is the treatment.
Quote: I am sixty-five and I have prostate cancer. They told me it is the kind that does not need treating, just watching. That is the bit nobody warns you about, what the watching actually costs.
What the model is doing underneath: NICE NG131 sets the framework for active surveillance in low-risk prostate cancer: regular PSA, MRI at intervals, repeat biopsy as triggered by trend. The cohort is well-defined. The challenge is holding the cohort in surveillance without burning the clinic.
The old way: An expanding AS cohort funnelled through fixed clinic capacity. Patients drop out, present later, get treated harder.
What the care team sees: Adam, consultant urologist. The MDT. Catherine on the Trust commissioner side.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Identification, Adam's clinic shortlists him
Adam reviews the cohort. Mark fits the profile for the first wave of home PSA: stable trend, comfortable with the kit idea, no clinical concerns. The shortlist of first patients is small and chosen carefully. Mark gets the conversation at the next clinic.
Quote: Adam asked me whether I would be comfortable doing the next PSA at home. I said yes before he had finished the sentence.
What the model is doing underneath: The first patients are picked by the consultant, in clinic, with consent and clinical judgement. The cohort is bounded carefully. The conversation is short because the model preserves the clinical role.
The old way: Bring everyone in for everything, because there is no other model on offer. The cohort is held by clinic capacity, not clinical judgement.
What the care team sees: Adam. Clinical nurse specialist.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kit out, sample back, result to the consultant first
The kit arrives. Mark takes the sample at home on the day the clinic would have happened. The lab processes it. The result lands in Adam's system before the next clinic, in trend, with the threshold-alert logic wired in. Mark sees the result only after Adam has read it.
Quote: The kit came in the post. I did it on the Saturday morning. By the following Tuesday I knew Adam had seen the result. Same answer I would have got at the hospital. None of the driving.
What the model is doing underneath: 1.25 billion NHS pathology test requests per year, growing ~5.5% annually. Home capillary PSA is the same biochemical assay run on the same lab platform. The clinical interpretation is preserved.
The old way: Two trips to the hospital, phlebotomy for the blood, second trip for the result. Or, on a bad cycle, a missed appointment and a quietly delayed surveillance round.
What the care team sees: The supplier shipping the kit. UKAS-accredited lab. Platform writing the result back to the Trust EPR. Adam reading the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Treatment, the surveillance itself
Active surveillance IS the treatment. The clinical work is the trend interpretation. Adam reads Mark's PSA in the context of every prior reading and the imaging cycle. Most cycles, nothing changes. The model has not removed the clinical decision; it has removed the unnecessary clinical visit.
Quote: I felt a bit guilty at first that I had not been in to see him. Then I realised the visit was never the bit that mattered. He was always reading the number, not me.
What the model is doing underneath: The surveillance protocol per NICE NG131 is unchanged. Threshold breaches escalate to MDT review and additional imaging. Stable trends roll through routine review without consuming clinic time.
The old way: Every patient in clinic every quarter, regardless of trend. The signal-to-noise of clinic visits was always poor; routine stability was confirmed in person at the cost of the patients who clinically needed clinic.
What the care team sees: Adam. The MDT. The radiologist on the imaging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Long-term optimisation, the surveillance that keeps him in surveillance
Mark stays in the cohort. The quarterly PSA happens at home. The annual imaging happens in clinic. The trend stays stable. The cohort grows. Adam holds more patients in surveillance than the clinic-only model could have, and Mark is one of them.
Quote: It is just part of life now. The kit comes when it is supposed to, I do it, I get on with my week. The hospital is for when something actually needs me there.
What the model is doing underneath: Active surveillance retention is the metric that matters: holding patients in the protocol so disease progression is caught early. Home PSA flattens the drop-out curve and keeps the cohort visible to the clinical team.
The old way: Drop out of surveillance, progress unmonitored, present later with a different staging and a different prognosis. The clinical risk was always in the venue, not the patient.
What the care team sees: Adam. The MDT.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77824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HOMETEST OPERATING MODEL  ·  PATIENT JOURNEY</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133856"/>
            <a:ext cx="7132320" cy="960120"/>
          </a:xfrm>
          <a:prstGeom prst="rect">
            <a:avLst/>
          </a:prstGeom>
          <a:noFill/>
          <a:ln/>
        </p:spPr>
        <p:txBody>
          <a:bodyPr wrap="square" lIns="0" tIns="0" rIns="0" bIns="0" rtlCol="0" anchor="ctr"/>
          <a:lstStyle/>
          <a:p>
            <a:pPr indent="0" marL="0">
              <a:buNone/>
            </a:pPr>
            <a:r>
              <a:rPr lang="en-US" sz="5600" b="1" spc="-120" kern="0" dirty="0">
                <a:solidFill>
                  <a:srgbClr val="FFFFFF"/>
                </a:solidFill>
                <a:latin typeface="Segoe UI" pitchFamily="34" charset="0"/>
                <a:ea typeface="Segoe UI" pitchFamily="34" charset="-122"/>
                <a:cs typeface="Segoe UI" pitchFamily="34" charset="-120"/>
              </a:rPr>
              <a:t>Mark.</a:t>
            </a:r>
            <a:endParaRPr lang="en-US" sz="5600" dirty="0"/>
          </a:p>
        </p:txBody>
      </p:sp>
      <p:sp>
        <p:nvSpPr>
          <p:cNvPr id="8" name="Text 4"/>
          <p:cNvSpPr/>
          <p:nvPr/>
        </p:nvSpPr>
        <p:spPr>
          <a:xfrm>
            <a:off x="685800" y="2139696"/>
            <a:ext cx="6858000" cy="1225296"/>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Segoe UI" pitchFamily="34" charset="0"/>
                <a:ea typeface="Segoe UI" pitchFamily="34" charset="-122"/>
                <a:cs typeface="Segoe UI" pitchFamily="34" charset="-120"/>
              </a:rPr>
              <a:t>His consultant</a:t>
            </a:r>
            <a:endParaRPr lang="en-US" sz="2400" dirty="0"/>
          </a:p>
          <a:p>
            <a:pPr indent="0" marL="0">
              <a:buNone/>
            </a:pPr>
            <a:r>
              <a:rPr lang="en-US" sz="2400" dirty="0">
                <a:solidFill>
                  <a:srgbClr val="FFFFFF"/>
                </a:solidFill>
                <a:latin typeface="Segoe UI" pitchFamily="34" charset="0"/>
                <a:ea typeface="Segoe UI" pitchFamily="34" charset="-122"/>
                <a:cs typeface="Segoe UI" pitchFamily="34" charset="-120"/>
              </a:rPr>
              <a:t>still reads</a:t>
            </a:r>
            <a:endParaRPr lang="en-US" sz="2400" dirty="0"/>
          </a:p>
          <a:p>
            <a:pPr indent="0" marL="0">
              <a:buNone/>
            </a:pPr>
            <a:r>
              <a:rPr lang="en-US" sz="2400" dirty="0">
                <a:solidFill>
                  <a:srgbClr val="FFFFFF"/>
                </a:solidFill>
                <a:latin typeface="Segoe UI" pitchFamily="34" charset="0"/>
                <a:ea typeface="Segoe UI" pitchFamily="34" charset="-122"/>
                <a:cs typeface="Segoe UI" pitchFamily="34" charset="-120"/>
              </a:rPr>
              <a:t>the trend.</a:t>
            </a:r>
            <a:endParaRPr lang="en-US" sz="2400" dirty="0"/>
          </a:p>
        </p:txBody>
      </p:sp>
      <p:sp>
        <p:nvSpPr>
          <p:cNvPr id="9" name="Text 5"/>
          <p:cNvSpPr/>
          <p:nvPr/>
        </p:nvSpPr>
        <p:spPr>
          <a:xfrm>
            <a:off x="685800" y="3621024"/>
            <a:ext cx="6858000" cy="847344"/>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Segoe UI" pitchFamily="34" charset="0"/>
                <a:ea typeface="Segoe UI" pitchFamily="34" charset="-122"/>
                <a:cs typeface="Segoe UI" pitchFamily="34" charset="-120"/>
              </a:rPr>
              <a:t>Mark is 65. Diagnosed with low-risk prostate cancer and placed on active surveillance under Adam at the local trust. The quarterly PSA is supposed to be routine. The clinic trip to get it is anything but. </a:t>
            </a:r>
            <a:pPr indent="0" marL="0">
              <a:buNone/>
            </a:pPr>
            <a:r>
              <a:rPr lang="en-US" sz="1200" b="1" dirty="0">
                <a:solidFill>
                  <a:srgbClr val="DCE7F0"/>
                </a:solidFill>
                <a:latin typeface="Segoe UI" pitchFamily="34" charset="0"/>
                <a:ea typeface="Segoe UI" pitchFamily="34" charset="-122"/>
                <a:cs typeface="Segoe UI" pitchFamily="34" charset="-120"/>
              </a:rPr>
              <a:t>This is the story of how the surveillance happens at home and the clinical accountability stays in clinic.</a:t>
            </a:r>
            <a:endParaRPr lang="en-US" sz="1200" dirty="0"/>
          </a:p>
        </p:txBody>
      </p:sp>
      <p:sp>
        <p:nvSpPr>
          <p:cNvPr id="10" name="Text 6"/>
          <p:cNvSpPr/>
          <p:nvPr/>
        </p:nvSpPr>
        <p:spPr>
          <a:xfrm>
            <a:off x="685800" y="4614672"/>
            <a:ext cx="6858000" cy="384048"/>
          </a:xfrm>
          <a:prstGeom prst="rect">
            <a:avLst/>
          </a:prstGeom>
          <a:noFill/>
          <a:ln/>
        </p:spPr>
        <p:txBody>
          <a:bodyPr wrap="square" lIns="0" tIns="0" rIns="0" bIns="0" rtlCol="0" anchor="t"/>
          <a:lstStyle/>
          <a:p>
            <a:pPr indent="0" marL="0">
              <a:buNone/>
            </a:pPr>
            <a:r>
              <a:rPr lang="en-US" sz="1050" i="1" dirty="0">
                <a:solidFill>
                  <a:srgbClr val="9FC2E8"/>
                </a:solidFill>
                <a:latin typeface="Segoe UI" pitchFamily="34" charset="0"/>
                <a:ea typeface="Segoe UI" pitchFamily="34" charset="-122"/>
                <a:cs typeface="Segoe UI" pitchFamily="34" charset="-120"/>
              </a:rPr>
              <a:t>A patient's story through the operating model</a:t>
            </a:r>
            <a:endParaRPr lang="en-US" sz="1050" dirty="0"/>
          </a:p>
        </p:txBody>
      </p:sp>
      <p:sp>
        <p:nvSpPr>
          <p:cNvPr id="11" name="Shape 7"/>
          <p:cNvSpPr/>
          <p:nvPr/>
        </p:nvSpPr>
        <p:spPr>
          <a:xfrm>
            <a:off x="8618220" y="1412748"/>
            <a:ext cx="2788920" cy="2788920"/>
          </a:xfrm>
          <a:prstGeom prst="ellipse">
            <a:avLst/>
          </a:prstGeom>
          <a:solidFill>
            <a:srgbClr val="FFB91D"/>
          </a:solidFill>
          <a:ln w="12700">
            <a:solidFill>
              <a:srgbClr val="FFB91D"/>
            </a:solidFill>
            <a:prstDash val="solid"/>
          </a:ln>
        </p:spPr>
      </p:sp>
      <p:pic>
        <p:nvPicPr>
          <p:cNvPr id="12" name="Image 2" descr="/sessions/quirky-zen-galileo/mnt/outputs/jd/img/mark-portrait.jpg">    </p:cNvPr>
          <p:cNvPicPr>
            <a:picLocks noChangeAspect="1"/>
          </p:cNvPicPr>
          <p:nvPr/>
        </p:nvPicPr>
        <p:blipFill>
          <a:blip r:embed="rId3"/>
          <a:srcRect l="0" r="0" t="0" b="0"/>
          <a:stretch/>
        </p:blipFill>
        <p:spPr>
          <a:xfrm>
            <a:off x="8686800" y="1481328"/>
            <a:ext cx="2651760" cy="2651760"/>
          </a:xfrm>
          <a:prstGeom prst="ellipse">
            <a:avLst/>
          </a:prstGeom>
        </p:spPr>
      </p:pic>
      <p:sp>
        <p:nvSpPr>
          <p:cNvPr id="13" name="Text 8"/>
          <p:cNvSpPr/>
          <p:nvPr/>
        </p:nvSpPr>
        <p:spPr>
          <a:xfrm>
            <a:off x="8183880" y="4352544"/>
            <a:ext cx="36576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Mark</a:t>
            </a:r>
            <a:endParaRPr lang="en-US" sz="1900" dirty="0"/>
          </a:p>
        </p:txBody>
      </p:sp>
      <p:sp>
        <p:nvSpPr>
          <p:cNvPr id="14" name="Text 9"/>
          <p:cNvSpPr/>
          <p:nvPr/>
        </p:nvSpPr>
        <p:spPr>
          <a:xfrm>
            <a:off x="7955280" y="4754880"/>
            <a:ext cx="4114800" cy="658368"/>
          </a:xfrm>
          <a:prstGeom prst="rect">
            <a:avLst/>
          </a:prstGeom>
          <a:noFill/>
          <a:ln/>
        </p:spPr>
        <p:txBody>
          <a:bodyPr wrap="square" lIns="0" tIns="0" rIns="0" bIns="0" rtlCol="0" anchor="t">
            <a:normAutofit/>
          </a:bodyPr>
          <a:lstStyle/>
          <a:p>
            <a:pPr algn="ctr" indent="0" marL="0">
              <a:buNone/>
            </a:pPr>
            <a:r>
              <a:rPr lang="en-US" sz="1050" spc="60" kern="0" dirty="0">
                <a:solidFill>
                  <a:srgbClr val="FFD66B"/>
                </a:solidFill>
                <a:latin typeface="Segoe UI" pitchFamily="34" charset="0"/>
                <a:ea typeface="Segoe UI" pitchFamily="34" charset="-122"/>
                <a:cs typeface="Segoe UI" pitchFamily="34" charset="-120"/>
              </a:rPr>
              <a:t>Patient on active surveillance · PSA-AS cohort</a:t>
            </a:r>
            <a:endParaRPr lang="en-US" sz="1050" dirty="0"/>
          </a:p>
        </p:txBody>
      </p:sp>
      <p:sp>
        <p:nvSpPr>
          <p:cNvPr id="15" name="Text 1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HomeTest Operating Model  ·  Hearts and Minds</a:t>
            </a:r>
            <a:endParaRPr lang="en-US" sz="850" dirty="0"/>
          </a:p>
        </p:txBody>
      </p:sp>
      <p:sp>
        <p:nvSpPr>
          <p:cNvPr id="16" name="Text 1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Mark’s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FFB91D"/>
          </a:solidFill>
          <a:ln w="12700">
            <a:solidFill>
              <a:srgbClr val="FFB91D"/>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cohort eligible for active surveillance</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FFB91D"/>
          </a:solidFill>
          <a:ln w="12700">
            <a:solidFill>
              <a:srgbClr val="FFB91D"/>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Adam's clinic shortlists him</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FFB91D"/>
          </a:solidFill>
          <a:ln w="12700">
            <a:solidFill>
              <a:srgbClr val="FFB91D"/>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Diagnosis</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 out, sample back, result to the consultant first</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FFB91D"/>
          </a:solidFill>
          <a:ln w="12700">
            <a:solidFill>
              <a:srgbClr val="FFB91D"/>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Treatment</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surveillance itself</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FFB91D"/>
          </a:solidFill>
          <a:ln w="12700">
            <a:solidFill>
              <a:srgbClr val="FFB91D"/>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surveillance that keeps him in surveillance</a:t>
            </a:r>
            <a:endParaRPr lang="en-US" sz="900" dirty="0"/>
          </a:p>
        </p:txBody>
      </p:sp>
      <p:sp>
        <p:nvSpPr>
          <p:cNvPr id="38" name="Shape 34"/>
          <p:cNvSpPr/>
          <p:nvPr/>
        </p:nvSpPr>
        <p:spPr>
          <a:xfrm>
            <a:off x="457200" y="2793492"/>
            <a:ext cx="5501488" cy="1915160"/>
          </a:xfrm>
          <a:prstGeom prst="roundRect">
            <a:avLst>
              <a:gd name="adj" fmla="val 4775"/>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PATIENT NORTH STAR</a:t>
            </a:r>
            <a:endParaRPr lang="en-US" sz="850" dirty="0"/>
          </a:p>
        </p:txBody>
      </p:sp>
      <p:sp>
        <p:nvSpPr>
          <p:cNvPr id="40" name="Text 36"/>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His consultant still holds the cohort. The quarterly visit just does not need to be in clinic.</a:t>
            </a:r>
            <a:endParaRPr lang="en-US" sz="1500" dirty="0"/>
          </a:p>
        </p:txBody>
      </p:sp>
      <p:sp>
        <p:nvSpPr>
          <p:cNvPr id="41" name="Text 37"/>
          <p:cNvSpPr/>
          <p:nvPr/>
        </p:nvSpPr>
        <p:spPr>
          <a:xfrm>
            <a:off x="676656" y="3851148"/>
            <a:ext cx="5062576" cy="674624"/>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Mark trusts Adam. The active-surveillance cohort works because the clinician is reading the trend. </a:t>
            </a:r>
            <a:pPr indent="0" marL="0">
              <a:buNone/>
            </a:pPr>
            <a:r>
              <a:rPr lang="en-US" sz="1050" b="1" dirty="0">
                <a:solidFill>
                  <a:srgbClr val="212B32"/>
                </a:solidFill>
                <a:latin typeface="Segoe UI" pitchFamily="34" charset="0"/>
                <a:ea typeface="Segoe UI" pitchFamily="34" charset="-122"/>
                <a:cs typeface="Segoe UI" pitchFamily="34" charset="-120"/>
              </a:rPr>
              <a:t>The home pathway preserves the clinical role and removes the clinic visit that did nothing but draw the blood.</a:t>
            </a:r>
            <a:endParaRPr lang="en-US" sz="1050" dirty="0"/>
          </a:p>
        </p:txBody>
      </p:sp>
      <p:sp>
        <p:nvSpPr>
          <p:cNvPr id="42" name="Shape 38"/>
          <p:cNvSpPr/>
          <p:nvPr/>
        </p:nvSpPr>
        <p:spPr>
          <a:xfrm>
            <a:off x="6233008" y="2793492"/>
            <a:ext cx="5501488" cy="1915160"/>
          </a:xfrm>
          <a:prstGeom prst="roundRect">
            <a:avLst>
              <a:gd name="adj" fmla="val 4775"/>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HIM</a:t>
            </a:r>
            <a:endParaRPr lang="en-US" sz="850" dirty="0"/>
          </a:p>
        </p:txBody>
      </p:sp>
      <p:sp>
        <p:nvSpPr>
          <p:cNvPr id="44" name="Text 40"/>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Travel saved. Half-days saved. The same surveillance, on time.</a:t>
            </a:r>
            <a:endParaRPr lang="en-US" sz="1500" dirty="0"/>
          </a:p>
        </p:txBody>
      </p:sp>
      <p:sp>
        <p:nvSpPr>
          <p:cNvPr id="45" name="Text 41"/>
          <p:cNvSpPr/>
          <p:nvPr/>
        </p:nvSpPr>
        <p:spPr>
          <a:xfrm>
            <a:off x="6452464" y="3851148"/>
            <a:ext cx="5062576" cy="674624"/>
          </a:xfrm>
          <a:prstGeom prst="rect">
            <a:avLst/>
          </a:prstGeom>
          <a:noFill/>
          <a:ln/>
        </p:spPr>
        <p:txBody>
          <a:bodyPr wrap="square" lIns="0" tIns="0" rIns="0" bIns="0" rtlCol="0" anchor="t">
            <a:normAutofit/>
          </a:bodyPr>
          <a:lstStyle/>
          <a:p>
            <a:pPr indent="0" marL="0">
              <a:buNone/>
            </a:pPr>
            <a:r>
              <a:rPr lang="en-US" sz="900" dirty="0">
                <a:solidFill>
                  <a:srgbClr val="212B32"/>
                </a:solidFill>
                <a:latin typeface="Segoe UI" pitchFamily="34" charset="0"/>
                <a:ea typeface="Segoe UI" pitchFamily="34" charset="-122"/>
                <a:cs typeface="Segoe UI" pitchFamily="34" charset="-120"/>
              </a:rPr>
              <a:t>Mark has worked through it, taken his kids to school, looked after a parent. The hospital is an hour's drive. The clinic visit was always the friction; the blood result was always the point. </a:t>
            </a:r>
            <a:pPr indent="0" marL="0">
              <a:buNone/>
            </a:pPr>
            <a:r>
              <a:rPr lang="en-US" sz="900" b="1" dirty="0">
                <a:solidFill>
                  <a:srgbClr val="212B32"/>
                </a:solidFill>
                <a:latin typeface="Segoe UI" pitchFamily="34" charset="0"/>
                <a:ea typeface="Segoe UI" pitchFamily="34" charset="-122"/>
                <a:cs typeface="Segoe UI" pitchFamily="34" charset="-120"/>
              </a:rPr>
              <a:t>The kit moves the friction; the clinical decision-making stays exactly where it was.</a:t>
            </a:r>
            <a:endParaRPr lang="en-US" sz="90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MARK’S JOURNEY  ·  STAGE 1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Stratification, the cohort eligible for active surveillance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01</a:t>
            </a:r>
            <a:endParaRPr lang="en-US" sz="5000" dirty="0"/>
          </a:p>
        </p:txBody>
      </p:sp>
      <p:sp>
        <p:nvSpPr>
          <p:cNvPr id="9" name="Text 5"/>
          <p:cNvSpPr/>
          <p:nvPr/>
        </p:nvSpPr>
        <p:spPr>
          <a:xfrm>
            <a:off x="457200" y="2007108"/>
            <a:ext cx="4892040" cy="1154430"/>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More than 64,000 men a year are diagnosed with prostate cancer in the UK. Around 6,500 a year choose active surveillance; up to 5,000 more could. Mark sits in that cohort: low-risk disease, watch-and-wait, quarterly PSA. The surveillance is the treatment.</a:t>
            </a:r>
            <a:endParaRPr lang="en-US" sz="1350" dirty="0"/>
          </a:p>
        </p:txBody>
      </p:sp>
      <p:sp>
        <p:nvSpPr>
          <p:cNvPr id="10" name="Shape 6"/>
          <p:cNvSpPr/>
          <p:nvPr/>
        </p:nvSpPr>
        <p:spPr>
          <a:xfrm>
            <a:off x="457200" y="3289554"/>
            <a:ext cx="4892040" cy="1008126"/>
          </a:xfrm>
          <a:prstGeom prst="rect">
            <a:avLst/>
          </a:prstGeom>
          <a:solidFill>
            <a:srgbClr val="F8FAFC"/>
          </a:solidFill>
          <a:ln w="12700">
            <a:solidFill>
              <a:srgbClr val="F8FAFC"/>
            </a:solidFill>
            <a:prstDash val="solid"/>
          </a:ln>
        </p:spPr>
      </p:sp>
      <p:sp>
        <p:nvSpPr>
          <p:cNvPr id="11" name="Shape 7"/>
          <p:cNvSpPr/>
          <p:nvPr/>
        </p:nvSpPr>
        <p:spPr>
          <a:xfrm>
            <a:off x="457200" y="3289554"/>
            <a:ext cx="82296" cy="1008126"/>
          </a:xfrm>
          <a:prstGeom prst="rect">
            <a:avLst/>
          </a:prstGeom>
          <a:solidFill>
            <a:srgbClr val="FFB91D"/>
          </a:solidFill>
          <a:ln w="12700">
            <a:solidFill>
              <a:srgbClr val="FFB91D"/>
            </a:solidFill>
            <a:prstDash val="solid"/>
          </a:ln>
        </p:spPr>
      </p:sp>
      <p:sp>
        <p:nvSpPr>
          <p:cNvPr id="12" name="Text 8"/>
          <p:cNvSpPr/>
          <p:nvPr/>
        </p:nvSpPr>
        <p:spPr>
          <a:xfrm>
            <a:off x="694944" y="3353562"/>
            <a:ext cx="4507992" cy="624078"/>
          </a:xfrm>
          <a:prstGeom prst="rect">
            <a:avLst/>
          </a:prstGeom>
          <a:noFill/>
          <a:ln/>
        </p:spPr>
        <p:txBody>
          <a:bodyPr wrap="square" lIns="0" tIns="0" rIns="0" bIns="0" rtlCol="0" anchor="t">
            <a:normAutofit/>
          </a:bodyPr>
          <a:lstStyle/>
          <a:p>
            <a:pPr indent="0" marL="0">
              <a:buNone/>
            </a:pPr>
            <a:r>
              <a:rPr lang="en-US" sz="1050" i="1" dirty="0">
                <a:solidFill>
                  <a:srgbClr val="212B32"/>
                </a:solidFill>
                <a:latin typeface="Segoe UI" pitchFamily="34" charset="0"/>
                <a:ea typeface="Segoe UI" pitchFamily="34" charset="-122"/>
                <a:cs typeface="Segoe UI" pitchFamily="34" charset="-120"/>
              </a:rPr>
              <a:t>“I am sixty-five and I have prostate cancer. They told me it is the kind that does not need treating, just watching. That is the bit nobody warns you about, what the watching actually costs.”</a:t>
            </a:r>
            <a:endParaRPr lang="en-US" sz="1050" dirty="0"/>
          </a:p>
        </p:txBody>
      </p:sp>
      <p:sp>
        <p:nvSpPr>
          <p:cNvPr id="13" name="Text 9"/>
          <p:cNvSpPr/>
          <p:nvPr/>
        </p:nvSpPr>
        <p:spPr>
          <a:xfrm>
            <a:off x="694944" y="3977640"/>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Mark</a:t>
            </a:r>
            <a:endParaRPr lang="en-US" sz="950" dirty="0"/>
          </a:p>
        </p:txBody>
      </p:sp>
      <p:pic>
        <p:nvPicPr>
          <p:cNvPr id="14" name="Image 2" descr="/sessions/quirky-zen-galileo/mnt/outputs/jd/img/mark-stage1.jpg">    </p:cNvPr>
          <p:cNvPicPr>
            <a:picLocks noChangeAspect="1"/>
          </p:cNvPicPr>
          <p:nvPr/>
        </p:nvPicPr>
        <p:blipFill>
          <a:blip r:embed="rId3"/>
          <a:srcRect l="0" r="0" t="0" b="0"/>
          <a:stretch/>
        </p:blipFill>
        <p:spPr>
          <a:xfrm>
            <a:off x="457200" y="4480560"/>
            <a:ext cx="4892040" cy="1810512"/>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894080"/>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NICE NG131 sets the framework for active surveillance in low-risk prostate cancer: regular PSA, MRI at intervals, repeat biopsy as triggered by trend. The cohort is well-defined. The challenge is holding the cohort in surveillance without burning the clinic.</a:t>
            </a:r>
            <a:endParaRPr lang="en-US" sz="1100" dirty="0"/>
          </a:p>
        </p:txBody>
      </p:sp>
      <p:sp>
        <p:nvSpPr>
          <p:cNvPr id="19" name="Shape 14"/>
          <p:cNvSpPr/>
          <p:nvPr/>
        </p:nvSpPr>
        <p:spPr>
          <a:xfrm>
            <a:off x="5669280" y="2480564"/>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4805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754884"/>
            <a:ext cx="6065215" cy="547624"/>
          </a:xfrm>
          <a:prstGeom prst="rect">
            <a:avLst/>
          </a:prstGeom>
          <a:solidFill>
            <a:srgbClr val="F8FAFC"/>
          </a:solidFill>
          <a:ln w="12700">
            <a:solidFill>
              <a:srgbClr val="F8FAFC"/>
            </a:solidFill>
            <a:prstDash val="solid"/>
          </a:ln>
        </p:spPr>
      </p:sp>
      <p:sp>
        <p:nvSpPr>
          <p:cNvPr id="22" name="Text 17"/>
          <p:cNvSpPr/>
          <p:nvPr/>
        </p:nvSpPr>
        <p:spPr>
          <a:xfrm>
            <a:off x="5788152" y="2791460"/>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An expanding AS cohort funnelled through fixed clinic capacity. Patients drop out, present later, get treated harder.</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547624"/>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Adam, consultant urologist. The MDT. Catherine on the Trust commissioner side. Mark.</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MARK’S JOURNEY  ·  STAGE 2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Identification, Adam's clinic shortlists him</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02</a:t>
            </a:r>
            <a:endParaRPr lang="en-US" sz="5000" dirty="0"/>
          </a:p>
        </p:txBody>
      </p:sp>
      <p:sp>
        <p:nvSpPr>
          <p:cNvPr id="9" name="Text 5"/>
          <p:cNvSpPr/>
          <p:nvPr/>
        </p:nvSpPr>
        <p:spPr>
          <a:xfrm>
            <a:off x="457200" y="2007108"/>
            <a:ext cx="4892040" cy="1154430"/>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Adam reviews the cohort. Mark fits the profile for the first wave of home PSA: stable trend, comfortable with the kit idea, no clinical concerns. The shortlist of first patients is small and chosen carefully. Mark gets the conversation at the next clinic.</a:t>
            </a:r>
            <a:endParaRPr lang="en-US" sz="1350" dirty="0"/>
          </a:p>
        </p:txBody>
      </p:sp>
      <p:sp>
        <p:nvSpPr>
          <p:cNvPr id="10" name="Shape 6"/>
          <p:cNvSpPr/>
          <p:nvPr/>
        </p:nvSpPr>
        <p:spPr>
          <a:xfrm>
            <a:off x="457200" y="3289554"/>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289554"/>
            <a:ext cx="82296" cy="1051560"/>
          </a:xfrm>
          <a:prstGeom prst="rect">
            <a:avLst/>
          </a:prstGeom>
          <a:solidFill>
            <a:srgbClr val="FFB91D"/>
          </a:solidFill>
          <a:ln w="12700">
            <a:solidFill>
              <a:srgbClr val="FFB91D"/>
            </a:solidFill>
            <a:prstDash val="solid"/>
          </a:ln>
        </p:spPr>
      </p:sp>
      <p:sp>
        <p:nvSpPr>
          <p:cNvPr id="12" name="Text 8"/>
          <p:cNvSpPr/>
          <p:nvPr/>
        </p:nvSpPr>
        <p:spPr>
          <a:xfrm>
            <a:off x="694944" y="3353562"/>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“Adam asked me whether I would be comfortable doing the next PSA at home. I said yes before he had finished the sentence.”</a:t>
            </a:r>
            <a:endParaRPr lang="en-US" sz="1150" dirty="0"/>
          </a:p>
        </p:txBody>
      </p:sp>
      <p:sp>
        <p:nvSpPr>
          <p:cNvPr id="13" name="Text 9"/>
          <p:cNvSpPr/>
          <p:nvPr/>
        </p:nvSpPr>
        <p:spPr>
          <a:xfrm>
            <a:off x="694944" y="4021074"/>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Mark</a:t>
            </a:r>
            <a:endParaRPr lang="en-US" sz="950" dirty="0"/>
          </a:p>
        </p:txBody>
      </p:sp>
      <p:pic>
        <p:nvPicPr>
          <p:cNvPr id="14" name="Image 2" descr="/sessions/quirky-zen-galileo/mnt/outputs/jd/img/mark-stage2.jpg">    </p:cNvPr>
          <p:cNvPicPr>
            <a:picLocks noChangeAspect="1"/>
          </p:cNvPicPr>
          <p:nvPr/>
        </p:nvPicPr>
        <p:blipFill>
          <a:blip r:embed="rId3"/>
          <a:srcRect l="0" r="0" t="0" b="0"/>
          <a:stretch/>
        </p:blipFill>
        <p:spPr>
          <a:xfrm>
            <a:off x="457200" y="4523994"/>
            <a:ext cx="4892040" cy="176707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720852"/>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first patients are picked by the consultant, in clinic, with consent and clinical judgement. The cohort is bounded carefully. The conversation is short because the model preserves the clinical role.</a:t>
            </a:r>
            <a:endParaRPr lang="en-US" sz="1100" dirty="0"/>
          </a:p>
        </p:txBody>
      </p:sp>
      <p:sp>
        <p:nvSpPr>
          <p:cNvPr id="19" name="Shape 14"/>
          <p:cNvSpPr/>
          <p:nvPr/>
        </p:nvSpPr>
        <p:spPr>
          <a:xfrm>
            <a:off x="5669280" y="2307336"/>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3073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581656"/>
            <a:ext cx="6065215" cy="547624"/>
          </a:xfrm>
          <a:prstGeom prst="rect">
            <a:avLst/>
          </a:prstGeom>
          <a:solidFill>
            <a:srgbClr val="F8FAFC"/>
          </a:solidFill>
          <a:ln w="12700">
            <a:solidFill>
              <a:srgbClr val="F8FAFC"/>
            </a:solidFill>
            <a:prstDash val="solid"/>
          </a:ln>
        </p:spPr>
      </p:sp>
      <p:sp>
        <p:nvSpPr>
          <p:cNvPr id="22" name="Text 17"/>
          <p:cNvSpPr/>
          <p:nvPr/>
        </p:nvSpPr>
        <p:spPr>
          <a:xfrm>
            <a:off x="5788152" y="2618232"/>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Bring everyone in for everything, because there is no other model on offer. The cohort is held by clinic capacity, not clinical judgement.</a:t>
            </a:r>
            <a:endParaRPr lang="en-US" sz="1100" dirty="0"/>
          </a:p>
        </p:txBody>
      </p:sp>
      <p:sp>
        <p:nvSpPr>
          <p:cNvPr id="23" name="Shape 18"/>
          <p:cNvSpPr/>
          <p:nvPr/>
        </p:nvSpPr>
        <p:spPr>
          <a:xfrm>
            <a:off x="5669280" y="3257296"/>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25729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531616"/>
            <a:ext cx="6065215" cy="374396"/>
          </a:xfrm>
          <a:prstGeom prst="rect">
            <a:avLst/>
          </a:prstGeom>
          <a:solidFill>
            <a:srgbClr val="E8F3EE"/>
          </a:solidFill>
          <a:ln w="12700">
            <a:solidFill>
              <a:srgbClr val="E8F3EE"/>
            </a:solidFill>
            <a:prstDash val="solid"/>
          </a:ln>
        </p:spPr>
      </p:sp>
      <p:sp>
        <p:nvSpPr>
          <p:cNvPr id="26" name="Text 21"/>
          <p:cNvSpPr/>
          <p:nvPr/>
        </p:nvSpPr>
        <p:spPr>
          <a:xfrm>
            <a:off x="5788152" y="3568192"/>
            <a:ext cx="5827471" cy="31953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Adam. Clinical nurse specialist. Mark.</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MARK’S JOURNEY  ·  STAGE 3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Diagnosis, kit out, sample back, result to the consultant first</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03</a:t>
            </a:r>
            <a:endParaRPr lang="en-US" sz="5000" dirty="0"/>
          </a:p>
        </p:txBody>
      </p:sp>
      <p:sp>
        <p:nvSpPr>
          <p:cNvPr id="9" name="Text 5"/>
          <p:cNvSpPr/>
          <p:nvPr/>
        </p:nvSpPr>
        <p:spPr>
          <a:xfrm>
            <a:off x="457200" y="2007108"/>
            <a:ext cx="4892040" cy="1154430"/>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The kit arrives. Mark takes the sample at home on the day the clinic would have happened. The lab processes it. The result lands in Adam's system before the next clinic, in trend, with the threshold-alert logic wired in. Mark sees the result only after Adam has read it.</a:t>
            </a:r>
            <a:endParaRPr lang="en-US" sz="1350" dirty="0"/>
          </a:p>
        </p:txBody>
      </p:sp>
      <p:sp>
        <p:nvSpPr>
          <p:cNvPr id="10" name="Shape 6"/>
          <p:cNvSpPr/>
          <p:nvPr/>
        </p:nvSpPr>
        <p:spPr>
          <a:xfrm>
            <a:off x="457200" y="3289554"/>
            <a:ext cx="4892040" cy="1008126"/>
          </a:xfrm>
          <a:prstGeom prst="rect">
            <a:avLst/>
          </a:prstGeom>
          <a:solidFill>
            <a:srgbClr val="F8FAFC"/>
          </a:solidFill>
          <a:ln w="12700">
            <a:solidFill>
              <a:srgbClr val="F8FAFC"/>
            </a:solidFill>
            <a:prstDash val="solid"/>
          </a:ln>
        </p:spPr>
      </p:sp>
      <p:sp>
        <p:nvSpPr>
          <p:cNvPr id="11" name="Shape 7"/>
          <p:cNvSpPr/>
          <p:nvPr/>
        </p:nvSpPr>
        <p:spPr>
          <a:xfrm>
            <a:off x="457200" y="3289554"/>
            <a:ext cx="82296" cy="1008126"/>
          </a:xfrm>
          <a:prstGeom prst="rect">
            <a:avLst/>
          </a:prstGeom>
          <a:solidFill>
            <a:srgbClr val="FFB91D"/>
          </a:solidFill>
          <a:ln w="12700">
            <a:solidFill>
              <a:srgbClr val="FFB91D"/>
            </a:solidFill>
            <a:prstDash val="solid"/>
          </a:ln>
        </p:spPr>
      </p:sp>
      <p:sp>
        <p:nvSpPr>
          <p:cNvPr id="12" name="Text 8"/>
          <p:cNvSpPr/>
          <p:nvPr/>
        </p:nvSpPr>
        <p:spPr>
          <a:xfrm>
            <a:off x="694944" y="3353562"/>
            <a:ext cx="4507992" cy="624078"/>
          </a:xfrm>
          <a:prstGeom prst="rect">
            <a:avLst/>
          </a:prstGeom>
          <a:noFill/>
          <a:ln/>
        </p:spPr>
        <p:txBody>
          <a:bodyPr wrap="square" lIns="0" tIns="0" rIns="0" bIns="0" rtlCol="0" anchor="t">
            <a:normAutofit/>
          </a:bodyPr>
          <a:lstStyle/>
          <a:p>
            <a:pPr indent="0" marL="0">
              <a:buNone/>
            </a:pPr>
            <a:r>
              <a:rPr lang="en-US" sz="1050" i="1" dirty="0">
                <a:solidFill>
                  <a:srgbClr val="212B32"/>
                </a:solidFill>
                <a:latin typeface="Segoe UI" pitchFamily="34" charset="0"/>
                <a:ea typeface="Segoe UI" pitchFamily="34" charset="-122"/>
                <a:cs typeface="Segoe UI" pitchFamily="34" charset="-120"/>
              </a:rPr>
              <a:t>“The kit came in the post. I did it on the Saturday morning. By the following Tuesday I knew Adam had seen the result. Same answer I would have got at the hospital. None of the driving.”</a:t>
            </a:r>
            <a:endParaRPr lang="en-US" sz="1050" dirty="0"/>
          </a:p>
        </p:txBody>
      </p:sp>
      <p:sp>
        <p:nvSpPr>
          <p:cNvPr id="13" name="Text 9"/>
          <p:cNvSpPr/>
          <p:nvPr/>
        </p:nvSpPr>
        <p:spPr>
          <a:xfrm>
            <a:off x="694944" y="3977640"/>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Mark</a:t>
            </a:r>
            <a:endParaRPr lang="en-US" sz="950" dirty="0"/>
          </a:p>
        </p:txBody>
      </p:sp>
      <p:pic>
        <p:nvPicPr>
          <p:cNvPr id="14" name="Image 2" descr="/sessions/quirky-zen-galileo/mnt/outputs/jd/img/mark-stage3.jpg">    </p:cNvPr>
          <p:cNvPicPr>
            <a:picLocks noChangeAspect="1"/>
          </p:cNvPicPr>
          <p:nvPr/>
        </p:nvPicPr>
        <p:blipFill>
          <a:blip r:embed="rId3"/>
          <a:srcRect l="0" r="0" t="0" b="0"/>
          <a:stretch/>
        </p:blipFill>
        <p:spPr>
          <a:xfrm>
            <a:off x="457200" y="4480560"/>
            <a:ext cx="4892040" cy="1810512"/>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720852"/>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1.25 billion NHS pathology test requests per year, growing ~5.5% annually. Home capillary PSA is the same biochemical assay run on the same lab platform. The clinical interpretation is preserved.</a:t>
            </a:r>
            <a:endParaRPr lang="en-US" sz="1100" dirty="0"/>
          </a:p>
        </p:txBody>
      </p:sp>
      <p:sp>
        <p:nvSpPr>
          <p:cNvPr id="19" name="Shape 14"/>
          <p:cNvSpPr/>
          <p:nvPr/>
        </p:nvSpPr>
        <p:spPr>
          <a:xfrm>
            <a:off x="5669280" y="2307336"/>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3073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581656"/>
            <a:ext cx="6065215" cy="547624"/>
          </a:xfrm>
          <a:prstGeom prst="rect">
            <a:avLst/>
          </a:prstGeom>
          <a:solidFill>
            <a:srgbClr val="F8FAFC"/>
          </a:solidFill>
          <a:ln w="12700">
            <a:solidFill>
              <a:srgbClr val="F8FAFC"/>
            </a:solidFill>
            <a:prstDash val="solid"/>
          </a:ln>
        </p:spPr>
      </p:sp>
      <p:sp>
        <p:nvSpPr>
          <p:cNvPr id="22" name="Text 17"/>
          <p:cNvSpPr/>
          <p:nvPr/>
        </p:nvSpPr>
        <p:spPr>
          <a:xfrm>
            <a:off x="5788152" y="2618232"/>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Two trips to the hospital, phlebotomy for the blood, second trip for the result. Or, on a bad cycle, a missed appointment and a quietly delayed surveillance round.</a:t>
            </a:r>
            <a:endParaRPr lang="en-US" sz="1100" dirty="0"/>
          </a:p>
        </p:txBody>
      </p:sp>
      <p:sp>
        <p:nvSpPr>
          <p:cNvPr id="23" name="Shape 18"/>
          <p:cNvSpPr/>
          <p:nvPr/>
        </p:nvSpPr>
        <p:spPr>
          <a:xfrm>
            <a:off x="5669280" y="3257296"/>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25729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531616"/>
            <a:ext cx="6065215" cy="547624"/>
          </a:xfrm>
          <a:prstGeom prst="rect">
            <a:avLst/>
          </a:prstGeom>
          <a:solidFill>
            <a:srgbClr val="E8F3EE"/>
          </a:solidFill>
          <a:ln w="12700">
            <a:solidFill>
              <a:srgbClr val="E8F3EE"/>
            </a:solidFill>
            <a:prstDash val="solid"/>
          </a:ln>
        </p:spPr>
      </p:sp>
      <p:sp>
        <p:nvSpPr>
          <p:cNvPr id="26" name="Text 21"/>
          <p:cNvSpPr/>
          <p:nvPr/>
        </p:nvSpPr>
        <p:spPr>
          <a:xfrm>
            <a:off x="5788152" y="3568192"/>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supplier shipping the kit. UKAS-accredited lab. Platform writing the result back to the Trust EPR. Adam reading the trend.</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MARK’S JOURNEY  ·  STAGE 4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Treatment, the surveillance itself</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04</a:t>
            </a:r>
            <a:endParaRPr lang="en-US" sz="5000" dirty="0"/>
          </a:p>
        </p:txBody>
      </p:sp>
      <p:sp>
        <p:nvSpPr>
          <p:cNvPr id="9" name="Text 5"/>
          <p:cNvSpPr/>
          <p:nvPr/>
        </p:nvSpPr>
        <p:spPr>
          <a:xfrm>
            <a:off x="457200" y="2007108"/>
            <a:ext cx="4892040" cy="1036320"/>
          </a:xfrm>
          <a:prstGeom prst="rect">
            <a:avLst/>
          </a:prstGeom>
          <a:noFill/>
          <a:ln/>
        </p:spPr>
        <p:txBody>
          <a:bodyPr wrap="square" lIns="0" tIns="0" rIns="0" bIns="0" rtlCol="0" anchor="t">
            <a:normAutofit/>
          </a:bodyPr>
          <a:lstStyle/>
          <a:p>
            <a:pPr indent="0" marL="0">
              <a:buNone/>
            </a:pPr>
            <a:r>
              <a:rPr lang="en-US" sz="1200" b="1" dirty="0">
                <a:solidFill>
                  <a:srgbClr val="003087"/>
                </a:solidFill>
                <a:latin typeface="Segoe UI" pitchFamily="34" charset="0"/>
                <a:ea typeface="Segoe UI" pitchFamily="34" charset="-122"/>
                <a:cs typeface="Segoe UI" pitchFamily="34" charset="-120"/>
              </a:rPr>
              <a:t>Active surveillance IS the treatment. The clinical work is the trend interpretation. Adam reads Mark's PSA in the context of every prior reading and the imaging cycle. Most cycles, nothing changes. The model has not removed the clinical decision; it has removed the unnecessary clinical visit.</a:t>
            </a:r>
            <a:endParaRPr lang="en-US" sz="1200" dirty="0"/>
          </a:p>
        </p:txBody>
      </p:sp>
      <p:sp>
        <p:nvSpPr>
          <p:cNvPr id="10" name="Shape 6"/>
          <p:cNvSpPr/>
          <p:nvPr/>
        </p:nvSpPr>
        <p:spPr>
          <a:xfrm>
            <a:off x="457200" y="3171444"/>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171444"/>
            <a:ext cx="82296" cy="1051560"/>
          </a:xfrm>
          <a:prstGeom prst="rect">
            <a:avLst/>
          </a:prstGeom>
          <a:solidFill>
            <a:srgbClr val="FFB91D"/>
          </a:solidFill>
          <a:ln w="12700">
            <a:solidFill>
              <a:srgbClr val="FFB91D"/>
            </a:solidFill>
            <a:prstDash val="solid"/>
          </a:ln>
        </p:spPr>
      </p:sp>
      <p:sp>
        <p:nvSpPr>
          <p:cNvPr id="12" name="Text 8"/>
          <p:cNvSpPr/>
          <p:nvPr/>
        </p:nvSpPr>
        <p:spPr>
          <a:xfrm>
            <a:off x="694944" y="3235452"/>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“I felt a bit guilty at first that I had not been in to see him. Then I realised the visit was never the bit that mattered. He was always reading the number, not me.”</a:t>
            </a:r>
            <a:endParaRPr lang="en-US" sz="1150" dirty="0"/>
          </a:p>
        </p:txBody>
      </p:sp>
      <p:sp>
        <p:nvSpPr>
          <p:cNvPr id="13" name="Text 9"/>
          <p:cNvSpPr/>
          <p:nvPr/>
        </p:nvSpPr>
        <p:spPr>
          <a:xfrm>
            <a:off x="694944" y="3902964"/>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Mark</a:t>
            </a:r>
            <a:endParaRPr lang="en-US" sz="950" dirty="0"/>
          </a:p>
        </p:txBody>
      </p:sp>
      <p:pic>
        <p:nvPicPr>
          <p:cNvPr id="14" name="Image 2" descr="/sessions/quirky-zen-galileo/mnt/outputs/jd/img/mark-stage4.jpg">    </p:cNvPr>
          <p:cNvPicPr>
            <a:picLocks noChangeAspect="1"/>
          </p:cNvPicPr>
          <p:nvPr/>
        </p:nvPicPr>
        <p:blipFill>
          <a:blip r:embed="rId3"/>
          <a:srcRect l="0" r="0" t="0" b="0"/>
          <a:stretch/>
        </p:blipFill>
        <p:spPr>
          <a:xfrm>
            <a:off x="457200" y="4405884"/>
            <a:ext cx="4892040" cy="188518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720852"/>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surveillance protocol per NICE NG131 is unchanged. Threshold breaches escalate to MDT review and additional imaging. Stable trends roll through routine review without consuming clinic time.</a:t>
            </a:r>
            <a:endParaRPr lang="en-US" sz="1100" dirty="0"/>
          </a:p>
        </p:txBody>
      </p:sp>
      <p:sp>
        <p:nvSpPr>
          <p:cNvPr id="19" name="Shape 14"/>
          <p:cNvSpPr/>
          <p:nvPr/>
        </p:nvSpPr>
        <p:spPr>
          <a:xfrm>
            <a:off x="5669280" y="2307336"/>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3073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581656"/>
            <a:ext cx="6065215" cy="720852"/>
          </a:xfrm>
          <a:prstGeom prst="rect">
            <a:avLst/>
          </a:prstGeom>
          <a:solidFill>
            <a:srgbClr val="F8FAFC"/>
          </a:solidFill>
          <a:ln w="12700">
            <a:solidFill>
              <a:srgbClr val="F8FAFC"/>
            </a:solidFill>
            <a:prstDash val="solid"/>
          </a:ln>
        </p:spPr>
      </p:sp>
      <p:sp>
        <p:nvSpPr>
          <p:cNvPr id="22" name="Text 17"/>
          <p:cNvSpPr/>
          <p:nvPr/>
        </p:nvSpPr>
        <p:spPr>
          <a:xfrm>
            <a:off x="5788152" y="2618232"/>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Every patient in clinic every quarter, regardless of trend. The signal-to-noise of clinic visits was always poor; routine stability was confirmed in person at the cost of the patients who clinically needed clinic.</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374396"/>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31953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Adam. The MDT. The radiologist on the imaging cycle.</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MARK’S JOURNEY  ·  STAGE 5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050" b="1" dirty="0">
                <a:solidFill>
                  <a:srgbClr val="FFFFFF"/>
                </a:solidFill>
                <a:latin typeface="Segoe UI" pitchFamily="34" charset="0"/>
                <a:ea typeface="Segoe UI" pitchFamily="34" charset="-122"/>
                <a:cs typeface="Segoe UI" pitchFamily="34" charset="-120"/>
              </a:rPr>
              <a:t>Long-term optimisation, the surveillance that keeps him in surveillance</a:t>
            </a:r>
            <a:endParaRPr lang="en-US" sz="205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05</a:t>
            </a:r>
            <a:endParaRPr lang="en-US" sz="5000" dirty="0"/>
          </a:p>
        </p:txBody>
      </p:sp>
      <p:sp>
        <p:nvSpPr>
          <p:cNvPr id="9" name="Text 5"/>
          <p:cNvSpPr/>
          <p:nvPr/>
        </p:nvSpPr>
        <p:spPr>
          <a:xfrm>
            <a:off x="457200" y="2007108"/>
            <a:ext cx="4892040" cy="1154430"/>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Mark stays in the cohort. The quarterly PSA happens at home. The annual imaging happens in clinic. The trend stays stable. The cohort grows. Adam holds more patients in surveillance than the clinic-only model could have, and Mark is one of them.</a:t>
            </a:r>
            <a:endParaRPr lang="en-US" sz="1350" dirty="0"/>
          </a:p>
        </p:txBody>
      </p:sp>
      <p:sp>
        <p:nvSpPr>
          <p:cNvPr id="10" name="Shape 6"/>
          <p:cNvSpPr/>
          <p:nvPr/>
        </p:nvSpPr>
        <p:spPr>
          <a:xfrm>
            <a:off x="457200" y="3289554"/>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289554"/>
            <a:ext cx="82296" cy="1051560"/>
          </a:xfrm>
          <a:prstGeom prst="rect">
            <a:avLst/>
          </a:prstGeom>
          <a:solidFill>
            <a:srgbClr val="FFB91D"/>
          </a:solidFill>
          <a:ln w="12700">
            <a:solidFill>
              <a:srgbClr val="FFB91D"/>
            </a:solidFill>
            <a:prstDash val="solid"/>
          </a:ln>
        </p:spPr>
      </p:sp>
      <p:sp>
        <p:nvSpPr>
          <p:cNvPr id="12" name="Text 8"/>
          <p:cNvSpPr/>
          <p:nvPr/>
        </p:nvSpPr>
        <p:spPr>
          <a:xfrm>
            <a:off x="694944" y="3353562"/>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“It is just part of life now. The kit comes when it is supposed to, I do it, I get on with my week. The hospital is for when something actually needs me there.”</a:t>
            </a:r>
            <a:endParaRPr lang="en-US" sz="1150" dirty="0"/>
          </a:p>
        </p:txBody>
      </p:sp>
      <p:sp>
        <p:nvSpPr>
          <p:cNvPr id="13" name="Text 9"/>
          <p:cNvSpPr/>
          <p:nvPr/>
        </p:nvSpPr>
        <p:spPr>
          <a:xfrm>
            <a:off x="694944" y="4021074"/>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Mark</a:t>
            </a:r>
            <a:endParaRPr lang="en-US" sz="950" dirty="0"/>
          </a:p>
        </p:txBody>
      </p:sp>
      <p:pic>
        <p:nvPicPr>
          <p:cNvPr id="14" name="Image 2" descr="/sessions/quirky-zen-galileo/mnt/outputs/jd/img/mark-stage5.jpg">    </p:cNvPr>
          <p:cNvPicPr>
            <a:picLocks noChangeAspect="1"/>
          </p:cNvPicPr>
          <p:nvPr/>
        </p:nvPicPr>
        <p:blipFill>
          <a:blip r:embed="rId3"/>
          <a:srcRect l="0" r="0" t="0" b="0"/>
          <a:stretch/>
        </p:blipFill>
        <p:spPr>
          <a:xfrm>
            <a:off x="457200" y="4523994"/>
            <a:ext cx="4892040" cy="176707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720852"/>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Active surveillance retention is the metric that matters: holding patients in the protocol so disease progression is caught early. Home PSA flattens the drop-out curve and keeps the cohort visible to the clinical team.</a:t>
            </a:r>
            <a:endParaRPr lang="en-US" sz="1100" dirty="0"/>
          </a:p>
        </p:txBody>
      </p:sp>
      <p:sp>
        <p:nvSpPr>
          <p:cNvPr id="19" name="Shape 14"/>
          <p:cNvSpPr/>
          <p:nvPr/>
        </p:nvSpPr>
        <p:spPr>
          <a:xfrm>
            <a:off x="5669280" y="2307336"/>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3073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581656"/>
            <a:ext cx="6065215" cy="720852"/>
          </a:xfrm>
          <a:prstGeom prst="rect">
            <a:avLst/>
          </a:prstGeom>
          <a:solidFill>
            <a:srgbClr val="F8FAFC"/>
          </a:solidFill>
          <a:ln w="12700">
            <a:solidFill>
              <a:srgbClr val="F8FAFC"/>
            </a:solidFill>
            <a:prstDash val="solid"/>
          </a:ln>
        </p:spPr>
      </p:sp>
      <p:sp>
        <p:nvSpPr>
          <p:cNvPr id="22" name="Text 17"/>
          <p:cNvSpPr/>
          <p:nvPr/>
        </p:nvSpPr>
        <p:spPr>
          <a:xfrm>
            <a:off x="5788152" y="2618232"/>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Drop out of surveillance, progress unmonitored, present later with a different staging and a different prognosis. The clinical risk was always in the venue, not the patient.</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374396"/>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31953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Adam. The MDT. Mark.</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MARK’S JOURNEY  ·  THE OUTCOME</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Mark's win</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57200" y="1239012"/>
            <a:ext cx="11277295" cy="766064"/>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Segoe UI" pitchFamily="34" charset="0"/>
                <a:ea typeface="Segoe UI" pitchFamily="34" charset="-122"/>
                <a:cs typeface="Segoe UI" pitchFamily="34" charset="-120"/>
              </a:rPr>
              <a:t>The same surveillance, on time, on a Saturday morning. Adam still holding the cohort. The hospital saved for the moment it is actually needed.</a:t>
            </a:r>
            <a:endParaRPr lang="en-US" sz="2200" dirty="0"/>
          </a:p>
        </p:txBody>
      </p:sp>
      <p:sp>
        <p:nvSpPr>
          <p:cNvPr id="9" name="Text 5"/>
          <p:cNvSpPr/>
          <p:nvPr/>
        </p:nvSpPr>
        <p:spPr>
          <a:xfrm>
            <a:off x="457200" y="2206244"/>
            <a:ext cx="11277295" cy="451104"/>
          </a:xfrm>
          <a:prstGeom prst="rect">
            <a:avLst/>
          </a:prstGeom>
          <a:noFill/>
          <a:ln/>
        </p:spPr>
        <p:txBody>
          <a:bodyPr wrap="square" lIns="0" tIns="0" rIns="0" bIns="0" rtlCol="0" anchor="t">
            <a:normAutofit/>
          </a:bodyPr>
          <a:lstStyle/>
          <a:p>
            <a:pPr indent="0" marL="0">
              <a:buNone/>
            </a:pPr>
            <a:r>
              <a:rPr lang="en-US" sz="1200" dirty="0">
                <a:solidFill>
                  <a:srgbClr val="212B32"/>
                </a:solidFill>
                <a:latin typeface="Segoe UI" pitchFamily="34" charset="0"/>
                <a:ea typeface="Segoe UI" pitchFamily="34" charset="-122"/>
                <a:cs typeface="Segoe UI" pitchFamily="34" charset="-120"/>
              </a:rPr>
              <a:t>Mark does not see procurement or pathways. He sees a kit through the door and a result his consultant has already read. </a:t>
            </a:r>
            <a:pPr indent="0" marL="0">
              <a:buNone/>
            </a:pPr>
            <a:r>
              <a:rPr lang="en-US" sz="1200" b="1" dirty="0">
                <a:solidFill>
                  <a:srgbClr val="212B32"/>
                </a:solidFill>
                <a:latin typeface="Segoe UI" pitchFamily="34" charset="0"/>
                <a:ea typeface="Segoe UI" pitchFamily="34" charset="-122"/>
                <a:cs typeface="Segoe UI" pitchFamily="34" charset="-120"/>
              </a:rPr>
              <a:t>The clinic visit that did not happen is the clinic visit Adam did not have capacity for anyway.</a:t>
            </a:r>
            <a:pPr indent="0" marL="0">
              <a:buNone/>
            </a:pPr>
            <a:r>
              <a:rPr lang="en-US" sz="1200" dirty="0">
                <a:solidFill>
                  <a:srgbClr val="212B32"/>
                </a:solidFill>
                <a:latin typeface="Segoe UI" pitchFamily="34" charset="0"/>
                <a:ea typeface="Segoe UI" pitchFamily="34" charset="-122"/>
                <a:cs typeface="Segoe UI" pitchFamily="34" charset="-120"/>
              </a:rPr>
              <a:t> Mark stays in surveillance. The cohort grows.</a:t>
            </a:r>
            <a:endParaRPr lang="en-US" sz="1200" dirty="0"/>
          </a:p>
        </p:txBody>
      </p:sp>
      <p:sp>
        <p:nvSpPr>
          <p:cNvPr id="10" name="Shape 6"/>
          <p:cNvSpPr/>
          <p:nvPr/>
        </p:nvSpPr>
        <p:spPr>
          <a:xfrm>
            <a:off x="457200" y="2913380"/>
            <a:ext cx="11277295" cy="1757680"/>
          </a:xfrm>
          <a:prstGeom prst="roundRect">
            <a:avLst>
              <a:gd name="adj" fmla="val 5202"/>
            </a:avLst>
          </a:prstGeom>
          <a:solidFill>
            <a:srgbClr val="FFFFFF"/>
          </a:solidFill>
          <a:ln w="9525">
            <a:solidFill>
              <a:srgbClr val="EBEEF1"/>
            </a:solidFill>
            <a:prstDash val="solid"/>
          </a:ln>
        </p:spPr>
      </p:sp>
      <p:sp>
        <p:nvSpPr>
          <p:cNvPr id="11" name="Shape 7"/>
          <p:cNvSpPr/>
          <p:nvPr/>
        </p:nvSpPr>
        <p:spPr>
          <a:xfrm>
            <a:off x="457200" y="2913380"/>
            <a:ext cx="11277295" cy="64008"/>
          </a:xfrm>
          <a:prstGeom prst="rect">
            <a:avLst/>
          </a:prstGeom>
          <a:solidFill>
            <a:srgbClr val="006747"/>
          </a:solidFill>
          <a:ln w="12700">
            <a:solidFill>
              <a:srgbClr val="006747"/>
            </a:solidFill>
            <a:prstDash val="solid"/>
          </a:ln>
        </p:spPr>
      </p:sp>
      <p:sp>
        <p:nvSpPr>
          <p:cNvPr id="12" name="Text 8"/>
          <p:cNvSpPr/>
          <p:nvPr/>
        </p:nvSpPr>
        <p:spPr>
          <a:xfrm>
            <a:off x="731520" y="3087116"/>
            <a:ext cx="5486400" cy="256032"/>
          </a:xfrm>
          <a:prstGeom prst="rect">
            <a:avLst/>
          </a:prstGeom>
          <a:noFill/>
          <a:ln/>
        </p:spPr>
        <p:txBody>
          <a:bodyPr wrap="square" lIns="0" tIns="0" rIns="0" bIns="0" rtlCol="0" anchor="ctr"/>
          <a:lstStyle/>
          <a:p>
            <a:pPr indent="0" marL="0">
              <a:buNone/>
            </a:pPr>
            <a:r>
              <a:rPr lang="en-US" sz="950" b="1" spc="200" kern="0" dirty="0">
                <a:solidFill>
                  <a:srgbClr val="006747"/>
                </a:solidFill>
                <a:latin typeface="Segoe UI" pitchFamily="34" charset="0"/>
                <a:ea typeface="Segoe UI" pitchFamily="34" charset="-122"/>
                <a:cs typeface="Segoe UI" pitchFamily="34" charset="-120"/>
              </a:rPr>
              <a:t>THE MONEY IN THIS STORY</a:t>
            </a:r>
            <a:endParaRPr lang="en-US" sz="950" dirty="0"/>
          </a:p>
        </p:txBody>
      </p:sp>
      <p:sp>
        <p:nvSpPr>
          <p:cNvPr id="13" name="Text 9"/>
          <p:cNvSpPr/>
          <p:nvPr/>
        </p:nvSpPr>
        <p:spPr>
          <a:xfrm>
            <a:off x="731520" y="3388868"/>
            <a:ext cx="10728655" cy="870712"/>
          </a:xfrm>
          <a:prstGeom prst="rect">
            <a:avLst/>
          </a:prstGeom>
          <a:noFill/>
          <a:ln/>
        </p:spPr>
        <p:txBody>
          <a:bodyPr wrap="square" lIns="0" tIns="0" rIns="0" bIns="0" rtlCol="0" anchor="t">
            <a:normAutofit/>
          </a:bodyPr>
          <a:lstStyle/>
          <a:p>
            <a:pPr indent="0" marL="0">
              <a:spcAft>
                <a:spcPts val="500"/>
              </a:spcAft>
              <a:buNone/>
            </a:pPr>
            <a:r>
              <a:rPr lang="en-US" sz="1150" dirty="0">
                <a:solidFill>
                  <a:srgbClr val="4C6272"/>
                </a:solidFill>
                <a:latin typeface="Segoe UI" pitchFamily="34" charset="0"/>
                <a:ea typeface="Segoe UI" pitchFamily="34" charset="-122"/>
                <a:cs typeface="Segoe UI" pitchFamily="34" charset="-120"/>
              </a:rPr>
              <a:t>Nobody invoices Mark for staying at home. Each surveillance test is bought at a cost per activity by the ICB that funds his pathway, paid direct to the supplier that processes it. The hospital loses nothing when he stops travelling in: the money follows the completed test, not the building, and the phlebotomy slot he used four times a year goes to a patient who needs an in-person appointment. His consultant's review is unchanged, and still where the clinical value sits.</a:t>
            </a:r>
            <a:endParaRPr lang="en-US" sz="1150" dirty="0"/>
          </a:p>
        </p:txBody>
      </p:sp>
      <p:sp>
        <p:nvSpPr>
          <p:cNvPr id="14" name="Text 10"/>
          <p:cNvSpPr/>
          <p:nvPr/>
        </p:nvSpPr>
        <p:spPr>
          <a:xfrm>
            <a:off x="731520" y="4287012"/>
            <a:ext cx="10728655" cy="329184"/>
          </a:xfrm>
          <a:prstGeom prst="rect">
            <a:avLst/>
          </a:prstGeom>
          <a:noFill/>
          <a:ln/>
        </p:spPr>
        <p:txBody>
          <a:bodyPr wrap="square" lIns="0" tIns="0" rIns="0" bIns="0" rtlCol="0" anchor="b"/>
          <a:lstStyle/>
          <a:p>
            <a:pPr indent="0" marL="0">
              <a:buNone/>
            </a:pPr>
            <a:r>
              <a:rPr lang="en-US" sz="850" i="1"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 See the Money Loop and How Commissioners Buy pages of the operating model.</a:t>
            </a:r>
            <a:endParaRPr lang="en-US" sz="850" dirty="0"/>
          </a:p>
        </p:txBody>
      </p:sp>
      <p:sp>
        <p:nvSpPr>
          <p:cNvPr id="15" name="Text 11"/>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16" name="Text 12"/>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7" name="Text 13"/>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Mark’s story: HomeTest Hearts and Minds</dc:title>
  <dc:subject>PptxGenJS Presentation</dc:subject>
  <dc:creator>HomeTest Programme</dc:creator>
  <cp:lastModifiedBy>HomeTest Programme</cp:lastModifiedBy>
  <cp:revision>1</cp:revision>
  <dcterms:created xsi:type="dcterms:W3CDTF">2026-09-05T09:10:12Z</dcterms:created>
  <dcterms:modified xsi:type="dcterms:W3CDTF">2026-09-05T09:10:12Z</dcterms:modified>
</cp:coreProperties>
</file>