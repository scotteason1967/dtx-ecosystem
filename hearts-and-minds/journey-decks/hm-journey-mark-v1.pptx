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Mark's story, told through the operating model. Open on the person, not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Stratification. NICE NG131 sets the framework for active surveillance in low-risk prostate cancer: regular PSA, MRI at intervals, repeat biopsy as triggered by trend. The cohort is well-defined. The challenge is holding the cohort in surveillance without burning the clinic.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Identification. The first patients are picked by the consultant, in clinic, with consent and clinical judgement. The cohort is bounded carefully. The conversation is short because the model preserves the clinical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Diagnosis. 1.25 billion NHS pathology test requests per year, growing ~5.5% annually. Home capillary PSA is the same biochemical assay run on the same lab platform. The clinical interpretation is preserved.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Treatment. The surveillance protocol per NICE NG131 is unchanged. Threshold breaches escalate to MDT review and additional imaging. Stable trends roll through routine review without consuming clinic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Long-term optimisation. Active surveillance retention is the metric that matters: holding patients in the protocol so disease progression is caught early. Home PSA flattens the drop-out curve and keeps the cohort visible to the clinical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mark-interlude-0.787.jpg">    </p:cNvPr>
          <p:cNvPicPr>
            <a:picLocks noChangeAspect="1"/>
          </p:cNvPicPr>
          <p:nvPr/>
        </p:nvPicPr>
        <p:blipFill>
          <a:blip r:embed="rId1"/>
          <a:stretch>
            <a:fillRect/>
          </a:stretch>
        </p:blipFill>
        <p:spPr>
          <a:xfrm>
            <a:off x="6796735" y="0"/>
            <a:ext cx="5394960" cy="6858000"/>
          </a:xfrm>
          <a:prstGeom prst="rect">
            <a:avLst/>
          </a:prstGeom>
        </p:spPr>
      </p:pic>
      <p:sp>
        <p:nvSpPr>
          <p:cNvPr id="3" name="Shape 0"/>
          <p:cNvSpPr/>
          <p:nvPr/>
        </p:nvSpPr>
        <p:spPr>
          <a:xfrm>
            <a:off x="6632143" y="0"/>
            <a:ext cx="164592" cy="6858000"/>
          </a:xfrm>
          <a:prstGeom prst="rect">
            <a:avLst/>
          </a:prstGeom>
          <a:solidFill>
            <a:srgbClr val="FFB91D"/>
          </a:solidFill>
          <a:ln w="12700">
            <a:solidFill>
              <a:srgbClr val="FFB91D"/>
            </a:solidFill>
            <a:prstDash val="solid"/>
          </a:ln>
        </p:spPr>
      </p:sp>
      <p:sp>
        <p:nvSpPr>
          <p:cNvPr id="4" name="Shape 1"/>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5" name="Image 1" descr="/sessions/quirky-zen-galileo/mnt/NHS/07 Sites &amp; Repos/dtx-ecosystem/hearts-and-minds/_generators/assets/nhs-logo.png">    </p:cNvPr>
          <p:cNvPicPr>
            <a:picLocks noChangeAspect="1"/>
          </p:cNvPicPr>
          <p:nvPr/>
        </p:nvPicPr>
        <p:blipFill>
          <a:blip r:embed="rId2"/>
          <a:stretch>
            <a:fillRect/>
          </a:stretch>
        </p:blipFill>
        <p:spPr>
          <a:xfrm>
            <a:off x="685800" y="557784"/>
            <a:ext cx="586212" cy="457200"/>
          </a:xfrm>
          <a:prstGeom prst="rect">
            <a:avLst/>
          </a:prstGeom>
        </p:spPr>
      </p:pic>
      <p:sp>
        <p:nvSpPr>
          <p:cNvPr id="6" name="Text 2"/>
          <p:cNvSpPr/>
          <p:nvPr/>
        </p:nvSpPr>
        <p:spPr>
          <a:xfrm>
            <a:off x="548640" y="1371600"/>
            <a:ext cx="585216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A PATIENT'S STORY THROUGH THE OPERATING MODEL</a:t>
            </a:r>
            <a:endParaRPr lang="en-US" sz="1000" dirty="0"/>
          </a:p>
        </p:txBody>
      </p:sp>
      <p:sp>
        <p:nvSpPr>
          <p:cNvPr id="7" name="Text 3"/>
          <p:cNvSpPr/>
          <p:nvPr/>
        </p:nvSpPr>
        <p:spPr>
          <a:xfrm>
            <a:off x="548640" y="1691640"/>
            <a:ext cx="5760720" cy="822960"/>
          </a:xfrm>
          <a:prstGeom prst="rect">
            <a:avLst/>
          </a:prstGeom>
          <a:noFill/>
          <a:ln/>
        </p:spPr>
        <p:txBody>
          <a:bodyPr wrap="square" lIns="0" tIns="0" rIns="0" bIns="0"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Mark.</a:t>
            </a:r>
            <a:endParaRPr lang="en-US" sz="4800" dirty="0"/>
          </a:p>
        </p:txBody>
      </p:sp>
      <p:sp>
        <p:nvSpPr>
          <p:cNvPr id="8" name="Text 4"/>
          <p:cNvSpPr/>
          <p:nvPr/>
        </p:nvSpPr>
        <p:spPr>
          <a:xfrm>
            <a:off x="548640" y="2560320"/>
            <a:ext cx="5760720" cy="1085850"/>
          </a:xfrm>
          <a:prstGeom prst="rect">
            <a:avLst/>
          </a:prstGeom>
          <a:noFill/>
          <a:ln/>
        </p:spPr>
        <p:txBody>
          <a:bodyPr wrap="square" lIns="0" tIns="0" rIns="0" bIns="0" rtlCol="0" anchor="t"/>
          <a:lstStyle/>
          <a:p>
            <a:pPr indent="0" marL="0">
              <a:buNone/>
            </a:pPr>
            <a:r>
              <a:rPr lang="en-US" sz="3150" b="1" dirty="0">
                <a:solidFill>
                  <a:srgbClr val="FFD66B"/>
                </a:solidFill>
                <a:latin typeface="Segoe UI" pitchFamily="34" charset="0"/>
                <a:ea typeface="Segoe UI" pitchFamily="34" charset="-122"/>
                <a:cs typeface="Segoe UI" pitchFamily="34" charset="-120"/>
              </a:rPr>
              <a:t>His consultant still reads the trend.</a:t>
            </a:r>
            <a:endParaRPr lang="en-US" sz="3150" dirty="0"/>
          </a:p>
        </p:txBody>
      </p:sp>
      <p:sp>
        <p:nvSpPr>
          <p:cNvPr id="9" name="Text 5"/>
          <p:cNvSpPr/>
          <p:nvPr/>
        </p:nvSpPr>
        <p:spPr>
          <a:xfrm>
            <a:off x="548640" y="3829050"/>
            <a:ext cx="5669280" cy="1243584"/>
          </a:xfrm>
          <a:prstGeom prst="rect">
            <a:avLst/>
          </a:prstGeom>
          <a:noFill/>
          <a:ln/>
        </p:spPr>
        <p:txBody>
          <a:bodyPr wrap="square" lIns="0" tIns="0" rIns="0" bIns="0" rtlCol="0" anchor="t">
            <a:normAutofit/>
          </a:bodyPr>
          <a:lstStyle/>
          <a:p>
            <a:pPr indent="0" marL="0">
              <a:buNone/>
            </a:pPr>
            <a:r>
              <a:rPr lang="en-US" sz="1200" dirty="0">
                <a:solidFill>
                  <a:srgbClr val="CFE0F5"/>
                </a:solidFill>
                <a:latin typeface="Segoe UI" pitchFamily="34" charset="0"/>
                <a:ea typeface="Segoe UI" pitchFamily="34" charset="-122"/>
                <a:cs typeface="Segoe UI" pitchFamily="34" charset="-120"/>
              </a:rPr>
              <a:t>Mark is 65. Diagnosed with low-risk prostate cancer and placed on active surveillance under Adam at the local trust. The quarterly PSA is supposed to be routine. The clinic trip to get it is anything but. </a:t>
            </a:r>
            <a:pPr indent="0" marL="0">
              <a:buNone/>
            </a:pPr>
            <a:r>
              <a:rPr lang="en-US" sz="1200" b="1" dirty="0">
                <a:solidFill>
                  <a:srgbClr val="CFE0F5"/>
                </a:solidFill>
                <a:latin typeface="Segoe UI" pitchFamily="34" charset="0"/>
                <a:ea typeface="Segoe UI" pitchFamily="34" charset="-122"/>
                <a:cs typeface="Segoe UI" pitchFamily="34" charset="-120"/>
              </a:rPr>
              <a:t>This is the story of how the surveillance happens at home and the clinical accountability stays in clinic.</a:t>
            </a:r>
            <a:endParaRPr lang="en-US" sz="1200" dirty="0"/>
          </a:p>
        </p:txBody>
      </p:sp>
      <p:pic>
        <p:nvPicPr>
          <p:cNvPr id="10" name="Image 2" descr="/sessions/quirky-zen-galileo/mnt/outputs/jd/img/mark-portrait.jpg">    </p:cNvPr>
          <p:cNvPicPr>
            <a:picLocks noChangeAspect="1"/>
          </p:cNvPicPr>
          <p:nvPr/>
        </p:nvPicPr>
        <p:blipFill>
          <a:blip r:embed="rId3"/>
          <a:stretch>
            <a:fillRect/>
          </a:stretch>
        </p:blipFill>
        <p:spPr>
          <a:xfrm>
            <a:off x="548640" y="5255514"/>
            <a:ext cx="914400" cy="914400"/>
          </a:xfrm>
          <a:prstGeom prst="ellipse">
            <a:avLst/>
          </a:prstGeom>
        </p:spPr>
      </p:pic>
      <p:sp>
        <p:nvSpPr>
          <p:cNvPr id="11" name="Text 6"/>
          <p:cNvSpPr/>
          <p:nvPr/>
        </p:nvSpPr>
        <p:spPr>
          <a:xfrm>
            <a:off x="1645920" y="5328666"/>
            <a:ext cx="4114800" cy="36576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Mark</a:t>
            </a:r>
            <a:endParaRPr lang="en-US" sz="1600" dirty="0"/>
          </a:p>
        </p:txBody>
      </p:sp>
      <p:sp>
        <p:nvSpPr>
          <p:cNvPr id="12" name="Text 7"/>
          <p:cNvSpPr/>
          <p:nvPr/>
        </p:nvSpPr>
        <p:spPr>
          <a:xfrm>
            <a:off x="1645920" y="5694426"/>
            <a:ext cx="4480560" cy="411480"/>
          </a:xfrm>
          <a:prstGeom prst="rect">
            <a:avLst/>
          </a:prstGeom>
          <a:noFill/>
          <a:ln/>
        </p:spPr>
        <p:txBody>
          <a:bodyPr wrap="square" lIns="0" tIns="0" rIns="0" bIns="0" rtlCol="0" anchor="ctr">
            <a:normAutofit/>
          </a:bodyPr>
          <a:lstStyle/>
          <a:p>
            <a:pPr indent="0" marL="0">
              <a:buNone/>
            </a:pPr>
            <a:r>
              <a:rPr lang="en-US" sz="1100" dirty="0">
                <a:solidFill>
                  <a:srgbClr val="CFE0F5"/>
                </a:solidFill>
                <a:latin typeface="Segoe UI" pitchFamily="34" charset="0"/>
                <a:ea typeface="Segoe UI" pitchFamily="34" charset="-122"/>
                <a:cs typeface="Segoe UI" pitchFamily="34" charset="-120"/>
              </a:rPr>
              <a:t>Patient on active surveillance · PSA-AS cohort</a:t>
            </a:r>
            <a:endParaRPr lang="en-US" sz="1100" dirty="0"/>
          </a:p>
        </p:txBody>
      </p:sp>
      <p:sp>
        <p:nvSpPr>
          <p:cNvPr id="13" name="Text 8"/>
          <p:cNvSpPr/>
          <p:nvPr/>
        </p:nvSpPr>
        <p:spPr>
          <a:xfrm>
            <a:off x="548640" y="6473952"/>
            <a:ext cx="2858872"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Mark's journey · HomeTest operating model · September 2026</a:t>
            </a:r>
            <a:endParaRPr lang="en-US" sz="800" dirty="0"/>
          </a:p>
        </p:txBody>
      </p:sp>
      <p:sp>
        <p:nvSpPr>
          <p:cNvPr id="14" name="Text 9"/>
          <p:cNvSpPr/>
          <p:nvPr/>
        </p:nvSpPr>
        <p:spPr>
          <a:xfrm>
            <a:off x="3407512" y="6473952"/>
            <a:ext cx="2401672"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MARK'S JOURNEY AT A GLANCE</a:t>
            </a:r>
            <a:endParaRPr lang="en-US" sz="1000" dirty="0"/>
          </a:p>
        </p:txBody>
      </p:sp>
      <p:sp>
        <p:nvSpPr>
          <p:cNvPr id="3" name="Text 1"/>
          <p:cNvSpPr/>
          <p:nvPr/>
        </p:nvSpPr>
        <p:spPr>
          <a:xfrm>
            <a:off x="548640" y="731520"/>
            <a:ext cx="11064240" cy="854710"/>
          </a:xfrm>
          <a:prstGeom prst="rect">
            <a:avLst/>
          </a:prstGeom>
          <a:noFill/>
          <a:ln/>
        </p:spPr>
        <p:txBody>
          <a:bodyPr wrap="square" lIns="0" tIns="0" rIns="0" bIns="0" rtlCol="0" anchor="t">
            <a:normAutofit/>
          </a:bodyPr>
          <a:lstStyle/>
          <a:p>
            <a:pPr indent="0" marL="0">
              <a:buNone/>
            </a:pPr>
            <a:r>
              <a:rPr lang="en-US" sz="2450" b="1" dirty="0">
                <a:solidFill>
                  <a:srgbClr val="003087"/>
                </a:solidFill>
                <a:latin typeface="Segoe UI" pitchFamily="34" charset="0"/>
                <a:ea typeface="Segoe UI" pitchFamily="34" charset="-122"/>
                <a:cs typeface="Segoe UI" pitchFamily="34" charset="-120"/>
              </a:rPr>
              <a:t>His consultant still holds the cohort. The quarterly visit just does not need to be in clinic.</a:t>
            </a:r>
            <a:endParaRPr lang="en-US" sz="2450" dirty="0"/>
          </a:p>
        </p:txBody>
      </p:sp>
      <p:sp>
        <p:nvSpPr>
          <p:cNvPr id="4" name="Shape 2"/>
          <p:cNvSpPr/>
          <p:nvPr/>
        </p:nvSpPr>
        <p:spPr>
          <a:xfrm>
            <a:off x="1335024" y="1906270"/>
            <a:ext cx="640080" cy="640080"/>
          </a:xfrm>
          <a:prstGeom prst="ellipse">
            <a:avLst/>
          </a:prstGeom>
          <a:solidFill>
            <a:srgbClr val="003087"/>
          </a:solidFill>
          <a:ln w="12700">
            <a:solidFill>
              <a:srgbClr val="003087"/>
            </a:solidFill>
            <a:prstDash val="solid"/>
          </a:ln>
        </p:spPr>
      </p:sp>
      <p:sp>
        <p:nvSpPr>
          <p:cNvPr id="5" name="Text 3"/>
          <p:cNvSpPr/>
          <p:nvPr/>
        </p:nvSpPr>
        <p:spPr>
          <a:xfrm>
            <a:off x="1335024" y="190627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6" name="Text 4"/>
          <p:cNvSpPr/>
          <p:nvPr/>
        </p:nvSpPr>
        <p:spPr>
          <a:xfrm>
            <a:off x="2441448" y="199771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7" name="Text 5"/>
          <p:cNvSpPr/>
          <p:nvPr/>
        </p:nvSpPr>
        <p:spPr>
          <a:xfrm>
            <a:off x="548640" y="265607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Stratification</a:t>
            </a:r>
            <a:endParaRPr lang="en-US" sz="1400" dirty="0"/>
          </a:p>
        </p:txBody>
      </p:sp>
      <p:sp>
        <p:nvSpPr>
          <p:cNvPr id="8" name="Text 6"/>
          <p:cNvSpPr/>
          <p:nvPr/>
        </p:nvSpPr>
        <p:spPr>
          <a:xfrm>
            <a:off x="640080" y="3049270"/>
            <a:ext cx="2029968"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cohort eligible for active surveillance</a:t>
            </a:r>
            <a:endParaRPr lang="en-US" sz="1000" dirty="0"/>
          </a:p>
        </p:txBody>
      </p:sp>
      <p:sp>
        <p:nvSpPr>
          <p:cNvPr id="9" name="Shape 7"/>
          <p:cNvSpPr/>
          <p:nvPr/>
        </p:nvSpPr>
        <p:spPr>
          <a:xfrm>
            <a:off x="3547872" y="1906270"/>
            <a:ext cx="640080" cy="640080"/>
          </a:xfrm>
          <a:prstGeom prst="ellipse">
            <a:avLst/>
          </a:prstGeom>
          <a:solidFill>
            <a:srgbClr val="003087"/>
          </a:solidFill>
          <a:ln w="12700">
            <a:solidFill>
              <a:srgbClr val="003087"/>
            </a:solidFill>
            <a:prstDash val="solid"/>
          </a:ln>
        </p:spPr>
      </p:sp>
      <p:sp>
        <p:nvSpPr>
          <p:cNvPr id="10" name="Text 8"/>
          <p:cNvSpPr/>
          <p:nvPr/>
        </p:nvSpPr>
        <p:spPr>
          <a:xfrm>
            <a:off x="3547872" y="190627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1" name="Text 9"/>
          <p:cNvSpPr/>
          <p:nvPr/>
        </p:nvSpPr>
        <p:spPr>
          <a:xfrm>
            <a:off x="4654296" y="199771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2" name="Text 10"/>
          <p:cNvSpPr/>
          <p:nvPr/>
        </p:nvSpPr>
        <p:spPr>
          <a:xfrm>
            <a:off x="2761488" y="265607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Identification</a:t>
            </a:r>
            <a:endParaRPr lang="en-US" sz="1400" dirty="0"/>
          </a:p>
        </p:txBody>
      </p:sp>
      <p:sp>
        <p:nvSpPr>
          <p:cNvPr id="13" name="Text 11"/>
          <p:cNvSpPr/>
          <p:nvPr/>
        </p:nvSpPr>
        <p:spPr>
          <a:xfrm>
            <a:off x="2852928" y="3049270"/>
            <a:ext cx="2029968"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Adam's clinic shortlists him</a:t>
            </a:r>
            <a:endParaRPr lang="en-US" sz="1000" dirty="0"/>
          </a:p>
        </p:txBody>
      </p:sp>
      <p:sp>
        <p:nvSpPr>
          <p:cNvPr id="14" name="Shape 12"/>
          <p:cNvSpPr/>
          <p:nvPr/>
        </p:nvSpPr>
        <p:spPr>
          <a:xfrm>
            <a:off x="5760720" y="1906270"/>
            <a:ext cx="640080" cy="640080"/>
          </a:xfrm>
          <a:prstGeom prst="ellipse">
            <a:avLst/>
          </a:prstGeom>
          <a:solidFill>
            <a:srgbClr val="003087"/>
          </a:solidFill>
          <a:ln w="12700">
            <a:solidFill>
              <a:srgbClr val="003087"/>
            </a:solidFill>
            <a:prstDash val="solid"/>
          </a:ln>
        </p:spPr>
      </p:sp>
      <p:sp>
        <p:nvSpPr>
          <p:cNvPr id="15" name="Text 13"/>
          <p:cNvSpPr/>
          <p:nvPr/>
        </p:nvSpPr>
        <p:spPr>
          <a:xfrm>
            <a:off x="5760720" y="190627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6" name="Text 14"/>
          <p:cNvSpPr/>
          <p:nvPr/>
        </p:nvSpPr>
        <p:spPr>
          <a:xfrm>
            <a:off x="6867144" y="199771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7" name="Text 15"/>
          <p:cNvSpPr/>
          <p:nvPr/>
        </p:nvSpPr>
        <p:spPr>
          <a:xfrm>
            <a:off x="4974336" y="265607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Diagnosis</a:t>
            </a:r>
            <a:endParaRPr lang="en-US" sz="1400" dirty="0"/>
          </a:p>
        </p:txBody>
      </p:sp>
      <p:sp>
        <p:nvSpPr>
          <p:cNvPr id="18" name="Text 16"/>
          <p:cNvSpPr/>
          <p:nvPr/>
        </p:nvSpPr>
        <p:spPr>
          <a:xfrm>
            <a:off x="5065776" y="3049270"/>
            <a:ext cx="2029968" cy="525399"/>
          </a:xfrm>
          <a:prstGeom prst="rect">
            <a:avLst/>
          </a:prstGeom>
          <a:noFill/>
          <a:ln/>
        </p:spPr>
        <p:txBody>
          <a:bodyPr wrap="square" lIns="0" tIns="0" rIns="0" bIns="0" rtlCol="0" anchor="t">
            <a:normAutofit/>
          </a:bodyPr>
          <a:lstStyle/>
          <a:p>
            <a:pPr algn="ctr" indent="0" marL="0">
              <a:buNone/>
            </a:pPr>
            <a:r>
              <a:rPr lang="en-US" sz="950" dirty="0">
                <a:solidFill>
                  <a:srgbClr val="4C6272"/>
                </a:solidFill>
                <a:latin typeface="Segoe UI" pitchFamily="34" charset="0"/>
                <a:ea typeface="Segoe UI" pitchFamily="34" charset="-122"/>
                <a:cs typeface="Segoe UI" pitchFamily="34" charset="-120"/>
              </a:rPr>
              <a:t>kit out, sample back, result to the consultant first</a:t>
            </a:r>
            <a:endParaRPr lang="en-US" sz="950" dirty="0"/>
          </a:p>
        </p:txBody>
      </p:sp>
      <p:sp>
        <p:nvSpPr>
          <p:cNvPr id="19" name="Shape 17"/>
          <p:cNvSpPr/>
          <p:nvPr/>
        </p:nvSpPr>
        <p:spPr>
          <a:xfrm>
            <a:off x="7973568" y="1906270"/>
            <a:ext cx="640080" cy="640080"/>
          </a:xfrm>
          <a:prstGeom prst="ellipse">
            <a:avLst/>
          </a:prstGeom>
          <a:solidFill>
            <a:srgbClr val="003087"/>
          </a:solidFill>
          <a:ln w="12700">
            <a:solidFill>
              <a:srgbClr val="003087"/>
            </a:solidFill>
            <a:prstDash val="solid"/>
          </a:ln>
        </p:spPr>
      </p:sp>
      <p:sp>
        <p:nvSpPr>
          <p:cNvPr id="20" name="Text 18"/>
          <p:cNvSpPr/>
          <p:nvPr/>
        </p:nvSpPr>
        <p:spPr>
          <a:xfrm>
            <a:off x="7973568" y="190627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1" name="Text 19"/>
          <p:cNvSpPr/>
          <p:nvPr/>
        </p:nvSpPr>
        <p:spPr>
          <a:xfrm>
            <a:off x="9079992" y="199771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2" name="Text 20"/>
          <p:cNvSpPr/>
          <p:nvPr/>
        </p:nvSpPr>
        <p:spPr>
          <a:xfrm>
            <a:off x="7187184" y="265607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Treatment</a:t>
            </a:r>
            <a:endParaRPr lang="en-US" sz="1400" dirty="0"/>
          </a:p>
        </p:txBody>
      </p:sp>
      <p:sp>
        <p:nvSpPr>
          <p:cNvPr id="23" name="Text 21"/>
          <p:cNvSpPr/>
          <p:nvPr/>
        </p:nvSpPr>
        <p:spPr>
          <a:xfrm>
            <a:off x="7278624" y="3049270"/>
            <a:ext cx="2029968"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surveillance itself</a:t>
            </a:r>
            <a:endParaRPr lang="en-US" sz="1000" dirty="0"/>
          </a:p>
        </p:txBody>
      </p:sp>
      <p:sp>
        <p:nvSpPr>
          <p:cNvPr id="24" name="Shape 22"/>
          <p:cNvSpPr/>
          <p:nvPr/>
        </p:nvSpPr>
        <p:spPr>
          <a:xfrm>
            <a:off x="10186416" y="1906270"/>
            <a:ext cx="640080" cy="640080"/>
          </a:xfrm>
          <a:prstGeom prst="ellipse">
            <a:avLst/>
          </a:prstGeom>
          <a:solidFill>
            <a:srgbClr val="003087"/>
          </a:solidFill>
          <a:ln w="12700">
            <a:solidFill>
              <a:srgbClr val="003087"/>
            </a:solidFill>
            <a:prstDash val="solid"/>
          </a:ln>
        </p:spPr>
      </p:sp>
      <p:sp>
        <p:nvSpPr>
          <p:cNvPr id="25" name="Text 23"/>
          <p:cNvSpPr/>
          <p:nvPr/>
        </p:nvSpPr>
        <p:spPr>
          <a:xfrm>
            <a:off x="10186416" y="190627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6" name="Text 24"/>
          <p:cNvSpPr/>
          <p:nvPr/>
        </p:nvSpPr>
        <p:spPr>
          <a:xfrm>
            <a:off x="9400032" y="2656078"/>
            <a:ext cx="2212848"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Long-term optimisation</a:t>
            </a:r>
            <a:endParaRPr lang="en-US" sz="1150" dirty="0"/>
          </a:p>
        </p:txBody>
      </p:sp>
      <p:sp>
        <p:nvSpPr>
          <p:cNvPr id="27" name="Text 25"/>
          <p:cNvSpPr/>
          <p:nvPr/>
        </p:nvSpPr>
        <p:spPr>
          <a:xfrm>
            <a:off x="9491472" y="3081528"/>
            <a:ext cx="2029968" cy="368554"/>
          </a:xfrm>
          <a:prstGeom prst="rect">
            <a:avLst/>
          </a:prstGeom>
          <a:noFill/>
          <a:ln/>
        </p:spPr>
        <p:txBody>
          <a:bodyPr wrap="square" lIns="0" tIns="0" rIns="0" bIns="0" rtlCol="0" anchor="t">
            <a:normAutofit/>
          </a:bodyPr>
          <a:lstStyle/>
          <a:p>
            <a:pPr algn="ctr" indent="0" marL="0">
              <a:buNone/>
            </a:pPr>
            <a:r>
              <a:rPr lang="en-US" sz="950" dirty="0">
                <a:solidFill>
                  <a:srgbClr val="4C6272"/>
                </a:solidFill>
                <a:latin typeface="Segoe UI" pitchFamily="34" charset="0"/>
                <a:ea typeface="Segoe UI" pitchFamily="34" charset="-122"/>
                <a:cs typeface="Segoe UI" pitchFamily="34" charset="-120"/>
              </a:rPr>
              <a:t>the surveillance that keeps him in surveillance</a:t>
            </a:r>
            <a:endParaRPr lang="en-US" sz="950" dirty="0"/>
          </a:p>
        </p:txBody>
      </p:sp>
      <p:pic>
        <p:nvPicPr>
          <p:cNvPr id="28" name="Image 0" descr="/sessions/quirky-zen-galileo/mnt/outputs/jd/img/mark-portrait.jpg">    </p:cNvPr>
          <p:cNvPicPr>
            <a:picLocks noChangeAspect="1"/>
          </p:cNvPicPr>
          <p:nvPr/>
        </p:nvPicPr>
        <p:blipFill>
          <a:blip r:embed="rId1"/>
          <a:stretch>
            <a:fillRect/>
          </a:stretch>
        </p:blipFill>
        <p:spPr>
          <a:xfrm>
            <a:off x="548640" y="4009390"/>
            <a:ext cx="1371600" cy="1371600"/>
          </a:xfrm>
          <a:prstGeom prst="ellipse">
            <a:avLst/>
          </a:prstGeom>
        </p:spPr>
      </p:pic>
      <p:sp>
        <p:nvSpPr>
          <p:cNvPr id="29" name="Text 26"/>
          <p:cNvSpPr/>
          <p:nvPr/>
        </p:nvSpPr>
        <p:spPr>
          <a:xfrm>
            <a:off x="274320" y="5426710"/>
            <a:ext cx="1920240" cy="32004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Mark</a:t>
            </a:r>
            <a:endParaRPr lang="en-US" sz="1400" dirty="0"/>
          </a:p>
        </p:txBody>
      </p:sp>
      <p:sp>
        <p:nvSpPr>
          <p:cNvPr id="30" name="Text 27"/>
          <p:cNvSpPr/>
          <p:nvPr/>
        </p:nvSpPr>
        <p:spPr>
          <a:xfrm>
            <a:off x="228600" y="5746750"/>
            <a:ext cx="2011680" cy="452882"/>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Patient on active surveillance · PSA-AS cohort</a:t>
            </a:r>
            <a:endParaRPr lang="en-US" sz="1000" dirty="0"/>
          </a:p>
        </p:txBody>
      </p:sp>
      <p:sp>
        <p:nvSpPr>
          <p:cNvPr id="31" name="Shape 28"/>
          <p:cNvSpPr/>
          <p:nvPr/>
        </p:nvSpPr>
        <p:spPr>
          <a:xfrm>
            <a:off x="2514600" y="3917950"/>
            <a:ext cx="4427068" cy="2327402"/>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32" name="Text 29"/>
          <p:cNvSpPr/>
          <p:nvPr/>
        </p:nvSpPr>
        <p:spPr>
          <a:xfrm>
            <a:off x="2788920" y="4100830"/>
            <a:ext cx="3878428" cy="274320"/>
          </a:xfrm>
          <a:prstGeom prst="rect">
            <a:avLst/>
          </a:prstGeom>
          <a:noFill/>
          <a:ln/>
        </p:spPr>
        <p:txBody>
          <a:bodyPr wrap="square" lIns="0" tIns="0" rIns="0" bIns="0" rtlCol="0" anchor="ctr"/>
          <a:lstStyle/>
          <a:p>
            <a:pPr indent="0" marL="0">
              <a:buNone/>
            </a:pPr>
            <a:r>
              <a:rPr lang="en-US" sz="1000" b="1" spc="260" kern="0" dirty="0">
                <a:solidFill>
                  <a:srgbClr val="8A6D1F"/>
                </a:solidFill>
                <a:latin typeface="Segoe UI" pitchFamily="34" charset="0"/>
                <a:ea typeface="Segoe UI" pitchFamily="34" charset="-122"/>
                <a:cs typeface="Segoe UI" pitchFamily="34" charset="-120"/>
              </a:rPr>
              <a:t>THE PATIENT NORTH STAR</a:t>
            </a:r>
            <a:endParaRPr lang="en-US" sz="1000" dirty="0"/>
          </a:p>
        </p:txBody>
      </p:sp>
      <p:sp>
        <p:nvSpPr>
          <p:cNvPr id="33" name="Text 30"/>
          <p:cNvSpPr/>
          <p:nvPr/>
        </p:nvSpPr>
        <p:spPr>
          <a:xfrm>
            <a:off x="2788920" y="4420870"/>
            <a:ext cx="3878428" cy="64008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His consultant still holds the cohort. The quarterly visit just does not need to be in clinic.</a:t>
            </a:r>
            <a:endParaRPr lang="en-US" sz="1200" dirty="0"/>
          </a:p>
        </p:txBody>
      </p:sp>
      <p:sp>
        <p:nvSpPr>
          <p:cNvPr id="34" name="Text 31"/>
          <p:cNvSpPr/>
          <p:nvPr/>
        </p:nvSpPr>
        <p:spPr>
          <a:xfrm>
            <a:off x="2788920" y="5152390"/>
            <a:ext cx="3878428" cy="839089"/>
          </a:xfrm>
          <a:prstGeom prst="rect">
            <a:avLst/>
          </a:prstGeom>
          <a:noFill/>
          <a:ln/>
        </p:spPr>
        <p:txBody>
          <a:bodyPr wrap="square" lIns="0" tIns="0" rIns="0" bIns="0" rtlCol="0" anchor="t">
            <a:normAutofit/>
          </a:bodyPr>
          <a:lstStyle/>
          <a:p>
            <a:pPr indent="0" marL="0">
              <a:buNone/>
            </a:pPr>
            <a:r>
              <a:rPr lang="en-US" sz="950" dirty="0">
                <a:solidFill>
                  <a:srgbClr val="212B32"/>
                </a:solidFill>
                <a:latin typeface="Segoe UI" pitchFamily="34" charset="0"/>
                <a:ea typeface="Segoe UI" pitchFamily="34" charset="-122"/>
                <a:cs typeface="Segoe UI" pitchFamily="34" charset="-120"/>
              </a:rPr>
              <a:t>Mark trusts Adam. The active-surveillance cohort works because the clinician is reading the trend. </a:t>
            </a:r>
            <a:pPr indent="0" marL="0">
              <a:buNone/>
            </a:pPr>
            <a:r>
              <a:rPr lang="en-US" sz="950" b="1" dirty="0">
                <a:solidFill>
                  <a:srgbClr val="212B32"/>
                </a:solidFill>
                <a:latin typeface="Segoe UI" pitchFamily="34" charset="0"/>
                <a:ea typeface="Segoe UI" pitchFamily="34" charset="-122"/>
                <a:cs typeface="Segoe UI" pitchFamily="34" charset="-120"/>
              </a:rPr>
              <a:t>The home pathway preserves the clinical role and removes the clinic visit that did nothing but draw the blood.</a:t>
            </a:r>
            <a:endParaRPr lang="en-US" sz="950" dirty="0"/>
          </a:p>
        </p:txBody>
      </p:sp>
      <p:sp>
        <p:nvSpPr>
          <p:cNvPr id="35" name="Shape 32"/>
          <p:cNvSpPr/>
          <p:nvPr/>
        </p:nvSpPr>
        <p:spPr>
          <a:xfrm>
            <a:off x="7215988" y="3917950"/>
            <a:ext cx="4427068" cy="232740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36" name="Shape 33"/>
          <p:cNvSpPr/>
          <p:nvPr/>
        </p:nvSpPr>
        <p:spPr>
          <a:xfrm>
            <a:off x="7215988" y="3917950"/>
            <a:ext cx="73152" cy="2327402"/>
          </a:xfrm>
          <a:prstGeom prst="rect">
            <a:avLst/>
          </a:prstGeom>
          <a:solidFill>
            <a:srgbClr val="005EB8"/>
          </a:solidFill>
          <a:ln w="12700">
            <a:solidFill>
              <a:srgbClr val="005EB8"/>
            </a:solidFill>
            <a:prstDash val="solid"/>
          </a:ln>
        </p:spPr>
      </p:sp>
      <p:sp>
        <p:nvSpPr>
          <p:cNvPr id="37" name="Text 34"/>
          <p:cNvSpPr/>
          <p:nvPr/>
        </p:nvSpPr>
        <p:spPr>
          <a:xfrm>
            <a:off x="7490308" y="4100830"/>
            <a:ext cx="3878428"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WHY THIS WORKS FOR HIM</a:t>
            </a:r>
            <a:endParaRPr lang="en-US" sz="1000" dirty="0"/>
          </a:p>
        </p:txBody>
      </p:sp>
      <p:sp>
        <p:nvSpPr>
          <p:cNvPr id="38" name="Text 35"/>
          <p:cNvSpPr/>
          <p:nvPr/>
        </p:nvSpPr>
        <p:spPr>
          <a:xfrm>
            <a:off x="7490308" y="4420870"/>
            <a:ext cx="3878428" cy="44196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Travel saved. Half-days saved. The same surveillance, on time.</a:t>
            </a:r>
            <a:endParaRPr lang="en-US" sz="1200" dirty="0"/>
          </a:p>
        </p:txBody>
      </p:sp>
      <p:sp>
        <p:nvSpPr>
          <p:cNvPr id="39" name="Text 36"/>
          <p:cNvSpPr/>
          <p:nvPr/>
        </p:nvSpPr>
        <p:spPr>
          <a:xfrm>
            <a:off x="7490308" y="4954270"/>
            <a:ext cx="3878428" cy="995934"/>
          </a:xfrm>
          <a:prstGeom prst="rect">
            <a:avLst/>
          </a:prstGeom>
          <a:noFill/>
          <a:ln/>
        </p:spPr>
        <p:txBody>
          <a:bodyPr wrap="square" lIns="0" tIns="0" rIns="0" bIns="0" rtlCol="0" anchor="t">
            <a:normAutofit/>
          </a:bodyPr>
          <a:lstStyle/>
          <a:p>
            <a:pPr indent="0" marL="0">
              <a:buNone/>
            </a:pPr>
            <a:r>
              <a:rPr lang="en-US" sz="950" dirty="0">
                <a:solidFill>
                  <a:srgbClr val="212B32"/>
                </a:solidFill>
                <a:latin typeface="Segoe UI" pitchFamily="34" charset="0"/>
                <a:ea typeface="Segoe UI" pitchFamily="34" charset="-122"/>
                <a:cs typeface="Segoe UI" pitchFamily="34" charset="-120"/>
              </a:rPr>
              <a:t>Mark has worked through it, taken his kids to school, looked after a parent. The hospital is an hour's drive. The clinic visit was always the friction; the blood result was always the point. </a:t>
            </a:r>
            <a:pPr indent="0" marL="0">
              <a:buNone/>
            </a:pPr>
            <a:r>
              <a:rPr lang="en-US" sz="950" b="1" dirty="0">
                <a:solidFill>
                  <a:srgbClr val="212B32"/>
                </a:solidFill>
                <a:latin typeface="Segoe UI" pitchFamily="34" charset="0"/>
                <a:ea typeface="Segoe UI" pitchFamily="34" charset="-122"/>
                <a:cs typeface="Segoe UI" pitchFamily="34" charset="-120"/>
              </a:rPr>
              <a:t>The kit moves the friction; the clinical decision-making stays exactly where it was.</a:t>
            </a:r>
            <a:endParaRPr lang="en-US" sz="950" dirty="0"/>
          </a:p>
        </p:txBody>
      </p:sp>
      <p:sp>
        <p:nvSpPr>
          <p:cNvPr id="40" name="Text 37"/>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Mark's journey · HomeTest operating model · September 2026</a:t>
            </a:r>
            <a:endParaRPr lang="en-US" sz="800" dirty="0"/>
          </a:p>
        </p:txBody>
      </p:sp>
      <p:sp>
        <p:nvSpPr>
          <p:cNvPr id="41" name="Text 38"/>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2" name="Text 39"/>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mark-stage1-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MARK'S JOURNEY · STAGE 1 OF 5</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01</a:t>
            </a:r>
            <a:endParaRPr lang="en-US" sz="5400" dirty="0"/>
          </a:p>
        </p:txBody>
      </p:sp>
      <p:sp>
        <p:nvSpPr>
          <p:cNvPr id="6" name="Text 3"/>
          <p:cNvSpPr/>
          <p:nvPr/>
        </p:nvSpPr>
        <p:spPr>
          <a:xfrm>
            <a:off x="6537960" y="731520"/>
            <a:ext cx="5105095"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Stratification</a:t>
            </a:r>
            <a:endParaRPr lang="en-US" sz="3000" dirty="0"/>
          </a:p>
        </p:txBody>
      </p:sp>
      <p:sp>
        <p:nvSpPr>
          <p:cNvPr id="7" name="Text 4"/>
          <p:cNvSpPr/>
          <p:nvPr/>
        </p:nvSpPr>
        <p:spPr>
          <a:xfrm>
            <a:off x="6537960" y="129082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cohort eligible for active surveillance</a:t>
            </a:r>
            <a:endParaRPr lang="en-US" sz="1150" dirty="0"/>
          </a:p>
        </p:txBody>
      </p:sp>
      <p:sp>
        <p:nvSpPr>
          <p:cNvPr id="8" name="Text 5"/>
          <p:cNvSpPr/>
          <p:nvPr/>
        </p:nvSpPr>
        <p:spPr>
          <a:xfrm>
            <a:off x="5440680" y="1828800"/>
            <a:ext cx="6202375" cy="768096"/>
          </a:xfrm>
          <a:prstGeom prst="rect">
            <a:avLst/>
          </a:prstGeom>
          <a:noFill/>
          <a:ln/>
        </p:spPr>
        <p:txBody>
          <a:bodyPr wrap="square" lIns="0" tIns="0" rIns="0" bIns="0" rtlCol="0" anchor="t">
            <a:normAutofit/>
          </a:bodyPr>
          <a:lstStyle/>
          <a:p>
            <a:pPr indent="0" marL="0">
              <a:buNone/>
            </a:pPr>
            <a:r>
              <a:rPr lang="en-US" sz="1080" dirty="0">
                <a:solidFill>
                  <a:srgbClr val="212B32"/>
                </a:solidFill>
                <a:latin typeface="Segoe UI" pitchFamily="34" charset="0"/>
                <a:ea typeface="Segoe UI" pitchFamily="34" charset="-122"/>
                <a:cs typeface="Segoe UI" pitchFamily="34" charset="-120"/>
              </a:rPr>
              <a:t>More than 64,000 men a year are diagnosed with prostate cancer in the UK. Around 6,500 a year choose active surveillance; up to 5,000 more could. Mark sits in that cohort: low-risk disease, watch-and-wait, quarterly PSA. The surveillance is the treatment.</a:t>
            </a:r>
            <a:endParaRPr lang="en-US" sz="1080" dirty="0"/>
          </a:p>
        </p:txBody>
      </p:sp>
      <p:sp>
        <p:nvSpPr>
          <p:cNvPr id="9" name="Shape 6"/>
          <p:cNvSpPr/>
          <p:nvPr/>
        </p:nvSpPr>
        <p:spPr>
          <a:xfrm>
            <a:off x="5440680" y="2734056"/>
            <a:ext cx="6202375" cy="85191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843784"/>
            <a:ext cx="5745175" cy="632460"/>
          </a:xfrm>
          <a:prstGeom prst="rect">
            <a:avLst/>
          </a:prstGeom>
          <a:noFill/>
          <a:ln/>
        </p:spPr>
        <p:txBody>
          <a:bodyPr wrap="square" lIns="0" tIns="0" rIns="0" bIns="0" rtlCol="0" anchor="ctr">
            <a:normAutofit/>
          </a:bodyPr>
          <a:lstStyle/>
          <a:p>
            <a:pPr indent="0" marL="0">
              <a:buNone/>
            </a:pPr>
            <a:r>
              <a:rPr lang="en-US" sz="1000" i="1" dirty="0">
                <a:solidFill>
                  <a:srgbClr val="212B32"/>
                </a:solidFill>
                <a:latin typeface="Segoe UI" pitchFamily="34" charset="0"/>
                <a:ea typeface="Segoe UI" pitchFamily="34" charset="-122"/>
                <a:cs typeface="Segoe UI" pitchFamily="34" charset="-120"/>
              </a:rPr>
              <a:t>“I am sixty-five and I have prostate cancer. They told me it is the kind that does not need treating, just watching. That is the bit nobody warns you about, what the watching actually costs.”</a:t>
            </a:r>
            <a:pPr indent="0" marL="0">
              <a:buNone/>
            </a:pPr>
            <a:r>
              <a:rPr lang="en-US" sz="1000" b="1" i="1" dirty="0">
                <a:solidFill>
                  <a:srgbClr val="212B32"/>
                </a:solidFill>
                <a:latin typeface="Segoe UI" pitchFamily="34" charset="0"/>
                <a:ea typeface="Segoe UI" pitchFamily="34" charset="-122"/>
                <a:cs typeface="Segoe UI" pitchFamily="34" charset="-120"/>
              </a:rPr>
              <a:t>  Mark</a:t>
            </a:r>
            <a:endParaRPr lang="en-US" sz="1000" dirty="0"/>
          </a:p>
        </p:txBody>
      </p:sp>
      <p:sp>
        <p:nvSpPr>
          <p:cNvPr id="11" name="Shape 8"/>
          <p:cNvSpPr/>
          <p:nvPr/>
        </p:nvSpPr>
        <p:spPr>
          <a:xfrm>
            <a:off x="5440680" y="3723132"/>
            <a:ext cx="2986888" cy="292608"/>
          </a:xfrm>
          <a:prstGeom prst="rect">
            <a:avLst/>
          </a:prstGeom>
          <a:solidFill>
            <a:srgbClr val="003087"/>
          </a:solidFill>
          <a:ln w="12700">
            <a:solidFill>
              <a:srgbClr val="003087"/>
            </a:solidFill>
            <a:prstDash val="solid"/>
          </a:ln>
        </p:spPr>
      </p:sp>
      <p:sp>
        <p:nvSpPr>
          <p:cNvPr id="12" name="Text 9"/>
          <p:cNvSpPr/>
          <p:nvPr/>
        </p:nvSpPr>
        <p:spPr>
          <a:xfrm>
            <a:off x="5550408" y="3723132"/>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4015740"/>
            <a:ext cx="2986888" cy="158953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4107180"/>
            <a:ext cx="2730856" cy="1322832"/>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NICE NG131 sets the framework for active surveillance in low-risk prostate cancer: regular PSA, MRI at intervals, repeat biopsy as triggered by trend. The cohort is well-defined. The challenge is holding the cohort in surveillance without burning the clinic.</a:t>
            </a:r>
            <a:endParaRPr lang="en-US" sz="960" dirty="0"/>
          </a:p>
        </p:txBody>
      </p:sp>
      <p:sp>
        <p:nvSpPr>
          <p:cNvPr id="15" name="Shape 12"/>
          <p:cNvSpPr/>
          <p:nvPr/>
        </p:nvSpPr>
        <p:spPr>
          <a:xfrm>
            <a:off x="8656168" y="3723132"/>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723132"/>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4015740"/>
            <a:ext cx="2986888" cy="158953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4107180"/>
            <a:ext cx="2730856" cy="688848"/>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An expanding AS cohort funnelled through fixed clinic capacity. Patients drop out, present later, get treated harder.</a:t>
            </a:r>
            <a:endParaRPr lang="en-US" sz="960" dirty="0"/>
          </a:p>
        </p:txBody>
      </p:sp>
      <p:sp>
        <p:nvSpPr>
          <p:cNvPr id="19" name="Shape 16"/>
          <p:cNvSpPr/>
          <p:nvPr/>
        </p:nvSpPr>
        <p:spPr>
          <a:xfrm>
            <a:off x="5440680" y="5742432"/>
            <a:ext cx="6202375" cy="457200"/>
          </a:xfrm>
          <a:prstGeom prst="rect">
            <a:avLst/>
          </a:prstGeom>
          <a:solidFill>
            <a:srgbClr val="E8F3EE"/>
          </a:solidFill>
          <a:ln w="12700">
            <a:solidFill>
              <a:srgbClr val="E8F3EE"/>
            </a:solidFill>
            <a:prstDash val="solid"/>
          </a:ln>
        </p:spPr>
      </p:sp>
      <p:sp>
        <p:nvSpPr>
          <p:cNvPr id="20" name="Text 17"/>
          <p:cNvSpPr/>
          <p:nvPr/>
        </p:nvSpPr>
        <p:spPr>
          <a:xfrm>
            <a:off x="5577840" y="5742432"/>
            <a:ext cx="592805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MARK'S CARE TEAM SEES  </a:t>
            </a:r>
            <a:pPr indent="0" marL="0">
              <a:buNone/>
            </a:pPr>
            <a:r>
              <a:rPr lang="en-US" sz="800" dirty="0">
                <a:solidFill>
                  <a:srgbClr val="212B32"/>
                </a:solidFill>
                <a:latin typeface="Segoe UI" pitchFamily="34" charset="0"/>
                <a:ea typeface="Segoe UI" pitchFamily="34" charset="-122"/>
                <a:cs typeface="Segoe UI" pitchFamily="34" charset="-120"/>
              </a:rPr>
              <a:t>Adam, consultant urologist. The MDT. Catherine on the Trust commissioner side. Mark.</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Mark's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mark-stage2-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MARK'S JOURNEY · STAGE 2 OF 5</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02</a:t>
            </a:r>
            <a:endParaRPr lang="en-US" sz="5400" dirty="0"/>
          </a:p>
        </p:txBody>
      </p:sp>
      <p:sp>
        <p:nvSpPr>
          <p:cNvPr id="6" name="Text 3"/>
          <p:cNvSpPr/>
          <p:nvPr/>
        </p:nvSpPr>
        <p:spPr>
          <a:xfrm>
            <a:off x="1645920" y="731520"/>
            <a:ext cx="5123383"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Identification</a:t>
            </a:r>
            <a:endParaRPr lang="en-US" sz="3000" dirty="0"/>
          </a:p>
        </p:txBody>
      </p:sp>
      <p:sp>
        <p:nvSpPr>
          <p:cNvPr id="7" name="Text 4"/>
          <p:cNvSpPr/>
          <p:nvPr/>
        </p:nvSpPr>
        <p:spPr>
          <a:xfrm>
            <a:off x="1645920" y="129082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Adam's clinic shortlists him</a:t>
            </a:r>
            <a:endParaRPr lang="en-US" sz="1150" dirty="0"/>
          </a:p>
        </p:txBody>
      </p:sp>
      <p:sp>
        <p:nvSpPr>
          <p:cNvPr id="8" name="Text 5"/>
          <p:cNvSpPr/>
          <p:nvPr/>
        </p:nvSpPr>
        <p:spPr>
          <a:xfrm>
            <a:off x="548640" y="1828800"/>
            <a:ext cx="6220663" cy="803758"/>
          </a:xfrm>
          <a:prstGeom prst="rect">
            <a:avLst/>
          </a:prstGeom>
          <a:noFill/>
          <a:ln/>
        </p:spPr>
        <p:txBody>
          <a:bodyPr wrap="square" lIns="0" tIns="0" rIns="0" bIns="0" rtlCol="0" anchor="t">
            <a:normAutofit/>
          </a:bodyPr>
          <a:lstStyle/>
          <a:p>
            <a:pPr indent="0" marL="0">
              <a:buNone/>
            </a:pPr>
            <a:r>
              <a:rPr lang="en-US" sz="1134" dirty="0">
                <a:solidFill>
                  <a:srgbClr val="212B32"/>
                </a:solidFill>
                <a:latin typeface="Segoe UI" pitchFamily="34" charset="0"/>
                <a:ea typeface="Segoe UI" pitchFamily="34" charset="-122"/>
                <a:cs typeface="Segoe UI" pitchFamily="34" charset="-120"/>
              </a:rPr>
              <a:t>Adam reviews the cohort. Mark fits the profile for the first wave of home PSA: stable trend, comfortable with the kit idea, no clinical concerns. The shortlist of first patients is small and chosen carefully. Mark gets the conversation at the next clinic.</a:t>
            </a:r>
            <a:endParaRPr lang="en-US" sz="1134" dirty="0"/>
          </a:p>
        </p:txBody>
      </p:sp>
      <p:sp>
        <p:nvSpPr>
          <p:cNvPr id="9" name="Shape 6"/>
          <p:cNvSpPr/>
          <p:nvPr/>
        </p:nvSpPr>
        <p:spPr>
          <a:xfrm>
            <a:off x="548640" y="2769718"/>
            <a:ext cx="6220663" cy="70332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879446"/>
            <a:ext cx="5763463" cy="483870"/>
          </a:xfrm>
          <a:prstGeom prst="rect">
            <a:avLst/>
          </a:prstGeom>
          <a:noFill/>
          <a:ln/>
        </p:spPr>
        <p:txBody>
          <a:bodyPr wrap="square" lIns="0" tIns="0" rIns="0" bIns="0" rtlCol="0" anchor="ctr">
            <a:normAutofit/>
          </a:bodyPr>
          <a:lstStyle/>
          <a:p>
            <a:pPr indent="0" marL="0">
              <a:buNone/>
            </a:pPr>
            <a:r>
              <a:rPr lang="en-US" sz="1050" i="1" dirty="0">
                <a:solidFill>
                  <a:srgbClr val="212B32"/>
                </a:solidFill>
                <a:latin typeface="Segoe UI" pitchFamily="34" charset="0"/>
                <a:ea typeface="Segoe UI" pitchFamily="34" charset="-122"/>
                <a:cs typeface="Segoe UI" pitchFamily="34" charset="-120"/>
              </a:rPr>
              <a:t>“Adam asked me whether I would be comfortable doing the next PSA at home. I said yes before he had finished the sentence.”</a:t>
            </a:r>
            <a:pPr indent="0" marL="0">
              <a:buNone/>
            </a:pPr>
            <a:r>
              <a:rPr lang="en-US" sz="1050" b="1" i="1" dirty="0">
                <a:solidFill>
                  <a:srgbClr val="212B32"/>
                </a:solidFill>
                <a:latin typeface="Segoe UI" pitchFamily="34" charset="0"/>
                <a:ea typeface="Segoe UI" pitchFamily="34" charset="-122"/>
                <a:cs typeface="Segoe UI" pitchFamily="34" charset="-120"/>
              </a:rPr>
              <a:t>  Mark</a:t>
            </a:r>
            <a:endParaRPr lang="en-US" sz="1050" dirty="0"/>
          </a:p>
        </p:txBody>
      </p:sp>
      <p:sp>
        <p:nvSpPr>
          <p:cNvPr id="11" name="Shape 8"/>
          <p:cNvSpPr/>
          <p:nvPr/>
        </p:nvSpPr>
        <p:spPr>
          <a:xfrm>
            <a:off x="548640" y="3610204"/>
            <a:ext cx="2996032" cy="292608"/>
          </a:xfrm>
          <a:prstGeom prst="rect">
            <a:avLst/>
          </a:prstGeom>
          <a:solidFill>
            <a:srgbClr val="003087"/>
          </a:solidFill>
          <a:ln w="12700">
            <a:solidFill>
              <a:srgbClr val="003087"/>
            </a:solidFill>
            <a:prstDash val="solid"/>
          </a:ln>
        </p:spPr>
      </p:sp>
      <p:sp>
        <p:nvSpPr>
          <p:cNvPr id="12" name="Text 9"/>
          <p:cNvSpPr/>
          <p:nvPr/>
        </p:nvSpPr>
        <p:spPr>
          <a:xfrm>
            <a:off x="658368" y="3610204"/>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902812"/>
            <a:ext cx="2996032" cy="170246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994252"/>
            <a:ext cx="2740000" cy="1219810"/>
          </a:xfrm>
          <a:prstGeom prst="rect">
            <a:avLst/>
          </a:prstGeom>
          <a:noFill/>
          <a:ln/>
        </p:spPr>
        <p:txBody>
          <a:bodyPr wrap="square" lIns="0" tIns="0" rIns="0" bIns="0" rtlCol="0" anchor="t">
            <a:normAutofit/>
          </a:bodyPr>
          <a:lstStyle/>
          <a:p>
            <a:pPr indent="0" marL="0">
              <a:buNone/>
            </a:pPr>
            <a:r>
              <a:rPr lang="en-US" sz="1008" dirty="0">
                <a:solidFill>
                  <a:srgbClr val="212B32"/>
                </a:solidFill>
                <a:latin typeface="Segoe UI" pitchFamily="34" charset="0"/>
                <a:ea typeface="Segoe UI" pitchFamily="34" charset="-122"/>
                <a:cs typeface="Segoe UI" pitchFamily="34" charset="-120"/>
              </a:rPr>
              <a:t>The first patients are picked by the consultant, in clinic, with consent and clinical judgement. The cohort is bounded carefully. The conversation is short because the model preserves the clinical role.</a:t>
            </a:r>
            <a:endParaRPr lang="en-US" sz="1008" dirty="0"/>
          </a:p>
        </p:txBody>
      </p:sp>
      <p:sp>
        <p:nvSpPr>
          <p:cNvPr id="15" name="Shape 12"/>
          <p:cNvSpPr/>
          <p:nvPr/>
        </p:nvSpPr>
        <p:spPr>
          <a:xfrm>
            <a:off x="3773272" y="3610204"/>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610204"/>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3902812"/>
            <a:ext cx="2996032" cy="170246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3994252"/>
            <a:ext cx="2740000" cy="886968"/>
          </a:xfrm>
          <a:prstGeom prst="rect">
            <a:avLst/>
          </a:prstGeom>
          <a:noFill/>
          <a:ln/>
        </p:spPr>
        <p:txBody>
          <a:bodyPr wrap="square" lIns="0" tIns="0" rIns="0" bIns="0" rtlCol="0" anchor="t">
            <a:normAutofit/>
          </a:bodyPr>
          <a:lstStyle/>
          <a:p>
            <a:pPr indent="0" marL="0">
              <a:buNone/>
            </a:pPr>
            <a:r>
              <a:rPr lang="en-US" sz="1008" dirty="0">
                <a:solidFill>
                  <a:srgbClr val="212B32"/>
                </a:solidFill>
                <a:latin typeface="Segoe UI" pitchFamily="34" charset="0"/>
                <a:ea typeface="Segoe UI" pitchFamily="34" charset="-122"/>
                <a:cs typeface="Segoe UI" pitchFamily="34" charset="-120"/>
              </a:rPr>
              <a:t>Bring everyone in for everything, because there is no other model on offer. The cohort is held by clinic capacity, not clinical judgement.</a:t>
            </a:r>
            <a:endParaRPr lang="en-US" sz="1008" dirty="0"/>
          </a:p>
        </p:txBody>
      </p:sp>
      <p:sp>
        <p:nvSpPr>
          <p:cNvPr id="19" name="Shape 16"/>
          <p:cNvSpPr/>
          <p:nvPr/>
        </p:nvSpPr>
        <p:spPr>
          <a:xfrm>
            <a:off x="548640" y="5742432"/>
            <a:ext cx="6220663" cy="457200"/>
          </a:xfrm>
          <a:prstGeom prst="rect">
            <a:avLst/>
          </a:prstGeom>
          <a:solidFill>
            <a:srgbClr val="E8F3EE"/>
          </a:solidFill>
          <a:ln w="12700">
            <a:solidFill>
              <a:srgbClr val="E8F3EE"/>
            </a:solidFill>
            <a:prstDash val="solid"/>
          </a:ln>
        </p:spPr>
      </p:sp>
      <p:sp>
        <p:nvSpPr>
          <p:cNvPr id="20" name="Text 17"/>
          <p:cNvSpPr/>
          <p:nvPr/>
        </p:nvSpPr>
        <p:spPr>
          <a:xfrm>
            <a:off x="685800" y="5742432"/>
            <a:ext cx="5946343"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MARK'S CARE TEAM SEES  </a:t>
            </a:r>
            <a:pPr indent="0" marL="0">
              <a:buNone/>
            </a:pPr>
            <a:r>
              <a:rPr lang="en-US" sz="800" dirty="0">
                <a:solidFill>
                  <a:srgbClr val="212B32"/>
                </a:solidFill>
                <a:latin typeface="Segoe UI" pitchFamily="34" charset="0"/>
                <a:ea typeface="Segoe UI" pitchFamily="34" charset="-122"/>
                <a:cs typeface="Segoe UI" pitchFamily="34" charset="-120"/>
              </a:rPr>
              <a:t>Adam. Clinical nurse specialist. Mark.</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Mark's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mark-stage3-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MARK'S JOURNEY · STAGE 3 OF 5</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03</a:t>
            </a:r>
            <a:endParaRPr lang="en-US" sz="5400" dirty="0"/>
          </a:p>
        </p:txBody>
      </p:sp>
      <p:sp>
        <p:nvSpPr>
          <p:cNvPr id="6" name="Text 3"/>
          <p:cNvSpPr/>
          <p:nvPr/>
        </p:nvSpPr>
        <p:spPr>
          <a:xfrm>
            <a:off x="6537960" y="731520"/>
            <a:ext cx="5105095"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Diagnosis</a:t>
            </a:r>
            <a:endParaRPr lang="en-US" sz="3000" dirty="0"/>
          </a:p>
        </p:txBody>
      </p:sp>
      <p:sp>
        <p:nvSpPr>
          <p:cNvPr id="7" name="Text 4"/>
          <p:cNvSpPr/>
          <p:nvPr/>
        </p:nvSpPr>
        <p:spPr>
          <a:xfrm>
            <a:off x="6537960" y="129082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kit out, sample back, result to the consultant first</a:t>
            </a:r>
            <a:endParaRPr lang="en-US" sz="1150" dirty="0"/>
          </a:p>
        </p:txBody>
      </p:sp>
      <p:sp>
        <p:nvSpPr>
          <p:cNvPr id="8" name="Text 5"/>
          <p:cNvSpPr/>
          <p:nvPr/>
        </p:nvSpPr>
        <p:spPr>
          <a:xfrm>
            <a:off x="5440680" y="1828800"/>
            <a:ext cx="6202375" cy="768096"/>
          </a:xfrm>
          <a:prstGeom prst="rect">
            <a:avLst/>
          </a:prstGeom>
          <a:noFill/>
          <a:ln/>
        </p:spPr>
        <p:txBody>
          <a:bodyPr wrap="square" lIns="0" tIns="0" rIns="0" bIns="0" rtlCol="0" anchor="t">
            <a:normAutofit/>
          </a:bodyPr>
          <a:lstStyle/>
          <a:p>
            <a:pPr indent="0" marL="0">
              <a:buNone/>
            </a:pPr>
            <a:r>
              <a:rPr lang="en-US" sz="1080" dirty="0">
                <a:solidFill>
                  <a:srgbClr val="212B32"/>
                </a:solidFill>
                <a:latin typeface="Segoe UI" pitchFamily="34" charset="0"/>
                <a:ea typeface="Segoe UI" pitchFamily="34" charset="-122"/>
                <a:cs typeface="Segoe UI" pitchFamily="34" charset="-120"/>
              </a:rPr>
              <a:t>The kit arrives. Mark takes the sample at home on the day the clinic would have happened. The lab processes it. The result lands in Adam's system before the next clinic, in trend, with the threshold-alert logic wired in. Mark sees the result only after Adam has read it.</a:t>
            </a:r>
            <a:endParaRPr lang="en-US" sz="1080" dirty="0"/>
          </a:p>
        </p:txBody>
      </p:sp>
      <p:sp>
        <p:nvSpPr>
          <p:cNvPr id="9" name="Shape 6"/>
          <p:cNvSpPr/>
          <p:nvPr/>
        </p:nvSpPr>
        <p:spPr>
          <a:xfrm>
            <a:off x="5440680" y="2734056"/>
            <a:ext cx="6202375" cy="85191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843784"/>
            <a:ext cx="5745175" cy="632460"/>
          </a:xfrm>
          <a:prstGeom prst="rect">
            <a:avLst/>
          </a:prstGeom>
          <a:noFill/>
          <a:ln/>
        </p:spPr>
        <p:txBody>
          <a:bodyPr wrap="square" lIns="0" tIns="0" rIns="0" bIns="0" rtlCol="0" anchor="ctr">
            <a:normAutofit/>
          </a:bodyPr>
          <a:lstStyle/>
          <a:p>
            <a:pPr indent="0" marL="0">
              <a:buNone/>
            </a:pPr>
            <a:r>
              <a:rPr lang="en-US" sz="1000" i="1" dirty="0">
                <a:solidFill>
                  <a:srgbClr val="212B32"/>
                </a:solidFill>
                <a:latin typeface="Segoe UI" pitchFamily="34" charset="0"/>
                <a:ea typeface="Segoe UI" pitchFamily="34" charset="-122"/>
                <a:cs typeface="Segoe UI" pitchFamily="34" charset="-120"/>
              </a:rPr>
              <a:t>“The kit came in the post. I did it on the Saturday morning. By the following Tuesday I knew Adam had seen the result. Same answer I would have got at the hospital. None of the driving.”</a:t>
            </a:r>
            <a:pPr indent="0" marL="0">
              <a:buNone/>
            </a:pPr>
            <a:r>
              <a:rPr lang="en-US" sz="1000" b="1" i="1" dirty="0">
                <a:solidFill>
                  <a:srgbClr val="212B32"/>
                </a:solidFill>
                <a:latin typeface="Segoe UI" pitchFamily="34" charset="0"/>
                <a:ea typeface="Segoe UI" pitchFamily="34" charset="-122"/>
                <a:cs typeface="Segoe UI" pitchFamily="34" charset="-120"/>
              </a:rPr>
              <a:t>  Mark</a:t>
            </a:r>
            <a:endParaRPr lang="en-US" sz="1000" dirty="0"/>
          </a:p>
        </p:txBody>
      </p:sp>
      <p:sp>
        <p:nvSpPr>
          <p:cNvPr id="11" name="Shape 8"/>
          <p:cNvSpPr/>
          <p:nvPr/>
        </p:nvSpPr>
        <p:spPr>
          <a:xfrm>
            <a:off x="5440680" y="3723132"/>
            <a:ext cx="2986888" cy="292608"/>
          </a:xfrm>
          <a:prstGeom prst="rect">
            <a:avLst/>
          </a:prstGeom>
          <a:solidFill>
            <a:srgbClr val="003087"/>
          </a:solidFill>
          <a:ln w="12700">
            <a:solidFill>
              <a:srgbClr val="003087"/>
            </a:solidFill>
            <a:prstDash val="solid"/>
          </a:ln>
        </p:spPr>
      </p:sp>
      <p:sp>
        <p:nvSpPr>
          <p:cNvPr id="12" name="Text 9"/>
          <p:cNvSpPr/>
          <p:nvPr/>
        </p:nvSpPr>
        <p:spPr>
          <a:xfrm>
            <a:off x="5550408" y="3723132"/>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4015740"/>
            <a:ext cx="2986888" cy="158953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4107180"/>
            <a:ext cx="2730856" cy="1005840"/>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1.25 billion NHS pathology test requests per year, growing ~5.5% annually. Home capillary PSA is the same biochemical assay run on the same lab platform. The clinical interpretation is preserved.</a:t>
            </a:r>
            <a:endParaRPr lang="en-US" sz="960" dirty="0"/>
          </a:p>
        </p:txBody>
      </p:sp>
      <p:sp>
        <p:nvSpPr>
          <p:cNvPr id="15" name="Shape 12"/>
          <p:cNvSpPr/>
          <p:nvPr/>
        </p:nvSpPr>
        <p:spPr>
          <a:xfrm>
            <a:off x="8656168" y="3723132"/>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723132"/>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4015740"/>
            <a:ext cx="2986888" cy="158953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4107180"/>
            <a:ext cx="2730856" cy="847344"/>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Two trips to the hospital, phlebotomy for the blood, second trip for the result. Or, on a bad cycle, a missed appointment and a quietly delayed surveillance round.</a:t>
            </a:r>
            <a:endParaRPr lang="en-US" sz="960" dirty="0"/>
          </a:p>
        </p:txBody>
      </p:sp>
      <p:sp>
        <p:nvSpPr>
          <p:cNvPr id="19" name="Shape 16"/>
          <p:cNvSpPr/>
          <p:nvPr/>
        </p:nvSpPr>
        <p:spPr>
          <a:xfrm>
            <a:off x="5440680" y="5742432"/>
            <a:ext cx="6202375" cy="457200"/>
          </a:xfrm>
          <a:prstGeom prst="rect">
            <a:avLst/>
          </a:prstGeom>
          <a:solidFill>
            <a:srgbClr val="E8F3EE"/>
          </a:solidFill>
          <a:ln w="12700">
            <a:solidFill>
              <a:srgbClr val="E8F3EE"/>
            </a:solidFill>
            <a:prstDash val="solid"/>
          </a:ln>
        </p:spPr>
      </p:sp>
      <p:sp>
        <p:nvSpPr>
          <p:cNvPr id="20" name="Text 17"/>
          <p:cNvSpPr/>
          <p:nvPr/>
        </p:nvSpPr>
        <p:spPr>
          <a:xfrm>
            <a:off x="5577840" y="5742432"/>
            <a:ext cx="592805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MARK'S CARE TEAM SEES  </a:t>
            </a:r>
            <a:pPr indent="0" marL="0">
              <a:buNone/>
            </a:pPr>
            <a:r>
              <a:rPr lang="en-US" sz="800" dirty="0">
                <a:solidFill>
                  <a:srgbClr val="212B32"/>
                </a:solidFill>
                <a:latin typeface="Segoe UI" pitchFamily="34" charset="0"/>
                <a:ea typeface="Segoe UI" pitchFamily="34" charset="-122"/>
                <a:cs typeface="Segoe UI" pitchFamily="34" charset="-120"/>
              </a:rPr>
              <a:t>The supplier shipping the kit. UKAS-accredited lab. Platform writing the result back to the Trust EPR. Adam reading the trend.</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Mark's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mark-stage4-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MARK'S JOURNEY · STAGE 4 OF 5</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04</a:t>
            </a:r>
            <a:endParaRPr lang="en-US" sz="5400" dirty="0"/>
          </a:p>
        </p:txBody>
      </p:sp>
      <p:sp>
        <p:nvSpPr>
          <p:cNvPr id="6" name="Text 3"/>
          <p:cNvSpPr/>
          <p:nvPr/>
        </p:nvSpPr>
        <p:spPr>
          <a:xfrm>
            <a:off x="1645920" y="731520"/>
            <a:ext cx="5123383"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Treatment</a:t>
            </a:r>
            <a:endParaRPr lang="en-US" sz="3000" dirty="0"/>
          </a:p>
        </p:txBody>
      </p:sp>
      <p:sp>
        <p:nvSpPr>
          <p:cNvPr id="7" name="Text 4"/>
          <p:cNvSpPr/>
          <p:nvPr/>
        </p:nvSpPr>
        <p:spPr>
          <a:xfrm>
            <a:off x="1645920" y="129082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surveillance itself</a:t>
            </a:r>
            <a:endParaRPr lang="en-US" sz="1150" dirty="0"/>
          </a:p>
        </p:txBody>
      </p:sp>
      <p:sp>
        <p:nvSpPr>
          <p:cNvPr id="8" name="Text 5"/>
          <p:cNvSpPr/>
          <p:nvPr/>
        </p:nvSpPr>
        <p:spPr>
          <a:xfrm>
            <a:off x="548640" y="1828800"/>
            <a:ext cx="6220663" cy="946404"/>
          </a:xfrm>
          <a:prstGeom prst="rect">
            <a:avLst/>
          </a:prstGeom>
          <a:noFill/>
          <a:ln/>
        </p:spPr>
        <p:txBody>
          <a:bodyPr wrap="square" lIns="0" tIns="0" rIns="0" bIns="0" rtlCol="0" anchor="t">
            <a:normAutofit/>
          </a:bodyPr>
          <a:lstStyle/>
          <a:p>
            <a:pPr indent="0" marL="0">
              <a:buNone/>
            </a:pPr>
            <a:r>
              <a:rPr lang="en-US" sz="1080" dirty="0">
                <a:solidFill>
                  <a:srgbClr val="212B32"/>
                </a:solidFill>
                <a:latin typeface="Segoe UI" pitchFamily="34" charset="0"/>
                <a:ea typeface="Segoe UI" pitchFamily="34" charset="-122"/>
                <a:cs typeface="Segoe UI" pitchFamily="34" charset="-120"/>
              </a:rPr>
              <a:t>Active surveillance IS the treatment. The clinical work is the trend interpretation. Adam reads Mark's PSA in the context of every prior reading and the imaging cycle. Most cycles, nothing changes. The model has not removed the clinical decision; it has removed the unnecessary clinical visit.</a:t>
            </a:r>
            <a:endParaRPr lang="en-US" sz="1080" dirty="0"/>
          </a:p>
        </p:txBody>
      </p:sp>
      <p:sp>
        <p:nvSpPr>
          <p:cNvPr id="9" name="Shape 6"/>
          <p:cNvSpPr/>
          <p:nvPr/>
        </p:nvSpPr>
        <p:spPr>
          <a:xfrm>
            <a:off x="548640" y="2912364"/>
            <a:ext cx="6220663" cy="85191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3022092"/>
            <a:ext cx="5763463" cy="632460"/>
          </a:xfrm>
          <a:prstGeom prst="rect">
            <a:avLst/>
          </a:prstGeom>
          <a:noFill/>
          <a:ln/>
        </p:spPr>
        <p:txBody>
          <a:bodyPr wrap="square" lIns="0" tIns="0" rIns="0" bIns="0" rtlCol="0" anchor="ctr">
            <a:normAutofit/>
          </a:bodyPr>
          <a:lstStyle/>
          <a:p>
            <a:pPr indent="0" marL="0">
              <a:buNone/>
            </a:pPr>
            <a:r>
              <a:rPr lang="en-US" sz="1000" i="1" dirty="0">
                <a:solidFill>
                  <a:srgbClr val="212B32"/>
                </a:solidFill>
                <a:latin typeface="Segoe UI" pitchFamily="34" charset="0"/>
                <a:ea typeface="Segoe UI" pitchFamily="34" charset="-122"/>
                <a:cs typeface="Segoe UI" pitchFamily="34" charset="-120"/>
              </a:rPr>
              <a:t>“I felt a bit guilty at first that I had not been in to see him. Then I realised the visit was never the bit that mattered. He was always reading the number, not me.”</a:t>
            </a:r>
            <a:pPr indent="0" marL="0">
              <a:buNone/>
            </a:pPr>
            <a:r>
              <a:rPr lang="en-US" sz="1000" b="1" i="1" dirty="0">
                <a:solidFill>
                  <a:srgbClr val="212B32"/>
                </a:solidFill>
                <a:latin typeface="Segoe UI" pitchFamily="34" charset="0"/>
                <a:ea typeface="Segoe UI" pitchFamily="34" charset="-122"/>
                <a:cs typeface="Segoe UI" pitchFamily="34" charset="-120"/>
              </a:rPr>
              <a:t>  Mark</a:t>
            </a:r>
            <a:endParaRPr lang="en-US" sz="1000" dirty="0"/>
          </a:p>
        </p:txBody>
      </p:sp>
      <p:sp>
        <p:nvSpPr>
          <p:cNvPr id="11" name="Shape 8"/>
          <p:cNvSpPr/>
          <p:nvPr/>
        </p:nvSpPr>
        <p:spPr>
          <a:xfrm>
            <a:off x="548640" y="3901440"/>
            <a:ext cx="2996032" cy="292608"/>
          </a:xfrm>
          <a:prstGeom prst="rect">
            <a:avLst/>
          </a:prstGeom>
          <a:solidFill>
            <a:srgbClr val="003087"/>
          </a:solidFill>
          <a:ln w="12700">
            <a:solidFill>
              <a:srgbClr val="003087"/>
            </a:solidFill>
            <a:prstDash val="solid"/>
          </a:ln>
        </p:spPr>
      </p:sp>
      <p:sp>
        <p:nvSpPr>
          <p:cNvPr id="12" name="Text 9"/>
          <p:cNvSpPr/>
          <p:nvPr/>
        </p:nvSpPr>
        <p:spPr>
          <a:xfrm>
            <a:off x="658368" y="3901440"/>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4194048"/>
            <a:ext cx="2996032" cy="141122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4285488"/>
            <a:ext cx="2740000" cy="1005840"/>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The surveillance protocol per NICE NG131 is unchanged. Threshold breaches escalate to MDT review and additional imaging. Stable trends roll through routine review without consuming clinic time.</a:t>
            </a:r>
            <a:endParaRPr lang="en-US" sz="960" dirty="0"/>
          </a:p>
        </p:txBody>
      </p:sp>
      <p:sp>
        <p:nvSpPr>
          <p:cNvPr id="15" name="Shape 12"/>
          <p:cNvSpPr/>
          <p:nvPr/>
        </p:nvSpPr>
        <p:spPr>
          <a:xfrm>
            <a:off x="3773272" y="3901440"/>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901440"/>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4194048"/>
            <a:ext cx="2996032" cy="141122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4285488"/>
            <a:ext cx="2740000" cy="1164336"/>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Every patient in clinic every quarter, regardless of trend. The signal-to-noise of clinic visits was always poor; routine stability was confirmed in person at the cost of the patients who clinically needed clinic.</a:t>
            </a:r>
            <a:endParaRPr lang="en-US" sz="960" dirty="0"/>
          </a:p>
        </p:txBody>
      </p:sp>
      <p:sp>
        <p:nvSpPr>
          <p:cNvPr id="19" name="Shape 16"/>
          <p:cNvSpPr/>
          <p:nvPr/>
        </p:nvSpPr>
        <p:spPr>
          <a:xfrm>
            <a:off x="548640" y="5742432"/>
            <a:ext cx="6220663" cy="457200"/>
          </a:xfrm>
          <a:prstGeom prst="rect">
            <a:avLst/>
          </a:prstGeom>
          <a:solidFill>
            <a:srgbClr val="E8F3EE"/>
          </a:solidFill>
          <a:ln w="12700">
            <a:solidFill>
              <a:srgbClr val="E8F3EE"/>
            </a:solidFill>
            <a:prstDash val="solid"/>
          </a:ln>
        </p:spPr>
      </p:sp>
      <p:sp>
        <p:nvSpPr>
          <p:cNvPr id="20" name="Text 17"/>
          <p:cNvSpPr/>
          <p:nvPr/>
        </p:nvSpPr>
        <p:spPr>
          <a:xfrm>
            <a:off x="685800" y="5742432"/>
            <a:ext cx="5946343"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MARK'S CARE TEAM SEES  </a:t>
            </a:r>
            <a:pPr indent="0" marL="0">
              <a:buNone/>
            </a:pPr>
            <a:r>
              <a:rPr lang="en-US" sz="800" dirty="0">
                <a:solidFill>
                  <a:srgbClr val="212B32"/>
                </a:solidFill>
                <a:latin typeface="Segoe UI" pitchFamily="34" charset="0"/>
                <a:ea typeface="Segoe UI" pitchFamily="34" charset="-122"/>
                <a:cs typeface="Segoe UI" pitchFamily="34" charset="-120"/>
              </a:rPr>
              <a:t>Adam. The MDT. The radiologist on the imaging cycle.</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Mark's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mark-stage5-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MARK'S JOURNEY · STAGE 5 OF 5</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05</a:t>
            </a:r>
            <a:endParaRPr lang="en-US" sz="5400" dirty="0"/>
          </a:p>
        </p:txBody>
      </p:sp>
      <p:sp>
        <p:nvSpPr>
          <p:cNvPr id="6" name="Text 3"/>
          <p:cNvSpPr/>
          <p:nvPr/>
        </p:nvSpPr>
        <p:spPr>
          <a:xfrm>
            <a:off x="6537960" y="731520"/>
            <a:ext cx="5105095" cy="441960"/>
          </a:xfrm>
          <a:prstGeom prst="rect">
            <a:avLst/>
          </a:prstGeom>
          <a:noFill/>
          <a:ln/>
        </p:spPr>
        <p:txBody>
          <a:bodyPr wrap="square" lIns="0" tIns="0" rIns="0" bIns="0" rtlCol="0" anchor="t">
            <a:normAutofit/>
          </a:bodyPr>
          <a:lstStyle/>
          <a:p>
            <a:pPr indent="0" marL="0">
              <a:buNone/>
            </a:pPr>
            <a:r>
              <a:rPr lang="en-US" sz="2400" b="1" dirty="0">
                <a:solidFill>
                  <a:srgbClr val="003087"/>
                </a:solidFill>
                <a:latin typeface="Segoe UI" pitchFamily="34" charset="0"/>
                <a:ea typeface="Segoe UI" pitchFamily="34" charset="-122"/>
                <a:cs typeface="Segoe UI" pitchFamily="34" charset="-120"/>
              </a:rPr>
              <a:t>Long-term optimisation</a:t>
            </a:r>
            <a:endParaRPr lang="en-US" sz="2400" dirty="0"/>
          </a:p>
        </p:txBody>
      </p:sp>
      <p:sp>
        <p:nvSpPr>
          <p:cNvPr id="7" name="Text 4"/>
          <p:cNvSpPr/>
          <p:nvPr/>
        </p:nvSpPr>
        <p:spPr>
          <a:xfrm>
            <a:off x="6537960" y="119176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surveillance that keeps him in surveillance</a:t>
            </a:r>
            <a:endParaRPr lang="en-US" sz="1150" dirty="0"/>
          </a:p>
        </p:txBody>
      </p:sp>
      <p:sp>
        <p:nvSpPr>
          <p:cNvPr id="8" name="Text 5"/>
          <p:cNvSpPr/>
          <p:nvPr/>
        </p:nvSpPr>
        <p:spPr>
          <a:xfrm>
            <a:off x="5440680" y="1828800"/>
            <a:ext cx="6202375" cy="768096"/>
          </a:xfrm>
          <a:prstGeom prst="rect">
            <a:avLst/>
          </a:prstGeom>
          <a:noFill/>
          <a:ln/>
        </p:spPr>
        <p:txBody>
          <a:bodyPr wrap="square" lIns="0" tIns="0" rIns="0" bIns="0" rtlCol="0" anchor="t">
            <a:normAutofit/>
          </a:bodyPr>
          <a:lstStyle/>
          <a:p>
            <a:pPr indent="0" marL="0">
              <a:buNone/>
            </a:pPr>
            <a:r>
              <a:rPr lang="en-US" sz="1080" dirty="0">
                <a:solidFill>
                  <a:srgbClr val="212B32"/>
                </a:solidFill>
                <a:latin typeface="Segoe UI" pitchFamily="34" charset="0"/>
                <a:ea typeface="Segoe UI" pitchFamily="34" charset="-122"/>
                <a:cs typeface="Segoe UI" pitchFamily="34" charset="-120"/>
              </a:rPr>
              <a:t>Mark stays in the cohort. The quarterly PSA happens at home. The annual imaging happens in clinic. The trend stays stable. The cohort grows. Adam holds more patients in surveillance than the clinic-only model could have, and Mark is one of them.</a:t>
            </a:r>
            <a:endParaRPr lang="en-US" sz="1080" dirty="0"/>
          </a:p>
        </p:txBody>
      </p:sp>
      <p:sp>
        <p:nvSpPr>
          <p:cNvPr id="9" name="Shape 6"/>
          <p:cNvSpPr/>
          <p:nvPr/>
        </p:nvSpPr>
        <p:spPr>
          <a:xfrm>
            <a:off x="5440680" y="2734056"/>
            <a:ext cx="6202375" cy="85191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843784"/>
            <a:ext cx="5745175" cy="632460"/>
          </a:xfrm>
          <a:prstGeom prst="rect">
            <a:avLst/>
          </a:prstGeom>
          <a:noFill/>
          <a:ln/>
        </p:spPr>
        <p:txBody>
          <a:bodyPr wrap="square" lIns="0" tIns="0" rIns="0" bIns="0" rtlCol="0" anchor="ctr">
            <a:normAutofit/>
          </a:bodyPr>
          <a:lstStyle/>
          <a:p>
            <a:pPr indent="0" marL="0">
              <a:buNone/>
            </a:pPr>
            <a:r>
              <a:rPr lang="en-US" sz="1000" i="1" dirty="0">
                <a:solidFill>
                  <a:srgbClr val="212B32"/>
                </a:solidFill>
                <a:latin typeface="Segoe UI" pitchFamily="34" charset="0"/>
                <a:ea typeface="Segoe UI" pitchFamily="34" charset="-122"/>
                <a:cs typeface="Segoe UI" pitchFamily="34" charset="-120"/>
              </a:rPr>
              <a:t>“It is just part of life now. The kit comes when it is supposed to, I do it, I get on with my week. The hospital is for when something actually needs me there.”</a:t>
            </a:r>
            <a:pPr indent="0" marL="0">
              <a:buNone/>
            </a:pPr>
            <a:r>
              <a:rPr lang="en-US" sz="1000" b="1" i="1" dirty="0">
                <a:solidFill>
                  <a:srgbClr val="212B32"/>
                </a:solidFill>
                <a:latin typeface="Segoe UI" pitchFamily="34" charset="0"/>
                <a:ea typeface="Segoe UI" pitchFamily="34" charset="-122"/>
                <a:cs typeface="Segoe UI" pitchFamily="34" charset="-120"/>
              </a:rPr>
              <a:t>  Mark</a:t>
            </a:r>
            <a:endParaRPr lang="en-US" sz="1000" dirty="0"/>
          </a:p>
        </p:txBody>
      </p:sp>
      <p:sp>
        <p:nvSpPr>
          <p:cNvPr id="11" name="Shape 8"/>
          <p:cNvSpPr/>
          <p:nvPr/>
        </p:nvSpPr>
        <p:spPr>
          <a:xfrm>
            <a:off x="5440680" y="3723132"/>
            <a:ext cx="2986888" cy="292608"/>
          </a:xfrm>
          <a:prstGeom prst="rect">
            <a:avLst/>
          </a:prstGeom>
          <a:solidFill>
            <a:srgbClr val="003087"/>
          </a:solidFill>
          <a:ln w="12700">
            <a:solidFill>
              <a:srgbClr val="003087"/>
            </a:solidFill>
            <a:prstDash val="solid"/>
          </a:ln>
        </p:spPr>
      </p:sp>
      <p:sp>
        <p:nvSpPr>
          <p:cNvPr id="12" name="Text 9"/>
          <p:cNvSpPr/>
          <p:nvPr/>
        </p:nvSpPr>
        <p:spPr>
          <a:xfrm>
            <a:off x="5550408" y="3723132"/>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4015740"/>
            <a:ext cx="2986888" cy="158953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4107180"/>
            <a:ext cx="2730856" cy="1164336"/>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Active surveillance retention is the metric that matters: holding patients in the protocol so disease progression is caught early. Home PSA flattens the drop-out curve and keeps the cohort visible to the clinical team.</a:t>
            </a:r>
            <a:endParaRPr lang="en-US" sz="960" dirty="0"/>
          </a:p>
        </p:txBody>
      </p:sp>
      <p:sp>
        <p:nvSpPr>
          <p:cNvPr id="15" name="Shape 12"/>
          <p:cNvSpPr/>
          <p:nvPr/>
        </p:nvSpPr>
        <p:spPr>
          <a:xfrm>
            <a:off x="8656168" y="3723132"/>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723132"/>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4015740"/>
            <a:ext cx="2986888" cy="158953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4107180"/>
            <a:ext cx="2730856" cy="1005840"/>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Drop out of surveillance, progress unmonitored, present later with a different staging and a different prognosis. The clinical risk was always in the venue, not the patient.</a:t>
            </a:r>
            <a:endParaRPr lang="en-US" sz="960" dirty="0"/>
          </a:p>
        </p:txBody>
      </p:sp>
      <p:sp>
        <p:nvSpPr>
          <p:cNvPr id="19" name="Shape 16"/>
          <p:cNvSpPr/>
          <p:nvPr/>
        </p:nvSpPr>
        <p:spPr>
          <a:xfrm>
            <a:off x="5440680" y="5742432"/>
            <a:ext cx="6202375" cy="457200"/>
          </a:xfrm>
          <a:prstGeom prst="rect">
            <a:avLst/>
          </a:prstGeom>
          <a:solidFill>
            <a:srgbClr val="E8F3EE"/>
          </a:solidFill>
          <a:ln w="12700">
            <a:solidFill>
              <a:srgbClr val="E8F3EE"/>
            </a:solidFill>
            <a:prstDash val="solid"/>
          </a:ln>
        </p:spPr>
      </p:sp>
      <p:sp>
        <p:nvSpPr>
          <p:cNvPr id="20" name="Text 17"/>
          <p:cNvSpPr/>
          <p:nvPr/>
        </p:nvSpPr>
        <p:spPr>
          <a:xfrm>
            <a:off x="5577840" y="5742432"/>
            <a:ext cx="592805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MARK'S CARE TEAM SEES  </a:t>
            </a:r>
            <a:pPr indent="0" marL="0">
              <a:buNone/>
            </a:pPr>
            <a:r>
              <a:rPr lang="en-US" sz="800" dirty="0">
                <a:solidFill>
                  <a:srgbClr val="212B32"/>
                </a:solidFill>
                <a:latin typeface="Segoe UI" pitchFamily="34" charset="0"/>
                <a:ea typeface="Segoe UI" pitchFamily="34" charset="-122"/>
                <a:cs typeface="Segoe UI" pitchFamily="34" charset="-120"/>
              </a:rPr>
              <a:t>Adam. The MDT. Mark.</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Mark's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MARK'S WIN</a:t>
            </a:r>
            <a:endParaRPr lang="en-US" sz="1000" dirty="0"/>
          </a:p>
        </p:txBody>
      </p:sp>
      <p:sp>
        <p:nvSpPr>
          <p:cNvPr id="3" name="Text 1"/>
          <p:cNvSpPr/>
          <p:nvPr/>
        </p:nvSpPr>
        <p:spPr>
          <a:xfrm>
            <a:off x="548640" y="731520"/>
            <a:ext cx="6933895" cy="1985645"/>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same surveillance, on time, on a Saturday morning. Adam still holding the cohort. The hospital saved for the moment it is actually needed.</a:t>
            </a:r>
            <a:endParaRPr lang="en-US" sz="2350" dirty="0"/>
          </a:p>
        </p:txBody>
      </p:sp>
      <p:sp>
        <p:nvSpPr>
          <p:cNvPr id="4" name="Text 2"/>
          <p:cNvSpPr/>
          <p:nvPr/>
        </p:nvSpPr>
        <p:spPr>
          <a:xfrm>
            <a:off x="548640" y="2945765"/>
            <a:ext cx="6933895" cy="1293114"/>
          </a:xfrm>
          <a:prstGeom prst="rect">
            <a:avLst/>
          </a:prstGeom>
          <a:noFill/>
          <a:ln/>
        </p:spPr>
        <p:txBody>
          <a:bodyPr wrap="square" lIns="0" tIns="0" rIns="0" bIns="0" rtlCol="0" anchor="t">
            <a:normAutofit/>
          </a:bodyPr>
          <a:lstStyle/>
          <a:p>
            <a:pPr indent="0" marL="0">
              <a:buNone/>
            </a:pPr>
            <a:r>
              <a:rPr lang="en-US" sz="1500" dirty="0">
                <a:solidFill>
                  <a:srgbClr val="212B32"/>
                </a:solidFill>
                <a:latin typeface="Segoe UI" pitchFamily="34" charset="0"/>
                <a:ea typeface="Segoe UI" pitchFamily="34" charset="-122"/>
                <a:cs typeface="Segoe UI" pitchFamily="34" charset="-120"/>
              </a:rPr>
              <a:t>Mark does not see procurement or pathways. He sees a kit through the door and a result his consultant has already read. </a:t>
            </a:r>
            <a:pPr indent="0" marL="0">
              <a:buNone/>
            </a:pPr>
            <a:r>
              <a:rPr lang="en-US" sz="1500" b="1" dirty="0">
                <a:solidFill>
                  <a:srgbClr val="212B32"/>
                </a:solidFill>
                <a:latin typeface="Segoe UI" pitchFamily="34" charset="0"/>
                <a:ea typeface="Segoe UI" pitchFamily="34" charset="-122"/>
                <a:cs typeface="Segoe UI" pitchFamily="34" charset="-120"/>
              </a:rPr>
              <a:t>The clinic visit that did not happen is the clinic visit Adam did not have capacity for anyway.</a:t>
            </a:r>
            <a:pPr indent="0" marL="0">
              <a:buNone/>
            </a:pPr>
            <a:r>
              <a:rPr lang="en-US" sz="1500" dirty="0">
                <a:solidFill>
                  <a:srgbClr val="212B32"/>
                </a:solidFill>
                <a:latin typeface="Segoe UI" pitchFamily="34" charset="0"/>
                <a:ea typeface="Segoe UI" pitchFamily="34" charset="-122"/>
                <a:cs typeface="Segoe UI" pitchFamily="34" charset="-120"/>
              </a:rPr>
              <a:t> Mark stays in surveillance. The cohort grows.</a:t>
            </a:r>
            <a:endParaRPr lang="en-US" sz="1500" dirty="0"/>
          </a:p>
        </p:txBody>
      </p:sp>
      <p:pic>
        <p:nvPicPr>
          <p:cNvPr id="5" name="Image 0" descr="/sessions/quirky-zen-galileo/mnt/NHS/07 Sites &amp; Repos/dtx-ecosystem/hearts-and-minds/_generators/assets/crops/mark-stage5-1.780.jpg">    </p:cNvPr>
          <p:cNvPicPr>
            <a:picLocks noChangeAspect="1"/>
          </p:cNvPicPr>
          <p:nvPr/>
        </p:nvPicPr>
        <p:blipFill>
          <a:blip r:embed="rId1"/>
          <a:stretch>
            <a:fillRect/>
          </a:stretch>
        </p:blipFill>
        <p:spPr>
          <a:xfrm>
            <a:off x="548640" y="4513199"/>
            <a:ext cx="3083232" cy="1732153"/>
          </a:xfrm>
          <a:prstGeom prst="rect">
            <a:avLst/>
          </a:prstGeom>
        </p:spPr>
      </p:pic>
      <p:sp>
        <p:nvSpPr>
          <p:cNvPr id="6" name="Shape 3"/>
          <p:cNvSpPr/>
          <p:nvPr/>
        </p:nvSpPr>
        <p:spPr>
          <a:xfrm>
            <a:off x="3906192" y="4513199"/>
            <a:ext cx="3576343" cy="134721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7" name="Text 4"/>
          <p:cNvSpPr/>
          <p:nvPr/>
        </p:nvSpPr>
        <p:spPr>
          <a:xfrm>
            <a:off x="4134792" y="4622927"/>
            <a:ext cx="3119143" cy="1127760"/>
          </a:xfrm>
          <a:prstGeom prst="rect">
            <a:avLst/>
          </a:prstGeom>
          <a:noFill/>
          <a:ln/>
        </p:spPr>
        <p:txBody>
          <a:bodyPr wrap="square" lIns="0" tIns="0" rIns="0" bIns="0" rtlCol="0" anchor="ctr">
            <a:normAutofit/>
          </a:bodyPr>
          <a:lstStyle/>
          <a:p>
            <a:pPr indent="0" marL="0">
              <a:buNone/>
            </a:pPr>
            <a:r>
              <a:rPr lang="en-US" sz="1500" b="1" dirty="0">
                <a:solidFill>
                  <a:srgbClr val="212B32"/>
                </a:solidFill>
                <a:latin typeface="Segoe UI" pitchFamily="34" charset="0"/>
                <a:ea typeface="Segoe UI" pitchFamily="34" charset="-122"/>
                <a:cs typeface="Segoe UI" pitchFamily="34" charset="-120"/>
              </a:rPr>
              <a:t>His consultant still holds the cohort. The quarterly visit just does not need to be in clinic.</a:t>
            </a:r>
            <a:endParaRPr lang="en-US" sz="1500" dirty="0"/>
          </a:p>
        </p:txBody>
      </p:sp>
      <p:sp>
        <p:nvSpPr>
          <p:cNvPr id="8" name="Shape 5"/>
          <p:cNvSpPr/>
          <p:nvPr/>
        </p:nvSpPr>
        <p:spPr>
          <a:xfrm>
            <a:off x="7802575" y="731520"/>
            <a:ext cx="3840480" cy="5513832"/>
          </a:xfrm>
          <a:prstGeom prst="rect">
            <a:avLst/>
          </a:prstGeom>
          <a:solidFill>
            <a:srgbClr val="006747"/>
          </a:solidFill>
          <a:ln w="12700">
            <a:solidFill>
              <a:srgbClr val="006747"/>
            </a:solidFill>
            <a:prstDash val="solid"/>
          </a:ln>
        </p:spPr>
      </p:sp>
      <p:sp>
        <p:nvSpPr>
          <p:cNvPr id="9" name="Text 6"/>
          <p:cNvSpPr/>
          <p:nvPr/>
        </p:nvSpPr>
        <p:spPr>
          <a:xfrm>
            <a:off x="8076895" y="914400"/>
            <a:ext cx="3291840" cy="274320"/>
          </a:xfrm>
          <a:prstGeom prst="rect">
            <a:avLst/>
          </a:prstGeom>
          <a:noFill/>
          <a:ln/>
        </p:spPr>
        <p:txBody>
          <a:bodyPr wrap="square" lIns="0" tIns="0" rIns="0" bIns="0" rtlCol="0" anchor="ctr"/>
          <a:lstStyle/>
          <a:p>
            <a:pPr indent="0" marL="0">
              <a:buNone/>
            </a:pPr>
            <a:r>
              <a:rPr lang="en-US" sz="1000" b="1" spc="260" kern="0" dirty="0">
                <a:solidFill>
                  <a:srgbClr val="CDE8D8"/>
                </a:solidFill>
                <a:latin typeface="Segoe UI" pitchFamily="34" charset="0"/>
                <a:ea typeface="Segoe UI" pitchFamily="34" charset="-122"/>
                <a:cs typeface="Segoe UI" pitchFamily="34" charset="-120"/>
              </a:rPr>
              <a:t>THE MONEY IN THIS STORY</a:t>
            </a:r>
            <a:endParaRPr lang="en-US" sz="1000" dirty="0"/>
          </a:p>
        </p:txBody>
      </p:sp>
      <p:sp>
        <p:nvSpPr>
          <p:cNvPr id="10" name="Text 7"/>
          <p:cNvSpPr/>
          <p:nvPr/>
        </p:nvSpPr>
        <p:spPr>
          <a:xfrm>
            <a:off x="8076895" y="1280160"/>
            <a:ext cx="3291840" cy="3356864"/>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Segoe UI" pitchFamily="34" charset="0"/>
                <a:ea typeface="Segoe UI" pitchFamily="34" charset="-122"/>
                <a:cs typeface="Segoe UI" pitchFamily="34" charset="-120"/>
              </a:rPr>
              <a:t>Nobody invoices Mark for staying at home. Each surveillance test is bought at a cost per activity by the ICB that funds his pathway, paid direct to the supplier that processes it. The hospital loses nothing when he stops travelling in: the money follows the completed test, not the building, and the phlebotomy slot he used four times a year goes to a patient who needs an in-person appointment. His consultant's review is unchanged, and still where the clinical value sits.</a:t>
            </a:r>
            <a:endParaRPr lang="en-US" sz="1250" dirty="0"/>
          </a:p>
        </p:txBody>
      </p:sp>
      <p:pic>
        <p:nvPicPr>
          <p:cNvPr id="11" name="Image 1" descr="/sessions/quirky-zen-galileo/mnt/outputs/jd/img/mark-portrait.jpg">    </p:cNvPr>
          <p:cNvPicPr>
            <a:picLocks noChangeAspect="1"/>
          </p:cNvPicPr>
          <p:nvPr/>
        </p:nvPicPr>
        <p:blipFill>
          <a:blip r:embed="rId2"/>
          <a:stretch>
            <a:fillRect/>
          </a:stretch>
        </p:blipFill>
        <p:spPr>
          <a:xfrm>
            <a:off x="8076895" y="5148072"/>
            <a:ext cx="822960" cy="822960"/>
          </a:xfrm>
          <a:prstGeom prst="ellipse">
            <a:avLst/>
          </a:prstGeom>
        </p:spPr>
      </p:pic>
      <p:sp>
        <p:nvSpPr>
          <p:cNvPr id="12" name="Text 8"/>
          <p:cNvSpPr/>
          <p:nvPr/>
        </p:nvSpPr>
        <p:spPr>
          <a:xfrm>
            <a:off x="9037015" y="5239512"/>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Mark</a:t>
            </a:r>
            <a:endParaRPr lang="en-US" sz="1400" dirty="0"/>
          </a:p>
        </p:txBody>
      </p:sp>
      <p:sp>
        <p:nvSpPr>
          <p:cNvPr id="13" name="Text 9"/>
          <p:cNvSpPr/>
          <p:nvPr/>
        </p:nvSpPr>
        <p:spPr>
          <a:xfrm>
            <a:off x="9037015" y="5559552"/>
            <a:ext cx="2377440" cy="365760"/>
          </a:xfrm>
          <a:prstGeom prst="rect">
            <a:avLst/>
          </a:prstGeom>
          <a:noFill/>
          <a:ln/>
        </p:spPr>
        <p:txBody>
          <a:bodyPr wrap="square" lIns="0" tIns="0" rIns="0" bIns="0" rtlCol="0" anchor="ctr">
            <a:normAutofit/>
          </a:bodyPr>
          <a:lstStyle/>
          <a:p>
            <a:pPr indent="0" marL="0">
              <a:buNone/>
            </a:pPr>
            <a:r>
              <a:rPr lang="en-US" sz="950" dirty="0">
                <a:solidFill>
                  <a:srgbClr val="CDE8D8"/>
                </a:solidFill>
                <a:latin typeface="Segoe UI" pitchFamily="34" charset="0"/>
                <a:ea typeface="Segoe UI" pitchFamily="34" charset="-122"/>
                <a:cs typeface="Segoe UI" pitchFamily="34" charset="-120"/>
              </a:rPr>
              <a:t>Patient on active surveillance · PSA-AS cohort</a:t>
            </a:r>
            <a:endParaRPr lang="en-US" sz="950" dirty="0"/>
          </a:p>
        </p:txBody>
      </p:sp>
      <p:sp>
        <p:nvSpPr>
          <p:cNvPr id="14" name="Text 10"/>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Mark's journey · HomeTest operating model · September 2026</a:t>
            </a:r>
            <a:endParaRPr lang="en-US" sz="800" dirty="0"/>
          </a:p>
        </p:txBody>
      </p:sp>
      <p:sp>
        <p:nvSpPr>
          <p:cNvPr id="15" name="Text 11"/>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6" name="Text 12"/>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Shape 1"/>
          <p:cNvSpPr/>
          <p:nvPr/>
        </p:nvSpPr>
        <p:spPr>
          <a:xfrm>
            <a:off x="5044288" y="1371600"/>
            <a:ext cx="2103120" cy="2103120"/>
          </a:xfrm>
          <a:prstGeom prst="ellipse">
            <a:avLst/>
          </a:prstGeom>
          <a:solidFill>
            <a:srgbClr val="FFFFFF"/>
          </a:solidFill>
          <a:ln w="12700">
            <a:solidFill>
              <a:srgbClr val="FFFFFF"/>
            </a:solidFill>
            <a:prstDash val="solid"/>
          </a:ln>
        </p:spPr>
      </p:sp>
      <p:pic>
        <p:nvPicPr>
          <p:cNvPr id="5" name="Image 1" descr="/sessions/quirky-zen-galileo/mnt/outputs/jd/img/mark-portrait.jpg">    </p:cNvPr>
          <p:cNvPicPr>
            <a:picLocks noChangeAspect="1"/>
          </p:cNvPicPr>
          <p:nvPr/>
        </p:nvPicPr>
        <p:blipFill>
          <a:blip r:embed="rId2"/>
          <a:stretch>
            <a:fillRect/>
          </a:stretch>
        </p:blipFill>
        <p:spPr>
          <a:xfrm>
            <a:off x="5090008" y="1417320"/>
            <a:ext cx="2011680" cy="2011680"/>
          </a:xfrm>
          <a:prstGeom prst="ellipse">
            <a:avLst/>
          </a:prstGeom>
        </p:spPr>
      </p:pic>
      <p:sp>
        <p:nvSpPr>
          <p:cNvPr id="6" name="Text 2"/>
          <p:cNvSpPr/>
          <p:nvPr/>
        </p:nvSpPr>
        <p:spPr>
          <a:xfrm>
            <a:off x="548640" y="3611880"/>
            <a:ext cx="11094415"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Segoe UI" pitchFamily="34" charset="0"/>
                <a:ea typeface="Segoe UI" pitchFamily="34" charset="-122"/>
                <a:cs typeface="Segoe UI" pitchFamily="34" charset="-120"/>
              </a:rPr>
              <a:t>Mark</a:t>
            </a:r>
            <a:endParaRPr lang="en-US" sz="2400" dirty="0"/>
          </a:p>
        </p:txBody>
      </p:sp>
      <p:sp>
        <p:nvSpPr>
          <p:cNvPr id="7" name="Text 3"/>
          <p:cNvSpPr/>
          <p:nvPr/>
        </p:nvSpPr>
        <p:spPr>
          <a:xfrm>
            <a:off x="548640" y="4069080"/>
            <a:ext cx="11094415" cy="320040"/>
          </a:xfrm>
          <a:prstGeom prst="rect">
            <a:avLst/>
          </a:prstGeom>
          <a:noFill/>
          <a:ln/>
        </p:spPr>
        <p:txBody>
          <a:bodyPr wrap="square" lIns="0" tIns="0" rIns="0" bIns="0" rtlCol="0" anchor="ctr"/>
          <a:lstStyle/>
          <a:p>
            <a:pPr algn="ctr" indent="0" marL="0">
              <a:buNone/>
            </a:pPr>
            <a:r>
              <a:rPr lang="en-US" sz="1200" dirty="0">
                <a:solidFill>
                  <a:srgbClr val="CFE0F5"/>
                </a:solidFill>
                <a:latin typeface="Segoe UI" pitchFamily="34" charset="0"/>
                <a:ea typeface="Segoe UI" pitchFamily="34" charset="-122"/>
                <a:cs typeface="Segoe UI" pitchFamily="34" charset="-120"/>
              </a:rPr>
              <a:t>Patient on active surveillance · PSA-AS cohort</a:t>
            </a:r>
            <a:endParaRPr lang="en-US" sz="1200" dirty="0"/>
          </a:p>
        </p:txBody>
      </p:sp>
      <p:sp>
        <p:nvSpPr>
          <p:cNvPr id="8" name="Text 4"/>
          <p:cNvSpPr/>
          <p:nvPr/>
        </p:nvSpPr>
        <p:spPr>
          <a:xfrm>
            <a:off x="1097280" y="4617720"/>
            <a:ext cx="9997135" cy="914400"/>
          </a:xfrm>
          <a:prstGeom prst="rect">
            <a:avLst/>
          </a:prstGeom>
          <a:noFill/>
          <a:ln/>
        </p:spPr>
        <p:txBody>
          <a:bodyPr wrap="square" lIns="0" tIns="0" rIns="0" bIns="0" rtlCol="0" anchor="ctr">
            <a:normAutofit/>
          </a:bodyPr>
          <a:lstStyle/>
          <a:p>
            <a:pPr algn="ctr" indent="0" marL="0">
              <a:buNone/>
            </a:pPr>
            <a:r>
              <a:rPr lang="en-US" sz="2500" b="1" dirty="0">
                <a:solidFill>
                  <a:srgbClr val="FFD66B"/>
                </a:solidFill>
                <a:latin typeface="Segoe UI" pitchFamily="34" charset="0"/>
                <a:ea typeface="Segoe UI" pitchFamily="34" charset="-122"/>
                <a:cs typeface="Segoe UI" pitchFamily="34" charset="-120"/>
              </a:rPr>
              <a:t>His consultant still holds the cohort. The quarterly visit just does not need to be in clinic.</a:t>
            </a:r>
            <a:endParaRPr lang="en-US" sz="2500" dirty="0"/>
          </a:p>
        </p:txBody>
      </p:sp>
      <p:sp>
        <p:nvSpPr>
          <p:cNvPr id="9" name="Text 5"/>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Mark's journey · HomeTest operating model · September 2026</a:t>
            </a:r>
            <a:endParaRPr lang="en-US" sz="800" dirty="0"/>
          </a:p>
        </p:txBody>
      </p:sp>
      <p:sp>
        <p:nvSpPr>
          <p:cNvPr id="10" name="Text 6"/>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1" name="Text 7"/>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Mark's journey</dc:title>
  <dc:subject>PptxGenJS Presentation</dc:subject>
  <dc:creator>HomeTest Commercial</dc:creator>
  <cp:lastModifiedBy>HomeTest Commercial</cp:lastModifiedBy>
  <cp:revision>1</cp:revision>
  <dcterms:created xsi:type="dcterms:W3CDTF">2026-09-05T10:52:59Z</dcterms:created>
  <dcterms:modified xsi:type="dcterms:W3CDTF">2026-09-05T10:52:59Z</dcterms:modified>
</cp:coreProperties>
</file>