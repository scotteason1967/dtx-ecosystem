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 an AS caseload, a monitoring gap, a pathway to commission
Catherine has an AS monitoring cohort of several hundred men across her ICB, held on active surveillance under NICE NG131 clinical pathway guidance. The monitoring cadence is quarterly to six-monthly PSA testing for the first two years, then annual. Her acute Trusts run the reviews through consultant urologists; the phlebotomy step is currently in-clinic and eating outpatient capacity. Her Chief Medical Officer wants the monitoring cadence to hold without pulling more urology capacity into the room. She has the budget envelope, the mandate route into her Trust partners, and no existing framework to lean on.
Quote: The AS cohort is holding steady but the phlebotomy step is eating clinic slots. If I don't solve the sample-collection question, the monitoring cadence slips and the caseload starts falling out of surveillance.
What the model is doing underneath: NICE NG131 CPG 1-2 monitoring guidance, ICB caseload data across the AS register, outpatient tariff cost per follow-up, phlebotomy waiting times across her Trust footprint. Consultant urologist views on which points in the pathway are safe to shift to home-collected sampling. The clinical case sits on capillary PSA testing accredited to UKAS ISO 15189 with an AS-appropriate CV and MU. What's in front of her is a pathway-level commissioning arrangement, integration with each Trust's pathology workflow, and a call-off mechanism that doesn't require every Trust to negotiate separately.
The old way: A bilateral Trust-by-Trust negotiation for each partner in her ICB. Six to nine months per Trust. Clinical safety assurance and IG per Trust variation. Bespoke pathway design per Trust. Twelve to fifteen months from Board paper to first kit at the first Trust, longer to reach caseload coverage across the ICB. By the time the second Trust is live, the first Trust's pathway has drifted. Fragmentation over speed.
What the care team sees: Her ICB Chief Medical Officer. Consultant urologists from her Trust partners running AS clinics. Her ICB IG lead. The clinical safety lead from her acute Trust pathology network. Her ICB commercial team, looking at NHS-mandate routing rather than external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front door · the framework opens
She opens the framework. The HomeTest platform is admitted. The PSA-AS configuration is live under UKAS ISO 15189:2022 accredited capillary PSA testing. Suppliers listed against published call-off terms. Clinical safety case starter template ready. IG templates ready. National pricing visible. No pathway to design from scratch.
Quote: I expected to be writing a Trust-by-Trust spec. I'm looking at a national arrangement I can call off at ICB level. The heavy lifting was done before I logged in.
What the model is doing underneath: The framework page. Admitted suppliers with UKAS-accredited capillary PSA analytical performance. Standard ICB call-off terms. DSA, DPIA, privacy notice and clinical safety case starter templates pre-built. GP-record and Trust EPR integration patterns published. NICE NG131 alignment documented. Consultant urologist workflow overlay for the AS pathway. The route is published; Catherine just has to choose to take it.
The old way: A clean-sheet negotiation with the first Trust to volunteer. Bespoke clinical safety case per Trust. Bespoke IG per Trust. Bespoke MI per Trust. Three months per Trust before the first contract draft. Six Trusts equals eighteen months of stitching.
What the care team sees: The platform's commissioner-engagement contact for the PSA-AS configuration. Her ICB commercial team, sense-checking the NHS-mandate call-off route. Her Trust partners' consultant urology leads, sense-checking how the pathway plugs into their AS clinics.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for the AS cohort · the questions the pathway has to answer
Catherine runs her AS-cohort-specific questions against the framework. Do we have a defensible analytical performance for capillary PSA at the AS clinical decision points? What happens with the small proportion of men whose PSA trend triggers re-biopsy? Who holds the pathway-adjustment decision when the trend moves the wrong way? Does the clinical safety case cover the escalation from AS into active treatment? She runs her list against the framework, expecting friction.
Quote: The AS cohort has clinical trigger points. I need to know that home-collected PSA doesn't soften the trend detection. If the analytical performance is fit for the AS decision points, the pathway works. If it isn't, the pathway is dangerous.
What the model is doing underneath: Her AS-cohort questions against the framework's clinical documentation. UKAS ISO 15189:2022 accredited capillary PSA analytical performance sheet with declared CV and MU at the clinical decision concentrations. NICE NG131 cadence mapped to the platform's ordering rhythm. Consultant-urologist-led escalation pathway documented. Re-biopsy trigger workflow with GP-record write-back. Clinical safety case addendum for the AS-specific pathway. The framework either answers these or it doesn't. Catherine finds out before signing.
The old way: Six rounds of meetings with each supplier to interrogate analytical performance and clinical safety per Trust. Bespoke pathway design per Trust. Pilot phase running into year two. Or, in the worst case, skip the AS-specific interrogation and assume the general framework covers it. The pattern from bespoke deployments: analytical performance not fit for the AS decision points, trend detection softens, escalations missed.
What the care team sees: Her ICB clinical lead for cancer pathways. Consultant urologists from her Trust partners running AS clinics. The platform's clinical safety case lead. Her ICB IG lead reviewing the AS-specific data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NHS mandate · commissioning the pathway
Catherine commissions the AS pathway at ICB level via an NHS mandate route. Not an external procurement. Not a bespoke tender. A pathway-level commissioning arrangement under which each Trust in her ICB partners into a common national platform. Six weeks from brief to first live Trust, not eighteen months. Payment via published call-off terms. The procurement scar she carried in is not the arrangement she signed.
Quote: I've commissioned pathways that took eighteen months of Trust-by-Trust negotiation. The eighteen months I didn't spend stitching is the eighteen months my AS cohort didn't drift.
What the model is doing underneath: The ICB-level call-off itself. Suppliers admitted to the platform under the PSA-AS configuration. Each Trust partner brought into the arrangement via a common commissioning schedule. DSAs executed against the framework's template. Clinical safety case approved by each Trust CSO using the framework's AS-specific starter case as the spine. First batch of kits ordered against the AS caseload at the pilot Trust. GP-record and Trust EPR integration switched on. Every step has a published template. Nothing is being designed in the moment.
The old way: A multi-year bilateral contract with each Trust plus each supplier. Bespoke pricing schedule per Trust. Bespoke clinical safety case per Trust. Bespoke IG per Trust. Each adding months to the deployment timeline. Each reducing the budget left for the actual monitoring.
What the care team sees: Her ICB commercial team handling the mandate route. Each Trust partner's Chief Medical Officer and clinical safety lead. The platform's engagement contact handling the ICB-level call-off. The supplier's clinical operations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operation · kits out, results back
First quarter live at the pilot Trust. Kits going out to AS patients on their monitoring cadence. Capillary PSA results returning into consultant urologist review lists ahead of AS clinic follow-ups. Trend analysis running against each patient's AS baseline. The pathway holds. Second and third Trusts due to activate over the next two quarters against the same call-off.
Quote: Patients don't see commissioning. They see a kit in the post and their consultant urologist opening the AS review with the number already in front of them. The pathway holds.
What the model is doing underneath: The MI dashboard. Kits ordered. Kits delivered. Results returned. AS-review-cycle completion rate. Trend movements and re-biopsy triggers. Outpatient clinic minutes released per patient. Trust-level utilisation of the framework across her ICB. Equity reach across her deprived wards. Reactive support paths for out-of-range PSA results. The numbers are visible in real time. Catherine doesn't need to wait for the annual return.
The old way: Trust-by-Trust MI. Manual reconciliation across her partners to see the ICB-level picture. Manual chasing of AS clinic completion rates. No comparable view across her Trusts until the annual report. The risk: finding out a year late that the pilot Trust's AS drift was masking a system-level issue.
What the care team sees: Trust consultant urologists running AS clinics. The supplier running the kit logistics. The platform running the data layer with GP-record and Trust EPR write-back. Each Trust's clinical governance running local safety oversight. Catherine looking at the ICB-level MI feed weekly.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ICB paper · what the CMO sees
First-year outcomes across the ICB. AS-cohort monitoring cadence hold rate. Re-biopsy trigger detection at the same or better rate than in-clinic phlebotomy. Outpatient clinic minutes released. Trust-by-Trust adoption curve. The ICB paper writes itself. The next year's ask is for the next AS-adjacent pathway, not the next procurement.
Quote: The Chief Medical Officer wanted to know whether the cadence held. The numbers do most of the talking. The pathway-level commissioning behind them is what made the numbers possible.
What the model is doing underneath: AS-monitoring cadence hold rate against the ICB baseline. Re-biopsy trigger detection versus the in-clinic comparator. Outpatient minutes released per AS patient per year. Cost per AS patient per year against the pre-framework baseline. Patient-reported experience. Reactive-pathway performance for out-of-range PSA results. The recommendation for year two: extend to the next AS-adjacent pathway the platform admits. Same framework. Same call-off shape. Same MI feed.
The old way: A ICB paper hedged with per-Trust data still maturing. Three years before an ICB-level pattern could be evaluated. By which time the pilot Trust's executive had rotated, the funding envelope had shifted, and the AS cohort had drifted.
What the care team sees: The ICB Chief Medical Officer. The ICB executive committee. Trust chief execs across her partners. The ICB finance team setting the next year's pathway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hero.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4" name="Image 1" descr="/sessions/quirky-zen-galileo/mnt/NHS/07 Sites &amp; Repos/dtx-ecosystem/hearts-and-minds/_generators/assets/nhs-logo.png">    </p:cNvPr>
          <p:cNvPicPr>
            <a:picLocks noChangeAspect="1"/>
          </p:cNvPicPr>
          <p:nvPr/>
        </p:nvPicPr>
        <p:blipFill>
          <a:blip r:embed="rId2"/>
          <a:stretch>
            <a:fillRect/>
          </a:stretch>
        </p:blipFill>
        <p:spPr>
          <a:xfrm>
            <a:off x="10919683" y="557784"/>
            <a:ext cx="586212" cy="457200"/>
          </a:xfrm>
          <a:prstGeom prst="rect">
            <a:avLst/>
          </a:prstGeom>
        </p:spPr>
      </p:pic>
      <p:sp>
        <p:nvSpPr>
          <p:cNvPr id="5" name="Text 1"/>
          <p:cNvSpPr/>
          <p:nvPr/>
        </p:nvSpPr>
        <p:spPr>
          <a:xfrm>
            <a:off x="685800" y="566928"/>
            <a:ext cx="8778240" cy="274320"/>
          </a:xfrm>
          <a:prstGeom prst="rect">
            <a:avLst/>
          </a:prstGeom>
          <a:noFill/>
          <a:ln/>
        </p:spPr>
        <p:txBody>
          <a:bodyPr wrap="square" lIns="0" tIns="0" rIns="0" bIns="0" rtlCol="0" anchor="ctr"/>
          <a:lstStyle/>
          <a:p>
            <a:pPr indent="0" marL="0">
              <a:buNone/>
            </a:pPr>
            <a:r>
              <a:rPr lang="en-US" sz="1000" b="1" spc="280" kern="0" dirty="0">
                <a:solidFill>
                  <a:srgbClr val="FFD66B"/>
                </a:solidFill>
                <a:latin typeface="Segoe UI" pitchFamily="34" charset="0"/>
                <a:ea typeface="Segoe UI" pitchFamily="34" charset="-122"/>
                <a:cs typeface="Segoe UI" pitchFamily="34" charset="-120"/>
              </a:rPr>
              <a:t>HEARTS AND MINDS  ·  HOMETEST OPERATING MODEL  ·  COMMISSIONER JOURNEY</a:t>
            </a:r>
            <a:endParaRPr lang="en-US" sz="1000" dirty="0"/>
          </a:p>
        </p:txBody>
      </p:sp>
      <p:sp>
        <p:nvSpPr>
          <p:cNvPr id="6" name="Shape 2"/>
          <p:cNvSpPr/>
          <p:nvPr/>
        </p:nvSpPr>
        <p:spPr>
          <a:xfrm>
            <a:off x="685800" y="969264"/>
            <a:ext cx="822960" cy="50292"/>
          </a:xfrm>
          <a:prstGeom prst="rect">
            <a:avLst/>
          </a:prstGeom>
          <a:solidFill>
            <a:srgbClr val="FFD66B"/>
          </a:solidFill>
          <a:ln w="12700">
            <a:solidFill>
              <a:srgbClr val="FFD66B"/>
            </a:solidFill>
            <a:prstDash val="solid"/>
          </a:ln>
        </p:spPr>
      </p:sp>
      <p:sp>
        <p:nvSpPr>
          <p:cNvPr id="7" name="Text 3"/>
          <p:cNvSpPr/>
          <p:nvPr/>
        </p:nvSpPr>
        <p:spPr>
          <a:xfrm>
            <a:off x="685800" y="1133856"/>
            <a:ext cx="7132320" cy="960120"/>
          </a:xfrm>
          <a:prstGeom prst="rect">
            <a:avLst/>
          </a:prstGeom>
          <a:noFill/>
          <a:ln/>
        </p:spPr>
        <p:txBody>
          <a:bodyPr wrap="square" lIns="0" tIns="0" rIns="0" bIns="0" rtlCol="0" anchor="ctr"/>
          <a:lstStyle/>
          <a:p>
            <a:pPr indent="0" marL="0">
              <a:buNone/>
            </a:pPr>
            <a:r>
              <a:rPr lang="en-US" sz="5600" b="1" spc="-120" kern="0" dirty="0">
                <a:solidFill>
                  <a:srgbClr val="FFFFFF"/>
                </a:solidFill>
                <a:latin typeface="Segoe UI" pitchFamily="34" charset="0"/>
                <a:ea typeface="Segoe UI" pitchFamily="34" charset="-122"/>
                <a:cs typeface="Segoe UI" pitchFamily="34" charset="-120"/>
              </a:rPr>
              <a:t>Catherine.</a:t>
            </a:r>
            <a:endParaRPr lang="en-US" sz="5600" dirty="0"/>
          </a:p>
        </p:txBody>
      </p:sp>
      <p:sp>
        <p:nvSpPr>
          <p:cNvPr id="8" name="Text 4"/>
          <p:cNvSpPr/>
          <p:nvPr/>
        </p:nvSpPr>
        <p:spPr>
          <a:xfrm>
            <a:off x="685800" y="2139696"/>
            <a:ext cx="6858000" cy="847344"/>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Segoe UI" pitchFamily="34" charset="0"/>
                <a:ea typeface="Segoe UI" pitchFamily="34" charset="-122"/>
                <a:cs typeface="Segoe UI" pitchFamily="34" charset="-120"/>
              </a:rPr>
              <a:t>Catherine commissions the pathway.</a:t>
            </a:r>
            <a:endParaRPr lang="en-US" sz="2400" dirty="0"/>
          </a:p>
          <a:p>
            <a:pPr indent="0" marL="0">
              <a:buNone/>
            </a:pPr>
            <a:r>
              <a:rPr lang="en-US" sz="2400" dirty="0">
                <a:solidFill>
                  <a:srgbClr val="FFFFFF"/>
                </a:solidFill>
                <a:latin typeface="Segoe UI" pitchFamily="34" charset="0"/>
                <a:ea typeface="Segoe UI" pitchFamily="34" charset="-122"/>
                <a:cs typeface="Segoe UI" pitchFamily="34" charset="-120"/>
              </a:rPr>
              <a:t>Not each patient.</a:t>
            </a:r>
            <a:endParaRPr lang="en-US" sz="2400" dirty="0"/>
          </a:p>
        </p:txBody>
      </p:sp>
      <p:sp>
        <p:nvSpPr>
          <p:cNvPr id="9" name="Text 5"/>
          <p:cNvSpPr/>
          <p:nvPr/>
        </p:nvSpPr>
        <p:spPr>
          <a:xfrm>
            <a:off x="685800" y="3243072"/>
            <a:ext cx="6858000" cy="1792224"/>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Segoe UI" pitchFamily="34" charset="0"/>
                <a:ea typeface="Segoe UI" pitchFamily="34" charset="-122"/>
                <a:cs typeface="Segoe UI" pitchFamily="34" charset="-120"/>
              </a:rPr>
              <a:t>Catherine commissions the PSA active-surveillance pathway across her Integrated Care Board. Consultant urologists across her acute Trusts follow the NICE NG131 monitoring cadence for men on AS; the patient volume runs into hundreds annually across her ICB. Today the pathway sits on outpatient tariff and phlebotomy access, both of which are pinching against post-pandemic clinic capacity. She has the budget envelope, an NHS-mandate route into her Trust partners, and no existing framework to lean on for home-collected sampling at scale. </a:t>
            </a:r>
            <a:pPr indent="0" marL="0">
              <a:buNone/>
            </a:pPr>
            <a:r>
              <a:rPr lang="en-US" sz="1200" b="1" dirty="0">
                <a:solidFill>
                  <a:srgbClr val="DCE7F0"/>
                </a:solidFill>
                <a:latin typeface="Segoe UI" pitchFamily="34" charset="0"/>
                <a:ea typeface="Segoe UI" pitchFamily="34" charset="-122"/>
                <a:cs typeface="Segoe UI" pitchFamily="34" charset="-120"/>
              </a:rPr>
              <a:t>This is the story of one ICB commissioner, one platform, one national arrangement, and an operating model that lets her commission the pathway rather than each patient.</a:t>
            </a:r>
            <a:endParaRPr lang="en-US" sz="1200" dirty="0"/>
          </a:p>
        </p:txBody>
      </p:sp>
      <p:sp>
        <p:nvSpPr>
          <p:cNvPr id="10" name="Text 6"/>
          <p:cNvSpPr/>
          <p:nvPr/>
        </p:nvSpPr>
        <p:spPr>
          <a:xfrm>
            <a:off x="685800" y="5181600"/>
            <a:ext cx="6858000" cy="384048"/>
          </a:xfrm>
          <a:prstGeom prst="rect">
            <a:avLst/>
          </a:prstGeom>
          <a:noFill/>
          <a:ln/>
        </p:spPr>
        <p:txBody>
          <a:bodyPr wrap="square" lIns="0" tIns="0" rIns="0" bIns="0" rtlCol="0" anchor="t"/>
          <a:lstStyle/>
          <a:p>
            <a:pPr indent="0" marL="0">
              <a:buNone/>
            </a:pPr>
            <a:r>
              <a:rPr lang="en-US" sz="1050" i="1" dirty="0">
                <a:solidFill>
                  <a:srgbClr val="9FC2E8"/>
                </a:solidFill>
                <a:latin typeface="Segoe UI" pitchFamily="34" charset="0"/>
                <a:ea typeface="Segoe UI" pitchFamily="34" charset="-122"/>
                <a:cs typeface="Segoe UI" pitchFamily="34" charset="-120"/>
              </a:rPr>
              <a:t>An ICB commissioner's story through the operating model</a:t>
            </a:r>
            <a:endParaRPr lang="en-US" sz="1050" dirty="0"/>
          </a:p>
        </p:txBody>
      </p:sp>
      <p:sp>
        <p:nvSpPr>
          <p:cNvPr id="11" name="Shape 7"/>
          <p:cNvSpPr/>
          <p:nvPr/>
        </p:nvSpPr>
        <p:spPr>
          <a:xfrm>
            <a:off x="8618220" y="1412748"/>
            <a:ext cx="2788920" cy="2788920"/>
          </a:xfrm>
          <a:prstGeom prst="ellipse">
            <a:avLst/>
          </a:prstGeom>
          <a:solidFill>
            <a:srgbClr val="FFD66B"/>
          </a:solidFill>
          <a:ln w="12700">
            <a:solidFill>
              <a:srgbClr val="FFD66B"/>
            </a:solidFill>
            <a:prstDash val="solid"/>
          </a:ln>
        </p:spPr>
      </p:sp>
      <p:pic>
        <p:nvPicPr>
          <p:cNvPr id="12" name="Image 2" descr="/sessions/quirky-zen-galileo/mnt/outputs/jd/img/catherine-portrait.jpg">    </p:cNvPr>
          <p:cNvPicPr>
            <a:picLocks noChangeAspect="1"/>
          </p:cNvPicPr>
          <p:nvPr/>
        </p:nvPicPr>
        <p:blipFill>
          <a:blip r:embed="rId3"/>
          <a:srcRect l="0" r="0" t="0" b="0"/>
          <a:stretch/>
        </p:blipFill>
        <p:spPr>
          <a:xfrm>
            <a:off x="8686800" y="1481328"/>
            <a:ext cx="2651760" cy="2651760"/>
          </a:xfrm>
          <a:prstGeom prst="ellipse">
            <a:avLst/>
          </a:prstGeom>
        </p:spPr>
      </p:pic>
      <p:sp>
        <p:nvSpPr>
          <p:cNvPr id="13" name="Text 8"/>
          <p:cNvSpPr/>
          <p:nvPr/>
        </p:nvSpPr>
        <p:spPr>
          <a:xfrm>
            <a:off x="8183880" y="4352544"/>
            <a:ext cx="3657600"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Catherine</a:t>
            </a:r>
            <a:endParaRPr lang="en-US" sz="1900" dirty="0"/>
          </a:p>
        </p:txBody>
      </p:sp>
      <p:sp>
        <p:nvSpPr>
          <p:cNvPr id="14" name="Text 9"/>
          <p:cNvSpPr/>
          <p:nvPr/>
        </p:nvSpPr>
        <p:spPr>
          <a:xfrm>
            <a:off x="7955280" y="4754880"/>
            <a:ext cx="4114800" cy="658368"/>
          </a:xfrm>
          <a:prstGeom prst="rect">
            <a:avLst/>
          </a:prstGeom>
          <a:noFill/>
          <a:ln/>
        </p:spPr>
        <p:txBody>
          <a:bodyPr wrap="square" lIns="0" tIns="0" rIns="0" bIns="0" rtlCol="0" anchor="t">
            <a:normAutofit/>
          </a:bodyPr>
          <a:lstStyle/>
          <a:p>
            <a:pPr algn="ctr" indent="0" marL="0">
              <a:buNone/>
            </a:pPr>
            <a:r>
              <a:rPr lang="en-US" sz="1050" spc="60" kern="0" dirty="0">
                <a:solidFill>
                  <a:srgbClr val="FFD66B"/>
                </a:solidFill>
                <a:latin typeface="Segoe UI" pitchFamily="34" charset="0"/>
                <a:ea typeface="Segoe UI" pitchFamily="34" charset="-122"/>
                <a:cs typeface="Segoe UI" pitchFamily="34" charset="-120"/>
              </a:rPr>
              <a:t>ICB commissioner · HomeTest PSA active surveillance</a:t>
            </a:r>
            <a:endParaRPr lang="en-US" sz="1050" dirty="0"/>
          </a:p>
        </p:txBody>
      </p:sp>
      <p:sp>
        <p:nvSpPr>
          <p:cNvPr id="15" name="Text 10"/>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9FC2E8"/>
                </a:solidFill>
                <a:latin typeface="Segoe UI" pitchFamily="34" charset="0"/>
                <a:ea typeface="Segoe UI" pitchFamily="34" charset="-122"/>
                <a:cs typeface="Segoe UI" pitchFamily="34" charset="-120"/>
              </a:rPr>
              <a:t>HomeTest Operating Model  ·  Hearts and Minds</a:t>
            </a:r>
            <a:endParaRPr lang="en-US" sz="850" dirty="0"/>
          </a:p>
        </p:txBody>
      </p:sp>
      <p:sp>
        <p:nvSpPr>
          <p:cNvPr id="16" name="Text 11"/>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9FC2E8"/>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COMMISSIONER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Catherine’s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005EB8"/>
          </a:solidFill>
          <a:ln w="12700">
            <a:solidFill>
              <a:srgbClr val="005EB8"/>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brief</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gap on the dashboard</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005EB8"/>
          </a:solidFill>
          <a:ln w="12700">
            <a:solidFill>
              <a:srgbClr val="005EB8"/>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front door</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framework opens</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005EB8"/>
          </a:solidFill>
          <a:ln w="12700">
            <a:solidFill>
              <a:srgbClr val="005EB8"/>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Fit for HER cohort</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questions standard answers don't solve</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005EB8"/>
          </a:solidFill>
          <a:ln w="12700">
            <a:solidFill>
              <a:srgbClr val="005EB8"/>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call-off</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Signing, not procuring</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005EB8"/>
          </a:solidFill>
          <a:ln w="12700">
            <a:solidFill>
              <a:srgbClr val="005EB8"/>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Live operation</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Kits out, results back</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005EB8"/>
          </a:solidFill>
          <a:ln w="12700">
            <a:solidFill>
              <a:srgbClr val="005EB8"/>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board paper</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What the members see</a:t>
            </a:r>
            <a:endParaRPr lang="en-US" sz="900" dirty="0"/>
          </a:p>
        </p:txBody>
      </p:sp>
      <p:sp>
        <p:nvSpPr>
          <p:cNvPr id="44" name="Shape 40"/>
          <p:cNvSpPr/>
          <p:nvPr/>
        </p:nvSpPr>
        <p:spPr>
          <a:xfrm>
            <a:off x="457200" y="2793492"/>
            <a:ext cx="5501488" cy="2844292"/>
          </a:xfrm>
          <a:prstGeom prst="roundRect">
            <a:avLst>
              <a:gd name="adj" fmla="val 3215"/>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NORTH STAR</a:t>
            </a:r>
            <a:endParaRPr lang="en-US" sz="850" dirty="0"/>
          </a:p>
        </p:txBody>
      </p:sp>
      <p:sp>
        <p:nvSpPr>
          <p:cNvPr id="46" name="Text 42"/>
          <p:cNvSpPr/>
          <p:nvPr/>
        </p:nvSpPr>
        <p:spPr>
          <a:xfrm>
            <a:off x="676656" y="3250692"/>
            <a:ext cx="5062576" cy="480060"/>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Commission the pathway, not the patient. So the ICB buys once and the AS caseload holds together across Trusts.</a:t>
            </a:r>
            <a:endParaRPr lang="en-US" sz="1350" dirty="0"/>
          </a:p>
        </p:txBody>
      </p:sp>
      <p:sp>
        <p:nvSpPr>
          <p:cNvPr id="47" name="Text 43"/>
          <p:cNvSpPr/>
          <p:nvPr/>
        </p:nvSpPr>
        <p:spPr>
          <a:xfrm>
            <a:off x="676656" y="3803904"/>
            <a:ext cx="5062576" cy="1651000"/>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ICB commissioners do not want a separate contract per Trust. They want one pathway-level arrangement that every AS patient in their system can flow through, regardless of which Trust is doing their monitoring. The operating model exists so the ICB commissions the AS pathway once at pathway level and each Trust plugs in against a common national arrangement. </a:t>
            </a:r>
            <a:pPr indent="0" marL="0">
              <a:buNone/>
            </a:pPr>
            <a:r>
              <a:rPr lang="en-US" sz="1100" b="1" dirty="0">
                <a:solidFill>
                  <a:srgbClr val="212B32"/>
                </a:solidFill>
                <a:latin typeface="Segoe UI" pitchFamily="34" charset="0"/>
                <a:ea typeface="Segoe UI" pitchFamily="34" charset="-122"/>
                <a:cs typeface="Segoe UI" pitchFamily="34" charset="-120"/>
              </a:rPr>
              <a:t>Pathway-level commissioning is the North Star</a:t>
            </a:r>
            <a:pPr indent="0" marL="0">
              <a:buNone/>
            </a:pPr>
            <a:r>
              <a:rPr lang="en-US" sz="1100" dirty="0">
                <a:solidFill>
                  <a:srgbClr val="212B32"/>
                </a:solidFill>
                <a:latin typeface="Segoe UI" pitchFamily="34" charset="0"/>
                <a:ea typeface="Segoe UI" pitchFamily="34" charset="-122"/>
                <a:cs typeface="Segoe UI" pitchFamily="34" charset="-120"/>
              </a:rPr>
              <a:t>, because effort spent stitching Trust-by-Trust deals is effort not spent on the caseload.</a:t>
            </a:r>
            <a:endParaRPr lang="en-US" sz="1100" dirty="0"/>
          </a:p>
        </p:txBody>
      </p:sp>
      <p:sp>
        <p:nvSpPr>
          <p:cNvPr id="48" name="Shape 44"/>
          <p:cNvSpPr/>
          <p:nvPr/>
        </p:nvSpPr>
        <p:spPr>
          <a:xfrm>
            <a:off x="6233008" y="2793492"/>
            <a:ext cx="5501488" cy="2844292"/>
          </a:xfrm>
          <a:prstGeom prst="roundRect">
            <a:avLst>
              <a:gd name="adj" fmla="val 3215"/>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ONE PLATFORM MATTERS TO HER</a:t>
            </a:r>
            <a:endParaRPr lang="en-US" sz="850" dirty="0"/>
          </a:p>
        </p:txBody>
      </p:sp>
      <p:sp>
        <p:nvSpPr>
          <p:cNvPr id="50" name="Text 46"/>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One national arrangement. One pathway. One platform every AS patient in her ICB can flow through.</a:t>
            </a:r>
            <a:endParaRPr lang="en-US" sz="1500" dirty="0"/>
          </a:p>
        </p:txBody>
      </p:sp>
      <p:sp>
        <p:nvSpPr>
          <p:cNvPr id="51" name="Text 47"/>
          <p:cNvSpPr/>
          <p:nvPr/>
        </p:nvSpPr>
        <p:spPr>
          <a:xfrm>
            <a:off x="6452464" y="3851148"/>
            <a:ext cx="5062576" cy="1603756"/>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A bespoke PSA-AS deal with one Trust would buy one deployment. The next Trust in her ICB (or the next AS-adjacent pathway) would mean another arrangement, another assurance set, another contract, another integration. The national arrangement means Catherine commissions the pathway once, every Trust in her ICB plugs into the same call-off, the same MI feed answers the same questions, and the next AS-adjacent pathway is an extension. </a:t>
            </a:r>
            <a:pPr indent="0" marL="0">
              <a:buNone/>
            </a:pPr>
            <a:r>
              <a:rPr lang="en-US" sz="1100" b="1" dirty="0">
                <a:solidFill>
                  <a:srgbClr val="212B32"/>
                </a:solidFill>
                <a:latin typeface="Segoe UI" pitchFamily="34" charset="0"/>
                <a:ea typeface="Segoe UI" pitchFamily="34" charset="-122"/>
                <a:cs typeface="Segoe UI" pitchFamily="34" charset="-120"/>
              </a:rPr>
              <a:t>The integration was done before she walked in.</a:t>
            </a:r>
            <a:endParaRPr lang="en-US" sz="110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CATHERINE’S JOURNEY  ·  STAGE 1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The brief · an AS caseload, a monitoring gap, a pathway to commission</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01</a:t>
            </a:r>
            <a:endParaRPr lang="en-US" sz="5000" dirty="0"/>
          </a:p>
        </p:txBody>
      </p:sp>
      <p:sp>
        <p:nvSpPr>
          <p:cNvPr id="9" name="Text 5"/>
          <p:cNvSpPr/>
          <p:nvPr/>
        </p:nvSpPr>
        <p:spPr>
          <a:xfrm>
            <a:off x="457200" y="2007108"/>
            <a:ext cx="4892040" cy="118872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Segoe UI" pitchFamily="34" charset="0"/>
                <a:ea typeface="Segoe UI" pitchFamily="34" charset="-122"/>
                <a:cs typeface="Segoe UI" pitchFamily="34" charset="-120"/>
              </a:rPr>
              <a:t>Catherine has an AS monitoring cohort of several hundred men across her ICB, held on active surveillance under NICE NG131 clinical pathway guidance. The monitoring cadence is quarterly to six-monthly PSA testing for the first two years, then annual. Her acute Trusts run the reviews through consultant urologists; the phlebotomy step is currently in-clinic and eating outpatient capacity. Her Chief Medical Officer wants the monitoring cadence to hold without pulling more urology capacity into the room. She has the budget envelope, the mandate route into her Trust partners, and no existing framework to lean on.</a:t>
            </a:r>
            <a:endParaRPr lang="en-US" sz="1050" dirty="0"/>
          </a:p>
        </p:txBody>
      </p:sp>
      <p:sp>
        <p:nvSpPr>
          <p:cNvPr id="10" name="Shape 6"/>
          <p:cNvSpPr/>
          <p:nvPr/>
        </p:nvSpPr>
        <p:spPr>
          <a:xfrm>
            <a:off x="457200" y="3323844"/>
            <a:ext cx="4892040" cy="960882"/>
          </a:xfrm>
          <a:prstGeom prst="rect">
            <a:avLst/>
          </a:prstGeom>
          <a:solidFill>
            <a:srgbClr val="F8FAFC"/>
          </a:solidFill>
          <a:ln w="12700">
            <a:solidFill>
              <a:srgbClr val="F8FAFC"/>
            </a:solidFill>
            <a:prstDash val="solid"/>
          </a:ln>
        </p:spPr>
      </p:sp>
      <p:sp>
        <p:nvSpPr>
          <p:cNvPr id="11" name="Shape 7"/>
          <p:cNvSpPr/>
          <p:nvPr/>
        </p:nvSpPr>
        <p:spPr>
          <a:xfrm>
            <a:off x="457200" y="3323844"/>
            <a:ext cx="82296" cy="960882"/>
          </a:xfrm>
          <a:prstGeom prst="rect">
            <a:avLst/>
          </a:prstGeom>
          <a:solidFill>
            <a:srgbClr val="005EB8"/>
          </a:solidFill>
          <a:ln w="12700">
            <a:solidFill>
              <a:srgbClr val="005EB8"/>
            </a:solidFill>
            <a:prstDash val="solid"/>
          </a:ln>
        </p:spPr>
      </p:sp>
      <p:sp>
        <p:nvSpPr>
          <p:cNvPr id="12" name="Text 8"/>
          <p:cNvSpPr/>
          <p:nvPr/>
        </p:nvSpPr>
        <p:spPr>
          <a:xfrm>
            <a:off x="694944" y="3387852"/>
            <a:ext cx="4507992" cy="576834"/>
          </a:xfrm>
          <a:prstGeom prst="rect">
            <a:avLst/>
          </a:prstGeom>
          <a:noFill/>
          <a:ln/>
        </p:spPr>
        <p:txBody>
          <a:bodyPr wrap="square" lIns="0" tIns="0" rIns="0" bIns="0" rtlCol="0" anchor="t">
            <a:normAutofit/>
          </a:bodyPr>
          <a:lstStyle/>
          <a:p>
            <a:pPr indent="0" marL="0">
              <a:buNone/>
            </a:pPr>
            <a:r>
              <a:rPr lang="en-US" sz="950" i="1" dirty="0">
                <a:solidFill>
                  <a:srgbClr val="212B32"/>
                </a:solidFill>
                <a:latin typeface="Segoe UI" pitchFamily="34" charset="0"/>
                <a:ea typeface="Segoe UI" pitchFamily="34" charset="-122"/>
                <a:cs typeface="Segoe UI" pitchFamily="34" charset="-120"/>
              </a:rPr>
              <a:t>“The AS cohort is holding steady but the phlebotomy step is eating clinic slots. If I don't solve the sample-collection question, the monitoring cadence slips and the caseload starts falling out of surveillance.”</a:t>
            </a:r>
            <a:endParaRPr lang="en-US" sz="950" dirty="0"/>
          </a:p>
        </p:txBody>
      </p:sp>
      <p:sp>
        <p:nvSpPr>
          <p:cNvPr id="13" name="Text 9"/>
          <p:cNvSpPr/>
          <p:nvPr/>
        </p:nvSpPr>
        <p:spPr>
          <a:xfrm>
            <a:off x="694944" y="3964686"/>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Catherine</a:t>
            </a:r>
            <a:endParaRPr lang="en-US" sz="950" dirty="0"/>
          </a:p>
        </p:txBody>
      </p:sp>
      <p:pic>
        <p:nvPicPr>
          <p:cNvPr id="14" name="Image 2" descr="/sessions/quirky-zen-galileo/mnt/outputs/jd/img/catherine-stage1.jpg">    </p:cNvPr>
          <p:cNvPicPr>
            <a:picLocks noChangeAspect="1"/>
          </p:cNvPicPr>
          <p:nvPr/>
        </p:nvPicPr>
        <p:blipFill>
          <a:blip r:embed="rId3"/>
          <a:srcRect l="0" r="0" t="0" b="0"/>
          <a:stretch/>
        </p:blipFill>
        <p:spPr>
          <a:xfrm>
            <a:off x="457200" y="4467606"/>
            <a:ext cx="4892040" cy="1823466"/>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586992"/>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53212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NICE NG131 CPG 1-2 monitoring guidance, ICB caseload data across the AS register, outpatient tariff cost per follow-up, phlebotomy waiting times across her Trust footprint. Consultant urologist views on which points in the pathway are safe to shift to home-collected sampling. The clinical case sits on capillary PSA testing accredited to UKAS ISO 15189 with an AS-appropriate CV and MU. </a:t>
            </a:r>
            <a:pPr indent="0" marL="0">
              <a:buNone/>
            </a:pPr>
            <a:r>
              <a:rPr lang="en-US" sz="1100" b="1" dirty="0">
                <a:solidFill>
                  <a:srgbClr val="212B32"/>
                </a:solidFill>
                <a:latin typeface="Segoe UI" pitchFamily="34" charset="0"/>
                <a:ea typeface="Segoe UI" pitchFamily="34" charset="-122"/>
                <a:cs typeface="Segoe UI" pitchFamily="34" charset="-120"/>
              </a:rPr>
              <a:t>What's in front of her is a pathway-level commissioning arrangement, integration with each Trust's pathology workflow, and a call-off mechanism that doesn't require every Trust to negotiate separately.</a:t>
            </a:r>
            <a:endParaRPr lang="en-US" sz="1100" dirty="0"/>
          </a:p>
        </p:txBody>
      </p:sp>
      <p:sp>
        <p:nvSpPr>
          <p:cNvPr id="19" name="Shape 14"/>
          <p:cNvSpPr/>
          <p:nvPr/>
        </p:nvSpPr>
        <p:spPr>
          <a:xfrm>
            <a:off x="5669280" y="3173476"/>
            <a:ext cx="6065215" cy="274320"/>
          </a:xfrm>
          <a:prstGeom prst="rect">
            <a:avLst/>
          </a:prstGeom>
          <a:solidFill>
            <a:srgbClr val="4C6272"/>
          </a:solidFill>
          <a:ln w="12700">
            <a:solidFill>
              <a:srgbClr val="4C6272"/>
            </a:solidFill>
            <a:prstDash val="solid"/>
          </a:ln>
        </p:spPr>
      </p:sp>
      <p:sp>
        <p:nvSpPr>
          <p:cNvPr id="20" name="Text 15"/>
          <p:cNvSpPr/>
          <p:nvPr/>
        </p:nvSpPr>
        <p:spPr>
          <a:xfrm>
            <a:off x="5788152" y="317347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447796"/>
            <a:ext cx="6065215" cy="1067308"/>
          </a:xfrm>
          <a:prstGeom prst="rect">
            <a:avLst/>
          </a:prstGeom>
          <a:solidFill>
            <a:srgbClr val="F8FAFC"/>
          </a:solidFill>
          <a:ln w="12700">
            <a:solidFill>
              <a:srgbClr val="F8FAFC"/>
            </a:solidFill>
            <a:prstDash val="solid"/>
          </a:ln>
        </p:spPr>
      </p:sp>
      <p:sp>
        <p:nvSpPr>
          <p:cNvPr id="22" name="Text 17"/>
          <p:cNvSpPr/>
          <p:nvPr/>
        </p:nvSpPr>
        <p:spPr>
          <a:xfrm>
            <a:off x="5788152" y="3484372"/>
            <a:ext cx="5827471" cy="1012444"/>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 bilateral Trust-by-Trust negotiation for each partner in her ICB. Six to nine months per Trust. Clinical safety assurance and IG per Trust variation. Bespoke pathway design per Trust. Twelve to fifteen months from Board paper to first kit at the first Trust, longer to reach caseload coverage across the ICB. By the time the second Trust is live, the first Trust's pathway has drifted. Fragmentation over speed.</a:t>
            </a:r>
            <a:endParaRPr lang="en-US" sz="1100" dirty="0"/>
          </a:p>
        </p:txBody>
      </p:sp>
      <p:sp>
        <p:nvSpPr>
          <p:cNvPr id="23" name="Shape 18"/>
          <p:cNvSpPr/>
          <p:nvPr/>
        </p:nvSpPr>
        <p:spPr>
          <a:xfrm>
            <a:off x="5669280" y="4643120"/>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6431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917440"/>
            <a:ext cx="6065215" cy="894080"/>
          </a:xfrm>
          <a:prstGeom prst="rect">
            <a:avLst/>
          </a:prstGeom>
          <a:solidFill>
            <a:srgbClr val="E8F3EE"/>
          </a:solidFill>
          <a:ln w="12700">
            <a:solidFill>
              <a:srgbClr val="E8F3EE"/>
            </a:solidFill>
            <a:prstDash val="solid"/>
          </a:ln>
        </p:spPr>
      </p:sp>
      <p:sp>
        <p:nvSpPr>
          <p:cNvPr id="26" name="Text 21"/>
          <p:cNvSpPr/>
          <p:nvPr/>
        </p:nvSpPr>
        <p:spPr>
          <a:xfrm>
            <a:off x="5788152" y="4954016"/>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Her ICB Chief Medical Officer. Consultant urologists from her Trust partners running AS clinics. Her ICB IG lead. The clinical safety lead from her acute Trust pathology network. Her ICB commercial team, looking at NHS-mandate routing rather than external procurement.</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CATHERINE’S JOURNEY  ·  STAGE 2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One front door · the framework opens</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02</a:t>
            </a:r>
            <a:endParaRPr lang="en-US" sz="5000" dirty="0"/>
          </a:p>
        </p:txBody>
      </p:sp>
      <p:sp>
        <p:nvSpPr>
          <p:cNvPr id="9" name="Text 5"/>
          <p:cNvSpPr/>
          <p:nvPr/>
        </p:nvSpPr>
        <p:spPr>
          <a:xfrm>
            <a:off x="457200" y="2007108"/>
            <a:ext cx="4892040" cy="1178052"/>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She opens the framework. The HomeTest platform is admitted. The PSA-AS configuration is live under UKAS ISO 15189:2022 accredited capillary PSA testing. Suppliers listed against published call-off terms. Clinical safety case starter template ready. IG templates ready. National pricing visible. No pathway to design from scratch.</a:t>
            </a:r>
            <a:endParaRPr lang="en-US" sz="1150" dirty="0"/>
          </a:p>
        </p:txBody>
      </p:sp>
      <p:sp>
        <p:nvSpPr>
          <p:cNvPr id="10" name="Shape 6"/>
          <p:cNvSpPr/>
          <p:nvPr/>
        </p:nvSpPr>
        <p:spPr>
          <a:xfrm>
            <a:off x="457200" y="3313176"/>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313176"/>
            <a:ext cx="82296" cy="1051560"/>
          </a:xfrm>
          <a:prstGeom prst="rect">
            <a:avLst/>
          </a:prstGeom>
          <a:solidFill>
            <a:srgbClr val="005EB8"/>
          </a:solidFill>
          <a:ln w="12700">
            <a:solidFill>
              <a:srgbClr val="005EB8"/>
            </a:solidFill>
            <a:prstDash val="solid"/>
          </a:ln>
        </p:spPr>
      </p:sp>
      <p:sp>
        <p:nvSpPr>
          <p:cNvPr id="12" name="Text 8"/>
          <p:cNvSpPr/>
          <p:nvPr/>
        </p:nvSpPr>
        <p:spPr>
          <a:xfrm>
            <a:off x="694944" y="3377184"/>
            <a:ext cx="4507992" cy="667512"/>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“I expected to be writing a Trust-by-Trust spec. I'm looking at a national arrangement I can call off at ICB level. The heavy lifting was done before I logged in.”</a:t>
            </a:r>
            <a:endParaRPr lang="en-US" sz="1150" dirty="0"/>
          </a:p>
        </p:txBody>
      </p:sp>
      <p:sp>
        <p:nvSpPr>
          <p:cNvPr id="13" name="Text 9"/>
          <p:cNvSpPr/>
          <p:nvPr/>
        </p:nvSpPr>
        <p:spPr>
          <a:xfrm>
            <a:off x="694944" y="4044696"/>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Catherine</a:t>
            </a:r>
            <a:endParaRPr lang="en-US" sz="950" dirty="0"/>
          </a:p>
        </p:txBody>
      </p:sp>
      <p:pic>
        <p:nvPicPr>
          <p:cNvPr id="14" name="Image 2" descr="/sessions/quirky-zen-galileo/mnt/outputs/jd/img/catherine-stage2.jpg">    </p:cNvPr>
          <p:cNvPicPr>
            <a:picLocks noChangeAspect="1"/>
          </p:cNvPicPr>
          <p:nvPr/>
        </p:nvPicPr>
        <p:blipFill>
          <a:blip r:embed="rId3"/>
          <a:srcRect l="0" r="0" t="0" b="0"/>
          <a:stretch/>
        </p:blipFill>
        <p:spPr>
          <a:xfrm>
            <a:off x="457200" y="4547616"/>
            <a:ext cx="4892040" cy="1743456"/>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240536"/>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18567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framework page. Admitted suppliers with UKAS-accredited capillary PSA analytical performance. Standard ICB call-off terms. DSA, DPIA, privacy notice and clinical safety case starter templates pre-built. GP-record and Trust EPR integration patterns published. NICE NG131 alignment documented. Consultant urologist workflow overlay for the AS pathway. </a:t>
            </a:r>
            <a:pPr indent="0" marL="0">
              <a:buNone/>
            </a:pPr>
            <a:r>
              <a:rPr lang="en-US" sz="1100" b="1" dirty="0">
                <a:solidFill>
                  <a:srgbClr val="212B32"/>
                </a:solidFill>
                <a:latin typeface="Segoe UI" pitchFamily="34" charset="0"/>
                <a:ea typeface="Segoe UI" pitchFamily="34" charset="-122"/>
                <a:cs typeface="Segoe UI" pitchFamily="34" charset="-120"/>
              </a:rPr>
              <a:t>The route is published; Catherine just has to choose to take it.</a:t>
            </a:r>
            <a:endParaRPr lang="en-US" sz="1100" dirty="0"/>
          </a:p>
        </p:txBody>
      </p:sp>
      <p:sp>
        <p:nvSpPr>
          <p:cNvPr id="19" name="Shape 14"/>
          <p:cNvSpPr/>
          <p:nvPr/>
        </p:nvSpPr>
        <p:spPr>
          <a:xfrm>
            <a:off x="5669280" y="2827020"/>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8270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101340"/>
            <a:ext cx="6065215" cy="720852"/>
          </a:xfrm>
          <a:prstGeom prst="rect">
            <a:avLst/>
          </a:prstGeom>
          <a:solidFill>
            <a:srgbClr val="F8FAFC"/>
          </a:solidFill>
          <a:ln w="12700">
            <a:solidFill>
              <a:srgbClr val="F8FAFC"/>
            </a:solidFill>
            <a:prstDash val="solid"/>
          </a:ln>
        </p:spPr>
      </p:sp>
      <p:sp>
        <p:nvSpPr>
          <p:cNvPr id="22" name="Text 17"/>
          <p:cNvSpPr/>
          <p:nvPr/>
        </p:nvSpPr>
        <p:spPr>
          <a:xfrm>
            <a:off x="5788152" y="3137916"/>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 clean-sheet negotiation with the first Trust to volunteer. Bespoke clinical safety case per Trust. Bespoke IG per Trust. Bespoke MI per Trust. Three months per Trust before the first contract draft. Six Trusts equals eighteen months of stitching.</a:t>
            </a:r>
            <a:endParaRPr lang="en-US" sz="1100" dirty="0"/>
          </a:p>
        </p:txBody>
      </p:sp>
      <p:sp>
        <p:nvSpPr>
          <p:cNvPr id="23" name="Shape 18"/>
          <p:cNvSpPr/>
          <p:nvPr/>
        </p:nvSpPr>
        <p:spPr>
          <a:xfrm>
            <a:off x="5669280" y="3950208"/>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95020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224528"/>
            <a:ext cx="6065215" cy="894080"/>
          </a:xfrm>
          <a:prstGeom prst="rect">
            <a:avLst/>
          </a:prstGeom>
          <a:solidFill>
            <a:srgbClr val="E8F3EE"/>
          </a:solidFill>
          <a:ln w="12700">
            <a:solidFill>
              <a:srgbClr val="E8F3EE"/>
            </a:solidFill>
            <a:prstDash val="solid"/>
          </a:ln>
        </p:spPr>
      </p:sp>
      <p:sp>
        <p:nvSpPr>
          <p:cNvPr id="26" name="Text 21"/>
          <p:cNvSpPr/>
          <p:nvPr/>
        </p:nvSpPr>
        <p:spPr>
          <a:xfrm>
            <a:off x="5788152" y="4261104"/>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platform's commissioner-engagement contact for the PSA-AS configuration. Her ICB commercial team, sense-checking the NHS-mandate call-off route. Her Trust partners' consultant urology leads, sense-checking how the pathway plugs into their AS clinics.</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CATHERINE’S JOURNEY  ·  STAGE 3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Fit for the AS cohort · the questions the pathway has to answer</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03</a:t>
            </a:r>
            <a:endParaRPr lang="en-US" sz="5000" dirty="0"/>
          </a:p>
        </p:txBody>
      </p:sp>
      <p:sp>
        <p:nvSpPr>
          <p:cNvPr id="9" name="Text 5"/>
          <p:cNvSpPr/>
          <p:nvPr/>
        </p:nvSpPr>
        <p:spPr>
          <a:xfrm>
            <a:off x="457200" y="2007108"/>
            <a:ext cx="4892040" cy="118872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Segoe UI" pitchFamily="34" charset="0"/>
                <a:ea typeface="Segoe UI" pitchFamily="34" charset="-122"/>
                <a:cs typeface="Segoe UI" pitchFamily="34" charset="-120"/>
              </a:rPr>
              <a:t>Catherine runs her AS-cohort-specific questions against the framework. Do we have a defensible analytical performance for capillary PSA at the AS clinical decision points? What happens with the small proportion of men whose PSA trend triggers re-biopsy? Who holds the pathway-adjustment decision when the trend moves the wrong way? Does the clinical safety case cover the escalation from AS into active treatment? She runs her list against the framework, expecting friction.</a:t>
            </a:r>
            <a:endParaRPr lang="en-US" sz="1050" dirty="0"/>
          </a:p>
        </p:txBody>
      </p:sp>
      <p:sp>
        <p:nvSpPr>
          <p:cNvPr id="10" name="Shape 6"/>
          <p:cNvSpPr/>
          <p:nvPr/>
        </p:nvSpPr>
        <p:spPr>
          <a:xfrm>
            <a:off x="457200" y="3323844"/>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323844"/>
            <a:ext cx="82296" cy="1051560"/>
          </a:xfrm>
          <a:prstGeom prst="rect">
            <a:avLst/>
          </a:prstGeom>
          <a:solidFill>
            <a:srgbClr val="005EB8"/>
          </a:solidFill>
          <a:ln w="12700">
            <a:solidFill>
              <a:srgbClr val="005EB8"/>
            </a:solidFill>
            <a:prstDash val="solid"/>
          </a:ln>
        </p:spPr>
      </p:sp>
      <p:sp>
        <p:nvSpPr>
          <p:cNvPr id="12" name="Text 8"/>
          <p:cNvSpPr/>
          <p:nvPr/>
        </p:nvSpPr>
        <p:spPr>
          <a:xfrm>
            <a:off x="694944" y="3387852"/>
            <a:ext cx="4507992" cy="667512"/>
          </a:xfrm>
          <a:prstGeom prst="rect">
            <a:avLst/>
          </a:prstGeom>
          <a:noFill/>
          <a:ln/>
        </p:spPr>
        <p:txBody>
          <a:bodyPr wrap="square" lIns="0" tIns="0" rIns="0" bIns="0" rtlCol="0" anchor="t">
            <a:normAutofit/>
          </a:bodyPr>
          <a:lstStyle/>
          <a:p>
            <a:pPr indent="0" marL="0">
              <a:buNone/>
            </a:pPr>
            <a:r>
              <a:rPr lang="en-US" sz="900" i="1" dirty="0">
                <a:solidFill>
                  <a:srgbClr val="212B32"/>
                </a:solidFill>
                <a:latin typeface="Segoe UI" pitchFamily="34" charset="0"/>
                <a:ea typeface="Segoe UI" pitchFamily="34" charset="-122"/>
                <a:cs typeface="Segoe UI" pitchFamily="34" charset="-120"/>
              </a:rPr>
              <a:t>“The AS cohort has clinical trigger points. I need to know that home-collected PSA doesn't soften the trend detection. If the analytical performance is fit for the AS decision points, the pathway works. If it isn't, the pathway is dangerous.”</a:t>
            </a:r>
            <a:endParaRPr lang="en-US" sz="900" dirty="0"/>
          </a:p>
        </p:txBody>
      </p:sp>
      <p:sp>
        <p:nvSpPr>
          <p:cNvPr id="13" name="Text 9"/>
          <p:cNvSpPr/>
          <p:nvPr/>
        </p:nvSpPr>
        <p:spPr>
          <a:xfrm>
            <a:off x="694944" y="4055364"/>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Catherine</a:t>
            </a:r>
            <a:endParaRPr lang="en-US" sz="950" dirty="0"/>
          </a:p>
        </p:txBody>
      </p:sp>
      <p:pic>
        <p:nvPicPr>
          <p:cNvPr id="14" name="Image 2" descr="/sessions/quirky-zen-galileo/mnt/outputs/jd/img/catherine-stage3.jpg">    </p:cNvPr>
          <p:cNvPicPr>
            <a:picLocks noChangeAspect="1"/>
          </p:cNvPicPr>
          <p:nvPr/>
        </p:nvPicPr>
        <p:blipFill>
          <a:blip r:embed="rId3"/>
          <a:srcRect l="0" r="0" t="0" b="0"/>
          <a:stretch/>
        </p:blipFill>
        <p:spPr>
          <a:xfrm>
            <a:off x="457200" y="4558284"/>
            <a:ext cx="4892040" cy="173278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413764"/>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35890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Her AS-cohort questions against the framework's clinical documentation. UKAS ISO 15189:2022 accredited capillary PSA analytical performance sheet with declared CV and MU at the clinical decision concentrations. NICE NG131 cadence mapped to the platform's ordering rhythm. Consultant-urologist-led escalation pathway documented. Re-biopsy trigger workflow with GP-record write-back. Clinical safety case addendum for the AS-specific pathway. </a:t>
            </a:r>
            <a:pPr indent="0" marL="0">
              <a:buNone/>
            </a:pPr>
            <a:r>
              <a:rPr lang="en-US" sz="1100" b="1" dirty="0">
                <a:solidFill>
                  <a:srgbClr val="212B32"/>
                </a:solidFill>
                <a:latin typeface="Segoe UI" pitchFamily="34" charset="0"/>
                <a:ea typeface="Segoe UI" pitchFamily="34" charset="-122"/>
                <a:cs typeface="Segoe UI" pitchFamily="34" charset="-120"/>
              </a:rPr>
              <a:t>The framework either answers these or it doesn't. Catherine finds out before signing.</a:t>
            </a:r>
            <a:endParaRPr lang="en-US" sz="1100" dirty="0"/>
          </a:p>
        </p:txBody>
      </p:sp>
      <p:sp>
        <p:nvSpPr>
          <p:cNvPr id="19" name="Shape 14"/>
          <p:cNvSpPr/>
          <p:nvPr/>
        </p:nvSpPr>
        <p:spPr>
          <a:xfrm>
            <a:off x="5669280" y="3000248"/>
            <a:ext cx="6065215" cy="274320"/>
          </a:xfrm>
          <a:prstGeom prst="rect">
            <a:avLst/>
          </a:prstGeom>
          <a:solidFill>
            <a:srgbClr val="4C6272"/>
          </a:solidFill>
          <a:ln w="12700">
            <a:solidFill>
              <a:srgbClr val="4C6272"/>
            </a:solidFill>
            <a:prstDash val="solid"/>
          </a:ln>
        </p:spPr>
      </p:sp>
      <p:sp>
        <p:nvSpPr>
          <p:cNvPr id="20" name="Text 15"/>
          <p:cNvSpPr/>
          <p:nvPr/>
        </p:nvSpPr>
        <p:spPr>
          <a:xfrm>
            <a:off x="5788152" y="30002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274568"/>
            <a:ext cx="6065215" cy="1240536"/>
          </a:xfrm>
          <a:prstGeom prst="rect">
            <a:avLst/>
          </a:prstGeom>
          <a:solidFill>
            <a:srgbClr val="F8FAFC"/>
          </a:solidFill>
          <a:ln w="12700">
            <a:solidFill>
              <a:srgbClr val="F8FAFC"/>
            </a:solidFill>
            <a:prstDash val="solid"/>
          </a:ln>
        </p:spPr>
      </p:sp>
      <p:sp>
        <p:nvSpPr>
          <p:cNvPr id="22" name="Text 17"/>
          <p:cNvSpPr/>
          <p:nvPr/>
        </p:nvSpPr>
        <p:spPr>
          <a:xfrm>
            <a:off x="5788152" y="3311144"/>
            <a:ext cx="5827471" cy="118567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Six rounds of meetings with each supplier to interrogate analytical performance and clinical safety per Trust. Bespoke pathway design per Trust. Pilot phase running into year two. Or, in the worst case, skip the AS-specific interrogation and assume the general framework covers it. The pattern from bespoke deployments: analytical performance not fit for the AS decision points, trend detection softens, escalations missed.</a:t>
            </a:r>
            <a:endParaRPr lang="en-US" sz="1100" dirty="0"/>
          </a:p>
        </p:txBody>
      </p:sp>
      <p:sp>
        <p:nvSpPr>
          <p:cNvPr id="23" name="Shape 18"/>
          <p:cNvSpPr/>
          <p:nvPr/>
        </p:nvSpPr>
        <p:spPr>
          <a:xfrm>
            <a:off x="5669280" y="4643120"/>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6431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917440"/>
            <a:ext cx="6065215" cy="720852"/>
          </a:xfrm>
          <a:prstGeom prst="rect">
            <a:avLst/>
          </a:prstGeom>
          <a:solidFill>
            <a:srgbClr val="E8F3EE"/>
          </a:solidFill>
          <a:ln w="12700">
            <a:solidFill>
              <a:srgbClr val="E8F3EE"/>
            </a:solidFill>
            <a:prstDash val="solid"/>
          </a:ln>
        </p:spPr>
      </p:sp>
      <p:sp>
        <p:nvSpPr>
          <p:cNvPr id="26" name="Text 21"/>
          <p:cNvSpPr/>
          <p:nvPr/>
        </p:nvSpPr>
        <p:spPr>
          <a:xfrm>
            <a:off x="5788152" y="4954016"/>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Her ICB clinical lead for cancer pathways. Consultant urologists from her Trust partners running AS clinics. The platform's clinical safety case lead. Her ICB IG lead reviewing the AS-specific data flow.</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CATHERINE’S JOURNEY  ·  STAGE 4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The NHS mandate · commissioning the pathway</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04</a:t>
            </a:r>
            <a:endParaRPr lang="en-US" sz="5000" dirty="0"/>
          </a:p>
        </p:txBody>
      </p:sp>
      <p:sp>
        <p:nvSpPr>
          <p:cNvPr id="9" name="Text 5"/>
          <p:cNvSpPr/>
          <p:nvPr/>
        </p:nvSpPr>
        <p:spPr>
          <a:xfrm>
            <a:off x="457200" y="2007108"/>
            <a:ext cx="4892040" cy="1188720"/>
          </a:xfrm>
          <a:prstGeom prst="rect">
            <a:avLst/>
          </a:prstGeom>
          <a:noFill/>
          <a:ln/>
        </p:spPr>
        <p:txBody>
          <a:bodyPr wrap="square" lIns="0" tIns="0" rIns="0" bIns="0" rtlCol="0" anchor="t">
            <a:normAutofit/>
          </a:bodyPr>
          <a:lstStyle/>
          <a:p>
            <a:pPr indent="0" marL="0">
              <a:buNone/>
            </a:pPr>
            <a:r>
              <a:rPr lang="en-US" sz="1050" b="1" dirty="0">
                <a:solidFill>
                  <a:srgbClr val="003087"/>
                </a:solidFill>
                <a:latin typeface="Segoe UI" pitchFamily="34" charset="0"/>
                <a:ea typeface="Segoe UI" pitchFamily="34" charset="-122"/>
                <a:cs typeface="Segoe UI" pitchFamily="34" charset="-120"/>
              </a:rPr>
              <a:t>Catherine commissions the AS pathway at ICB level via an NHS mandate route. Not an external procurement. Not a bespoke tender. A pathway-level commissioning arrangement under which each Trust in her ICB partners into a common national platform. Six weeks from brief to first live Trust, not eighteen months. Payment via published call-off terms. The procurement scar she carried in is not the arrangement she signed.</a:t>
            </a:r>
            <a:endParaRPr lang="en-US" sz="1050" dirty="0"/>
          </a:p>
        </p:txBody>
      </p:sp>
      <p:sp>
        <p:nvSpPr>
          <p:cNvPr id="10" name="Shape 6"/>
          <p:cNvSpPr/>
          <p:nvPr/>
        </p:nvSpPr>
        <p:spPr>
          <a:xfrm>
            <a:off x="457200" y="3323844"/>
            <a:ext cx="4892040" cy="1031748"/>
          </a:xfrm>
          <a:prstGeom prst="rect">
            <a:avLst/>
          </a:prstGeom>
          <a:solidFill>
            <a:srgbClr val="F8FAFC"/>
          </a:solidFill>
          <a:ln w="12700">
            <a:solidFill>
              <a:srgbClr val="F8FAFC"/>
            </a:solidFill>
            <a:prstDash val="solid"/>
          </a:ln>
        </p:spPr>
      </p:sp>
      <p:sp>
        <p:nvSpPr>
          <p:cNvPr id="11" name="Shape 7"/>
          <p:cNvSpPr/>
          <p:nvPr/>
        </p:nvSpPr>
        <p:spPr>
          <a:xfrm>
            <a:off x="457200" y="3323844"/>
            <a:ext cx="82296" cy="1031748"/>
          </a:xfrm>
          <a:prstGeom prst="rect">
            <a:avLst/>
          </a:prstGeom>
          <a:solidFill>
            <a:srgbClr val="005EB8"/>
          </a:solidFill>
          <a:ln w="12700">
            <a:solidFill>
              <a:srgbClr val="005EB8"/>
            </a:solidFill>
            <a:prstDash val="solid"/>
          </a:ln>
        </p:spPr>
      </p:sp>
      <p:sp>
        <p:nvSpPr>
          <p:cNvPr id="12" name="Text 8"/>
          <p:cNvSpPr/>
          <p:nvPr/>
        </p:nvSpPr>
        <p:spPr>
          <a:xfrm>
            <a:off x="694944" y="3387852"/>
            <a:ext cx="4507992" cy="647700"/>
          </a:xfrm>
          <a:prstGeom prst="rect">
            <a:avLst/>
          </a:prstGeom>
          <a:noFill/>
          <a:ln/>
        </p:spPr>
        <p:txBody>
          <a:bodyPr wrap="square" lIns="0" tIns="0" rIns="0" bIns="0" rtlCol="0" anchor="t">
            <a:normAutofit/>
          </a:bodyPr>
          <a:lstStyle/>
          <a:p>
            <a:pPr indent="0" marL="0">
              <a:buNone/>
            </a:pPr>
            <a:r>
              <a:rPr lang="en-US" sz="1100" i="1" dirty="0">
                <a:solidFill>
                  <a:srgbClr val="212B32"/>
                </a:solidFill>
                <a:latin typeface="Segoe UI" pitchFamily="34" charset="0"/>
                <a:ea typeface="Segoe UI" pitchFamily="34" charset="-122"/>
                <a:cs typeface="Segoe UI" pitchFamily="34" charset="-120"/>
              </a:rPr>
              <a:t>“I've commissioned pathways that took eighteen months of Trust-by-Trust negotiation. The eighteen months I didn't spend stitching is the eighteen months my AS cohort didn't drift.”</a:t>
            </a:r>
            <a:endParaRPr lang="en-US" sz="1100" dirty="0"/>
          </a:p>
        </p:txBody>
      </p:sp>
      <p:sp>
        <p:nvSpPr>
          <p:cNvPr id="13" name="Text 9"/>
          <p:cNvSpPr/>
          <p:nvPr/>
        </p:nvSpPr>
        <p:spPr>
          <a:xfrm>
            <a:off x="694944" y="4035552"/>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Catherine</a:t>
            </a:r>
            <a:endParaRPr lang="en-US" sz="950" dirty="0"/>
          </a:p>
        </p:txBody>
      </p:sp>
      <p:pic>
        <p:nvPicPr>
          <p:cNvPr id="14" name="Image 2" descr="/sessions/quirky-zen-galileo/mnt/outputs/jd/img/catherine-stage4.jpg">    </p:cNvPr>
          <p:cNvPicPr>
            <a:picLocks noChangeAspect="1"/>
          </p:cNvPicPr>
          <p:nvPr/>
        </p:nvPicPr>
        <p:blipFill>
          <a:blip r:embed="rId3"/>
          <a:srcRect l="0" r="0" t="0" b="0"/>
          <a:stretch/>
        </p:blipFill>
        <p:spPr>
          <a:xfrm>
            <a:off x="457200" y="4538472"/>
            <a:ext cx="4892040" cy="1752600"/>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413764"/>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35890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ICB-level call-off itself. Suppliers admitted to the platform under the PSA-AS configuration. Each Trust partner brought into the arrangement via a common commissioning schedule. DSAs executed against the framework's template. Clinical safety case approved by each Trust CSO using the framework's AS-specific starter case as the spine. First batch of kits ordered against the AS caseload at the pilot Trust. GP-record and Trust EPR integration switched on. </a:t>
            </a:r>
            <a:pPr indent="0" marL="0">
              <a:buNone/>
            </a:pPr>
            <a:r>
              <a:rPr lang="en-US" sz="1100" b="1" dirty="0">
                <a:solidFill>
                  <a:srgbClr val="212B32"/>
                </a:solidFill>
                <a:latin typeface="Segoe UI" pitchFamily="34" charset="0"/>
                <a:ea typeface="Segoe UI" pitchFamily="34" charset="-122"/>
                <a:cs typeface="Segoe UI" pitchFamily="34" charset="-120"/>
              </a:rPr>
              <a:t>Every step has a published template. Nothing is being designed in the moment.</a:t>
            </a:r>
            <a:endParaRPr lang="en-US" sz="1100" dirty="0"/>
          </a:p>
        </p:txBody>
      </p:sp>
      <p:sp>
        <p:nvSpPr>
          <p:cNvPr id="19" name="Shape 14"/>
          <p:cNvSpPr/>
          <p:nvPr/>
        </p:nvSpPr>
        <p:spPr>
          <a:xfrm>
            <a:off x="5669280" y="3000248"/>
            <a:ext cx="6065215" cy="274320"/>
          </a:xfrm>
          <a:prstGeom prst="rect">
            <a:avLst/>
          </a:prstGeom>
          <a:solidFill>
            <a:srgbClr val="4C6272"/>
          </a:solidFill>
          <a:ln w="12700">
            <a:solidFill>
              <a:srgbClr val="4C6272"/>
            </a:solidFill>
            <a:prstDash val="solid"/>
          </a:ln>
        </p:spPr>
      </p:sp>
      <p:sp>
        <p:nvSpPr>
          <p:cNvPr id="20" name="Text 15"/>
          <p:cNvSpPr/>
          <p:nvPr/>
        </p:nvSpPr>
        <p:spPr>
          <a:xfrm>
            <a:off x="5788152" y="30002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274568"/>
            <a:ext cx="6065215" cy="894080"/>
          </a:xfrm>
          <a:prstGeom prst="rect">
            <a:avLst/>
          </a:prstGeom>
          <a:solidFill>
            <a:srgbClr val="F8FAFC"/>
          </a:solidFill>
          <a:ln w="12700">
            <a:solidFill>
              <a:srgbClr val="F8FAFC"/>
            </a:solidFill>
            <a:prstDash val="solid"/>
          </a:ln>
        </p:spPr>
      </p:sp>
      <p:sp>
        <p:nvSpPr>
          <p:cNvPr id="22" name="Text 17"/>
          <p:cNvSpPr/>
          <p:nvPr/>
        </p:nvSpPr>
        <p:spPr>
          <a:xfrm>
            <a:off x="5788152" y="3311144"/>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 multi-year bilateral contract with each Trust plus each supplier. Bespoke pricing schedule per Trust. Bespoke clinical safety case per Trust. Bespoke IG per Trust. Each adding months to the deployment timeline. Each reducing the budget left for the actual monitoring.</a:t>
            </a:r>
            <a:endParaRPr lang="en-US" sz="1100" dirty="0"/>
          </a:p>
        </p:txBody>
      </p:sp>
      <p:sp>
        <p:nvSpPr>
          <p:cNvPr id="23" name="Shape 18"/>
          <p:cNvSpPr/>
          <p:nvPr/>
        </p:nvSpPr>
        <p:spPr>
          <a:xfrm>
            <a:off x="5669280" y="4296664"/>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296664"/>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570984"/>
            <a:ext cx="6065215" cy="720852"/>
          </a:xfrm>
          <a:prstGeom prst="rect">
            <a:avLst/>
          </a:prstGeom>
          <a:solidFill>
            <a:srgbClr val="E8F3EE"/>
          </a:solidFill>
          <a:ln w="12700">
            <a:solidFill>
              <a:srgbClr val="E8F3EE"/>
            </a:solidFill>
            <a:prstDash val="solid"/>
          </a:ln>
        </p:spPr>
      </p:sp>
      <p:sp>
        <p:nvSpPr>
          <p:cNvPr id="26" name="Text 21"/>
          <p:cNvSpPr/>
          <p:nvPr/>
        </p:nvSpPr>
        <p:spPr>
          <a:xfrm>
            <a:off x="5788152" y="4607560"/>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Her ICB commercial team handling the mandate route. Each Trust partner's Chief Medical Officer and clinical safety lead. The platform's engagement contact handling the ICB-level call-off. The supplier's clinical operations lead.</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CATHERINE’S JOURNEY  ·  STAGE 5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Live operation · kits out, results back</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05</a:t>
            </a:r>
            <a:endParaRPr lang="en-US" sz="5000" dirty="0"/>
          </a:p>
        </p:txBody>
      </p:sp>
      <p:sp>
        <p:nvSpPr>
          <p:cNvPr id="9" name="Text 5"/>
          <p:cNvSpPr/>
          <p:nvPr/>
        </p:nvSpPr>
        <p:spPr>
          <a:xfrm>
            <a:off x="457200" y="2007108"/>
            <a:ext cx="4892040" cy="1178052"/>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First quarter live at the pilot Trust. Kits going out to AS patients on their monitoring cadence. Capillary PSA results returning into consultant urologist review lists ahead of AS clinic follow-ups. Trend analysis running against each patient's AS baseline. The pathway holds. Second and third Trusts due to activate over the next two quarters against the same call-off.</a:t>
            </a:r>
            <a:endParaRPr lang="en-US" sz="1150" dirty="0"/>
          </a:p>
        </p:txBody>
      </p:sp>
      <p:sp>
        <p:nvSpPr>
          <p:cNvPr id="10" name="Shape 6"/>
          <p:cNvSpPr/>
          <p:nvPr/>
        </p:nvSpPr>
        <p:spPr>
          <a:xfrm>
            <a:off x="457200" y="3313176"/>
            <a:ext cx="4892040" cy="1051560"/>
          </a:xfrm>
          <a:prstGeom prst="rect">
            <a:avLst/>
          </a:prstGeom>
          <a:solidFill>
            <a:srgbClr val="F8FAFC"/>
          </a:solidFill>
          <a:ln w="12700">
            <a:solidFill>
              <a:srgbClr val="F8FAFC"/>
            </a:solidFill>
            <a:prstDash val="solid"/>
          </a:ln>
        </p:spPr>
      </p:sp>
      <p:sp>
        <p:nvSpPr>
          <p:cNvPr id="11" name="Shape 7"/>
          <p:cNvSpPr/>
          <p:nvPr/>
        </p:nvSpPr>
        <p:spPr>
          <a:xfrm>
            <a:off x="457200" y="3313176"/>
            <a:ext cx="82296" cy="1051560"/>
          </a:xfrm>
          <a:prstGeom prst="rect">
            <a:avLst/>
          </a:prstGeom>
          <a:solidFill>
            <a:srgbClr val="005EB8"/>
          </a:solidFill>
          <a:ln w="12700">
            <a:solidFill>
              <a:srgbClr val="005EB8"/>
            </a:solidFill>
            <a:prstDash val="solid"/>
          </a:ln>
        </p:spPr>
      </p:sp>
      <p:sp>
        <p:nvSpPr>
          <p:cNvPr id="12" name="Text 8"/>
          <p:cNvSpPr/>
          <p:nvPr/>
        </p:nvSpPr>
        <p:spPr>
          <a:xfrm>
            <a:off x="694944" y="3377184"/>
            <a:ext cx="4507992" cy="667512"/>
          </a:xfrm>
          <a:prstGeom prst="rect">
            <a:avLst/>
          </a:prstGeom>
          <a:noFill/>
          <a:ln/>
        </p:spPr>
        <p:txBody>
          <a:bodyPr wrap="square" lIns="0" tIns="0" rIns="0" bIns="0" rtlCol="0" anchor="t">
            <a:normAutofit/>
          </a:bodyPr>
          <a:lstStyle/>
          <a:p>
            <a:pPr indent="0" marL="0">
              <a:buNone/>
            </a:pPr>
            <a:r>
              <a:rPr lang="en-US" sz="1150" i="1" dirty="0">
                <a:solidFill>
                  <a:srgbClr val="212B32"/>
                </a:solidFill>
                <a:latin typeface="Segoe UI" pitchFamily="34" charset="0"/>
                <a:ea typeface="Segoe UI" pitchFamily="34" charset="-122"/>
                <a:cs typeface="Segoe UI" pitchFamily="34" charset="-120"/>
              </a:rPr>
              <a:t>“Patients don't see commissioning. They see a kit in the post and their consultant urologist opening the AS review with the number already in front of them. The pathway holds.”</a:t>
            </a:r>
            <a:endParaRPr lang="en-US" sz="1150" dirty="0"/>
          </a:p>
        </p:txBody>
      </p:sp>
      <p:sp>
        <p:nvSpPr>
          <p:cNvPr id="13" name="Text 9"/>
          <p:cNvSpPr/>
          <p:nvPr/>
        </p:nvSpPr>
        <p:spPr>
          <a:xfrm>
            <a:off x="694944" y="4044696"/>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Catherine</a:t>
            </a:r>
            <a:endParaRPr lang="en-US" sz="950" dirty="0"/>
          </a:p>
        </p:txBody>
      </p:sp>
      <p:pic>
        <p:nvPicPr>
          <p:cNvPr id="14" name="Image 2" descr="/sessions/quirky-zen-galileo/mnt/outputs/jd/img/catherine-stage5.jpg">    </p:cNvPr>
          <p:cNvPicPr>
            <a:picLocks noChangeAspect="1"/>
          </p:cNvPicPr>
          <p:nvPr/>
        </p:nvPicPr>
        <p:blipFill>
          <a:blip r:embed="rId3"/>
          <a:srcRect l="0" r="0" t="0" b="0"/>
          <a:stretch/>
        </p:blipFill>
        <p:spPr>
          <a:xfrm>
            <a:off x="457200" y="4547616"/>
            <a:ext cx="4892040" cy="1743456"/>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240536"/>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18567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MI dashboard. Kits ordered. Kits delivered. Results returned. AS-review-cycle completion rate. Trend movements and re-biopsy triggers. Outpatient clinic minutes released per patient. Trust-level utilisation of the framework across her ICB. Equity reach across her deprived wards. Reactive support paths for out-of-range PSA results. </a:t>
            </a:r>
            <a:pPr indent="0" marL="0">
              <a:buNone/>
            </a:pPr>
            <a:r>
              <a:rPr lang="en-US" sz="1100" b="1" dirty="0">
                <a:solidFill>
                  <a:srgbClr val="212B32"/>
                </a:solidFill>
                <a:latin typeface="Segoe UI" pitchFamily="34" charset="0"/>
                <a:ea typeface="Segoe UI" pitchFamily="34" charset="-122"/>
                <a:cs typeface="Segoe UI" pitchFamily="34" charset="-120"/>
              </a:rPr>
              <a:t>The numbers are visible in real time. Catherine doesn't need to wait for the annual return.</a:t>
            </a:r>
            <a:endParaRPr lang="en-US" sz="1100" dirty="0"/>
          </a:p>
        </p:txBody>
      </p:sp>
      <p:sp>
        <p:nvSpPr>
          <p:cNvPr id="19" name="Shape 14"/>
          <p:cNvSpPr/>
          <p:nvPr/>
        </p:nvSpPr>
        <p:spPr>
          <a:xfrm>
            <a:off x="5669280" y="2827020"/>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8270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101340"/>
            <a:ext cx="6065215" cy="894080"/>
          </a:xfrm>
          <a:prstGeom prst="rect">
            <a:avLst/>
          </a:prstGeom>
          <a:solidFill>
            <a:srgbClr val="F8FAFC"/>
          </a:solidFill>
          <a:ln w="12700">
            <a:solidFill>
              <a:srgbClr val="F8FAFC"/>
            </a:solidFill>
            <a:prstDash val="solid"/>
          </a:ln>
        </p:spPr>
      </p:sp>
      <p:sp>
        <p:nvSpPr>
          <p:cNvPr id="22" name="Text 17"/>
          <p:cNvSpPr/>
          <p:nvPr/>
        </p:nvSpPr>
        <p:spPr>
          <a:xfrm>
            <a:off x="5788152" y="3137916"/>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Trust-by-Trust MI. Manual reconciliation across her partners to see the ICB-level picture. Manual chasing of AS clinic completion rates. No comparable view across her Trusts until the annual report. The risk: finding out a year late that the pilot Trust's AS drift was masking a system-level issue.</a:t>
            </a:r>
            <a:endParaRPr lang="en-US" sz="1100" dirty="0"/>
          </a:p>
        </p:txBody>
      </p:sp>
      <p:sp>
        <p:nvSpPr>
          <p:cNvPr id="23" name="Shape 18"/>
          <p:cNvSpPr/>
          <p:nvPr/>
        </p:nvSpPr>
        <p:spPr>
          <a:xfrm>
            <a:off x="5669280" y="4123436"/>
            <a:ext cx="6065215" cy="274320"/>
          </a:xfrm>
          <a:prstGeom prst="rect">
            <a:avLst/>
          </a:prstGeom>
          <a:solidFill>
            <a:srgbClr val="006747"/>
          </a:solidFill>
          <a:ln w="12700">
            <a:solidFill>
              <a:srgbClr val="006747"/>
            </a:solidFill>
            <a:prstDash val="solid"/>
          </a:ln>
        </p:spPr>
      </p:sp>
      <p:sp>
        <p:nvSpPr>
          <p:cNvPr id="24" name="Text 19"/>
          <p:cNvSpPr/>
          <p:nvPr/>
        </p:nvSpPr>
        <p:spPr>
          <a:xfrm>
            <a:off x="5788152" y="4123436"/>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397756"/>
            <a:ext cx="6065215" cy="894080"/>
          </a:xfrm>
          <a:prstGeom prst="rect">
            <a:avLst/>
          </a:prstGeom>
          <a:solidFill>
            <a:srgbClr val="E8F3EE"/>
          </a:solidFill>
          <a:ln w="12700">
            <a:solidFill>
              <a:srgbClr val="E8F3EE"/>
            </a:solidFill>
            <a:prstDash val="solid"/>
          </a:ln>
        </p:spPr>
      </p:sp>
      <p:sp>
        <p:nvSpPr>
          <p:cNvPr id="26" name="Text 21"/>
          <p:cNvSpPr/>
          <p:nvPr/>
        </p:nvSpPr>
        <p:spPr>
          <a:xfrm>
            <a:off x="5788152" y="4434332"/>
            <a:ext cx="5827471" cy="839216"/>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Trust consultant urologists running AS clinics. The supplier running the kit logistics. The platform running the data layer with GP-record and Trust EPR write-back. Each Trust's clinical governance running local safety oversight. Catherine looking at the ICB-level MI feed weekly.</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CATHERINE’S JOURNEY  ·  STAGE 6 OF 6</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The ICB paper · what the CMO sees</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29768" y="1129284"/>
            <a:ext cx="1463040" cy="841248"/>
          </a:xfrm>
          <a:prstGeom prst="rect">
            <a:avLst/>
          </a:prstGeom>
          <a:noFill/>
          <a:ln/>
        </p:spPr>
        <p:txBody>
          <a:bodyPr wrap="square" lIns="0" tIns="0" rIns="0" bIns="0" rtlCol="0" anchor="ctr"/>
          <a:lstStyle/>
          <a:p>
            <a:pPr indent="0" marL="0">
              <a:buNone/>
            </a:pPr>
            <a:r>
              <a:rPr lang="en-US" sz="5000" b="1" spc="-100" kern="0" dirty="0">
                <a:solidFill>
                  <a:srgbClr val="005EB8"/>
                </a:solidFill>
                <a:latin typeface="Segoe UI" pitchFamily="34" charset="0"/>
                <a:ea typeface="Segoe UI" pitchFamily="34" charset="-122"/>
                <a:cs typeface="Segoe UI" pitchFamily="34" charset="-120"/>
              </a:rPr>
              <a:t>06</a:t>
            </a:r>
            <a:endParaRPr lang="en-US" sz="5000" dirty="0"/>
          </a:p>
        </p:txBody>
      </p:sp>
      <p:sp>
        <p:nvSpPr>
          <p:cNvPr id="9" name="Text 5"/>
          <p:cNvSpPr/>
          <p:nvPr/>
        </p:nvSpPr>
        <p:spPr>
          <a:xfrm>
            <a:off x="457200" y="2007108"/>
            <a:ext cx="4892040" cy="1178052"/>
          </a:xfrm>
          <a:prstGeom prst="rect">
            <a:avLst/>
          </a:prstGeom>
          <a:noFill/>
          <a:ln/>
        </p:spPr>
        <p:txBody>
          <a:bodyPr wrap="square" lIns="0" tIns="0" rIns="0" bIns="0" rtlCol="0" anchor="t">
            <a:normAutofit/>
          </a:bodyPr>
          <a:lstStyle/>
          <a:p>
            <a:pPr indent="0" marL="0">
              <a:buNone/>
            </a:pPr>
            <a:r>
              <a:rPr lang="en-US" sz="1150" b="1" dirty="0">
                <a:solidFill>
                  <a:srgbClr val="003087"/>
                </a:solidFill>
                <a:latin typeface="Segoe UI" pitchFamily="34" charset="0"/>
                <a:ea typeface="Segoe UI" pitchFamily="34" charset="-122"/>
                <a:cs typeface="Segoe UI" pitchFamily="34" charset="-120"/>
              </a:rPr>
              <a:t>First-year outcomes across the ICB. AS-cohort monitoring cadence hold rate. Re-biopsy trigger detection at the same or better rate than in-clinic phlebotomy. Outpatient clinic minutes released. Trust-by-Trust adoption curve. The ICB paper writes itself. The next year's ask is for the next AS-adjacent pathway, not the next procurement.</a:t>
            </a:r>
            <a:endParaRPr lang="en-US" sz="1150" dirty="0"/>
          </a:p>
        </p:txBody>
      </p:sp>
      <p:sp>
        <p:nvSpPr>
          <p:cNvPr id="10" name="Shape 6"/>
          <p:cNvSpPr/>
          <p:nvPr/>
        </p:nvSpPr>
        <p:spPr>
          <a:xfrm>
            <a:off x="457200" y="3313176"/>
            <a:ext cx="4892040" cy="1031748"/>
          </a:xfrm>
          <a:prstGeom prst="rect">
            <a:avLst/>
          </a:prstGeom>
          <a:solidFill>
            <a:srgbClr val="F8FAFC"/>
          </a:solidFill>
          <a:ln w="12700">
            <a:solidFill>
              <a:srgbClr val="F8FAFC"/>
            </a:solidFill>
            <a:prstDash val="solid"/>
          </a:ln>
        </p:spPr>
      </p:sp>
      <p:sp>
        <p:nvSpPr>
          <p:cNvPr id="11" name="Shape 7"/>
          <p:cNvSpPr/>
          <p:nvPr/>
        </p:nvSpPr>
        <p:spPr>
          <a:xfrm>
            <a:off x="457200" y="3313176"/>
            <a:ext cx="82296" cy="1031748"/>
          </a:xfrm>
          <a:prstGeom prst="rect">
            <a:avLst/>
          </a:prstGeom>
          <a:solidFill>
            <a:srgbClr val="005EB8"/>
          </a:solidFill>
          <a:ln w="12700">
            <a:solidFill>
              <a:srgbClr val="005EB8"/>
            </a:solidFill>
            <a:prstDash val="solid"/>
          </a:ln>
        </p:spPr>
      </p:sp>
      <p:sp>
        <p:nvSpPr>
          <p:cNvPr id="12" name="Text 8"/>
          <p:cNvSpPr/>
          <p:nvPr/>
        </p:nvSpPr>
        <p:spPr>
          <a:xfrm>
            <a:off x="694944" y="3377184"/>
            <a:ext cx="4507992" cy="647700"/>
          </a:xfrm>
          <a:prstGeom prst="rect">
            <a:avLst/>
          </a:prstGeom>
          <a:noFill/>
          <a:ln/>
        </p:spPr>
        <p:txBody>
          <a:bodyPr wrap="square" lIns="0" tIns="0" rIns="0" bIns="0" rtlCol="0" anchor="t">
            <a:normAutofit/>
          </a:bodyPr>
          <a:lstStyle/>
          <a:p>
            <a:pPr indent="0" marL="0">
              <a:buNone/>
            </a:pPr>
            <a:r>
              <a:rPr lang="en-US" sz="1100" i="1" dirty="0">
                <a:solidFill>
                  <a:srgbClr val="212B32"/>
                </a:solidFill>
                <a:latin typeface="Segoe UI" pitchFamily="34" charset="0"/>
                <a:ea typeface="Segoe UI" pitchFamily="34" charset="-122"/>
                <a:cs typeface="Segoe UI" pitchFamily="34" charset="-120"/>
              </a:rPr>
              <a:t>“The Chief Medical Officer wanted to know whether the cadence held. The numbers do most of the talking. The pathway-level commissioning behind them is what made the numbers possible.”</a:t>
            </a:r>
            <a:endParaRPr lang="en-US" sz="1100" dirty="0"/>
          </a:p>
        </p:txBody>
      </p:sp>
      <p:sp>
        <p:nvSpPr>
          <p:cNvPr id="13" name="Text 9"/>
          <p:cNvSpPr/>
          <p:nvPr/>
        </p:nvSpPr>
        <p:spPr>
          <a:xfrm>
            <a:off x="694944" y="4024884"/>
            <a:ext cx="4507992" cy="256032"/>
          </a:xfrm>
          <a:prstGeom prst="rect">
            <a:avLst/>
          </a:prstGeom>
          <a:noFill/>
          <a:ln/>
        </p:spPr>
        <p:txBody>
          <a:bodyPr wrap="square" lIns="0" tIns="0" rIns="0" bIns="0" rtlCol="0" anchor="ctr"/>
          <a:lstStyle/>
          <a:p>
            <a:pPr indent="0" marL="0">
              <a:buNone/>
            </a:pPr>
            <a:r>
              <a:rPr lang="en-US" sz="950" b="1" dirty="0">
                <a:solidFill>
                  <a:srgbClr val="005EB8"/>
                </a:solidFill>
                <a:latin typeface="Segoe UI" pitchFamily="34" charset="0"/>
                <a:ea typeface="Segoe UI" pitchFamily="34" charset="-122"/>
                <a:cs typeface="Segoe UI" pitchFamily="34" charset="-120"/>
              </a:rPr>
              <a:t>Catherine</a:t>
            </a:r>
            <a:endParaRPr lang="en-US" sz="950" dirty="0"/>
          </a:p>
        </p:txBody>
      </p:sp>
      <p:pic>
        <p:nvPicPr>
          <p:cNvPr id="14" name="Image 2" descr="/sessions/quirky-zen-galileo/mnt/outputs/jd/img/catherine-stage6.jpg">    </p:cNvPr>
          <p:cNvPicPr>
            <a:picLocks noChangeAspect="1"/>
          </p:cNvPicPr>
          <p:nvPr/>
        </p:nvPicPr>
        <p:blipFill>
          <a:blip r:embed="rId3"/>
          <a:srcRect l="0" r="0" t="0" b="0"/>
          <a:stretch/>
        </p:blipFill>
        <p:spPr>
          <a:xfrm>
            <a:off x="457200" y="4527804"/>
            <a:ext cx="4892040" cy="1763268"/>
          </a:xfrm>
          <a:prstGeom prst="rect">
            <a:avLst/>
          </a:prstGeom>
        </p:spPr>
      </p:pic>
      <p:sp>
        <p:nvSpPr>
          <p:cNvPr id="15" name="Shape 10"/>
          <p:cNvSpPr/>
          <p:nvPr/>
        </p:nvSpPr>
        <p:spPr>
          <a:xfrm>
            <a:off x="5669280" y="1184148"/>
            <a:ext cx="6065215" cy="274320"/>
          </a:xfrm>
          <a:prstGeom prst="rect">
            <a:avLst/>
          </a:prstGeom>
          <a:solidFill>
            <a:srgbClr val="005EB8"/>
          </a:solidFill>
          <a:ln w="12700">
            <a:solidFill>
              <a:srgbClr val="005EB8"/>
            </a:solidFill>
            <a:prstDash val="solid"/>
          </a:ln>
        </p:spPr>
      </p:sp>
      <p:sp>
        <p:nvSpPr>
          <p:cNvPr id="16" name="Text 11"/>
          <p:cNvSpPr/>
          <p:nvPr/>
        </p:nvSpPr>
        <p:spPr>
          <a:xfrm>
            <a:off x="5788152" y="118414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7" name="Shape 12"/>
          <p:cNvSpPr/>
          <p:nvPr/>
        </p:nvSpPr>
        <p:spPr>
          <a:xfrm>
            <a:off x="5669280" y="1458468"/>
            <a:ext cx="6065215" cy="1240536"/>
          </a:xfrm>
          <a:prstGeom prst="rect">
            <a:avLst/>
          </a:prstGeom>
          <a:solidFill>
            <a:srgbClr val="D5E8F0"/>
          </a:solidFill>
          <a:ln w="12700">
            <a:solidFill>
              <a:srgbClr val="D5E8F0"/>
            </a:solidFill>
            <a:prstDash val="solid"/>
          </a:ln>
        </p:spPr>
      </p:sp>
      <p:sp>
        <p:nvSpPr>
          <p:cNvPr id="18" name="Text 13"/>
          <p:cNvSpPr/>
          <p:nvPr/>
        </p:nvSpPr>
        <p:spPr>
          <a:xfrm>
            <a:off x="5788152" y="1495044"/>
            <a:ext cx="5827471" cy="1185672"/>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AS-monitoring cadence hold rate against the ICB baseline. Re-biopsy trigger detection versus the in-clinic comparator. Outpatient minutes released per AS patient per year. Cost per AS patient per year against the pre-framework baseline. Patient-reported experience. Reactive-pathway performance for out-of-range PSA results. The recommendation for year two: extend to the next AS-adjacent pathway the platform admits. </a:t>
            </a:r>
            <a:pPr indent="0" marL="0">
              <a:buNone/>
            </a:pPr>
            <a:r>
              <a:rPr lang="en-US" sz="1100" b="1" dirty="0">
                <a:solidFill>
                  <a:srgbClr val="212B32"/>
                </a:solidFill>
                <a:latin typeface="Segoe UI" pitchFamily="34" charset="0"/>
                <a:ea typeface="Segoe UI" pitchFamily="34" charset="-122"/>
                <a:cs typeface="Segoe UI" pitchFamily="34" charset="-120"/>
              </a:rPr>
              <a:t>Same framework. Same call-off shape. Same MI feed.</a:t>
            </a:r>
            <a:endParaRPr lang="en-US" sz="1100" dirty="0"/>
          </a:p>
        </p:txBody>
      </p:sp>
      <p:sp>
        <p:nvSpPr>
          <p:cNvPr id="19" name="Shape 14"/>
          <p:cNvSpPr/>
          <p:nvPr/>
        </p:nvSpPr>
        <p:spPr>
          <a:xfrm>
            <a:off x="5669280" y="2827020"/>
            <a:ext cx="6065215" cy="274320"/>
          </a:xfrm>
          <a:prstGeom prst="rect">
            <a:avLst/>
          </a:prstGeom>
          <a:solidFill>
            <a:srgbClr val="4C6272"/>
          </a:solidFill>
          <a:ln w="12700">
            <a:solidFill>
              <a:srgbClr val="4C6272"/>
            </a:solidFill>
            <a:prstDash val="solid"/>
          </a:ln>
        </p:spPr>
      </p:sp>
      <p:sp>
        <p:nvSpPr>
          <p:cNvPr id="20" name="Text 15"/>
          <p:cNvSpPr/>
          <p:nvPr/>
        </p:nvSpPr>
        <p:spPr>
          <a:xfrm>
            <a:off x="5788152" y="2827020"/>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21" name="Shape 16"/>
          <p:cNvSpPr/>
          <p:nvPr/>
        </p:nvSpPr>
        <p:spPr>
          <a:xfrm>
            <a:off x="5669280" y="3101340"/>
            <a:ext cx="6065215" cy="720852"/>
          </a:xfrm>
          <a:prstGeom prst="rect">
            <a:avLst/>
          </a:prstGeom>
          <a:solidFill>
            <a:srgbClr val="F8FAFC"/>
          </a:solidFill>
          <a:ln w="12700">
            <a:solidFill>
              <a:srgbClr val="F8FAFC"/>
            </a:solidFill>
            <a:prstDash val="solid"/>
          </a:ln>
        </p:spPr>
      </p:sp>
      <p:sp>
        <p:nvSpPr>
          <p:cNvPr id="22" name="Text 17"/>
          <p:cNvSpPr/>
          <p:nvPr/>
        </p:nvSpPr>
        <p:spPr>
          <a:xfrm>
            <a:off x="5788152" y="3137916"/>
            <a:ext cx="5827471" cy="665988"/>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A ICB paper hedged with per-Trust data still maturing. Three years before an ICB-level pattern could be evaluated. By which time the pilot Trust's executive had rotated, the funding envelope had shifted, and the AS cohort had drifted.</a:t>
            </a:r>
            <a:endParaRPr lang="en-US" sz="1100" dirty="0"/>
          </a:p>
        </p:txBody>
      </p:sp>
      <p:sp>
        <p:nvSpPr>
          <p:cNvPr id="23" name="Shape 18"/>
          <p:cNvSpPr/>
          <p:nvPr/>
        </p:nvSpPr>
        <p:spPr>
          <a:xfrm>
            <a:off x="5669280" y="3950208"/>
            <a:ext cx="6065215" cy="274320"/>
          </a:xfrm>
          <a:prstGeom prst="rect">
            <a:avLst/>
          </a:prstGeom>
          <a:solidFill>
            <a:srgbClr val="006747"/>
          </a:solidFill>
          <a:ln w="12700">
            <a:solidFill>
              <a:srgbClr val="006747"/>
            </a:solidFill>
            <a:prstDash val="solid"/>
          </a:ln>
        </p:spPr>
      </p:sp>
      <p:sp>
        <p:nvSpPr>
          <p:cNvPr id="24" name="Text 19"/>
          <p:cNvSpPr/>
          <p:nvPr/>
        </p:nvSpPr>
        <p:spPr>
          <a:xfrm>
            <a:off x="5788152" y="3950208"/>
            <a:ext cx="5827471"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Segoe UI" pitchFamily="34" charset="0"/>
                <a:ea typeface="Segoe UI" pitchFamily="34" charset="-122"/>
                <a:cs typeface="Segoe UI" pitchFamily="34" charset="-120"/>
              </a:rPr>
              <a:t>WHAT THE CARE TEAM SEES</a:t>
            </a:r>
            <a:endParaRPr lang="en-US" sz="850" dirty="0"/>
          </a:p>
        </p:txBody>
      </p:sp>
      <p:sp>
        <p:nvSpPr>
          <p:cNvPr id="25" name="Shape 20"/>
          <p:cNvSpPr/>
          <p:nvPr/>
        </p:nvSpPr>
        <p:spPr>
          <a:xfrm>
            <a:off x="5669280" y="4224528"/>
            <a:ext cx="6065215" cy="547624"/>
          </a:xfrm>
          <a:prstGeom prst="rect">
            <a:avLst/>
          </a:prstGeom>
          <a:solidFill>
            <a:srgbClr val="E8F3EE"/>
          </a:solidFill>
          <a:ln w="12700">
            <a:solidFill>
              <a:srgbClr val="E8F3EE"/>
            </a:solidFill>
            <a:prstDash val="solid"/>
          </a:ln>
        </p:spPr>
      </p:sp>
      <p:sp>
        <p:nvSpPr>
          <p:cNvPr id="26" name="Text 21"/>
          <p:cNvSpPr/>
          <p:nvPr/>
        </p:nvSpPr>
        <p:spPr>
          <a:xfrm>
            <a:off x="5788152" y="4261104"/>
            <a:ext cx="5827471" cy="492760"/>
          </a:xfrm>
          <a:prstGeom prst="rect">
            <a:avLst/>
          </a:prstGeom>
          <a:noFill/>
          <a:ln/>
        </p:spPr>
        <p:txBody>
          <a:bodyPr wrap="square" lIns="0" tIns="0" rIns="0" bIns="0" rtlCol="0" anchor="t"/>
          <a:lstStyle/>
          <a:p>
            <a:pPr indent="0" marL="0">
              <a:buNone/>
            </a:pPr>
            <a:r>
              <a:rPr lang="en-US" sz="1100" dirty="0">
                <a:solidFill>
                  <a:srgbClr val="212B32"/>
                </a:solidFill>
                <a:latin typeface="Segoe UI" pitchFamily="34" charset="0"/>
                <a:ea typeface="Segoe UI" pitchFamily="34" charset="-122"/>
                <a:cs typeface="Segoe UI" pitchFamily="34" charset="-120"/>
              </a:rPr>
              <a:t>The ICB Chief Medical Officer. The ICB executive committee. Trust chief execs across her partners. The ICB finance team setting the next year's pathway envelope.</a:t>
            </a:r>
            <a:endParaRPr lang="en-US" sz="1100" dirty="0"/>
          </a:p>
        </p:txBody>
      </p:sp>
      <p:sp>
        <p:nvSpPr>
          <p:cNvPr id="28" name="Text 2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29" name="Text 2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0" name="Text 2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CATHERINE’S JOURNEY  ·  THE OUTCOME</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Catherine's win</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Text 4"/>
          <p:cNvSpPr/>
          <p:nvPr/>
        </p:nvSpPr>
        <p:spPr>
          <a:xfrm>
            <a:off x="457200" y="1239012"/>
            <a:ext cx="11277295" cy="766064"/>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Segoe UI" pitchFamily="34" charset="0"/>
                <a:ea typeface="Segoe UI" pitchFamily="34" charset="-122"/>
                <a:cs typeface="Segoe UI" pitchFamily="34" charset="-120"/>
              </a:rPr>
              <a:t>AS cadence held across her Trusts. Outpatient minutes released. Re-biopsy triggers detected earlier.</a:t>
            </a:r>
            <a:endParaRPr lang="en-US" sz="2200" dirty="0"/>
          </a:p>
        </p:txBody>
      </p:sp>
      <p:sp>
        <p:nvSpPr>
          <p:cNvPr id="9" name="Text 5"/>
          <p:cNvSpPr/>
          <p:nvPr/>
        </p:nvSpPr>
        <p:spPr>
          <a:xfrm>
            <a:off x="457200" y="2206244"/>
            <a:ext cx="11277295" cy="640080"/>
          </a:xfrm>
          <a:prstGeom prst="rect">
            <a:avLst/>
          </a:prstGeom>
          <a:noFill/>
          <a:ln/>
        </p:spPr>
        <p:txBody>
          <a:bodyPr wrap="square" lIns="0" tIns="0" rIns="0" bIns="0" rtlCol="0" anchor="t">
            <a:normAutofit/>
          </a:bodyPr>
          <a:lstStyle/>
          <a:p>
            <a:pPr indent="0" marL="0">
              <a:buNone/>
            </a:pPr>
            <a:r>
              <a:rPr lang="en-US" sz="1200" dirty="0">
                <a:solidFill>
                  <a:srgbClr val="212B32"/>
                </a:solidFill>
                <a:latin typeface="Segoe UI" pitchFamily="34" charset="0"/>
                <a:ea typeface="Segoe UI" pitchFamily="34" charset="-122"/>
                <a:cs typeface="Segoe UI" pitchFamily="34" charset="-120"/>
              </a:rPr>
              <a:t>The AS patients didn't see commissioning. They saw a kit in the post and their consultant urologist opening the review with the number already in front of them. </a:t>
            </a:r>
            <a:pPr indent="0" marL="0">
              <a:buNone/>
            </a:pPr>
            <a:r>
              <a:rPr lang="en-US" sz="1200" b="1" dirty="0">
                <a:solidFill>
                  <a:srgbClr val="212B32"/>
                </a:solidFill>
                <a:latin typeface="Segoe UI" pitchFamily="34" charset="0"/>
                <a:ea typeface="Segoe UI" pitchFamily="34" charset="-122"/>
                <a:cs typeface="Segoe UI" pitchFamily="34" charset="-120"/>
              </a:rPr>
              <a:t>The eighteen months Catherine didn't spend stitching Trust deals is the eighteen months her AS cohort didn't drift out of surveillance.</a:t>
            </a:r>
            <a:pPr indent="0" marL="0">
              <a:buNone/>
            </a:pPr>
            <a:r>
              <a:rPr lang="en-US" sz="1200" dirty="0">
                <a:solidFill>
                  <a:srgbClr val="212B32"/>
                </a:solidFill>
                <a:latin typeface="Segoe UI" pitchFamily="34" charset="0"/>
                <a:ea typeface="Segoe UI" pitchFamily="34" charset="-122"/>
                <a:cs typeface="Segoe UI" pitchFamily="34" charset="-120"/>
              </a:rPr>
              <a:t> The next AS-adjacent pathway is an extension of the same signature, not a new arrangement from a clean sheet.</a:t>
            </a:r>
            <a:endParaRPr lang="en-US" sz="1200" dirty="0"/>
          </a:p>
        </p:txBody>
      </p:sp>
      <p:sp>
        <p:nvSpPr>
          <p:cNvPr id="10" name="Shape 6"/>
          <p:cNvSpPr/>
          <p:nvPr/>
        </p:nvSpPr>
        <p:spPr>
          <a:xfrm>
            <a:off x="457200" y="3102356"/>
            <a:ext cx="11277295" cy="1757680"/>
          </a:xfrm>
          <a:prstGeom prst="roundRect">
            <a:avLst>
              <a:gd name="adj" fmla="val 5202"/>
            </a:avLst>
          </a:prstGeom>
          <a:solidFill>
            <a:srgbClr val="FFFFFF"/>
          </a:solidFill>
          <a:ln w="9525">
            <a:solidFill>
              <a:srgbClr val="EBEEF1"/>
            </a:solidFill>
            <a:prstDash val="solid"/>
          </a:ln>
        </p:spPr>
      </p:sp>
      <p:sp>
        <p:nvSpPr>
          <p:cNvPr id="11" name="Shape 7"/>
          <p:cNvSpPr/>
          <p:nvPr/>
        </p:nvSpPr>
        <p:spPr>
          <a:xfrm>
            <a:off x="457200" y="3102356"/>
            <a:ext cx="11277295" cy="64008"/>
          </a:xfrm>
          <a:prstGeom prst="rect">
            <a:avLst/>
          </a:prstGeom>
          <a:solidFill>
            <a:srgbClr val="006747"/>
          </a:solidFill>
          <a:ln w="12700">
            <a:solidFill>
              <a:srgbClr val="006747"/>
            </a:solidFill>
            <a:prstDash val="solid"/>
          </a:ln>
        </p:spPr>
      </p:sp>
      <p:sp>
        <p:nvSpPr>
          <p:cNvPr id="12" name="Text 8"/>
          <p:cNvSpPr/>
          <p:nvPr/>
        </p:nvSpPr>
        <p:spPr>
          <a:xfrm>
            <a:off x="731520" y="3276092"/>
            <a:ext cx="5486400" cy="256032"/>
          </a:xfrm>
          <a:prstGeom prst="rect">
            <a:avLst/>
          </a:prstGeom>
          <a:noFill/>
          <a:ln/>
        </p:spPr>
        <p:txBody>
          <a:bodyPr wrap="square" lIns="0" tIns="0" rIns="0" bIns="0" rtlCol="0" anchor="ctr"/>
          <a:lstStyle/>
          <a:p>
            <a:pPr indent="0" marL="0">
              <a:buNone/>
            </a:pPr>
            <a:r>
              <a:rPr lang="en-US" sz="950" b="1" spc="200" kern="0" dirty="0">
                <a:solidFill>
                  <a:srgbClr val="006747"/>
                </a:solidFill>
                <a:latin typeface="Segoe UI" pitchFamily="34" charset="0"/>
                <a:ea typeface="Segoe UI" pitchFamily="34" charset="-122"/>
                <a:cs typeface="Segoe UI" pitchFamily="34" charset="-120"/>
              </a:rPr>
              <a:t>THE MONEY IN THIS STORY</a:t>
            </a:r>
            <a:endParaRPr lang="en-US" sz="950" dirty="0"/>
          </a:p>
        </p:txBody>
      </p:sp>
      <p:sp>
        <p:nvSpPr>
          <p:cNvPr id="13" name="Text 9"/>
          <p:cNvSpPr/>
          <p:nvPr/>
        </p:nvSpPr>
        <p:spPr>
          <a:xfrm>
            <a:off x="731520" y="3577844"/>
            <a:ext cx="10728655" cy="870712"/>
          </a:xfrm>
          <a:prstGeom prst="rect">
            <a:avLst/>
          </a:prstGeom>
          <a:noFill/>
          <a:ln/>
        </p:spPr>
        <p:txBody>
          <a:bodyPr wrap="square" lIns="0" tIns="0" rIns="0" bIns="0" rtlCol="0" anchor="t">
            <a:normAutofit/>
          </a:bodyPr>
          <a:lstStyle/>
          <a:p>
            <a:pPr indent="0" marL="0">
              <a:spcAft>
                <a:spcPts val="500"/>
              </a:spcAft>
              <a:buNone/>
            </a:pPr>
            <a:r>
              <a:rPr lang="en-US" sz="1150" dirty="0">
                <a:solidFill>
                  <a:srgbClr val="4C6272"/>
                </a:solidFill>
                <a:latin typeface="Segoe UI" pitchFamily="34" charset="0"/>
                <a:ea typeface="Segoe UI" pitchFamily="34" charset="-122"/>
                <a:cs typeface="Segoe UI" pitchFamily="34" charset="-120"/>
              </a:rPr>
              <a:t>Catherine buys the pathway once for her whole system: a call-off at a cost per activity, mandated into her acute partners, rather than a contract per Trust. The national ceiling gives her the worst case in writing; local volume competes the real price below it. She pays the supplier direct from the budget she already holds for the cohort.</a:t>
            </a:r>
            <a:pPr indent="0" marL="0">
              <a:spcAft>
                <a:spcPts val="500"/>
              </a:spcAft>
              <a:buNone/>
            </a:pPr>
            <a:endParaRPr lang="en-US" sz="1150" dirty="0"/>
          </a:p>
          <a:p>
            <a:pPr indent="0" marL="0">
              <a:spcAft>
                <a:spcPts val="500"/>
              </a:spcAft>
              <a:buNone/>
            </a:pPr>
            <a:r>
              <a:rPr lang="en-US" sz="1150" dirty="0">
                <a:solidFill>
                  <a:srgbClr val="4C6272"/>
                </a:solidFill>
                <a:latin typeface="Segoe UI" pitchFamily="34" charset="0"/>
                <a:ea typeface="Segoe UI" pitchFamily="34" charset="-122"/>
                <a:cs typeface="Segoe UI" pitchFamily="34" charset="-120"/>
              </a:rPr>
              <a:t>The return her Trusts feel is capacity: every home draw is a phlebotomy slot handed back to clinics that are short of them.</a:t>
            </a:r>
            <a:endParaRPr lang="en-US" sz="1150" dirty="0"/>
          </a:p>
        </p:txBody>
      </p:sp>
      <p:sp>
        <p:nvSpPr>
          <p:cNvPr id="14" name="Text 10"/>
          <p:cNvSpPr/>
          <p:nvPr/>
        </p:nvSpPr>
        <p:spPr>
          <a:xfrm>
            <a:off x="731520" y="4475988"/>
            <a:ext cx="10728655" cy="329184"/>
          </a:xfrm>
          <a:prstGeom prst="rect">
            <a:avLst/>
          </a:prstGeom>
          <a:noFill/>
          <a:ln/>
        </p:spPr>
        <p:txBody>
          <a:bodyPr wrap="square" lIns="0" tIns="0" rIns="0" bIns="0" rtlCol="0" anchor="b"/>
          <a:lstStyle/>
          <a:p>
            <a:pPr indent="0" marL="0">
              <a:buNone/>
            </a:pPr>
            <a:r>
              <a:rPr lang="en-US" sz="850" i="1"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 See the Money Loop and How Commissioners Buy pages of the operating model.</a:t>
            </a:r>
            <a:endParaRPr lang="en-US" sz="850" dirty="0"/>
          </a:p>
        </p:txBody>
      </p:sp>
      <p:sp>
        <p:nvSpPr>
          <p:cNvPr id="15" name="Text 11"/>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16" name="Text 12"/>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7" name="Text 13"/>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Catherine’s story: HomeTest Hearts and Minds</dc:title>
  <dc:subject>PptxGenJS Presentation</dc:subject>
  <dc:creator>HomeTest Programme</dc:creator>
  <cp:lastModifiedBy>HomeTest Programme</cp:lastModifiedBy>
  <cp:revision>1</cp:revision>
  <dcterms:created xsi:type="dcterms:W3CDTF">2026-09-05T09:10:08Z</dcterms:created>
  <dcterms:modified xsi:type="dcterms:W3CDTF">2026-09-05T09:10:08Z</dcterms:modified>
</cp:coreProperties>
</file>