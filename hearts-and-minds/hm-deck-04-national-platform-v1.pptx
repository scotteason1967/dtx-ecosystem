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promise, not the product. Read the standfirst aloud: it is the proof that this is a live service rather than a strategy document. September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Platform teams are pitched at constantly. Lead with restraint: we are asking to consume, not to be given something new to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kicker is the persuasion. Platform partners measure engagement; a test result is a genuine reason to open an app, unlike most notifications.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line explicitly before they draw it for you. Platform teams respond well to a service that knows what it is not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answers "what will you keep asking us for". The answer is a calendar, not a stream of one-off requests.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soften the open items. The Direction timing question is real and the platform IG team will already know it; showing you know it is what buys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trade. Platform partners are being asked for three specific, unglamorous things, and are getting engagement and a self-contained assurance model in return.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faces and stop talking. If there is one line to leave in the room, it is the one under the portraits.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quirky-zen-galileo/mnt/NHS/07 Sites &amp; Repos/dtx-ecosystem/hearts-and-minds/_generators/assets/bg-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782523" y="457200"/>
            <a:ext cx="86053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1" descr="/sessions/quirky-zen-galileo/mnt/NHS/07 Sites &amp; Repos/dtx-ecosystem/hearts-and-minds/_generators/assets/nh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9683" y="557784"/>
            <a:ext cx="586212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5669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80" kern="0" dirty="0">
                <a:solidFill>
                  <a:srgbClr val="FFD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HEARTS AND MINDS  ·  NATIONAL PLATFORM EDITION  ·  NO.4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685800" y="969264"/>
            <a:ext cx="822960" cy="50292"/>
          </a:xfrm>
          <a:prstGeom prst="rect">
            <a:avLst/>
          </a:prstGeom>
          <a:solidFill>
            <a:srgbClr val="FFD66B"/>
          </a:solidFill>
          <a:ln w="12700">
            <a:solidFill>
              <a:srgbClr val="FFD66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85800" y="1207008"/>
            <a:ext cx="10424160" cy="154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600" b="1" spc="-12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integration. Every test that follows.</a:t>
            </a:r>
            <a:endParaRPr lang="en-US" sz="4600" dirty="0"/>
          </a:p>
        </p:txBody>
      </p:sp>
      <p:sp>
        <p:nvSpPr>
          <p:cNvPr id="8" name="Text 4"/>
          <p:cNvSpPr/>
          <p:nvPr/>
        </p:nvSpPr>
        <p:spPr>
          <a:xfrm>
            <a:off x="685800" y="3058160"/>
            <a:ext cx="8595360" cy="752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CE7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HomeTest rides the national rails rather than building beside them. What we need from the platform is stable interfaces; what the platform gets back is a high-frequency, clinically useful reason for people to open the App.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85800" y="4195064"/>
            <a:ext cx="10424160" cy="673100"/>
          </a:xfrm>
          <a:prstGeom prst="roundRect">
            <a:avLst>
              <a:gd name="adj" fmla="val 13585"/>
            </a:avLst>
          </a:prstGeom>
          <a:solidFill>
            <a:srgbClr val="0A3D8F"/>
          </a:solidFill>
          <a:ln w="9525">
            <a:solidFill>
              <a:srgbClr val="2C5FA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85800" y="4195064"/>
            <a:ext cx="10424160" cy="64008"/>
          </a:xfrm>
          <a:prstGeom prst="rect">
            <a:avLst/>
          </a:prstGeom>
          <a:solidFill>
            <a:srgbClr val="FFD66B"/>
          </a:solidFill>
          <a:ln w="12700">
            <a:solidFill>
              <a:srgbClr val="FFD66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14400" y="4323080"/>
            <a:ext cx="9966960" cy="453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CE7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NHS Login and NHS Notify integrations are live. HIV self-testing runs through the NHS App in Private Beta with two local authority areas.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6455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C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Hearts and Minds  ·  audience deck No.4  ·  National platform edition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754880" y="6455664"/>
            <a:ext cx="6430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C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positions are agreed in principle and remain subject to the live procurement.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quirky-zen-galileo/mnt/NHS/07 Sites &amp; Repos/dtx-ecosystem/hearts-and-minds/_generators/assets/bg-ba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371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FFD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AROUND THE PEOPLE WHO RUN THE RAILS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4023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Priya keeps the connective tissue standing.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10942806" y="173736"/>
            <a:ext cx="791689" cy="605699"/>
          </a:xfrm>
          <a:prstGeom prst="roundRect">
            <a:avLst>
              <a:gd name="adj" fmla="val 12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/sessions/quirky-zen-galileo/mnt/NHS/07 Sites &amp; Repos/dtx-ecosystem/hearts-and-minds/_generators/assets/nh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993" y="266273"/>
            <a:ext cx="539315" cy="4206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2252726"/>
            <a:ext cx="5501488" cy="2157984"/>
          </a:xfrm>
          <a:prstGeom prst="roundRect">
            <a:avLst>
              <a:gd name="adj" fmla="val 4237"/>
            </a:avLst>
          </a:prstGeom>
          <a:solidFill>
            <a:srgbClr val="F8FA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2252726"/>
            <a:ext cx="5501488" cy="64008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0080" y="2508758"/>
            <a:ext cx="1106424" cy="1106424"/>
          </a:xfrm>
          <a:prstGeom prst="ellipse">
            <a:avLst/>
          </a:prstGeom>
          <a:solidFill>
            <a:srgbClr val="00A499"/>
          </a:solidFill>
          <a:ln w="12700">
            <a:solidFill>
              <a:srgbClr val="00A499"/>
            </a:solidFill>
            <a:prstDash val="solid"/>
          </a:ln>
        </p:spPr>
      </p:sp>
      <p:pic>
        <p:nvPicPr>
          <p:cNvPr id="11" name="Image 2" descr="/sessions/quirky-zen-galileo/mnt/NHS/07 Sites &amp; Repos/dtx-ecosystem/hearts-and-minds/_generators/assets/portraits/priya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3232" y="2581910"/>
            <a:ext cx="960120" cy="960120"/>
          </a:xfrm>
          <a:prstGeom prst="ellipse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74520" y="2545334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Priya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874520" y="2911094"/>
            <a:ext cx="385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Senior product manager, NHS England Digital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713232" y="3670046"/>
            <a:ext cx="64008" cy="603504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77824" y="3633470"/>
            <a:ext cx="47882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 do not need another service building its own front door. I need the ones we have to carry more that is worth carrying.”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33008" y="2252726"/>
            <a:ext cx="5501488" cy="2157984"/>
          </a:xfrm>
          <a:prstGeom prst="roundRect">
            <a:avLst>
              <a:gd name="adj" fmla="val 4237"/>
            </a:avLst>
          </a:prstGeom>
          <a:solidFill>
            <a:srgbClr val="F8FA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233008" y="2252726"/>
            <a:ext cx="5501488" cy="64008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15888" y="2508758"/>
            <a:ext cx="1106424" cy="1106424"/>
          </a:xfrm>
          <a:prstGeom prst="ellipse">
            <a:avLst/>
          </a:prstGeom>
          <a:solidFill>
            <a:srgbClr val="00A499"/>
          </a:solidFill>
          <a:ln w="12700">
            <a:solidFill>
              <a:srgbClr val="00A499"/>
            </a:solidFill>
            <a:prstDash val="solid"/>
          </a:ln>
        </p:spPr>
      </p:sp>
      <p:pic>
        <p:nvPicPr>
          <p:cNvPr id="19" name="Image 3" descr="/sessions/quirky-zen-galileo/mnt/NHS/07 Sites &amp; Repos/dtx-ecosystem/hearts-and-minds/_generators/assets/portraits/ngozi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89040" y="2581910"/>
            <a:ext cx="960120" cy="960120"/>
          </a:xfrm>
          <a:prstGeom prst="ellipse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50328" y="2545334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Ngozi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7650328" y="2911094"/>
            <a:ext cx="385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489040" y="3670046"/>
            <a:ext cx="64008" cy="603504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653632" y="3633470"/>
            <a:ext cx="47882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“Controllership, lawful basis and the DPIA are settled before go-live, or there is no go-live.”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4721606"/>
            <a:ext cx="11277295" cy="500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platform view of a new service is usually a support burden. This one is designed the other way round: </a:t>
            </a:r>
            <a:pPr indent="0" marL="0">
              <a:buNone/>
            </a:pPr>
            <a:r>
              <a:rPr lang="en-US" sz="1300" b="1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once nationally, then reuse that integration for every test category that opens afterwards.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55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Hearts and Minds  ·  audience deck No.4  ·  National platform edition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4754880" y="6455664"/>
            <a:ext cx="6430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positions are agreed in principle and remain subject to the live procurement.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2301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quirky-zen-galileo/mnt/NHS/07 Sites &amp; Repos/dtx-ecosystem/hearts-and-minds/_generators/assets/bg-ba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371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FFD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FRONT DOOR ALREADY EXISTS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4023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reach is there. The reason to open the App is what we add.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10942806" y="173736"/>
            <a:ext cx="791689" cy="605699"/>
          </a:xfrm>
          <a:prstGeom prst="roundRect">
            <a:avLst>
              <a:gd name="adj" fmla="val 12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/sessions/quirky-zen-galileo/mnt/NHS/07 Sites &amp; Repos/dtx-ecosystem/hearts-and-minds/_generators/assets/nh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993" y="266273"/>
            <a:ext cx="539315" cy="4206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2340483"/>
            <a:ext cx="3588410" cy="2004314"/>
          </a:xfrm>
          <a:prstGeom prst="roundRect">
            <a:avLst>
              <a:gd name="adj" fmla="val 4562"/>
            </a:avLst>
          </a:prstGeom>
          <a:solidFill>
            <a:srgbClr val="F4F8FC"/>
          </a:solidFill>
          <a:ln w="9525">
            <a:solidFill>
              <a:srgbClr val="B8D3E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2340483"/>
            <a:ext cx="3588410" cy="640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76656" y="2559939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spc="-150" kern="0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39m</a:t>
            </a:r>
            <a:endParaRPr lang="en-US" sz="4200" dirty="0"/>
          </a:p>
        </p:txBody>
      </p:sp>
      <p:sp>
        <p:nvSpPr>
          <p:cNvPr id="11" name="Text 7"/>
          <p:cNvSpPr/>
          <p:nvPr/>
        </p:nvSpPr>
        <p:spPr>
          <a:xfrm>
            <a:off x="676656" y="3382899"/>
            <a:ext cx="3149498" cy="522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registered on the NHS App, with 62.3m logins in a single month.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76656" y="3905885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NHS England, December 2025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301642" y="2340483"/>
            <a:ext cx="3588410" cy="2004314"/>
          </a:xfrm>
          <a:prstGeom prst="roundRect">
            <a:avLst>
              <a:gd name="adj" fmla="val 4562"/>
            </a:avLst>
          </a:prstGeom>
          <a:solidFill>
            <a:srgbClr val="F4F8FC"/>
          </a:solidFill>
          <a:ln w="9525">
            <a:solidFill>
              <a:srgbClr val="B8D3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301642" y="2340483"/>
            <a:ext cx="3588410" cy="640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21098" y="2559939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spc="-150" kern="0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1.25bn</a:t>
            </a:r>
            <a:endParaRPr lang="en-US" sz="4200" dirty="0"/>
          </a:p>
        </p:txBody>
      </p:sp>
      <p:sp>
        <p:nvSpPr>
          <p:cNvPr id="16" name="Text 12"/>
          <p:cNvSpPr/>
          <p:nvPr/>
        </p:nvSpPr>
        <p:spPr>
          <a:xfrm>
            <a:off x="4521098" y="3382899"/>
            <a:ext cx="3149498" cy="522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pathology test requests projected for 2025/26, growing about 5.5% a year: demand that will land somewhere.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21098" y="3905885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Programme analysis, 2026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8146085" y="2340483"/>
            <a:ext cx="3588410" cy="2004314"/>
          </a:xfrm>
          <a:prstGeom prst="roundRect">
            <a:avLst>
              <a:gd name="adj" fmla="val 4562"/>
            </a:avLst>
          </a:prstGeom>
          <a:solidFill>
            <a:srgbClr val="F4F8FC"/>
          </a:solidFill>
          <a:ln w="9525">
            <a:solidFill>
              <a:srgbClr val="B8D3E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46085" y="2340483"/>
            <a:ext cx="3588410" cy="640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365541" y="2559939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spc="-150" kern="0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4200" dirty="0"/>
          </a:p>
        </p:txBody>
      </p:sp>
      <p:sp>
        <p:nvSpPr>
          <p:cNvPr id="21" name="Text 17"/>
          <p:cNvSpPr/>
          <p:nvPr/>
        </p:nvSpPr>
        <p:spPr>
          <a:xfrm>
            <a:off x="8365541" y="3382899"/>
            <a:ext cx="3149498" cy="522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 services consumed: NHS App as the patient surface, NHS Login for identity, NHS Notify for communications.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8365541" y="3905885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HomeTest operating model, Ecosystem: Consumed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457200" y="4619117"/>
            <a:ext cx="11277295" cy="515620"/>
          </a:xfrm>
          <a:prstGeom prst="roundRect">
            <a:avLst>
              <a:gd name="adj" fmla="val 17734"/>
            </a:avLst>
          </a:prstGeom>
          <a:solidFill>
            <a:srgbClr val="FFF9EC"/>
          </a:solidFill>
          <a:ln w="9525">
            <a:solidFill>
              <a:srgbClr val="E6C96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31520" y="4728845"/>
            <a:ext cx="10728655" cy="296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diagnostic result is a high-value reason to return to the App. Testing gives the front door something to be a front door for.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57200" y="6455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Hearts and Minds  ·  audience deck No.4  ·  National platform edition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4754880" y="6455664"/>
            <a:ext cx="6430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positions are agreed in principle and remain subject to the live procurement.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1132301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quirky-zen-galileo/mnt/NHS/07 Sites &amp; Repos/dtx-ecosystem/hearts-and-minds/_generators/assets/bg-ba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371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FFD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BOUNDARY, STATED PLAINLY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4023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consume, and what we build.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10942806" y="173736"/>
            <a:ext cx="791689" cy="605699"/>
          </a:xfrm>
          <a:prstGeom prst="roundRect">
            <a:avLst>
              <a:gd name="adj" fmla="val 12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/sessions/quirky-zen-galileo/mnt/NHS/07 Sites &amp; Repos/dtx-ecosystem/hearts-and-minds/_generators/assets/nh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993" y="266273"/>
            <a:ext cx="539315" cy="4206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2182622"/>
            <a:ext cx="5501488" cy="38404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2182622"/>
            <a:ext cx="513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CONSUMED, OWNED BY YOU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57200" y="2566670"/>
            <a:ext cx="5501488" cy="1731264"/>
          </a:xfrm>
          <a:prstGeom prst="rect">
            <a:avLst/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8368" y="2694686"/>
            <a:ext cx="5099152" cy="1456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NHS App as the patient surface.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NHS Login for identity and authentication.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NHS Notify for patient communications.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FHIR routing, and the record destinations that follow it.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33008" y="2182622"/>
            <a:ext cx="5501488" cy="384048"/>
          </a:xfrm>
          <a:prstGeom prst="rect">
            <a:avLst/>
          </a:prstGeom>
          <a:solidFill>
            <a:srgbClr val="006747"/>
          </a:solidFill>
          <a:ln w="12700">
            <a:solidFill>
              <a:srgbClr val="00674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15888" y="2182622"/>
            <a:ext cx="513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AND RUN BY HOMETEST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33008" y="2566670"/>
            <a:ext cx="5501488" cy="1731264"/>
          </a:xfrm>
          <a:prstGeom prst="rect">
            <a:avLst/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34176" y="2694686"/>
            <a:ext cx="5099152" cy="1456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supplier onboarding gateway and the accredited register.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pattern catalogue: initiation, fulfilment, result handling per configuration.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 logistics, laboratory routing and the exception model.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commercial layer: call-offs, ceiling, levy and MI.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4572254"/>
            <a:ext cx="11277295" cy="720344"/>
          </a:xfrm>
          <a:prstGeom prst="roundRect">
            <a:avLst>
              <a:gd name="adj" fmla="val 12694"/>
            </a:avLst>
          </a:prstGeom>
          <a:solidFill>
            <a:srgbClr val="FFF9EC"/>
          </a:solidFill>
          <a:ln w="9525">
            <a:solidFill>
              <a:srgbClr val="E6C96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31520" y="4663694"/>
            <a:ext cx="10728655" cy="537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line is deliberate. Where a national service exists we use it; where it does not, we build inside the framework rather than asking the platform to absorb new scope.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7200" y="6455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Hearts and Minds  ·  audience deck No.4  ·  National platform edition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754880" y="6455664"/>
            <a:ext cx="6430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positions are agreed in principle and remain subject to the live procurement.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1132301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quirky-zen-galileo/mnt/NHS/07 Sites &amp; Repos/dtx-ecosystem/hearts-and-minds/_generators/assets/bg-ba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371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FFD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INTEGRATION IS WORTH DOING ONCE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4023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 model means the integration does not repeat per test.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10942806" y="173736"/>
            <a:ext cx="791689" cy="605699"/>
          </a:xfrm>
          <a:prstGeom prst="roundRect">
            <a:avLst>
              <a:gd name="adj" fmla="val 12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/sessions/quirky-zen-galileo/mnt/NHS/07 Sites &amp; Repos/dtx-ecosystem/hearts-and-minds/_generators/assets/nh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993" y="266273"/>
            <a:ext cx="539315" cy="4206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2253996"/>
            <a:ext cx="5510632" cy="1364742"/>
          </a:xfrm>
          <a:prstGeom prst="roundRect">
            <a:avLst>
              <a:gd name="adj" fmla="val 6700"/>
            </a:avLst>
          </a:prstGeom>
          <a:solidFill>
            <a:srgbClr val="F8FA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2253996"/>
            <a:ext cx="5510632" cy="64008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76656" y="2436876"/>
            <a:ext cx="5071720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once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76656" y="2801112"/>
            <a:ext cx="5071720" cy="63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supplier makes the one-off platform connection at Tier 1: connection agreement, HSCN, service management and incident routes. That is the only time the plumbing is built.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23864" y="2253996"/>
            <a:ext cx="5510632" cy="1364742"/>
          </a:xfrm>
          <a:prstGeom prst="roundRect">
            <a:avLst>
              <a:gd name="adj" fmla="val 6700"/>
            </a:avLst>
          </a:prstGeom>
          <a:solidFill>
            <a:srgbClr val="F8FA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23864" y="2253996"/>
            <a:ext cx="5510632" cy="64008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3320" y="2436876"/>
            <a:ext cx="5071720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Conform per test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43320" y="2801112"/>
            <a:ext cx="5071720" cy="63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2 is API and journey conformance against published, versioned specifications for that test category, with performance evidence. Configuration, not new integration.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856482"/>
            <a:ext cx="5510632" cy="1364742"/>
          </a:xfrm>
          <a:prstGeom prst="roundRect">
            <a:avLst>
              <a:gd name="adj" fmla="val 6700"/>
            </a:avLst>
          </a:prstGeom>
          <a:solidFill>
            <a:srgbClr val="F8FA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3856482"/>
            <a:ext cx="5510632" cy="64008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76656" y="4039362"/>
            <a:ext cx="5071720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 by gates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76656" y="4403598"/>
            <a:ext cx="5071720" cy="63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test categories open on a published roadmap at reopening windows, annual as the working assumption. The platform plans against a calendar, not a queue of requests.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223864" y="3856482"/>
            <a:ext cx="5510632" cy="1364742"/>
          </a:xfrm>
          <a:prstGeom prst="roundRect">
            <a:avLst>
              <a:gd name="adj" fmla="val 6700"/>
            </a:avLst>
          </a:prstGeom>
          <a:solidFill>
            <a:srgbClr val="F8FA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23864" y="3856482"/>
            <a:ext cx="5510632" cy="64008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43320" y="4039362"/>
            <a:ext cx="5071720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without estate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443320" y="4403598"/>
            <a:ext cx="5071720" cy="634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 scales with kit logistics and laboratory capacity. It does not scale with anything the platform has to house.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57200" y="6455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Hearts and Minds  ·  audience deck No.4  ·  National platform edition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4754880" y="6455664"/>
            <a:ext cx="6430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positions are agreed in principle and remain subject to the live procurement.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1132301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quirky-zen-galileo/mnt/NHS/07 Sites &amp; Repos/dtx-ecosystem/hearts-and-minds/_generators/assets/bg-ba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371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FFD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AND DATA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4023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information governance position, as it stands.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10942806" y="173736"/>
            <a:ext cx="791689" cy="605699"/>
          </a:xfrm>
          <a:prstGeom prst="roundRect">
            <a:avLst>
              <a:gd name="adj" fmla="val 12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/sessions/quirky-zen-galileo/mnt/NHS/07 Sites &amp; Repos/dtx-ecosystem/hearts-and-minds/_generators/assets/nh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993" y="266273"/>
            <a:ext cx="539315" cy="4206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2072894"/>
            <a:ext cx="5510632" cy="1545844"/>
          </a:xfrm>
          <a:prstGeom prst="roundRect">
            <a:avLst>
              <a:gd name="adj" fmla="val 5915"/>
            </a:avLst>
          </a:prstGeom>
          <a:solidFill>
            <a:srgbClr val="F8FA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2072894"/>
            <a:ext cx="5510632" cy="64008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76656" y="2255774"/>
            <a:ext cx="5071720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Federated controllership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76656" y="2620010"/>
            <a:ext cx="5071720" cy="81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NHS England as controller for the foundation, the commissioner as controller for the testing purpose, the supplier as processor. Joint controller arrangements have been ruled out; the exact split per configuration is still being scoped.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23864" y="2072894"/>
            <a:ext cx="5510632" cy="1545844"/>
          </a:xfrm>
          <a:prstGeom prst="roundRect">
            <a:avLst>
              <a:gd name="adj" fmla="val 5915"/>
            </a:avLst>
          </a:prstGeom>
          <a:solidFill>
            <a:srgbClr val="F8FA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23864" y="2072894"/>
            <a:ext cx="5510632" cy="64008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3320" y="2255774"/>
            <a:ext cx="5071720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Executed before go-live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43320" y="2620010"/>
            <a:ext cx="5071720" cy="81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DPIA, data-sharing and processing agreements are executed before the first kit ships, under the inherited IG artefact stack, with existing controllership intact.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856482"/>
            <a:ext cx="5510632" cy="1545844"/>
          </a:xfrm>
          <a:prstGeom prst="roundRect">
            <a:avLst>
              <a:gd name="adj" fmla="val 5915"/>
            </a:avLst>
          </a:prstGeom>
          <a:solidFill>
            <a:srgbClr val="F8FA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3856482"/>
            <a:ext cx="5510632" cy="64008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76656" y="4039362"/>
            <a:ext cx="5071720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Lawful basis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76656" y="4403598"/>
            <a:ext cx="5071720" cy="81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Beta is system delivery: data moved to enable care, with no NHS England analysis for its own purposes, so no legal Direction is required. Public Beta likely needs a Direction if that changes.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223864" y="3856482"/>
            <a:ext cx="5510632" cy="1545844"/>
          </a:xfrm>
          <a:prstGeom prst="roundRect">
            <a:avLst>
              <a:gd name="adj" fmla="val 5915"/>
            </a:avLst>
          </a:prstGeom>
          <a:solidFill>
            <a:srgbClr val="F8FA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23864" y="3856482"/>
            <a:ext cx="5510632" cy="64008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43320" y="4039362"/>
            <a:ext cx="5071720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record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443320" y="4403598"/>
            <a:ext cx="5071720" cy="81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NHS holds the record. Results flow to the destination the configuration specifies, not into a supplier silo.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57200" y="6455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Hearts and Minds  ·  audience deck No.4  ·  National platform edition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4754880" y="6455664"/>
            <a:ext cx="6430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positions are agreed in principle and remain subject to the live procurement.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1132301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quirky-zen-galileo/mnt/NHS/07 Sites &amp; Repos/dtx-ecosystem/hearts-and-minds/_generators/assets/bg-ba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9326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371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FFD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NEED FROM THE PLATFORM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4023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things, none of them new scope.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10942806" y="173736"/>
            <a:ext cx="791689" cy="605699"/>
          </a:xfrm>
          <a:prstGeom prst="roundRect">
            <a:avLst>
              <a:gd name="adj" fmla="val 12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/sessions/quirky-zen-galileo/mnt/NHS/07 Sites &amp; Repos/dtx-ecosystem/hearts-and-minds/_generators/assets/nh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993" y="266273"/>
            <a:ext cx="539315" cy="4206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2049526"/>
            <a:ext cx="3588410" cy="2278888"/>
          </a:xfrm>
          <a:prstGeom prst="roundRect">
            <a:avLst>
              <a:gd name="adj" fmla="val 4012"/>
            </a:avLst>
          </a:prstGeom>
          <a:solidFill>
            <a:srgbClr val="F8FA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2049526"/>
            <a:ext cx="3588410" cy="64008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76656" y="2177542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00A4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676656" y="2890774"/>
            <a:ext cx="31494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Stable, versioned interfaces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76656" y="3347974"/>
            <a:ext cx="3149498" cy="81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Published specifications we can hold suppliers to at Tier 2 conformance, with a deprecation policy we can plan around.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301642" y="2049526"/>
            <a:ext cx="3588410" cy="2278888"/>
          </a:xfrm>
          <a:prstGeom prst="roundRect">
            <a:avLst>
              <a:gd name="adj" fmla="val 4012"/>
            </a:avLst>
          </a:prstGeom>
          <a:solidFill>
            <a:srgbClr val="F8FA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301642" y="2049526"/>
            <a:ext cx="3588410" cy="64008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21098" y="2177542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00A4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4000" dirty="0"/>
          </a:p>
        </p:txBody>
      </p:sp>
      <p:sp>
        <p:nvSpPr>
          <p:cNvPr id="16" name="Text 12"/>
          <p:cNvSpPr/>
          <p:nvPr/>
        </p:nvSpPr>
        <p:spPr>
          <a:xfrm>
            <a:off x="4521098" y="2890774"/>
            <a:ext cx="31494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alignment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21098" y="3347974"/>
            <a:ext cx="3149498" cy="81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gate calendar set against yours, so a category opens when the platform can carry it rather than when a supplier is ready.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46085" y="2049526"/>
            <a:ext cx="3588410" cy="2278888"/>
          </a:xfrm>
          <a:prstGeom prst="roundRect">
            <a:avLst>
              <a:gd name="adj" fmla="val 4012"/>
            </a:avLst>
          </a:prstGeom>
          <a:solidFill>
            <a:srgbClr val="F8FAFC"/>
          </a:solidFill>
          <a:ln w="9525">
            <a:solidFill>
              <a:srgbClr val="EBEEF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46085" y="2049526"/>
            <a:ext cx="3588410" cy="64008"/>
          </a:xfrm>
          <a:prstGeom prst="rect">
            <a:avLst/>
          </a:prstGeom>
          <a:solidFill>
            <a:srgbClr val="00A499"/>
          </a:solidFill>
          <a:ln w="12700">
            <a:solidFill>
              <a:srgbClr val="00A49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365541" y="2177542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00A4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4000" dirty="0"/>
          </a:p>
        </p:txBody>
      </p:sp>
      <p:sp>
        <p:nvSpPr>
          <p:cNvPr id="21" name="Text 17"/>
          <p:cNvSpPr/>
          <p:nvPr/>
        </p:nvSpPr>
        <p:spPr>
          <a:xfrm>
            <a:off x="8365541" y="2890774"/>
            <a:ext cx="31494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30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named counterpart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8365541" y="3347974"/>
            <a:ext cx="3149498" cy="81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person per foundation service for integration, incident routes and uptime, on the RACI that already exists in the model.</a:t>
            </a:r>
            <a:endParaRPr lang="en-US" sz="1150" dirty="0"/>
          </a:p>
        </p:txBody>
      </p:sp>
      <p:pic>
        <p:nvPicPr>
          <p:cNvPr id="23" name="Image 2" descr="/sessions/quirky-zen-galileo/mnt/NHS/07 Sites &amp; Repos/dtx-ecosystem/hearts-and-minds/_generators/assets/bg-ban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602734"/>
            <a:ext cx="11277295" cy="8229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77240" y="4694174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return: a service that consumes what exists, brings its own assurance, and gives the front door a clinically useful reason to be opened.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57200" y="6455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Hearts and Minds  ·  audience deck No.4  ·  National platform edition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4754880" y="6455664"/>
            <a:ext cx="6430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positions are agreed in principle and remain subject to the live procurement.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1132301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E8B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quirky-zen-galileo/mnt/NHS/07 Sites &amp; Repos/dtx-ecosystem/hearts-and-minds/_generators/assets/bg-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782523" y="457200"/>
            <a:ext cx="86053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1" descr="/sessions/quirky-zen-galileo/mnt/NHS/07 Sites &amp; Repos/dtx-ecosystem/hearts-and-minds/_generators/assets/nh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9683" y="557784"/>
            <a:ext cx="586212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5669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80" kern="0" dirty="0">
                <a:solidFill>
                  <a:srgbClr val="FFD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HEARTS AND MINDS  ·  NATIONAL PLATFORM EDITION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685800" y="969264"/>
            <a:ext cx="822960" cy="50292"/>
          </a:xfrm>
          <a:prstGeom prst="rect">
            <a:avLst/>
          </a:prstGeom>
          <a:solidFill>
            <a:srgbClr val="FFD66B"/>
          </a:solidFill>
          <a:ln w="12700">
            <a:solidFill>
              <a:srgbClr val="FFD66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85800" y="12344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spc="-12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integration. Every test that follows.</a:t>
            </a:r>
            <a:endParaRPr lang="en-US" sz="3800" dirty="0"/>
          </a:p>
        </p:txBody>
      </p:sp>
      <p:sp>
        <p:nvSpPr>
          <p:cNvPr id="8" name="Shape 4"/>
          <p:cNvSpPr/>
          <p:nvPr/>
        </p:nvSpPr>
        <p:spPr>
          <a:xfrm>
            <a:off x="704088" y="2944368"/>
            <a:ext cx="1517904" cy="1517904"/>
          </a:xfrm>
          <a:prstGeom prst="ellipse">
            <a:avLst/>
          </a:prstGeom>
          <a:solidFill>
            <a:srgbClr val="FFD66B"/>
          </a:solidFill>
          <a:ln w="12700">
            <a:solidFill>
              <a:srgbClr val="FFD66B"/>
            </a:solidFill>
            <a:prstDash val="solid"/>
          </a:ln>
        </p:spPr>
      </p:sp>
      <p:pic>
        <p:nvPicPr>
          <p:cNvPr id="9" name="Image 2" descr="/sessions/quirky-zen-galileo/mnt/NHS/07 Sites &amp; Repos/dtx-ecosystem/hearts-and-minds/_generators/assets/portraits/priya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7240" y="3017520"/>
            <a:ext cx="1371600" cy="1371600"/>
          </a:xfrm>
          <a:prstGeom prst="ellipse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864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Priya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2715768" y="2944368"/>
            <a:ext cx="1517904" cy="1517904"/>
          </a:xfrm>
          <a:prstGeom prst="ellipse">
            <a:avLst/>
          </a:prstGeom>
          <a:solidFill>
            <a:srgbClr val="FFD66B"/>
          </a:solidFill>
          <a:ln w="12700">
            <a:solidFill>
              <a:srgbClr val="FFD66B"/>
            </a:solidFill>
            <a:prstDash val="solid"/>
          </a:ln>
        </p:spPr>
      </p:sp>
      <p:pic>
        <p:nvPicPr>
          <p:cNvPr id="12" name="Image 3" descr="/sessions/quirky-zen-galileo/mnt/NHS/07 Sites &amp; Repos/dtx-ecosystem/hearts-and-minds/_generators/assets/portraits/ngozi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788920" y="3017520"/>
            <a:ext cx="1371600" cy="1371600"/>
          </a:xfrm>
          <a:prstGeom prst="ellipse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56032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Ngozi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777240" y="50749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D6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 what exists. Assure what does not. Integrate once.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777240" y="5532120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FC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positions are agreed in principle and remain subject to the live procurement. Figures carry their source in the Hearts and Minds evidence register.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457200" y="6455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C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Hearts and Minds  ·  audience deck No.4  ·  National platform edition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4754880" y="6455664"/>
            <a:ext cx="6430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C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positions are agreed in principle and remain subject to the live procurement.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11323015" y="64556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FC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NHS England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HomeTest Hearts and Minds No.4: National platform edition</dc:title>
  <dc:subject>PptxGenJS Presentation</dc:subject>
  <dc:creator>HomeTest Programme</dc:creator>
  <cp:lastModifiedBy>HomeTest Programme</cp:lastModifiedBy>
  <cp:revision>1</cp:revision>
  <dcterms:created xsi:type="dcterms:W3CDTF">2026-09-05T09:22:19Z</dcterms:created>
  <dcterms:modified xsi:type="dcterms:W3CDTF">2026-09-05T09:22:19Z</dcterms:modified>
</cp:coreProperties>
</file>