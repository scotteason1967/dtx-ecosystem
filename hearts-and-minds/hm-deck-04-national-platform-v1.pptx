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promise, not the product. HomeTest rides the national rails rather than building beside them. What we need from the platform is stable interfaces; what the platform gets back is a high-frequency, clinically useful reason for people to open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teams are pitched at constantly. Lead with restraint: we are asking to consume, not to be given something new to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kicker is the persuasion. Platform partners measure engagement; a test result is a genuine reason to open an app, unlike most notifications.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line explicitly before they draw it for you. Platform teams respond well to a service that knows what it is not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"what will you keep asking us for". The answer is a calendar, not a stream of one-off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the open items. The Direction timing question is real and the platform IG team will already know it; showing you know it is what buys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trade. Platform partners are being asked for three specific, unglamorous things, and are getting engagement and a self-contained assurance model in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crops/abdul-1-0.78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6735" y="0"/>
            <a:ext cx="53949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3214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48640" y="457200"/>
            <a:ext cx="8605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7784"/>
            <a:ext cx="586212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1417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FB9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NATIONAL PLATFORM EDITION · NO.4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1783080"/>
            <a:ext cx="5760720" cy="2101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integration. Every test that follows.</a:t>
            </a:r>
            <a:endParaRPr lang="en-US" sz="4150" dirty="0"/>
          </a:p>
        </p:txBody>
      </p:sp>
      <p:sp>
        <p:nvSpPr>
          <p:cNvPr id="8" name="Text 4"/>
          <p:cNvSpPr/>
          <p:nvPr/>
        </p:nvSpPr>
        <p:spPr>
          <a:xfrm>
            <a:off x="548640" y="4067175"/>
            <a:ext cx="5669280" cy="11692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HomeTest rides the national rails rather than building beside them. What we need from the platform is stable interfaces; what the platform gets back is a high-frequency, clinically useful reason for people to open the App.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5465064"/>
            <a:ext cx="5669280" cy="7235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E8F0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Login and NHS Notify integrations are live. HIV self-testing runs through the NHS App in Private Beta with two local authority areas.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407512" y="6473952"/>
            <a:ext cx="240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THE PEOPLE WHO RUN THE RAILS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110642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 keeps the connective tissue standing.</a:t>
            </a:r>
            <a:endParaRPr lang="en-US" sz="2700" dirty="0"/>
          </a:p>
        </p:txBody>
      </p:sp>
      <p:pic>
        <p:nvPicPr>
          <p:cNvPr id="5" name="Image 0" descr="/sessions/quirky-zen-galileo/mnt/NHS/07 Sites &amp; Repos/dtx-ecosystem/hearts-and-minds/_generators/assets/portraits/priy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97330"/>
            <a:ext cx="1278826" cy="1278826"/>
          </a:xfrm>
          <a:prstGeom prst="ellipse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2821877"/>
            <a:ext cx="2010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2558986" y="1497330"/>
            <a:ext cx="9084069" cy="1278826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2833306" y="1588770"/>
            <a:ext cx="8535429" cy="109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 do not need another service building its own front door. I need the ones we have to carry more that is worth carrying.”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2833306" y="2803589"/>
            <a:ext cx="8535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Senior product manager, NHS England Digital</a:t>
            </a:r>
            <a:endParaRPr lang="en-US" sz="1050" dirty="0"/>
          </a:p>
        </p:txBody>
      </p:sp>
      <p:pic>
        <p:nvPicPr>
          <p:cNvPr id="10" name="Image 1" descr="/sessions/quirky-zen-galileo/mnt/NHS/07 Sites &amp; Repos/dtx-ecosystem/hearts-and-minds/_generators/assets/portraits/ngoz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79077"/>
            <a:ext cx="1278826" cy="1278826"/>
          </a:xfrm>
          <a:prstGeom prst="ellipse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5760" y="4603623"/>
            <a:ext cx="2010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Ngozi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558986" y="3279077"/>
            <a:ext cx="9084069" cy="1278826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2833306" y="3370517"/>
            <a:ext cx="8535429" cy="109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“Controllership, lawful basis and the DPIA are settled before go-live, or there is no go-live.”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2833306" y="4585335"/>
            <a:ext cx="8535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 governance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548640" y="5106543"/>
            <a:ext cx="11064240" cy="7730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platform view of a new service is usually a support burden. This one is designed the other way round: </a:t>
            </a:r>
            <a:pPr indent="0" marL="0">
              <a:buNone/>
            </a:pPr>
            <a:r>
              <a:rPr lang="en-US" sz="1450" b="1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 once nationally, then reuse that integration for every test category that opens afterwards.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6309360" y="647395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abdul-2-0.6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5510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48640" y="411480"/>
            <a:ext cx="64949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FRONT DOOR ALREADY EXISTS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731520"/>
            <a:ext cx="6494983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reach is there. The reason to open the App is what we add.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502920" y="1686560"/>
            <a:ext cx="357224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39m</a:t>
            </a:r>
            <a:endParaRPr lang="en-US" sz="8000" dirty="0"/>
          </a:p>
        </p:txBody>
      </p:sp>
      <p:sp>
        <p:nvSpPr>
          <p:cNvPr id="8" name="Text 4"/>
          <p:cNvSpPr/>
          <p:nvPr/>
        </p:nvSpPr>
        <p:spPr>
          <a:xfrm>
            <a:off x="4120881" y="1823720"/>
            <a:ext cx="2922742" cy="748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 registered on the NHS App, with 62.3m logins in a single month.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2948432"/>
            <a:ext cx="64949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England, December 2025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3286760"/>
            <a:ext cx="3110332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48640" y="3286760"/>
            <a:ext cx="73152" cy="1508760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04672" y="3396488"/>
            <a:ext cx="27445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1.25bn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804672" y="3999992"/>
            <a:ext cx="2653132" cy="475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pathology test requests projected for 2025/26, growing about 5.5% a year: demand that will land somewhere.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804672" y="4521200"/>
            <a:ext cx="2653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analysis, 2026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933292" y="3286760"/>
            <a:ext cx="3110332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933292" y="3286760"/>
            <a:ext cx="73152" cy="1508760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189324" y="3396488"/>
            <a:ext cx="27445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4189324" y="3999992"/>
            <a:ext cx="26531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foundation services consumed: NHS App as the patient surface, NHS Login for identity, NHS Notify for communications.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189324" y="4521200"/>
            <a:ext cx="2653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HomeTest operating model, Ecosystem: Consumed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48640" y="5069840"/>
            <a:ext cx="6494983" cy="1000506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777240" y="5179568"/>
            <a:ext cx="6037783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diagnostic result is a high-value reason to return to the App. Testing gives the front door something to be a front door for.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48640" y="6473952"/>
            <a:ext cx="324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796132" y="6473952"/>
            <a:ext cx="2790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6632143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joe-4-0.6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206240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4800600" y="411480"/>
            <a:ext cx="6842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BOUNDARY, STATED PLAINLY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4800600" y="731520"/>
            <a:ext cx="6842455" cy="904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consume, and what we build.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800600" y="1910080"/>
            <a:ext cx="3284068" cy="457200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983480" y="1910080"/>
            <a:ext cx="2918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Consumed, owned by you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800600" y="2367280"/>
            <a:ext cx="3284068" cy="271945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937760" y="2504440"/>
            <a:ext cx="2964028" cy="244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App as the patient surface.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Login for identity and authentication.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Notify for patient communications.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FHIR routing, and the record destinations that follow it.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58988" y="1910080"/>
            <a:ext cx="3284068" cy="457200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541868" y="1910080"/>
            <a:ext cx="2918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and run by HomeTest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358988" y="2367280"/>
            <a:ext cx="3284068" cy="271945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8496148" y="2504440"/>
            <a:ext cx="2964028" cy="244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supplier onboarding gateway and the accredited register.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pattern catalogue: initiation, fulfilment, result handling per configuration.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Kit logistics, laboratory routing and the exception model.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commercial layer: call-offs, ceiling, levy and MI.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800600" y="5315331"/>
            <a:ext cx="6842455" cy="975741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029200" y="5425059"/>
            <a:ext cx="6385255" cy="7562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 is deliberate. Where a national service exists we use it; where it does not, we build inside the framework rather than asking the platform to absorb new scope.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800600" y="6473952"/>
            <a:ext cx="3421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1828" y="6473952"/>
            <a:ext cx="29640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joe-6-0.6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82086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48640" y="411480"/>
            <a:ext cx="6860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INTEGRATION IS WORTH DOING ONCE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731520"/>
            <a:ext cx="6860743" cy="805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 model means the integration does not repeat per test.</a:t>
            </a:r>
            <a:endParaRPr lang="en-US" sz="2300" dirty="0"/>
          </a:p>
        </p:txBody>
      </p:sp>
      <p:sp>
        <p:nvSpPr>
          <p:cNvPr id="7" name="Shape 3"/>
          <p:cNvSpPr/>
          <p:nvPr/>
        </p:nvSpPr>
        <p:spPr>
          <a:xfrm>
            <a:off x="548640" y="1811020"/>
            <a:ext cx="3293212" cy="212572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811020"/>
            <a:ext cx="73152" cy="2125726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1993900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 once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04672" y="2382520"/>
            <a:ext cx="2836012" cy="1144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supplier makes the one-off platform connection at Tier 1: connection agreement, HSCN, service management and incident routes. That is the only time the plumbing is built.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116172" y="1811020"/>
            <a:ext cx="3293212" cy="212572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16172" y="1811020"/>
            <a:ext cx="73152" cy="2125726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72204" y="1993900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 per test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372204" y="2382520"/>
            <a:ext cx="2836012" cy="1194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2 is API and journey conformance against published, versioned specifications for that test category, with performance evidence. Configuration, not new integration.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4165346"/>
            <a:ext cx="3293212" cy="212572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4165346"/>
            <a:ext cx="73152" cy="2125726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" y="4348226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 by gates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04672" y="4736846"/>
            <a:ext cx="2836012" cy="1194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test categories open on a published roadmap at reopening windows, annual as the working assumption. The platform plans against a calendar, not a queue of requests.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116172" y="4165346"/>
            <a:ext cx="3293212" cy="212572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116172" y="4165346"/>
            <a:ext cx="73152" cy="2125726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372204" y="4348226"/>
            <a:ext cx="28360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without estate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372204" y="5034026"/>
            <a:ext cx="2836012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scales with kit logistics and laboratory capacity. It does not scale with anything the platform has to house.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343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3979012" y="6473952"/>
            <a:ext cx="2973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25" name="Text 21"/>
          <p:cNvSpPr/>
          <p:nvPr/>
        </p:nvSpPr>
        <p:spPr>
          <a:xfrm>
            <a:off x="6997903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devi-4-0.6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82086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48640" y="411480"/>
            <a:ext cx="6860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AND DATA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731520"/>
            <a:ext cx="6860743" cy="953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5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information governance position, as it stands.</a:t>
            </a:r>
            <a:endParaRPr lang="en-US" sz="2750" dirty="0"/>
          </a:p>
        </p:txBody>
      </p:sp>
      <p:sp>
        <p:nvSpPr>
          <p:cNvPr id="7" name="Shape 3"/>
          <p:cNvSpPr/>
          <p:nvPr/>
        </p:nvSpPr>
        <p:spPr>
          <a:xfrm>
            <a:off x="548640" y="1959610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959610"/>
            <a:ext cx="73152" cy="2051431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2142490"/>
            <a:ext cx="28360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controllership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04672" y="2828290"/>
            <a:ext cx="2836012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England as controller for the foundation, the commissioner as controller for the testing purpose, the supplier as processor. Joint controller arrangements have been ruled out; the exact split per configuration is still being scoped.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6172" y="1959610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16172" y="1959610"/>
            <a:ext cx="73152" cy="2051431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72204" y="2142490"/>
            <a:ext cx="28360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before go-live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372204" y="2828290"/>
            <a:ext cx="2836012" cy="8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DPIA, data-sharing and processing agreements are executed before the first kit ships, under the inherited IG artefact stack, with existing controllership intact.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48640" y="4239641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4239641"/>
            <a:ext cx="73152" cy="2051431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" y="4422521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Lawful basis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04672" y="4811141"/>
            <a:ext cx="2836012" cy="12683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Beta is system delivery: data moved to enable care, with no NHS England analysis for its own purposes, so no legal Direction is required. Public Beta likely needs a Direction if that changes.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116172" y="4239641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116172" y="4239641"/>
            <a:ext cx="73152" cy="2051431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372204" y="4422521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372204" y="4811141"/>
            <a:ext cx="2836012" cy="1210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NHS holds the record. Results flow to the destination the configuration specifies, not into a supplier silo.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343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3979012" y="6473952"/>
            <a:ext cx="2973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25" name="Text 21"/>
          <p:cNvSpPr/>
          <p:nvPr/>
        </p:nvSpPr>
        <p:spPr>
          <a:xfrm>
            <a:off x="6997903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NEED FROM THE PLATFORM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1106424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things, none of them new scope.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592580"/>
            <a:ext cx="2341778" cy="46527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92580"/>
            <a:ext cx="73152" cy="4652772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821180"/>
            <a:ext cx="548640" cy="54864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8211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506980"/>
            <a:ext cx="1838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Stable, versioned interfaces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284220"/>
            <a:ext cx="1838858" cy="19039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Published specifications we can hold suppliers to at Tier 2 conformance, with a deprecation policy we can plan around.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119018" y="1592580"/>
            <a:ext cx="2341778" cy="46527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119018" y="1592580"/>
            <a:ext cx="73152" cy="465277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93338" y="1821180"/>
            <a:ext cx="548640" cy="54864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93338" y="18211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393338" y="2506980"/>
            <a:ext cx="1838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alignment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393338" y="3284220"/>
            <a:ext cx="1838858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gate calendar set against yours, so a category opens when the platform can carry it rather than when a supplier is ready.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89397" y="1592580"/>
            <a:ext cx="2341778" cy="46527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689397" y="1592580"/>
            <a:ext cx="73152" cy="4652772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63717" y="1821180"/>
            <a:ext cx="548640" cy="54864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63717" y="18211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963717" y="2506980"/>
            <a:ext cx="1838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counterpart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5963717" y="3284220"/>
            <a:ext cx="1838858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person per foundation service for integration, incident routes and uptime, on the RACI that already exists in the model.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351215" y="1592580"/>
            <a:ext cx="3291840" cy="4652772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625535" y="1866900"/>
            <a:ext cx="2743200" cy="2641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return: a service that consumes what exists, brings its own assurance, and gives the front door a clinically useful reason to be opened.</a:t>
            </a:r>
            <a:endParaRPr lang="en-US" sz="1750" dirty="0"/>
          </a:p>
        </p:txBody>
      </p:sp>
      <p:sp>
        <p:nvSpPr>
          <p:cNvPr id="25" name="Shape 22"/>
          <p:cNvSpPr/>
          <p:nvPr/>
        </p:nvSpPr>
        <p:spPr>
          <a:xfrm>
            <a:off x="8826703" y="5312664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0" descr="/sessions/quirky-zen-galileo/mnt/NHS/07 Sites &amp; Repos/dtx-ecosystem/hearts-and-minds/_generators/assets/portraits/priy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2423" y="5358384"/>
            <a:ext cx="566928" cy="566928"/>
          </a:xfrm>
          <a:prstGeom prst="ellipse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9576511" y="5312664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1" descr="/sessions/quirky-zen-galileo/mnt/NHS/07 Sites &amp; Repos/dtx-ecosystem/hearts-and-minds/_generators/assets/portraits/ngoz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2231" y="5358384"/>
            <a:ext cx="566928" cy="566928"/>
          </a:xfrm>
          <a:prstGeom prst="ellipse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0326319" y="5312664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2" descr="/sessions/quirky-zen-galileo/mnt/NHS/07 Sites &amp; Repos/dtx-ecosystem/hearts-and-minds/_generators/assets/portraits/abdu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2039" y="5358384"/>
            <a:ext cx="566928" cy="566928"/>
          </a:xfrm>
          <a:prstGeom prst="ellipse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309360" y="647395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2523" y="457200"/>
            <a:ext cx="8605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9683" y="557784"/>
            <a:ext cx="586212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FB9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NATIONAL PLATFORM EDITION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2039569" y="1508760"/>
            <a:ext cx="1691640" cy="1691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/sessions/quirky-zen-galileo/mnt/NHS/07 Sites &amp; Repos/dtx-ecosystem/hearts-and-minds/_generators/assets/portraits/priy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289" y="1554480"/>
            <a:ext cx="1600200" cy="1600200"/>
          </a:xfrm>
          <a:prstGeom prst="ellipse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80160" y="324612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71600" y="35661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product owner of the rails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250028" y="1508760"/>
            <a:ext cx="1691640" cy="1691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2" descr="/sessions/quirky-zen-galileo/mnt/NHS/07 Sites &amp; Repos/dtx-ecosystem/hearts-and-minds/_generators/assets/portraits/ngoz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748" y="1554480"/>
            <a:ext cx="1600200" cy="1600200"/>
          </a:xfrm>
          <a:prstGeom prst="ellipse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4612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Ngozi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582058" y="35661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IG lead who says go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460486" y="1508760"/>
            <a:ext cx="1691640" cy="1691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3" descr="/sessions/quirky-zen-galileo/mnt/NHS/07 Sites &amp; Repos/dtx-ecosystem/hearts-and-minds/_generators/assets/portraits/abdu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6206" y="1554480"/>
            <a:ext cx="1600200" cy="1600200"/>
          </a:xfrm>
          <a:prstGeom prst="ellipse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701077" y="324612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Abdul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792517" y="35661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patient the App reaches</a:t>
            </a:r>
            <a:endParaRPr lang="en-US" sz="1050" dirty="0"/>
          </a:p>
        </p:txBody>
      </p:sp>
      <p:sp>
        <p:nvSpPr>
          <p:cNvPr id="17" name="Text 11"/>
          <p:cNvSpPr/>
          <p:nvPr/>
        </p:nvSpPr>
        <p:spPr>
          <a:xfrm>
            <a:off x="822960" y="43434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 what exists. Assure what does not. Integrate once.</a:t>
            </a:r>
            <a:endParaRPr lang="en-US" sz="2800" dirty="0"/>
          </a:p>
        </p:txBody>
      </p:sp>
      <p:sp>
        <p:nvSpPr>
          <p:cNvPr id="18" name="Text 12"/>
          <p:cNvSpPr/>
          <p:nvPr/>
        </p:nvSpPr>
        <p:spPr>
          <a:xfrm>
            <a:off x="822960" y="53949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people. Bought without pain. Live today.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No.4 · National platform edition · proof-of-concept draft · September 2026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6309360" y="647395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21" name="Text 15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Hearts and Minds No.4 National platform edition: One integration. Every test that follows.</dc:title>
  <dc:subject>PptxGenJS Presentation</dc:subject>
  <dc:creator>HomeTest Commercial</dc:creator>
  <cp:lastModifiedBy>HomeTest Commercial</cp:lastModifiedBy>
  <cp:revision>1</cp:revision>
  <dcterms:created xsi:type="dcterms:W3CDTF">2026-09-05T10:52:51Z</dcterms:created>
  <dcterms:modified xsi:type="dcterms:W3CDTF">2026-09-05T10:52:51Z</dcterms:modified>
</cp:coreProperties>
</file>