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the promise, not the product. Read the standfirst aloud: it is the proof that this is a live service rather than a strategy document. September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quiet part first. Suppliers expect an NHS pitch to be about NHS needs; opening on their cost of sale buys attention for the rest of the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Suppliers have been burned by NHS frameworks that never opened. The kicker is the credibility line: there is a live service with real kits and real patients already.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core of the pitch. The sentence that matters commercially: the local body deploys and does not re-assure. That is the cost of sale disappearing.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kicker cuts both ways and suppliers know it: the floor of about three suppliers protects the NHS from lock-in and protects them from opening a category nobody can serve.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honest that the levy mechanism has open questions on nomenclature, VAT, legal and competition. Suppliers respect a straight answer and will find the gap anyway.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Suppliers hear "framework" and expect a race to the bottom on price with no floor on quality. The right-hand column is deliberately hard, and the kicker is the sentence to land.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Joe is the composite supplier the framework is designed for. If the room is a large incumbent, the same slide reads as a warning that scale alone will not carry them past the clinical 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closing line is not a disclaimer, it is a probity requirement. Say it out loud in the room, every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faces and stop talking. If there is one line to leave in the room, it is the one under the portraits.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image" Target="../media/image-2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image" Target="../media/image-8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image" Target="../media/image-9-1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image" Target="../media/image-10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quirky-zen-galileo/mnt/NHS/07 Sites &amp; Repos/dtx-ecosystem/hearts-and-minds/_generators/assets/bg-her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782523" y="457200"/>
            <a:ext cx="860532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 1" descr="/sessions/quirky-zen-galileo/mnt/NHS/07 Sites &amp; Repos/dtx-ecosystem/hearts-and-minds/_generators/assets/nhs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9683" y="557784"/>
            <a:ext cx="586212" cy="4572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85800" y="56692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80" kern="0" dirty="0">
                <a:solidFill>
                  <a:srgbClr val="FFD6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HEARTS AND MINDS  ·  SUPPLIER EDITION  ·  NO.5</a:t>
            </a:r>
            <a:endParaRPr lang="en-US" sz="1000" dirty="0"/>
          </a:p>
        </p:txBody>
      </p:sp>
      <p:sp>
        <p:nvSpPr>
          <p:cNvPr id="6" name="Shape 2"/>
          <p:cNvSpPr/>
          <p:nvPr/>
        </p:nvSpPr>
        <p:spPr>
          <a:xfrm>
            <a:off x="685800" y="969264"/>
            <a:ext cx="822960" cy="50292"/>
          </a:xfrm>
          <a:prstGeom prst="rect">
            <a:avLst/>
          </a:prstGeom>
          <a:solidFill>
            <a:srgbClr val="FFD66B"/>
          </a:solidFill>
          <a:ln w="12700">
            <a:solidFill>
              <a:srgbClr val="FFD66B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685800" y="1207008"/>
            <a:ext cx="10424160" cy="8158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600" b="1" spc="-12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Assured once. Sold many times.</a:t>
            </a:r>
            <a:endParaRPr lang="en-US" sz="4600" dirty="0"/>
          </a:p>
        </p:txBody>
      </p:sp>
      <p:sp>
        <p:nvSpPr>
          <p:cNvPr id="8" name="Text 4"/>
          <p:cNvSpPr/>
          <p:nvPr/>
        </p:nvSpPr>
        <p:spPr>
          <a:xfrm>
            <a:off x="685800" y="2333752"/>
            <a:ext cx="8595360" cy="5323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DCE7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national framework, one assurance pass at company level, one approval per test category, and then every commissioner in England buying from the same register on the same terms.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685800" y="3250184"/>
            <a:ext cx="10424160" cy="673100"/>
          </a:xfrm>
          <a:prstGeom prst="roundRect">
            <a:avLst>
              <a:gd name="adj" fmla="val 13585"/>
            </a:avLst>
          </a:prstGeom>
          <a:solidFill>
            <a:srgbClr val="0A3D8F"/>
          </a:solidFill>
          <a:ln w="9525">
            <a:solidFill>
              <a:srgbClr val="2C5FA8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85800" y="3250184"/>
            <a:ext cx="10424160" cy="64008"/>
          </a:xfrm>
          <a:prstGeom prst="rect">
            <a:avLst/>
          </a:prstGeom>
          <a:solidFill>
            <a:srgbClr val="FFD66B"/>
          </a:solidFill>
          <a:ln w="12700">
            <a:solidFill>
              <a:srgbClr val="FFD66B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914400" y="3378200"/>
            <a:ext cx="9966960" cy="4536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DCE7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open framework under the Procurement Act 2023, around £250m over its life, a term of up to five years (three plus one plus one), targeting go-live in Q1 2028. Agreed in principle and subject to the live procurement.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457200" y="645566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C2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Hearts and Minds  ·  audience deck No.5  ·  Supplier edition</a:t>
            </a:r>
            <a:endParaRPr lang="en-US" sz="850" dirty="0"/>
          </a:p>
        </p:txBody>
      </p:sp>
      <p:sp>
        <p:nvSpPr>
          <p:cNvPr id="13" name="Text 9"/>
          <p:cNvSpPr/>
          <p:nvPr/>
        </p:nvSpPr>
        <p:spPr>
          <a:xfrm>
            <a:off x="4754880" y="6455664"/>
            <a:ext cx="6430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FC2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Commercial positions are agreed in principle and remain subject to the live procurement.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quirky-zen-galileo/mnt/NHS/07 Sites &amp; Repos/dtx-ecosystem/hearts-and-minds/_generators/assets/bg-ban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93268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5BC093"/>
          </a:solidFill>
          <a:ln w="12700">
            <a:solidFill>
              <a:srgbClr val="5BC093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02920" y="13716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FFD6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BUILT AROUND THE SUPPLIER WHO HAS TO MAKE IT WORK</a:t>
            </a:r>
            <a:endParaRPr lang="en-US" sz="950" dirty="0"/>
          </a:p>
        </p:txBody>
      </p:sp>
      <p:sp>
        <p:nvSpPr>
          <p:cNvPr id="5" name="Text 2"/>
          <p:cNvSpPr/>
          <p:nvPr/>
        </p:nvSpPr>
        <p:spPr>
          <a:xfrm>
            <a:off x="502920" y="402336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Joe has the kit, the lab and the paperwork. What he does not have is a route.</a:t>
            </a:r>
            <a:endParaRPr lang="en-US" sz="1850" dirty="0"/>
          </a:p>
        </p:txBody>
      </p:sp>
      <p:sp>
        <p:nvSpPr>
          <p:cNvPr id="6" name="Shape 3"/>
          <p:cNvSpPr/>
          <p:nvPr/>
        </p:nvSpPr>
        <p:spPr>
          <a:xfrm>
            <a:off x="10942806" y="173736"/>
            <a:ext cx="791689" cy="605699"/>
          </a:xfrm>
          <a:prstGeom prst="roundRect">
            <a:avLst>
              <a:gd name="adj" fmla="val 12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1" descr="/sessions/quirky-zen-galileo/mnt/NHS/07 Sites &amp; Repos/dtx-ecosystem/hearts-and-minds/_generators/assets/nhs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8993" y="266273"/>
            <a:ext cx="539315" cy="42062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457200" y="2347214"/>
            <a:ext cx="11277295" cy="1969008"/>
          </a:xfrm>
          <a:prstGeom prst="roundRect">
            <a:avLst>
              <a:gd name="adj" fmla="val 4644"/>
            </a:avLst>
          </a:prstGeom>
          <a:solidFill>
            <a:srgbClr val="F8FAFC"/>
          </a:solidFill>
          <a:ln w="9525">
            <a:solidFill>
              <a:srgbClr val="EBEEF1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457200" y="2347214"/>
            <a:ext cx="11277295" cy="64008"/>
          </a:xfrm>
          <a:prstGeom prst="rect">
            <a:avLst/>
          </a:prstGeom>
          <a:solidFill>
            <a:srgbClr val="5BC093"/>
          </a:solidFill>
          <a:ln w="12700">
            <a:solidFill>
              <a:srgbClr val="5BC093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40080" y="2603246"/>
            <a:ext cx="1106424" cy="1106424"/>
          </a:xfrm>
          <a:prstGeom prst="ellipse">
            <a:avLst/>
          </a:prstGeom>
          <a:solidFill>
            <a:srgbClr val="5BC093"/>
          </a:solidFill>
          <a:ln w="12700">
            <a:solidFill>
              <a:srgbClr val="5BC093"/>
            </a:solidFill>
            <a:prstDash val="solid"/>
          </a:ln>
        </p:spPr>
      </p:sp>
      <p:pic>
        <p:nvPicPr>
          <p:cNvPr id="11" name="Image 2" descr="/sessions/quirky-zen-galileo/mnt/NHS/07 Sites &amp; Repos/dtx-ecosystem/hearts-and-minds/_generators/assets/portraits/joe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13232" y="2676398"/>
            <a:ext cx="960120" cy="960120"/>
          </a:xfrm>
          <a:prstGeom prst="ellipse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874520" y="2639822"/>
            <a:ext cx="9631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0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Joe</a:t>
            </a:r>
            <a:endParaRPr lang="en-US" sz="1800" dirty="0"/>
          </a:p>
        </p:txBody>
      </p:sp>
      <p:sp>
        <p:nvSpPr>
          <p:cNvPr id="13" name="Text 8"/>
          <p:cNvSpPr/>
          <p:nvPr/>
        </p:nvSpPr>
        <p:spPr>
          <a:xfrm>
            <a:off x="1874520" y="3005582"/>
            <a:ext cx="9631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4C62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Self-sample diagnostics, twenty staff, two laboratories</a:t>
            </a:r>
            <a:endParaRPr lang="en-US" sz="1000" dirty="0"/>
          </a:p>
        </p:txBody>
      </p:sp>
      <p:sp>
        <p:nvSpPr>
          <p:cNvPr id="14" name="Shape 9"/>
          <p:cNvSpPr/>
          <p:nvPr/>
        </p:nvSpPr>
        <p:spPr>
          <a:xfrm>
            <a:off x="713232" y="3764534"/>
            <a:ext cx="64008" cy="414528"/>
          </a:xfrm>
          <a:prstGeom prst="rect">
            <a:avLst/>
          </a:prstGeom>
          <a:solidFill>
            <a:srgbClr val="5BC093"/>
          </a:solidFill>
          <a:ln w="12700">
            <a:solidFill>
              <a:srgbClr val="5BC093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877824" y="3727958"/>
            <a:ext cx="10564063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i="1" dirty="0">
                <a:solidFill>
                  <a:srgbClr val="212B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“Every commissioner wants their own DPIA, their own contract, their own assurance pack. I pay to find out what they want, then I do it again next door.”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457200" y="4627118"/>
            <a:ext cx="11277295" cy="500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B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market is fragmented and the cost of selling into it falls hardest on the suppliers the NHS most needs: the ones with a good test and a small commercial function. </a:t>
            </a:r>
            <a:pPr indent="0" marL="0">
              <a:buNone/>
            </a:pPr>
            <a:r>
              <a:rPr lang="en-US" sz="1300" b="1" dirty="0">
                <a:solidFill>
                  <a:srgbClr val="212B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This framework is built to remove the repetition, not to remove the standard.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457200" y="645566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E8B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Hearts and Minds  ·  audience deck No.5  ·  Supplier edition</a:t>
            </a:r>
            <a:endParaRPr lang="en-US" sz="850" dirty="0"/>
          </a:p>
        </p:txBody>
      </p:sp>
      <p:sp>
        <p:nvSpPr>
          <p:cNvPr id="18" name="Text 13"/>
          <p:cNvSpPr/>
          <p:nvPr/>
        </p:nvSpPr>
        <p:spPr>
          <a:xfrm>
            <a:off x="4754880" y="6455664"/>
            <a:ext cx="6430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E8B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Commercial positions are agreed in principle and remain subject to the live procurement.</a:t>
            </a:r>
            <a:endParaRPr lang="en-US" sz="800" dirty="0"/>
          </a:p>
        </p:txBody>
      </p:sp>
      <p:sp>
        <p:nvSpPr>
          <p:cNvPr id="19" name="Text 14"/>
          <p:cNvSpPr/>
          <p:nvPr/>
        </p:nvSpPr>
        <p:spPr>
          <a:xfrm>
            <a:off x="11323015" y="64556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7E8B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quirky-zen-galileo/mnt/NHS/07 Sites &amp; Repos/dtx-ecosystem/hearts-and-minds/_generators/assets/bg-ban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93268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5BC093"/>
          </a:solidFill>
          <a:ln w="12700">
            <a:solidFill>
              <a:srgbClr val="5BC093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02920" y="13716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FFD6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PRIZE</a:t>
            </a:r>
            <a:endParaRPr lang="en-US" sz="950" dirty="0"/>
          </a:p>
        </p:txBody>
      </p:sp>
      <p:sp>
        <p:nvSpPr>
          <p:cNvPr id="5" name="Text 2"/>
          <p:cNvSpPr/>
          <p:nvPr/>
        </p:nvSpPr>
        <p:spPr>
          <a:xfrm>
            <a:off x="502920" y="402336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single national route into a growing market.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10942806" y="173736"/>
            <a:ext cx="791689" cy="605699"/>
          </a:xfrm>
          <a:prstGeom prst="roundRect">
            <a:avLst>
              <a:gd name="adj" fmla="val 12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1" descr="/sessions/quirky-zen-galileo/mnt/NHS/07 Sites &amp; Repos/dtx-ecosystem/hearts-and-minds/_generators/assets/nhs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8993" y="266273"/>
            <a:ext cx="539315" cy="42062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457200" y="2175129"/>
            <a:ext cx="3588410" cy="2130298"/>
          </a:xfrm>
          <a:prstGeom prst="roundRect">
            <a:avLst>
              <a:gd name="adj" fmla="val 4292"/>
            </a:avLst>
          </a:prstGeom>
          <a:solidFill>
            <a:srgbClr val="F4F8FC"/>
          </a:solidFill>
          <a:ln w="9525">
            <a:solidFill>
              <a:srgbClr val="B8D3E6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457200" y="2175129"/>
            <a:ext cx="3588410" cy="6400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676656" y="2394585"/>
            <a:ext cx="31494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200" b="1" spc="-150" kern="0" dirty="0">
                <a:solidFill>
                  <a:srgbClr val="0030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~£250m</a:t>
            </a:r>
            <a:endParaRPr lang="en-US" sz="4200" dirty="0"/>
          </a:p>
        </p:txBody>
      </p:sp>
      <p:sp>
        <p:nvSpPr>
          <p:cNvPr id="11" name="Text 7"/>
          <p:cNvSpPr/>
          <p:nvPr/>
        </p:nvSpPr>
        <p:spPr>
          <a:xfrm>
            <a:off x="676656" y="3217545"/>
            <a:ext cx="3149498" cy="6489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B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indicative value of the framework over its life, with a term of up to five years, three plus one plus one.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676656" y="3866515"/>
            <a:ext cx="3149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7E8B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HomeTest commercial model, agreed in principle</a:t>
            </a:r>
            <a:endParaRPr lang="en-US" sz="800" dirty="0"/>
          </a:p>
        </p:txBody>
      </p:sp>
      <p:sp>
        <p:nvSpPr>
          <p:cNvPr id="13" name="Shape 9"/>
          <p:cNvSpPr/>
          <p:nvPr/>
        </p:nvSpPr>
        <p:spPr>
          <a:xfrm>
            <a:off x="4301642" y="2175129"/>
            <a:ext cx="3588410" cy="2130298"/>
          </a:xfrm>
          <a:prstGeom prst="roundRect">
            <a:avLst>
              <a:gd name="adj" fmla="val 4292"/>
            </a:avLst>
          </a:prstGeom>
          <a:solidFill>
            <a:srgbClr val="F4F8FC"/>
          </a:solidFill>
          <a:ln w="9525">
            <a:solidFill>
              <a:srgbClr val="B8D3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301642" y="2175129"/>
            <a:ext cx="3588410" cy="6400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4521098" y="2394585"/>
            <a:ext cx="31494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200" b="1" spc="-150" kern="0" dirty="0">
                <a:solidFill>
                  <a:srgbClr val="0030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 2028</a:t>
            </a:r>
            <a:endParaRPr lang="en-US" sz="4200" dirty="0"/>
          </a:p>
        </p:txBody>
      </p:sp>
      <p:sp>
        <p:nvSpPr>
          <p:cNvPr id="16" name="Text 12"/>
          <p:cNvSpPr/>
          <p:nvPr/>
        </p:nvSpPr>
        <p:spPr>
          <a:xfrm>
            <a:off x="4521098" y="3217545"/>
            <a:ext cx="3149498" cy="6489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B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targeted go-live for the enduring open framework under the Procurement Act 2023.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4521098" y="3866515"/>
            <a:ext cx="3149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7E8B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HomeTest commercial model, in principle and subject to procurement</a:t>
            </a:r>
            <a:endParaRPr lang="en-US" sz="800" dirty="0"/>
          </a:p>
        </p:txBody>
      </p:sp>
      <p:sp>
        <p:nvSpPr>
          <p:cNvPr id="18" name="Shape 14"/>
          <p:cNvSpPr/>
          <p:nvPr/>
        </p:nvSpPr>
        <p:spPr>
          <a:xfrm>
            <a:off x="8146085" y="2175129"/>
            <a:ext cx="3588410" cy="2130298"/>
          </a:xfrm>
          <a:prstGeom prst="roundRect">
            <a:avLst>
              <a:gd name="adj" fmla="val 4292"/>
            </a:avLst>
          </a:prstGeom>
          <a:solidFill>
            <a:srgbClr val="F4F8FC"/>
          </a:solidFill>
          <a:ln w="9525">
            <a:solidFill>
              <a:srgbClr val="B8D3E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146085" y="2175129"/>
            <a:ext cx="3588410" cy="6400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8365541" y="2394585"/>
            <a:ext cx="31494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200" b="1" spc="-150" kern="0" dirty="0">
                <a:solidFill>
                  <a:srgbClr val="0030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1.25bn</a:t>
            </a:r>
            <a:endParaRPr lang="en-US" sz="4200" dirty="0"/>
          </a:p>
        </p:txBody>
      </p:sp>
      <p:sp>
        <p:nvSpPr>
          <p:cNvPr id="21" name="Text 17"/>
          <p:cNvSpPr/>
          <p:nvPr/>
        </p:nvSpPr>
        <p:spPr>
          <a:xfrm>
            <a:off x="8365541" y="3217545"/>
            <a:ext cx="3149498" cy="6489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B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pathology test requests projected for 2025/26, growing about 5.5% a year. The demand is not in question.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8365541" y="3866515"/>
            <a:ext cx="3149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7E8B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Programme analysis, 2026</a:t>
            </a:r>
            <a:endParaRPr lang="en-US" sz="800" dirty="0"/>
          </a:p>
        </p:txBody>
      </p:sp>
      <p:sp>
        <p:nvSpPr>
          <p:cNvPr id="23" name="Shape 19"/>
          <p:cNvSpPr/>
          <p:nvPr/>
        </p:nvSpPr>
        <p:spPr>
          <a:xfrm>
            <a:off x="457200" y="4579747"/>
            <a:ext cx="11277295" cy="720344"/>
          </a:xfrm>
          <a:prstGeom prst="roundRect">
            <a:avLst>
              <a:gd name="adj" fmla="val 12694"/>
            </a:avLst>
          </a:prstGeom>
          <a:solidFill>
            <a:srgbClr val="FFF9EC"/>
          </a:solidFill>
          <a:ln w="9525">
            <a:solidFill>
              <a:srgbClr val="E6C96A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731520" y="4689475"/>
            <a:ext cx="10728655" cy="500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030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today, not a paper market: patient-initiated HIV self-testing is running in Private Beta with two local authority areas, and an acute partner is mobilising for PSA active surveillance.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457200" y="645566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E8B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Hearts and Minds  ·  audience deck No.5  ·  Supplier edition</a:t>
            </a:r>
            <a:endParaRPr lang="en-US" sz="850" dirty="0"/>
          </a:p>
        </p:txBody>
      </p:sp>
      <p:sp>
        <p:nvSpPr>
          <p:cNvPr id="26" name="Text 22"/>
          <p:cNvSpPr/>
          <p:nvPr/>
        </p:nvSpPr>
        <p:spPr>
          <a:xfrm>
            <a:off x="4754880" y="6455664"/>
            <a:ext cx="6430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E8B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Commercial positions are agreed in principle and remain subject to the live procurement.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11323015" y="64556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7E8B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quirky-zen-galileo/mnt/NHS/07 Sites &amp; Repos/dtx-ecosystem/hearts-and-minds/_generators/assets/bg-ban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93268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5BC093"/>
          </a:solidFill>
          <a:ln w="12700">
            <a:solidFill>
              <a:srgbClr val="5BC093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02920" y="13716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FFD6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YOU GET IN</a:t>
            </a:r>
            <a:endParaRPr lang="en-US" sz="950" dirty="0"/>
          </a:p>
        </p:txBody>
      </p:sp>
      <p:sp>
        <p:nvSpPr>
          <p:cNvPr id="5" name="Text 2"/>
          <p:cNvSpPr/>
          <p:nvPr/>
        </p:nvSpPr>
        <p:spPr>
          <a:xfrm>
            <a:off x="502920" y="402336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tiers. The company once, then each test at its gate.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10942806" y="173736"/>
            <a:ext cx="791689" cy="605699"/>
          </a:xfrm>
          <a:prstGeom prst="roundRect">
            <a:avLst>
              <a:gd name="adj" fmla="val 12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1" descr="/sessions/quirky-zen-galileo/mnt/NHS/07 Sites &amp; Repos/dtx-ecosystem/hearts-and-minds/_generators/assets/nhs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8993" y="266273"/>
            <a:ext cx="539315" cy="42062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457200" y="1891792"/>
            <a:ext cx="5510632" cy="1726946"/>
          </a:xfrm>
          <a:prstGeom prst="roundRect">
            <a:avLst>
              <a:gd name="adj" fmla="val 5295"/>
            </a:avLst>
          </a:prstGeom>
          <a:solidFill>
            <a:srgbClr val="F8FAFC"/>
          </a:solidFill>
          <a:ln w="9525">
            <a:solidFill>
              <a:srgbClr val="EBEEF1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457200" y="1891792"/>
            <a:ext cx="5510632" cy="64008"/>
          </a:xfrm>
          <a:prstGeom prst="rect">
            <a:avLst/>
          </a:prstGeom>
          <a:solidFill>
            <a:srgbClr val="5BC093"/>
          </a:solidFill>
          <a:ln w="12700">
            <a:solidFill>
              <a:srgbClr val="5BC093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676656" y="2074672"/>
            <a:ext cx="5071720" cy="2910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030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Tier 1: framework entry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676656" y="2438908"/>
            <a:ext cx="5071720" cy="996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12B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Company assurance, passed once. Corporate structure, technical and operational readiness including the one-off platform connection, cyber, information governance and clinical safety governance, mostly through the Master SCAL, plus financial standing added by the framework.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223864" y="1891792"/>
            <a:ext cx="5510632" cy="1726946"/>
          </a:xfrm>
          <a:prstGeom prst="roundRect">
            <a:avLst>
              <a:gd name="adj" fmla="val 5295"/>
            </a:avLst>
          </a:prstGeom>
          <a:solidFill>
            <a:srgbClr val="F8FAFC"/>
          </a:solidFill>
          <a:ln w="9525">
            <a:solidFill>
              <a:srgbClr val="EBEEF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223864" y="1891792"/>
            <a:ext cx="5510632" cy="64008"/>
          </a:xfrm>
          <a:prstGeom prst="rect">
            <a:avLst/>
          </a:prstGeom>
          <a:solidFill>
            <a:srgbClr val="5BC093"/>
          </a:solidFill>
          <a:ln w="12700">
            <a:solidFill>
              <a:srgbClr val="5BC09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443320" y="2074672"/>
            <a:ext cx="5071720" cy="2910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030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Tier 2: test approval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6443320" y="2438908"/>
            <a:ext cx="5071720" cy="996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B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 test category, when its gate is open. Clinical evidence including non-inferiority, UKAS accreditation for the named test, MHRA-conformant kit, and API and journey conformance for that category.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457200" y="3856482"/>
            <a:ext cx="5510632" cy="1726946"/>
          </a:xfrm>
          <a:prstGeom prst="roundRect">
            <a:avLst>
              <a:gd name="adj" fmla="val 5295"/>
            </a:avLst>
          </a:prstGeom>
          <a:solidFill>
            <a:srgbClr val="F8FAFC"/>
          </a:solidFill>
          <a:ln w="9525">
            <a:solidFill>
              <a:srgbClr val="EBEEF1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57200" y="3856482"/>
            <a:ext cx="5510632" cy="64008"/>
          </a:xfrm>
          <a:prstGeom prst="rect">
            <a:avLst/>
          </a:prstGeom>
          <a:solidFill>
            <a:srgbClr val="5BC093"/>
          </a:solidFill>
          <a:ln w="12700">
            <a:solidFill>
              <a:srgbClr val="5BC09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76656" y="4039362"/>
            <a:ext cx="5071720" cy="2910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030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Reusable everywhere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676656" y="4403598"/>
            <a:ext cx="5071720" cy="996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B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Both approvals are reusable with every commissioner who calls off. The local body deploys; it does not re-assure you. One pass, not one per buyer.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6223864" y="3856482"/>
            <a:ext cx="5510632" cy="1726946"/>
          </a:xfrm>
          <a:prstGeom prst="roundRect">
            <a:avLst>
              <a:gd name="adj" fmla="val 5295"/>
            </a:avLst>
          </a:prstGeom>
          <a:solidFill>
            <a:srgbClr val="F8FAFC"/>
          </a:solidFill>
          <a:ln w="9525">
            <a:solidFill>
              <a:srgbClr val="EBEEF1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223864" y="3856482"/>
            <a:ext cx="5510632" cy="64008"/>
          </a:xfrm>
          <a:prstGeom prst="rect">
            <a:avLst/>
          </a:prstGeom>
          <a:solidFill>
            <a:srgbClr val="5BC093"/>
          </a:solidFill>
          <a:ln w="12700">
            <a:solidFill>
              <a:srgbClr val="5BC093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6443320" y="4039362"/>
            <a:ext cx="5071720" cy="2910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030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Tier 1 does not expire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6443320" y="4403598"/>
            <a:ext cx="5071720" cy="996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B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Miss a gate and you apply at the next one. Company approval stands; you are not sent back to the start of the queue.</a:t>
            </a:r>
            <a:endParaRPr lang="en-US" sz="1150" dirty="0"/>
          </a:p>
        </p:txBody>
      </p:sp>
      <p:sp>
        <p:nvSpPr>
          <p:cNvPr id="24" name="Text 20"/>
          <p:cNvSpPr/>
          <p:nvPr/>
        </p:nvSpPr>
        <p:spPr>
          <a:xfrm>
            <a:off x="457200" y="645566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E8B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Hearts and Minds  ·  audience deck No.5  ·  Supplier edition</a:t>
            </a:r>
            <a:endParaRPr lang="en-US" sz="850" dirty="0"/>
          </a:p>
        </p:txBody>
      </p:sp>
      <p:sp>
        <p:nvSpPr>
          <p:cNvPr id="25" name="Text 21"/>
          <p:cNvSpPr/>
          <p:nvPr/>
        </p:nvSpPr>
        <p:spPr>
          <a:xfrm>
            <a:off x="4754880" y="6455664"/>
            <a:ext cx="6430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E8B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Commercial positions are agreed in principle and remain subject to the live procurement.</a:t>
            </a:r>
            <a:endParaRPr lang="en-US" sz="800" dirty="0"/>
          </a:p>
        </p:txBody>
      </p:sp>
      <p:sp>
        <p:nvSpPr>
          <p:cNvPr id="26" name="Text 22"/>
          <p:cNvSpPr/>
          <p:nvPr/>
        </p:nvSpPr>
        <p:spPr>
          <a:xfrm>
            <a:off x="11323015" y="64556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7E8B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quirky-zen-galileo/mnt/NHS/07 Sites &amp; Repos/dtx-ecosystem/hearts-and-minds/_generators/assets/bg-ban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93268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5BC093"/>
          </a:solidFill>
          <a:ln w="12700">
            <a:solidFill>
              <a:srgbClr val="5BC093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02920" y="13716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FFD6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GATE MODEL</a:t>
            </a:r>
            <a:endParaRPr lang="en-US" sz="950" dirty="0"/>
          </a:p>
        </p:txBody>
      </p:sp>
      <p:sp>
        <p:nvSpPr>
          <p:cNvPr id="5" name="Text 2"/>
          <p:cNvSpPr/>
          <p:nvPr/>
        </p:nvSpPr>
        <p:spPr>
          <a:xfrm>
            <a:off x="502920" y="402336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Categories open on a published roadmap, not on request.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10942806" y="173736"/>
            <a:ext cx="791689" cy="605699"/>
          </a:xfrm>
          <a:prstGeom prst="roundRect">
            <a:avLst>
              <a:gd name="adj" fmla="val 12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1" descr="/sessions/quirky-zen-galileo/mnt/NHS/07 Sites &amp; Repos/dtx-ecosystem/hearts-and-minds/_generators/assets/nhs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8993" y="266273"/>
            <a:ext cx="539315" cy="42062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457200" y="2009902"/>
            <a:ext cx="2153046" cy="2442464"/>
          </a:xfrm>
          <a:prstGeom prst="roundRect">
            <a:avLst>
              <a:gd name="adj" fmla="val 4247"/>
            </a:avLst>
          </a:prstGeom>
          <a:solidFill>
            <a:srgbClr val="F8FAFC"/>
          </a:solidFill>
          <a:ln w="9525">
            <a:solidFill>
              <a:srgbClr val="EBEEF1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457200" y="2009902"/>
            <a:ext cx="2153046" cy="64008"/>
          </a:xfrm>
          <a:prstGeom prst="rect">
            <a:avLst/>
          </a:prstGeom>
          <a:solidFill>
            <a:srgbClr val="5BC093"/>
          </a:solidFill>
          <a:ln w="12700">
            <a:solidFill>
              <a:srgbClr val="5BC093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05123" y="2247646"/>
            <a:ext cx="457200" cy="457200"/>
          </a:xfrm>
          <a:prstGeom prst="ellipse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1305123" y="224764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603504" y="2796286"/>
            <a:ext cx="18604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30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Roadmap publishes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603504" y="3180334"/>
            <a:ext cx="1860438" cy="1125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4C62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Categories and gate dates land far enough ahead for a laboratory to book and win the accreditation it needs.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2738262" y="2009902"/>
            <a:ext cx="2153046" cy="2442464"/>
          </a:xfrm>
          <a:prstGeom prst="roundRect">
            <a:avLst>
              <a:gd name="adj" fmla="val 4247"/>
            </a:avLst>
          </a:prstGeom>
          <a:solidFill>
            <a:srgbClr val="F8FAFC"/>
          </a:solidFill>
          <a:ln w="9525">
            <a:solidFill>
              <a:srgbClr val="EBEEF1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738262" y="2009902"/>
            <a:ext cx="2153046" cy="64008"/>
          </a:xfrm>
          <a:prstGeom prst="rect">
            <a:avLst/>
          </a:prstGeom>
          <a:solidFill>
            <a:srgbClr val="5BC093"/>
          </a:solidFill>
          <a:ln w="12700">
            <a:solidFill>
              <a:srgbClr val="5BC093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3586185" y="2247646"/>
            <a:ext cx="457200" cy="457200"/>
          </a:xfrm>
          <a:prstGeom prst="ellipse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3586185" y="224764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2884566" y="2796286"/>
            <a:ext cx="18604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30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Gate opens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2884566" y="3180334"/>
            <a:ext cx="1860438" cy="1125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4C62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category joins the catalogue. Any supplier with Tier 1 can apply for one category or several.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5019324" y="2009902"/>
            <a:ext cx="2153046" cy="2442464"/>
          </a:xfrm>
          <a:prstGeom prst="roundRect">
            <a:avLst>
              <a:gd name="adj" fmla="val 4247"/>
            </a:avLst>
          </a:prstGeom>
          <a:solidFill>
            <a:srgbClr val="F8FAFC"/>
          </a:solidFill>
          <a:ln w="9525">
            <a:solidFill>
              <a:srgbClr val="EBEEF1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5019324" y="2009902"/>
            <a:ext cx="2153046" cy="64008"/>
          </a:xfrm>
          <a:prstGeom prst="rect">
            <a:avLst/>
          </a:prstGeom>
          <a:solidFill>
            <a:srgbClr val="5BC093"/>
          </a:solidFill>
          <a:ln w="12700">
            <a:solidFill>
              <a:srgbClr val="5BC093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867248" y="2247646"/>
            <a:ext cx="457200" cy="457200"/>
          </a:xfrm>
          <a:prstGeom prst="ellipse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5867248" y="224764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400" dirty="0"/>
          </a:p>
        </p:txBody>
      </p:sp>
      <p:sp>
        <p:nvSpPr>
          <p:cNvPr id="24" name="Text 20"/>
          <p:cNvSpPr/>
          <p:nvPr/>
        </p:nvSpPr>
        <p:spPr>
          <a:xfrm>
            <a:off x="5165628" y="2796286"/>
            <a:ext cx="18604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30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Suppliers accredit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5165628" y="3180334"/>
            <a:ext cx="1860438" cy="1125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4C62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clinician panel judges the clinical bar; automated conformance takes the technical one.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7300387" y="2009902"/>
            <a:ext cx="2153046" cy="2442464"/>
          </a:xfrm>
          <a:prstGeom prst="roundRect">
            <a:avLst>
              <a:gd name="adj" fmla="val 4247"/>
            </a:avLst>
          </a:prstGeom>
          <a:solidFill>
            <a:srgbClr val="F8FAFC"/>
          </a:solidFill>
          <a:ln w="9525">
            <a:solidFill>
              <a:srgbClr val="EBEEF1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7300387" y="2009902"/>
            <a:ext cx="2153046" cy="64008"/>
          </a:xfrm>
          <a:prstGeom prst="rect">
            <a:avLst/>
          </a:prstGeom>
          <a:solidFill>
            <a:srgbClr val="5BC093"/>
          </a:solidFill>
          <a:ln w="12700">
            <a:solidFill>
              <a:srgbClr val="5BC093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8148310" y="2247646"/>
            <a:ext cx="457200" cy="457200"/>
          </a:xfrm>
          <a:prstGeom prst="ellipse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8148310" y="224764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400" dirty="0"/>
          </a:p>
        </p:txBody>
      </p:sp>
      <p:sp>
        <p:nvSpPr>
          <p:cNvPr id="30" name="Text 26"/>
          <p:cNvSpPr/>
          <p:nvPr/>
        </p:nvSpPr>
        <p:spPr>
          <a:xfrm>
            <a:off x="7446691" y="2796286"/>
            <a:ext cx="18604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30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 updates</a:t>
            </a:r>
            <a:endParaRPr lang="en-US" sz="1300" dirty="0"/>
          </a:p>
        </p:txBody>
      </p:sp>
      <p:sp>
        <p:nvSpPr>
          <p:cNvPr id="31" name="Text 27"/>
          <p:cNvSpPr/>
          <p:nvPr/>
        </p:nvSpPr>
        <p:spPr>
          <a:xfrm>
            <a:off x="7446691" y="3180334"/>
            <a:ext cx="1860438" cy="1125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4C62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accredited register shows who can sell what. About three suppliers per test is the working floor.</a:t>
            </a:r>
            <a:endParaRPr lang="en-US" sz="1050" dirty="0"/>
          </a:p>
        </p:txBody>
      </p:sp>
      <p:sp>
        <p:nvSpPr>
          <p:cNvPr id="32" name="Shape 28"/>
          <p:cNvSpPr/>
          <p:nvPr/>
        </p:nvSpPr>
        <p:spPr>
          <a:xfrm>
            <a:off x="9581449" y="2009902"/>
            <a:ext cx="2153046" cy="2442464"/>
          </a:xfrm>
          <a:prstGeom prst="roundRect">
            <a:avLst>
              <a:gd name="adj" fmla="val 4247"/>
            </a:avLst>
          </a:prstGeom>
          <a:solidFill>
            <a:srgbClr val="F8FAFC"/>
          </a:solidFill>
          <a:ln w="9525">
            <a:solidFill>
              <a:srgbClr val="EBEEF1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9581449" y="2009902"/>
            <a:ext cx="2153046" cy="64008"/>
          </a:xfrm>
          <a:prstGeom prst="rect">
            <a:avLst/>
          </a:prstGeom>
          <a:solidFill>
            <a:srgbClr val="5BC093"/>
          </a:solidFill>
          <a:ln w="12700">
            <a:solidFill>
              <a:srgbClr val="5BC093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10429372" y="2247646"/>
            <a:ext cx="457200" cy="457200"/>
          </a:xfrm>
          <a:prstGeom prst="ellipse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10429372" y="224764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400" dirty="0"/>
          </a:p>
        </p:txBody>
      </p:sp>
      <p:sp>
        <p:nvSpPr>
          <p:cNvPr id="36" name="Text 32"/>
          <p:cNvSpPr/>
          <p:nvPr/>
        </p:nvSpPr>
        <p:spPr>
          <a:xfrm>
            <a:off x="9727753" y="2796286"/>
            <a:ext cx="18604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30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Commissioners call off</a:t>
            </a:r>
            <a:endParaRPr lang="en-US" sz="1300" dirty="0"/>
          </a:p>
        </p:txBody>
      </p:sp>
      <p:sp>
        <p:nvSpPr>
          <p:cNvPr id="37" name="Text 33"/>
          <p:cNvSpPr/>
          <p:nvPr/>
        </p:nvSpPr>
        <p:spPr>
          <a:xfrm>
            <a:off x="9727753" y="3180334"/>
            <a:ext cx="1860438" cy="1125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4C62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Local call-offs run against the register, at or below the national ceiling.</a:t>
            </a:r>
            <a:endParaRPr lang="en-US" sz="1050" dirty="0"/>
          </a:p>
        </p:txBody>
      </p:sp>
      <p:sp>
        <p:nvSpPr>
          <p:cNvPr id="38" name="Shape 34"/>
          <p:cNvSpPr/>
          <p:nvPr/>
        </p:nvSpPr>
        <p:spPr>
          <a:xfrm>
            <a:off x="457200" y="4744974"/>
            <a:ext cx="11277295" cy="720344"/>
          </a:xfrm>
          <a:prstGeom prst="roundRect">
            <a:avLst>
              <a:gd name="adj" fmla="val 12694"/>
            </a:avLst>
          </a:prstGeom>
          <a:solidFill>
            <a:srgbClr val="FFF9EC"/>
          </a:solidFill>
          <a:ln w="9525">
            <a:solidFill>
              <a:srgbClr val="E6C96A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731520" y="4854702"/>
            <a:ext cx="10728655" cy="500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030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category only one laboratory can serve does not open. It stays closed until competition can exist, which is also the guarantee that a gate you win is a market and not a monopoly you are bidding into.</a:t>
            </a:r>
            <a:endParaRPr lang="en-US" sz="1300" dirty="0"/>
          </a:p>
        </p:txBody>
      </p:sp>
      <p:sp>
        <p:nvSpPr>
          <p:cNvPr id="40" name="Text 36"/>
          <p:cNvSpPr/>
          <p:nvPr/>
        </p:nvSpPr>
        <p:spPr>
          <a:xfrm>
            <a:off x="457200" y="645566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E8B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Hearts and Minds  ·  audience deck No.5  ·  Supplier edition</a:t>
            </a:r>
            <a:endParaRPr lang="en-US" sz="850" dirty="0"/>
          </a:p>
        </p:txBody>
      </p:sp>
      <p:sp>
        <p:nvSpPr>
          <p:cNvPr id="41" name="Text 37"/>
          <p:cNvSpPr/>
          <p:nvPr/>
        </p:nvSpPr>
        <p:spPr>
          <a:xfrm>
            <a:off x="4754880" y="6455664"/>
            <a:ext cx="6430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E8B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Commercial positions are agreed in principle and remain subject to the live procurement.</a:t>
            </a:r>
            <a:endParaRPr lang="en-US" sz="800" dirty="0"/>
          </a:p>
        </p:txBody>
      </p:sp>
      <p:sp>
        <p:nvSpPr>
          <p:cNvPr id="42" name="Text 38"/>
          <p:cNvSpPr/>
          <p:nvPr/>
        </p:nvSpPr>
        <p:spPr>
          <a:xfrm>
            <a:off x="11323015" y="64556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7E8B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quirky-zen-galileo/mnt/NHS/07 Sites &amp; Repos/dtx-ecosystem/hearts-and-minds/_generators/assets/bg-ban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93268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5BC093"/>
          </a:solidFill>
          <a:ln w="12700">
            <a:solidFill>
              <a:srgbClr val="5BC093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02920" y="13716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FFD6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YOU GET PAID</a:t>
            </a:r>
            <a:endParaRPr lang="en-US" sz="950" dirty="0"/>
          </a:p>
        </p:txBody>
      </p:sp>
      <p:sp>
        <p:nvSpPr>
          <p:cNvPr id="5" name="Text 2"/>
          <p:cNvSpPr/>
          <p:nvPr/>
        </p:nvSpPr>
        <p:spPr>
          <a:xfrm>
            <a:off x="502920" y="402336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 per activity, direct from the commissioner.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10942806" y="173736"/>
            <a:ext cx="791689" cy="605699"/>
          </a:xfrm>
          <a:prstGeom prst="roundRect">
            <a:avLst>
              <a:gd name="adj" fmla="val 12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1" descr="/sessions/quirky-zen-galileo/mnt/NHS/07 Sites &amp; Repos/dtx-ecosystem/hearts-and-minds/_generators/assets/nhs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8993" y="266273"/>
            <a:ext cx="539315" cy="42062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457200" y="2072894"/>
            <a:ext cx="5510632" cy="1545844"/>
          </a:xfrm>
          <a:prstGeom prst="roundRect">
            <a:avLst>
              <a:gd name="adj" fmla="val 5915"/>
            </a:avLst>
          </a:prstGeom>
          <a:solidFill>
            <a:srgbClr val="F4F8FC"/>
          </a:solidFill>
          <a:ln w="9525">
            <a:solidFill>
              <a:srgbClr val="EBEEF1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457200" y="2072894"/>
            <a:ext cx="5510632" cy="64008"/>
          </a:xfrm>
          <a:prstGeom prst="rect">
            <a:avLst/>
          </a:prstGeom>
          <a:solidFill>
            <a:srgbClr val="006747"/>
          </a:solidFill>
          <a:ln w="12700">
            <a:solidFill>
              <a:srgbClr val="006747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676656" y="2255774"/>
            <a:ext cx="5071720" cy="2910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030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payment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676656" y="2620010"/>
            <a:ext cx="5071720" cy="8158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B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cost per activity for each completed test, paid by the commissioner direct to the supplier that processed it. No intermediary taking a cut of the delivery.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6223864" y="2072894"/>
            <a:ext cx="5510632" cy="1545844"/>
          </a:xfrm>
          <a:prstGeom prst="roundRect">
            <a:avLst>
              <a:gd name="adj" fmla="val 5915"/>
            </a:avLst>
          </a:prstGeom>
          <a:solidFill>
            <a:srgbClr val="F4F8FC"/>
          </a:solidFill>
          <a:ln w="9525">
            <a:solidFill>
              <a:srgbClr val="EBEEF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223864" y="2072894"/>
            <a:ext cx="5510632" cy="64008"/>
          </a:xfrm>
          <a:prstGeom prst="rect">
            <a:avLst/>
          </a:prstGeom>
          <a:solidFill>
            <a:srgbClr val="006747"/>
          </a:solidFill>
          <a:ln w="12700">
            <a:solidFill>
              <a:srgbClr val="006747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443320" y="2255774"/>
            <a:ext cx="5071720" cy="2910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030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ceiling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6443320" y="2620010"/>
            <a:ext cx="5071720" cy="8158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B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national maximum price per test, which local competition can beat. More accredited suppliers in a category means more price tension, and that is the design intent.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457200" y="3856482"/>
            <a:ext cx="5510632" cy="1545844"/>
          </a:xfrm>
          <a:prstGeom prst="roundRect">
            <a:avLst>
              <a:gd name="adj" fmla="val 5915"/>
            </a:avLst>
          </a:prstGeom>
          <a:solidFill>
            <a:srgbClr val="F4F8FC"/>
          </a:solidFill>
          <a:ln w="9525">
            <a:solidFill>
              <a:srgbClr val="EBEEF1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57200" y="3856482"/>
            <a:ext cx="5510632" cy="64008"/>
          </a:xfrm>
          <a:prstGeom prst="rect">
            <a:avLst/>
          </a:prstGeom>
          <a:solidFill>
            <a:srgbClr val="006747"/>
          </a:solidFill>
          <a:ln w="12700">
            <a:solidFill>
              <a:srgbClr val="006747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76656" y="4039362"/>
            <a:ext cx="5071720" cy="2910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030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levy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676656" y="4403598"/>
            <a:ext cx="5071720" cy="8158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B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levy on throughput funds the platform, with a share returned to NHS England for clinical validation, NHS App eligibility and pathway transformation. The route the levy takes back is still being resolved.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6223864" y="3856482"/>
            <a:ext cx="5510632" cy="1545844"/>
          </a:xfrm>
          <a:prstGeom prst="roundRect">
            <a:avLst>
              <a:gd name="adj" fmla="val 5915"/>
            </a:avLst>
          </a:prstGeom>
          <a:solidFill>
            <a:srgbClr val="F4F8FC"/>
          </a:solidFill>
          <a:ln w="9525">
            <a:solidFill>
              <a:srgbClr val="EBEEF1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223864" y="3856482"/>
            <a:ext cx="5510632" cy="64008"/>
          </a:xfrm>
          <a:prstGeom prst="rect">
            <a:avLst/>
          </a:prstGeom>
          <a:solidFill>
            <a:srgbClr val="006747"/>
          </a:solidFill>
          <a:ln w="12700">
            <a:solidFill>
              <a:srgbClr val="006747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6443320" y="4039362"/>
            <a:ext cx="5071720" cy="2910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030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Demand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6443320" y="4403598"/>
            <a:ext cx="5071720" cy="8158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B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Aggregated national demand against one route, instead of a bespoke sale per commissioner. Volume tiers are still open.</a:t>
            </a:r>
            <a:endParaRPr lang="en-US" sz="1150" dirty="0"/>
          </a:p>
        </p:txBody>
      </p:sp>
      <p:sp>
        <p:nvSpPr>
          <p:cNvPr id="24" name="Text 20"/>
          <p:cNvSpPr/>
          <p:nvPr/>
        </p:nvSpPr>
        <p:spPr>
          <a:xfrm>
            <a:off x="457200" y="645566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E8B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Hearts and Minds  ·  audience deck No.5  ·  Supplier edition</a:t>
            </a:r>
            <a:endParaRPr lang="en-US" sz="850" dirty="0"/>
          </a:p>
        </p:txBody>
      </p:sp>
      <p:sp>
        <p:nvSpPr>
          <p:cNvPr id="25" name="Text 21"/>
          <p:cNvSpPr/>
          <p:nvPr/>
        </p:nvSpPr>
        <p:spPr>
          <a:xfrm>
            <a:off x="4754880" y="6455664"/>
            <a:ext cx="6430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E8B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Commercial positions are agreed in principle and remain subject to the live procurement.</a:t>
            </a:r>
            <a:endParaRPr lang="en-US" sz="800" dirty="0"/>
          </a:p>
        </p:txBody>
      </p:sp>
      <p:sp>
        <p:nvSpPr>
          <p:cNvPr id="26" name="Text 22"/>
          <p:cNvSpPr/>
          <p:nvPr/>
        </p:nvSpPr>
        <p:spPr>
          <a:xfrm>
            <a:off x="11323015" y="64556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7E8B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quirky-zen-galileo/mnt/NHS/07 Sites &amp; Repos/dtx-ecosystem/hearts-and-minds/_generators/assets/bg-ban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93268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5BC093"/>
          </a:solidFill>
          <a:ln w="12700">
            <a:solidFill>
              <a:srgbClr val="5BC093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02920" y="13716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FFD6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DEAL, BOTH WAYS</a:t>
            </a:r>
            <a:endParaRPr lang="en-US" sz="950" dirty="0"/>
          </a:p>
        </p:txBody>
      </p:sp>
      <p:sp>
        <p:nvSpPr>
          <p:cNvPr id="5" name="Text 2"/>
          <p:cNvSpPr/>
          <p:nvPr/>
        </p:nvSpPr>
        <p:spPr>
          <a:xfrm>
            <a:off x="502920" y="402336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you get, and what we hold you to.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10942806" y="173736"/>
            <a:ext cx="791689" cy="605699"/>
          </a:xfrm>
          <a:prstGeom prst="roundRect">
            <a:avLst>
              <a:gd name="adj" fmla="val 12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1" descr="/sessions/quirky-zen-galileo/mnt/NHS/07 Sites &amp; Repos/dtx-ecosystem/hearts-and-minds/_generators/assets/nhs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8993" y="266273"/>
            <a:ext cx="539315" cy="42062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457200" y="2096008"/>
            <a:ext cx="5501488" cy="384048"/>
          </a:xfrm>
          <a:prstGeom prst="rect">
            <a:avLst/>
          </a:prstGeom>
          <a:solidFill>
            <a:srgbClr val="006747"/>
          </a:solidFill>
          <a:ln w="12700">
            <a:solidFill>
              <a:srgbClr val="006747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40080" y="2096008"/>
            <a:ext cx="513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YOU GET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457200" y="2480056"/>
            <a:ext cx="5501488" cy="2109216"/>
          </a:xfrm>
          <a:prstGeom prst="rect">
            <a:avLst/>
          </a:prstGeom>
          <a:solidFill>
            <a:srgbClr val="E8F3EE"/>
          </a:solidFill>
          <a:ln w="12700">
            <a:solidFill>
              <a:srgbClr val="E8F3EE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58368" y="2608072"/>
            <a:ext cx="5099152" cy="1834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212B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assurance pass, reusable with every commissioner.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212B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published roadmap you can plan laboratory capacity against.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212B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place on the accredited register, visible to every buyer.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212B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Routes in that suit your size: prime, consortium, NHS-led or partnering.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233008" y="2096008"/>
            <a:ext cx="5501488" cy="384048"/>
          </a:xfrm>
          <a:prstGeom prst="rect">
            <a:avLst/>
          </a:prstGeom>
          <a:solidFill>
            <a:srgbClr val="005EB8"/>
          </a:solidFill>
          <a:ln w="12700">
            <a:solidFill>
              <a:srgbClr val="005EB8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415888" y="2096008"/>
            <a:ext cx="513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WE HOLD YOU TO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233008" y="2480056"/>
            <a:ext cx="5501488" cy="2109216"/>
          </a:xfrm>
          <a:prstGeom prst="rect">
            <a:avLst/>
          </a:prstGeom>
          <a:solidFill>
            <a:srgbClr val="D5E8F0"/>
          </a:solidFill>
          <a:ln w="12700">
            <a:solidFill>
              <a:srgbClr val="D5E8F0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34176" y="2608072"/>
            <a:ext cx="5099152" cy="1834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212B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Clinical evidence, including non-inferiority for the named test.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212B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UKAS accreditation and MHRA conformity, maintained not just achieved.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212B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Conformance to the published API and journey specifications.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212B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 performance, with commercial recourse in the contract; service credits are the worked example.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4863592"/>
            <a:ext cx="11277295" cy="515620"/>
          </a:xfrm>
          <a:prstGeom prst="roundRect">
            <a:avLst>
              <a:gd name="adj" fmla="val 17734"/>
            </a:avLst>
          </a:prstGeom>
          <a:solidFill>
            <a:srgbClr val="FFF9EC"/>
          </a:solidFill>
          <a:ln w="9525">
            <a:solidFill>
              <a:srgbClr val="E6C96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731520" y="4955032"/>
            <a:ext cx="10728655" cy="3327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030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standard does not move. What moves is how many times you have to prove you meet it.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457200" y="645566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E8B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Hearts and Minds  ·  audience deck No.5  ·  Supplier edition</a:t>
            </a:r>
            <a:endParaRPr lang="en-US" sz="850" dirty="0"/>
          </a:p>
        </p:txBody>
      </p:sp>
      <p:sp>
        <p:nvSpPr>
          <p:cNvPr id="19" name="Text 15"/>
          <p:cNvSpPr/>
          <p:nvPr/>
        </p:nvSpPr>
        <p:spPr>
          <a:xfrm>
            <a:off x="4754880" y="6455664"/>
            <a:ext cx="6430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E8B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Commercial positions are agreed in principle and remain subject to the live procurement.</a:t>
            </a:r>
            <a:endParaRPr lang="en-US" sz="800" dirty="0"/>
          </a:p>
        </p:txBody>
      </p:sp>
      <p:sp>
        <p:nvSpPr>
          <p:cNvPr id="20" name="Text 16"/>
          <p:cNvSpPr/>
          <p:nvPr/>
        </p:nvSpPr>
        <p:spPr>
          <a:xfrm>
            <a:off x="11323015" y="64556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7E8B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quirky-zen-galileo/mnt/NHS/07 Sites &amp; Repos/dtx-ecosystem/hearts-and-minds/_generators/assets/bg-ban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93268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5BC093"/>
          </a:solidFill>
          <a:ln w="12700">
            <a:solidFill>
              <a:srgbClr val="5BC093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02920" y="13716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FFD6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SUPPLIER’S STORY</a:t>
            </a:r>
            <a:endParaRPr lang="en-US" sz="950" dirty="0"/>
          </a:p>
        </p:txBody>
      </p:sp>
      <p:sp>
        <p:nvSpPr>
          <p:cNvPr id="5" name="Text 2"/>
          <p:cNvSpPr/>
          <p:nvPr/>
        </p:nvSpPr>
        <p:spPr>
          <a:xfrm>
            <a:off x="502920" y="402336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Joe is admitted once and reused everywhere.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10942806" y="173736"/>
            <a:ext cx="791689" cy="605699"/>
          </a:xfrm>
          <a:prstGeom prst="roundRect">
            <a:avLst>
              <a:gd name="adj" fmla="val 12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1" descr="/sessions/quirky-zen-galileo/mnt/NHS/07 Sites &amp; Repos/dtx-ecosystem/hearts-and-minds/_generators/assets/nhs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8993" y="266273"/>
            <a:ext cx="539315" cy="42062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886968" y="1330452"/>
            <a:ext cx="2340864" cy="2340864"/>
          </a:xfrm>
          <a:prstGeom prst="ellipse">
            <a:avLst/>
          </a:prstGeom>
          <a:solidFill>
            <a:srgbClr val="5BC093"/>
          </a:solidFill>
          <a:ln w="12700">
            <a:solidFill>
              <a:srgbClr val="5BC093"/>
            </a:solidFill>
            <a:prstDash val="solid"/>
          </a:ln>
        </p:spPr>
      </p:sp>
      <p:pic>
        <p:nvPicPr>
          <p:cNvPr id="9" name="Image 2" descr="/sessions/quirky-zen-galileo/mnt/NHS/07 Sites &amp; Repos/dtx-ecosystem/hearts-and-minds/_generators/assets/portraits/joe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960120" y="1403604"/>
            <a:ext cx="2194560" cy="2194560"/>
          </a:xfrm>
          <a:prstGeom prst="ellipse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457200" y="3927348"/>
            <a:ext cx="82296" cy="2272284"/>
          </a:xfrm>
          <a:prstGeom prst="rect">
            <a:avLst/>
          </a:prstGeom>
          <a:solidFill>
            <a:srgbClr val="5BC093"/>
          </a:solidFill>
          <a:ln w="12700">
            <a:solidFill>
              <a:srgbClr val="5BC093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694944" y="3927348"/>
            <a:ext cx="2926080" cy="22722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i="1" dirty="0">
                <a:solidFill>
                  <a:srgbClr val="212B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“The old price of bidding for NHS work was paying to find out what was wanted. Now I read the criteria and decide whether I fit.”</a:t>
            </a:r>
            <a:endParaRPr lang="en-US" sz="1300" dirty="0"/>
          </a:p>
        </p:txBody>
      </p:sp>
      <p:sp>
        <p:nvSpPr>
          <p:cNvPr id="12" name="Text 7"/>
          <p:cNvSpPr/>
          <p:nvPr/>
        </p:nvSpPr>
        <p:spPr>
          <a:xfrm>
            <a:off x="3977640" y="1275588"/>
            <a:ext cx="7756855" cy="6873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12B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Before. </a:t>
            </a:r>
            <a:pPr indent="0" marL="0">
              <a:buNone/>
            </a:pPr>
            <a:r>
              <a:rPr lang="en-US" sz="1300" dirty="0">
                <a:solidFill>
                  <a:srgbClr val="212B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months of clarifications per commissioner, a bespoke DPIA each time, a clinical safety case rewritten for every deployment, and a pilot that ended without a route to scale.</a:t>
            </a:r>
            <a:endParaRPr lang="en-US" sz="1300" dirty="0"/>
          </a:p>
        </p:txBody>
      </p:sp>
      <p:sp>
        <p:nvSpPr>
          <p:cNvPr id="13" name="Text 8"/>
          <p:cNvSpPr/>
          <p:nvPr/>
        </p:nvSpPr>
        <p:spPr>
          <a:xfrm>
            <a:off x="3977640" y="2145792"/>
            <a:ext cx="7756855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12B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Now. </a:t>
            </a:r>
            <a:pPr indent="0" marL="0">
              <a:buNone/>
            </a:pPr>
            <a:r>
              <a:rPr lang="en-US" sz="1300" dirty="0">
                <a:solidFill>
                  <a:srgbClr val="212B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Company assurance once through the Master SCAL. Category approval when the gate opens. Every commissioner who calls off inherits that work rather than repeating it.</a:t>
            </a:r>
            <a:endParaRPr lang="en-US" sz="1300" dirty="0"/>
          </a:p>
        </p:txBody>
      </p:sp>
      <p:sp>
        <p:nvSpPr>
          <p:cNvPr id="14" name="Text 9"/>
          <p:cNvSpPr/>
          <p:nvPr/>
        </p:nvSpPr>
        <p:spPr>
          <a:xfrm>
            <a:off x="3977640" y="2811272"/>
            <a:ext cx="7756855" cy="6873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12B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commercial shape. </a:t>
            </a:r>
            <a:pPr indent="0" marL="0">
              <a:buNone/>
            </a:pPr>
            <a:r>
              <a:rPr lang="en-US" sz="1300" dirty="0">
                <a:solidFill>
                  <a:srgbClr val="212B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Predictable volume against a published roadmap, payment per completed test, and a market with a floor of about three suppliers per category, so winning the category means winning a market rather than a monopoly.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457200" y="645566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E8B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Hearts and Minds  ·  audience deck No.5  ·  Supplier edition</a:t>
            </a:r>
            <a:endParaRPr lang="en-US" sz="850" dirty="0"/>
          </a:p>
        </p:txBody>
      </p:sp>
      <p:sp>
        <p:nvSpPr>
          <p:cNvPr id="16" name="Text 11"/>
          <p:cNvSpPr/>
          <p:nvPr/>
        </p:nvSpPr>
        <p:spPr>
          <a:xfrm>
            <a:off x="4754880" y="6455664"/>
            <a:ext cx="6430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E8B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Commercial positions are agreed in principle and remain subject to the live procurement.</a:t>
            </a:r>
            <a:endParaRPr lang="en-US" sz="800" dirty="0"/>
          </a:p>
        </p:txBody>
      </p:sp>
      <p:sp>
        <p:nvSpPr>
          <p:cNvPr id="17" name="Text 12"/>
          <p:cNvSpPr/>
          <p:nvPr/>
        </p:nvSpPr>
        <p:spPr>
          <a:xfrm>
            <a:off x="11323015" y="64556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7E8B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quirky-zen-galileo/mnt/NHS/07 Sites &amp; Repos/dtx-ecosystem/hearts-and-minds/_generators/assets/bg-ban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93268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5BC093"/>
          </a:solidFill>
          <a:ln w="12700">
            <a:solidFill>
              <a:srgbClr val="5BC093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02920" y="13716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FFD6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HAPPENS NEXT</a:t>
            </a:r>
            <a:endParaRPr lang="en-US" sz="950" dirty="0"/>
          </a:p>
        </p:txBody>
      </p:sp>
      <p:sp>
        <p:nvSpPr>
          <p:cNvPr id="5" name="Text 2"/>
          <p:cNvSpPr/>
          <p:nvPr/>
        </p:nvSpPr>
        <p:spPr>
          <a:xfrm>
            <a:off x="502920" y="402336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we want from suppliers now, before the framework goes live.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10942806" y="173736"/>
            <a:ext cx="791689" cy="605699"/>
          </a:xfrm>
          <a:prstGeom prst="roundRect">
            <a:avLst>
              <a:gd name="adj" fmla="val 12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1" descr="/sessions/quirky-zen-galileo/mnt/NHS/07 Sites &amp; Repos/dtx-ecosystem/hearts-and-minds/_generators/assets/nhs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8993" y="266273"/>
            <a:ext cx="539315" cy="42062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457200" y="1868424"/>
            <a:ext cx="3588410" cy="2641092"/>
          </a:xfrm>
          <a:prstGeom prst="roundRect">
            <a:avLst>
              <a:gd name="adj" fmla="val 3462"/>
            </a:avLst>
          </a:prstGeom>
          <a:solidFill>
            <a:srgbClr val="F8FAFC"/>
          </a:solidFill>
          <a:ln w="9525">
            <a:solidFill>
              <a:srgbClr val="EBEEF1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457200" y="1868424"/>
            <a:ext cx="3588410" cy="64008"/>
          </a:xfrm>
          <a:prstGeom prst="rect">
            <a:avLst/>
          </a:prstGeom>
          <a:solidFill>
            <a:srgbClr val="5BC093"/>
          </a:solidFill>
          <a:ln w="12700">
            <a:solidFill>
              <a:srgbClr val="5BC093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676656" y="1996440"/>
            <a:ext cx="731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spc="-100" kern="0" dirty="0">
                <a:solidFill>
                  <a:srgbClr val="5BC09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4000" dirty="0"/>
          </a:p>
        </p:txBody>
      </p:sp>
      <p:sp>
        <p:nvSpPr>
          <p:cNvPr id="11" name="Text 7"/>
          <p:cNvSpPr/>
          <p:nvPr/>
        </p:nvSpPr>
        <p:spPr>
          <a:xfrm>
            <a:off x="676656" y="2709672"/>
            <a:ext cx="31494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030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Tell us what breaks this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76656" y="3166872"/>
            <a:ext cx="3149498" cy="11780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B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assurance burden, the gate cadence, the ceiling, the levy. If it does not work commercially, we would rather hear it now than at tender.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4301642" y="1868424"/>
            <a:ext cx="3588410" cy="2641092"/>
          </a:xfrm>
          <a:prstGeom prst="roundRect">
            <a:avLst>
              <a:gd name="adj" fmla="val 3462"/>
            </a:avLst>
          </a:prstGeom>
          <a:solidFill>
            <a:srgbClr val="F8FAFC"/>
          </a:solidFill>
          <a:ln w="9525">
            <a:solidFill>
              <a:srgbClr val="EBEEF1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301642" y="1868424"/>
            <a:ext cx="3588410" cy="64008"/>
          </a:xfrm>
          <a:prstGeom prst="rect">
            <a:avLst/>
          </a:prstGeom>
          <a:solidFill>
            <a:srgbClr val="5BC093"/>
          </a:solidFill>
          <a:ln w="12700">
            <a:solidFill>
              <a:srgbClr val="5BC093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4521098" y="1996440"/>
            <a:ext cx="731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spc="-100" kern="0" dirty="0">
                <a:solidFill>
                  <a:srgbClr val="5BC09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4000" dirty="0"/>
          </a:p>
        </p:txBody>
      </p:sp>
      <p:sp>
        <p:nvSpPr>
          <p:cNvPr id="16" name="Text 12"/>
          <p:cNvSpPr/>
          <p:nvPr/>
        </p:nvSpPr>
        <p:spPr>
          <a:xfrm>
            <a:off x="4521098" y="2709672"/>
            <a:ext cx="31494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030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Tell us what you can serve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4521098" y="3166872"/>
            <a:ext cx="3149498" cy="11780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B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Which test categories you could accredit for, and how long the laboratory accreditation would take you. That shapes the roadmap.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8146085" y="1868424"/>
            <a:ext cx="3588410" cy="2641092"/>
          </a:xfrm>
          <a:prstGeom prst="roundRect">
            <a:avLst>
              <a:gd name="adj" fmla="val 3462"/>
            </a:avLst>
          </a:prstGeom>
          <a:solidFill>
            <a:srgbClr val="F8FAFC"/>
          </a:solidFill>
          <a:ln w="9525">
            <a:solidFill>
              <a:srgbClr val="EBEEF1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146085" y="1868424"/>
            <a:ext cx="3588410" cy="64008"/>
          </a:xfrm>
          <a:prstGeom prst="rect">
            <a:avLst/>
          </a:prstGeom>
          <a:solidFill>
            <a:srgbClr val="5BC093"/>
          </a:solidFill>
          <a:ln w="12700">
            <a:solidFill>
              <a:srgbClr val="5BC093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8365541" y="1996440"/>
            <a:ext cx="731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spc="-100" kern="0" dirty="0">
                <a:solidFill>
                  <a:srgbClr val="5BC09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4000" dirty="0"/>
          </a:p>
        </p:txBody>
      </p:sp>
      <p:sp>
        <p:nvSpPr>
          <p:cNvPr id="21" name="Text 17"/>
          <p:cNvSpPr/>
          <p:nvPr/>
        </p:nvSpPr>
        <p:spPr>
          <a:xfrm>
            <a:off x="8365541" y="2709672"/>
            <a:ext cx="31494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030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Come to the Supplier Forum</a:t>
            </a:r>
            <a:endParaRPr lang="en-US" sz="1500" dirty="0"/>
          </a:p>
        </p:txBody>
      </p:sp>
      <p:sp>
        <p:nvSpPr>
          <p:cNvPr id="22" name="Text 18"/>
          <p:cNvSpPr/>
          <p:nvPr/>
        </p:nvSpPr>
        <p:spPr>
          <a:xfrm>
            <a:off x="8365541" y="3166872"/>
            <a:ext cx="3149498" cy="11780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B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standing forum with a monthly cadence: structured information sharing, non-evaluative and non-decision-making. Being in the room now is not an advantage at tender, and it is where the design gets tested.</a:t>
            </a:r>
            <a:endParaRPr lang="en-US" sz="1150" dirty="0"/>
          </a:p>
        </p:txBody>
      </p:sp>
      <p:pic>
        <p:nvPicPr>
          <p:cNvPr id="23" name="Image 2" descr="/sessions/quirky-zen-galileo/mnt/NHS/07 Sites &amp; Repos/dtx-ecosystem/hearts-and-minds/_generators/assets/bg-band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783836"/>
            <a:ext cx="11277295" cy="82296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777240" y="4875276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Everything commercial here is agreed in principle and subject to the live procurement. Nothing in this conversation confers any advantage in it.</a:t>
            </a:r>
            <a:endParaRPr lang="en-US" sz="1400" dirty="0"/>
          </a:p>
        </p:txBody>
      </p:sp>
      <p:sp>
        <p:nvSpPr>
          <p:cNvPr id="25" name="Text 20"/>
          <p:cNvSpPr/>
          <p:nvPr/>
        </p:nvSpPr>
        <p:spPr>
          <a:xfrm>
            <a:off x="457200" y="645566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E8B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Hearts and Minds  ·  audience deck No.5  ·  Supplier edition</a:t>
            </a:r>
            <a:endParaRPr lang="en-US" sz="850" dirty="0"/>
          </a:p>
        </p:txBody>
      </p:sp>
      <p:sp>
        <p:nvSpPr>
          <p:cNvPr id="26" name="Text 21"/>
          <p:cNvSpPr/>
          <p:nvPr/>
        </p:nvSpPr>
        <p:spPr>
          <a:xfrm>
            <a:off x="4754880" y="6455664"/>
            <a:ext cx="6430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E8B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Commercial positions are agreed in principle and remain subject to the live procurement.</a:t>
            </a:r>
            <a:endParaRPr lang="en-US" sz="800" dirty="0"/>
          </a:p>
        </p:txBody>
      </p:sp>
      <p:sp>
        <p:nvSpPr>
          <p:cNvPr id="27" name="Text 22"/>
          <p:cNvSpPr/>
          <p:nvPr/>
        </p:nvSpPr>
        <p:spPr>
          <a:xfrm>
            <a:off x="11323015" y="64556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7E8B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quirky-zen-galileo/mnt/NHS/07 Sites &amp; Repos/dtx-ecosystem/hearts-and-minds/_generators/assets/bg-her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782523" y="457200"/>
            <a:ext cx="860532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 1" descr="/sessions/quirky-zen-galileo/mnt/NHS/07 Sites &amp; Repos/dtx-ecosystem/hearts-and-minds/_generators/assets/nhs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9683" y="557784"/>
            <a:ext cx="586212" cy="4572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85800" y="56692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80" kern="0" dirty="0">
                <a:solidFill>
                  <a:srgbClr val="FFD6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HEARTS AND MINDS  ·  SUPPLIER EDITION</a:t>
            </a:r>
            <a:endParaRPr lang="en-US" sz="1000" dirty="0"/>
          </a:p>
        </p:txBody>
      </p:sp>
      <p:sp>
        <p:nvSpPr>
          <p:cNvPr id="6" name="Shape 2"/>
          <p:cNvSpPr/>
          <p:nvPr/>
        </p:nvSpPr>
        <p:spPr>
          <a:xfrm>
            <a:off x="685800" y="969264"/>
            <a:ext cx="822960" cy="50292"/>
          </a:xfrm>
          <a:prstGeom prst="rect">
            <a:avLst/>
          </a:prstGeom>
          <a:solidFill>
            <a:srgbClr val="FFD66B"/>
          </a:solidFill>
          <a:ln w="12700">
            <a:solidFill>
              <a:srgbClr val="FFD66B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685800" y="123444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spc="-12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Assured once. Sold many times.</a:t>
            </a:r>
            <a:endParaRPr lang="en-US" sz="3800" dirty="0"/>
          </a:p>
        </p:txBody>
      </p:sp>
      <p:sp>
        <p:nvSpPr>
          <p:cNvPr id="8" name="Shape 4"/>
          <p:cNvSpPr/>
          <p:nvPr/>
        </p:nvSpPr>
        <p:spPr>
          <a:xfrm>
            <a:off x="704088" y="2944368"/>
            <a:ext cx="1517904" cy="1517904"/>
          </a:xfrm>
          <a:prstGeom prst="ellipse">
            <a:avLst/>
          </a:prstGeom>
          <a:solidFill>
            <a:srgbClr val="FFD66B"/>
          </a:solidFill>
          <a:ln w="12700">
            <a:solidFill>
              <a:srgbClr val="FFD66B"/>
            </a:solidFill>
            <a:prstDash val="solid"/>
          </a:ln>
        </p:spPr>
      </p:sp>
      <p:pic>
        <p:nvPicPr>
          <p:cNvPr id="9" name="Image 2" descr="/sessions/quirky-zen-galileo/mnt/NHS/07 Sites &amp; Repos/dtx-ecosystem/hearts-and-minds/_generators/assets/portraits/joe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77240" y="3017520"/>
            <a:ext cx="1371600" cy="1371600"/>
          </a:xfrm>
          <a:prstGeom prst="ellipse">
            <a:avLst/>
          </a:prstGeom>
        </p:spPr>
      </p:pic>
      <p:sp>
        <p:nvSpPr>
          <p:cNvPr id="10" name="Text 5"/>
          <p:cNvSpPr/>
          <p:nvPr/>
        </p:nvSpPr>
        <p:spPr>
          <a:xfrm>
            <a:off x="548640" y="4526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Joe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777240" y="507492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FFD6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assurance pass. Every commissioner in England, on the same terms.</a:t>
            </a:r>
            <a:endParaRPr lang="en-US" sz="1700" dirty="0"/>
          </a:p>
        </p:txBody>
      </p:sp>
      <p:sp>
        <p:nvSpPr>
          <p:cNvPr id="12" name="Text 7"/>
          <p:cNvSpPr/>
          <p:nvPr/>
        </p:nvSpPr>
        <p:spPr>
          <a:xfrm>
            <a:off x="777240" y="5532120"/>
            <a:ext cx="10241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9FC2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Commercial positions are agreed in principle and remain subject to the live procurement. Figures carry their source in the Hearts and Minds evidence register.</a:t>
            </a:r>
            <a:endParaRPr lang="en-US" sz="1000" dirty="0"/>
          </a:p>
        </p:txBody>
      </p:sp>
      <p:sp>
        <p:nvSpPr>
          <p:cNvPr id="13" name="Text 8"/>
          <p:cNvSpPr/>
          <p:nvPr/>
        </p:nvSpPr>
        <p:spPr>
          <a:xfrm>
            <a:off x="457200" y="645566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C2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Hearts and Minds  ·  audience deck No.5  ·  Supplier edition</a:t>
            </a:r>
            <a:endParaRPr lang="en-US" sz="850" dirty="0"/>
          </a:p>
        </p:txBody>
      </p:sp>
      <p:sp>
        <p:nvSpPr>
          <p:cNvPr id="14" name="Text 9"/>
          <p:cNvSpPr/>
          <p:nvPr/>
        </p:nvSpPr>
        <p:spPr>
          <a:xfrm>
            <a:off x="4754880" y="6455664"/>
            <a:ext cx="6430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FC2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Commercial positions are agreed in principle and remain subject to the live procurement.</a:t>
            </a:r>
            <a:endParaRPr lang="en-US" sz="800" dirty="0"/>
          </a:p>
        </p:txBody>
      </p:sp>
      <p:sp>
        <p:nvSpPr>
          <p:cNvPr id="15" name="Text 10"/>
          <p:cNvSpPr/>
          <p:nvPr/>
        </p:nvSpPr>
        <p:spPr>
          <a:xfrm>
            <a:off x="11323015" y="64556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FC2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NHS England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HomeTest Hearts and Minds No.5: Supplier edition</dc:title>
  <dc:subject>PptxGenJS Presentation</dc:subject>
  <dc:creator>HomeTest Programme</dc:creator>
  <cp:lastModifiedBy>HomeTest Programme</cp:lastModifiedBy>
  <cp:revision>1</cp:revision>
  <dcterms:created xsi:type="dcterms:W3CDTF">2026-09-05T09:22:19Z</dcterms:created>
  <dcterms:modified xsi:type="dcterms:W3CDTF">2026-09-05T09:22:19Z</dcterms:modified>
</cp:coreProperties>
</file>