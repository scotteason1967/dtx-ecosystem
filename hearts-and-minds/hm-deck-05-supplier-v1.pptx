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promise, not the product. One national framework, one assurance pass at company level, one approval per test category, and then every commissioner in England buying from the same register on the same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quiet part first. Suppliers expect an NHS pitch to be about NHS needs; opening on their cost of sale buys attention for the rest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Suppliers have been burned by NHS frameworks that never opened. The kicker is the credibility line: there is a live service with real kits and real patients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pitch. The sentence that matters commercially: the local body deploys and does not re-assure. That is the cost of sale disappearing.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kicker cuts both ways and suppliers know it: the floor of about three suppliers protects the NHS from lock-in and protects them from opening a category nobody can 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the levy mechanism has open questions on nomenclature, VAT, legal and competition. Suppliers respect a straight answer and will find the gap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Suppliers hear "framework" and expect a race to the bottom on price with no floor on quality. The right-hand column is deliberately hard, and the kicker is the sentence to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 is the composite supplier the framework is designed for. If the room is a large incumbent, the same slide reads as a warning that scale alone will not carry them past the clinical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line is not a disclaimer, it is a probity requirement. Say it out loud in the room,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1.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crops/joe-1-0.787.jpg">    </p:cNvPr>
          <p:cNvPicPr>
            <a:picLocks noChangeAspect="1"/>
          </p:cNvPicPr>
          <p:nvPr/>
        </p:nvPicPr>
        <p:blipFill>
          <a:blip r:embed="rId1"/>
          <a:stretch>
            <a:fillRect/>
          </a:stretch>
        </p:blipFill>
        <p:spPr>
          <a:xfrm>
            <a:off x="6796735" y="0"/>
            <a:ext cx="5394960" cy="6858000"/>
          </a:xfrm>
          <a:prstGeom prst="rect">
            <a:avLst/>
          </a:prstGeom>
        </p:spPr>
      </p:pic>
      <p:sp>
        <p:nvSpPr>
          <p:cNvPr id="3" name="Shape 0"/>
          <p:cNvSpPr/>
          <p:nvPr/>
        </p:nvSpPr>
        <p:spPr>
          <a:xfrm>
            <a:off x="6632143" y="0"/>
            <a:ext cx="164592" cy="6858000"/>
          </a:xfrm>
          <a:prstGeom prst="rect">
            <a:avLst/>
          </a:prstGeom>
          <a:solidFill>
            <a:srgbClr val="FFB91D"/>
          </a:solidFill>
          <a:ln w="12700">
            <a:solidFill>
              <a:srgbClr val="FFB91D"/>
            </a:solidFill>
            <a:prstDash val="solid"/>
          </a:ln>
        </p:spPr>
      </p:sp>
      <p:sp>
        <p:nvSpPr>
          <p:cNvPr id="4" name="Shape 1"/>
          <p:cNvSpPr/>
          <p:nvPr/>
        </p:nvSpPr>
        <p:spPr>
          <a:xfrm>
            <a:off x="548640" y="457200"/>
            <a:ext cx="860532" cy="658368"/>
          </a:xfrm>
          <a:prstGeom prst="roundRect">
            <a:avLst>
              <a:gd name="adj" fmla="val 11111"/>
            </a:avLst>
          </a:prstGeom>
          <a:solidFill>
            <a:srgbClr val="FFFFFF"/>
          </a:solidFill>
          <a:ln w="12700">
            <a:solidFill>
              <a:srgbClr val="FFFFFF"/>
            </a:solidFill>
            <a:prstDash val="solid"/>
          </a:ln>
        </p:spPr>
      </p:sp>
      <p:pic>
        <p:nvPicPr>
          <p:cNvPr id="5" name="Image 1" descr="/sessions/quirky-zen-galileo/mnt/NHS/07 Sites &amp; Repos/dtx-ecosystem/hearts-and-minds/_generators/assets/nhs-logo.png">    </p:cNvPr>
          <p:cNvPicPr>
            <a:picLocks noChangeAspect="1"/>
          </p:cNvPicPr>
          <p:nvPr/>
        </p:nvPicPr>
        <p:blipFill>
          <a:blip r:embed="rId2"/>
          <a:stretch>
            <a:fillRect/>
          </a:stretch>
        </p:blipFill>
        <p:spPr>
          <a:xfrm>
            <a:off x="685800" y="557784"/>
            <a:ext cx="586212" cy="457200"/>
          </a:xfrm>
          <a:prstGeom prst="rect">
            <a:avLst/>
          </a:prstGeom>
        </p:spPr>
      </p:pic>
      <p:sp>
        <p:nvSpPr>
          <p:cNvPr id="6" name="Text 2"/>
          <p:cNvSpPr/>
          <p:nvPr/>
        </p:nvSpPr>
        <p:spPr>
          <a:xfrm>
            <a:off x="548640" y="1417320"/>
            <a:ext cx="5852160" cy="274320"/>
          </a:xfrm>
          <a:prstGeom prst="rect">
            <a:avLst/>
          </a:prstGeom>
          <a:noFill/>
          <a:ln/>
        </p:spPr>
        <p:txBody>
          <a:bodyPr wrap="square" lIns="0" tIns="0" rIns="0" bIns="0" rtlCol="0" anchor="ctr"/>
          <a:lstStyle/>
          <a:p>
            <a:pPr indent="0" marL="0">
              <a:buNone/>
            </a:pPr>
            <a:r>
              <a:rPr lang="en-US" sz="1000" b="1" spc="260" kern="0" dirty="0">
                <a:solidFill>
                  <a:srgbClr val="FFB91D"/>
                </a:solidFill>
                <a:latin typeface="Segoe UI" pitchFamily="34" charset="0"/>
                <a:ea typeface="Segoe UI" pitchFamily="34" charset="-122"/>
                <a:cs typeface="Segoe UI" pitchFamily="34" charset="-120"/>
              </a:rPr>
              <a:t>HEARTS AND MINDS · SUPPLIER EDITION · NO.5</a:t>
            </a:r>
            <a:endParaRPr lang="en-US" sz="1000" dirty="0"/>
          </a:p>
        </p:txBody>
      </p:sp>
      <p:sp>
        <p:nvSpPr>
          <p:cNvPr id="7" name="Text 3"/>
          <p:cNvSpPr/>
          <p:nvPr/>
        </p:nvSpPr>
        <p:spPr>
          <a:xfrm>
            <a:off x="548640" y="1783080"/>
            <a:ext cx="5760720" cy="2101215"/>
          </a:xfrm>
          <a:prstGeom prst="rect">
            <a:avLst/>
          </a:prstGeom>
          <a:noFill/>
          <a:ln/>
        </p:spPr>
        <p:txBody>
          <a:bodyPr wrap="square" lIns="0" tIns="0" rIns="0" bIns="0" rtlCol="0" anchor="t"/>
          <a:lstStyle/>
          <a:p>
            <a:pPr indent="0" marL="0">
              <a:buNone/>
            </a:pPr>
            <a:r>
              <a:rPr lang="en-US" sz="4150" b="1" dirty="0">
                <a:solidFill>
                  <a:srgbClr val="FFFFFF"/>
                </a:solidFill>
                <a:latin typeface="Segoe UI" pitchFamily="34" charset="0"/>
                <a:ea typeface="Segoe UI" pitchFamily="34" charset="-122"/>
                <a:cs typeface="Segoe UI" pitchFamily="34" charset="-120"/>
              </a:rPr>
              <a:t>Assured once. Sold many times.</a:t>
            </a:r>
            <a:endParaRPr lang="en-US" sz="4150" dirty="0"/>
          </a:p>
        </p:txBody>
      </p:sp>
      <p:sp>
        <p:nvSpPr>
          <p:cNvPr id="8" name="Text 4"/>
          <p:cNvSpPr/>
          <p:nvPr/>
        </p:nvSpPr>
        <p:spPr>
          <a:xfrm>
            <a:off x="548640" y="4067175"/>
            <a:ext cx="5669280" cy="1012444"/>
          </a:xfrm>
          <a:prstGeom prst="rect">
            <a:avLst/>
          </a:prstGeom>
          <a:noFill/>
          <a:ln/>
        </p:spPr>
        <p:txBody>
          <a:bodyPr wrap="square" lIns="0" tIns="0" rIns="0" bIns="0" rtlCol="0" anchor="t">
            <a:normAutofit/>
          </a:bodyPr>
          <a:lstStyle/>
          <a:p>
            <a:pPr indent="0" marL="0">
              <a:buNone/>
            </a:pPr>
            <a:r>
              <a:rPr lang="en-US" sz="1450" dirty="0">
                <a:solidFill>
                  <a:srgbClr val="CFE0F5"/>
                </a:solidFill>
                <a:latin typeface="Segoe UI" pitchFamily="34" charset="0"/>
                <a:ea typeface="Segoe UI" pitchFamily="34" charset="-122"/>
                <a:cs typeface="Segoe UI" pitchFamily="34" charset="-120"/>
              </a:rPr>
              <a:t>One national framework, one assurance pass at company level, one approval per test category, and then every commissioner in England buying from the same register on the same terms.</a:t>
            </a:r>
            <a:endParaRPr lang="en-US" sz="1450" dirty="0"/>
          </a:p>
        </p:txBody>
      </p:sp>
      <p:sp>
        <p:nvSpPr>
          <p:cNvPr id="9" name="Text 5"/>
          <p:cNvSpPr/>
          <p:nvPr/>
        </p:nvSpPr>
        <p:spPr>
          <a:xfrm>
            <a:off x="548640" y="5308219"/>
            <a:ext cx="5669280" cy="847344"/>
          </a:xfrm>
          <a:prstGeom prst="rect">
            <a:avLst/>
          </a:prstGeom>
          <a:noFill/>
          <a:ln/>
        </p:spPr>
        <p:txBody>
          <a:bodyPr wrap="square" lIns="0" tIns="0" rIns="0" bIns="0" rtlCol="0" anchor="t">
            <a:normAutofit/>
          </a:bodyPr>
          <a:lstStyle/>
          <a:p>
            <a:pPr indent="0" marL="0">
              <a:buNone/>
            </a:pPr>
            <a:r>
              <a:rPr lang="en-US" sz="1200" dirty="0">
                <a:solidFill>
                  <a:srgbClr val="E8F0FA"/>
                </a:solidFill>
                <a:latin typeface="Segoe UI" pitchFamily="34" charset="0"/>
                <a:ea typeface="Segoe UI" pitchFamily="34" charset="-122"/>
                <a:cs typeface="Segoe UI" pitchFamily="34" charset="-120"/>
              </a:rPr>
              <a:t>An open framework under the Procurement Act 2023, around £250m over its life, a term of up to five years (three plus one plus one), targeting go-live in Q1 2028. Agreed in principle and subject to the live procurement.</a:t>
            </a:r>
            <a:endParaRPr lang="en-US" sz="1200" dirty="0"/>
          </a:p>
        </p:txBody>
      </p:sp>
      <p:sp>
        <p:nvSpPr>
          <p:cNvPr id="10" name="Text 6"/>
          <p:cNvSpPr/>
          <p:nvPr/>
        </p:nvSpPr>
        <p:spPr>
          <a:xfrm>
            <a:off x="548640" y="6473952"/>
            <a:ext cx="2858872" cy="274320"/>
          </a:xfrm>
          <a:prstGeom prst="rect">
            <a:avLst/>
          </a:prstGeom>
          <a:noFill/>
          <a:ln/>
        </p:spPr>
        <p:txBody>
          <a:bodyPr wrap="square" lIns="0" tIns="0" rIns="0" bIns="0" rtlCol="0" anchor="ctr">
            <a:normAutofit/>
          </a:bodyPr>
          <a:lstStyle/>
          <a:p>
            <a:pPr indent="0" marL="0">
              <a:buNone/>
            </a:pPr>
            <a:r>
              <a:rPr lang="en-US" sz="800" dirty="0">
                <a:solidFill>
                  <a:srgbClr val="9FB6D9"/>
                </a:solidFill>
                <a:latin typeface="Segoe UI" pitchFamily="34" charset="0"/>
                <a:ea typeface="Segoe UI" pitchFamily="34" charset="-122"/>
                <a:cs typeface="Segoe UI" pitchFamily="34" charset="-120"/>
              </a:rPr>
              <a:t>Hearts and Minds · audience deck No.5 · Supplier edition · proof-of-concept draft · September 2026</a:t>
            </a:r>
            <a:endParaRPr lang="en-US" sz="800" dirty="0"/>
          </a:p>
        </p:txBody>
      </p:sp>
      <p:sp>
        <p:nvSpPr>
          <p:cNvPr id="11" name="Text 7"/>
          <p:cNvSpPr/>
          <p:nvPr/>
        </p:nvSpPr>
        <p:spPr>
          <a:xfrm>
            <a:off x="3407512" y="6473952"/>
            <a:ext cx="2401672" cy="274320"/>
          </a:xfrm>
          <a:prstGeom prst="rect">
            <a:avLst/>
          </a:prstGeom>
          <a:noFill/>
          <a:ln/>
        </p:spPr>
        <p:txBody>
          <a:bodyPr wrap="square" lIns="0" tIns="0" rIns="0" bIns="0" rtlCol="0" anchor="ctr">
            <a:normAutofit/>
          </a:bodyPr>
          <a:lstStyle/>
          <a:p>
            <a:pPr algn="r" indent="0" marL="0">
              <a:buNone/>
            </a:pPr>
            <a:r>
              <a:rPr lang="en-US" sz="700" dirty="0">
                <a:solidFill>
                  <a:srgbClr val="9FB6D9"/>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3"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BUILT AROUND THE SUPPLIER WHO HAS TO MAKE IT WORK</a:t>
            </a:r>
            <a:endParaRPr lang="en-US" sz="1000" dirty="0"/>
          </a:p>
        </p:txBody>
      </p:sp>
      <p:sp>
        <p:nvSpPr>
          <p:cNvPr id="4" name="Text 1"/>
          <p:cNvSpPr/>
          <p:nvPr/>
        </p:nvSpPr>
        <p:spPr>
          <a:xfrm>
            <a:off x="548640" y="731520"/>
            <a:ext cx="11064240" cy="904240"/>
          </a:xfrm>
          <a:prstGeom prst="rect">
            <a:avLst/>
          </a:prstGeom>
          <a:noFill/>
          <a:ln/>
        </p:spPr>
        <p:txBody>
          <a:bodyPr wrap="square" lIns="0" tIns="0" rIns="0" bIns="0" rtlCol="0" anchor="t">
            <a:normAutofit/>
          </a:bodyPr>
          <a:lstStyle/>
          <a:p>
            <a:pPr indent="0" marL="0">
              <a:buNone/>
            </a:pPr>
            <a:r>
              <a:rPr lang="en-US" sz="2600" b="1" dirty="0">
                <a:solidFill>
                  <a:srgbClr val="003087"/>
                </a:solidFill>
                <a:latin typeface="Segoe UI" pitchFamily="34" charset="0"/>
                <a:ea typeface="Segoe UI" pitchFamily="34" charset="-122"/>
                <a:cs typeface="Segoe UI" pitchFamily="34" charset="-120"/>
              </a:rPr>
              <a:t>Joe has the kit, the lab and the paperwork. What he does not have is a route.</a:t>
            </a:r>
            <a:endParaRPr lang="en-US" sz="2600" dirty="0"/>
          </a:p>
        </p:txBody>
      </p:sp>
      <p:pic>
        <p:nvPicPr>
          <p:cNvPr id="5" name="Image 0" descr="/sessions/quirky-zen-galileo/mnt/NHS/07 Sites &amp; Repos/dtx-ecosystem/hearts-and-minds/_generators/assets/portraits/joe.jpg">    </p:cNvPr>
          <p:cNvPicPr>
            <a:picLocks noChangeAspect="1"/>
          </p:cNvPicPr>
          <p:nvPr/>
        </p:nvPicPr>
        <p:blipFill>
          <a:blip r:embed="rId1"/>
          <a:stretch>
            <a:fillRect/>
          </a:stretch>
        </p:blipFill>
        <p:spPr>
          <a:xfrm>
            <a:off x="731520" y="1910080"/>
            <a:ext cx="1047623" cy="1047623"/>
          </a:xfrm>
          <a:prstGeom prst="ellipse">
            <a:avLst/>
          </a:prstGeom>
        </p:spPr>
      </p:pic>
      <p:sp>
        <p:nvSpPr>
          <p:cNvPr id="6" name="Text 2"/>
          <p:cNvSpPr/>
          <p:nvPr/>
        </p:nvSpPr>
        <p:spPr>
          <a:xfrm>
            <a:off x="365760" y="3003423"/>
            <a:ext cx="1779143" cy="274320"/>
          </a:xfrm>
          <a:prstGeom prst="rect">
            <a:avLst/>
          </a:prstGeom>
          <a:noFill/>
          <a:ln/>
        </p:spPr>
        <p:txBody>
          <a:bodyPr wrap="square" lIns="0" tIns="0" rIns="0" bIns="0" rtlCol="0" anchor="ctr"/>
          <a:lstStyle/>
          <a:p>
            <a:pPr algn="ctr" indent="0" marL="0">
              <a:buNone/>
            </a:pPr>
            <a:r>
              <a:rPr lang="en-US" sz="1400" b="1" dirty="0">
                <a:solidFill>
                  <a:srgbClr val="003087"/>
                </a:solidFill>
                <a:latin typeface="Segoe UI" pitchFamily="34" charset="0"/>
                <a:ea typeface="Segoe UI" pitchFamily="34" charset="-122"/>
                <a:cs typeface="Segoe UI" pitchFamily="34" charset="-120"/>
              </a:rPr>
              <a:t>Joe</a:t>
            </a:r>
            <a:endParaRPr lang="en-US" sz="1400" dirty="0"/>
          </a:p>
        </p:txBody>
      </p:sp>
      <p:sp>
        <p:nvSpPr>
          <p:cNvPr id="7" name="Shape 3"/>
          <p:cNvSpPr/>
          <p:nvPr/>
        </p:nvSpPr>
        <p:spPr>
          <a:xfrm>
            <a:off x="2327783" y="1910080"/>
            <a:ext cx="9315272" cy="1047623"/>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8" name="Text 4"/>
          <p:cNvSpPr/>
          <p:nvPr/>
        </p:nvSpPr>
        <p:spPr>
          <a:xfrm>
            <a:off x="2602103" y="2001520"/>
            <a:ext cx="8766632" cy="864743"/>
          </a:xfrm>
          <a:prstGeom prst="rect">
            <a:avLst/>
          </a:prstGeom>
          <a:noFill/>
          <a:ln/>
        </p:spPr>
        <p:txBody>
          <a:bodyPr wrap="square" lIns="0" tIns="0" rIns="0" bIns="0" rtlCol="0" anchor="ctr">
            <a:normAutofit/>
          </a:bodyPr>
          <a:lstStyle/>
          <a:p>
            <a:pPr indent="0" marL="0">
              <a:buNone/>
            </a:pPr>
            <a:r>
              <a:rPr lang="en-US" sz="1800" i="1" dirty="0">
                <a:solidFill>
                  <a:srgbClr val="212B32"/>
                </a:solidFill>
                <a:latin typeface="Segoe UI" pitchFamily="34" charset="0"/>
                <a:ea typeface="Segoe UI" pitchFamily="34" charset="-122"/>
                <a:cs typeface="Segoe UI" pitchFamily="34" charset="-120"/>
              </a:rPr>
              <a:t>“Every commissioner wants their own DPIA, their own contract, their own assurance pack. I pay to find out what they want, then I do it again next door.”</a:t>
            </a:r>
            <a:endParaRPr lang="en-US" sz="1800" dirty="0"/>
          </a:p>
        </p:txBody>
      </p:sp>
      <p:sp>
        <p:nvSpPr>
          <p:cNvPr id="9" name="Text 5"/>
          <p:cNvSpPr/>
          <p:nvPr/>
        </p:nvSpPr>
        <p:spPr>
          <a:xfrm>
            <a:off x="2602103" y="2985135"/>
            <a:ext cx="8766632" cy="274320"/>
          </a:xfrm>
          <a:prstGeom prst="rect">
            <a:avLst/>
          </a:prstGeom>
          <a:noFill/>
          <a:ln/>
        </p:spPr>
        <p:txBody>
          <a:bodyPr wrap="square" lIns="0" tIns="0" rIns="0" bIns="0" rtlCol="0" anchor="ctr"/>
          <a:lstStyle/>
          <a:p>
            <a:pPr indent="0" marL="0">
              <a:buNone/>
            </a:pPr>
            <a:r>
              <a:rPr lang="en-US" sz="1050" dirty="0">
                <a:solidFill>
                  <a:srgbClr val="4C6272"/>
                </a:solidFill>
                <a:latin typeface="Segoe UI" pitchFamily="34" charset="0"/>
                <a:ea typeface="Segoe UI" pitchFamily="34" charset="-122"/>
                <a:cs typeface="Segoe UI" pitchFamily="34" charset="-120"/>
              </a:rPr>
              <a:t>Self-sample diagnostics, twenty staff, two laboratories</a:t>
            </a:r>
            <a:endParaRPr lang="en-US" sz="1050" dirty="0"/>
          </a:p>
        </p:txBody>
      </p:sp>
      <p:sp>
        <p:nvSpPr>
          <p:cNvPr id="10" name="Text 6"/>
          <p:cNvSpPr/>
          <p:nvPr/>
        </p:nvSpPr>
        <p:spPr>
          <a:xfrm>
            <a:off x="548640" y="3506343"/>
            <a:ext cx="11064240" cy="773049"/>
          </a:xfrm>
          <a:prstGeom prst="rect">
            <a:avLst/>
          </a:prstGeom>
          <a:noFill/>
          <a:ln/>
        </p:spPr>
        <p:txBody>
          <a:bodyPr wrap="square" lIns="0" tIns="0" rIns="0" bIns="0" rtlCol="0" anchor="t">
            <a:normAutofit/>
          </a:bodyPr>
          <a:lstStyle/>
          <a:p>
            <a:pPr indent="0" marL="0">
              <a:buNone/>
            </a:pPr>
            <a:r>
              <a:rPr lang="en-US" sz="1450" dirty="0">
                <a:solidFill>
                  <a:srgbClr val="4C6272"/>
                </a:solidFill>
                <a:latin typeface="Segoe UI" pitchFamily="34" charset="0"/>
                <a:ea typeface="Segoe UI" pitchFamily="34" charset="-122"/>
                <a:cs typeface="Segoe UI" pitchFamily="34" charset="-120"/>
              </a:rPr>
              <a:t>The market is fragmented and the cost of selling into it falls hardest on the suppliers the NHS most needs: the ones with a good test and a small commercial function. </a:t>
            </a:r>
            <a:pPr indent="0" marL="0">
              <a:buNone/>
            </a:pPr>
            <a:r>
              <a:rPr lang="en-US" sz="1450" b="1" dirty="0">
                <a:solidFill>
                  <a:srgbClr val="4C6272"/>
                </a:solidFill>
                <a:latin typeface="Segoe UI" pitchFamily="34" charset="0"/>
                <a:ea typeface="Segoe UI" pitchFamily="34" charset="-122"/>
                <a:cs typeface="Segoe UI" pitchFamily="34" charset="-120"/>
              </a:rPr>
              <a:t>This framework is built to remove the repetition, not to remove the standard.</a:t>
            </a:r>
            <a:endParaRPr lang="en-US" sz="1450" dirty="0"/>
          </a:p>
        </p:txBody>
      </p:sp>
      <p:pic>
        <p:nvPicPr>
          <p:cNvPr id="11" name="Image 1" descr="/sessions/quirky-zen-galileo/mnt/NHS/07 Sites &amp; Repos/dtx-ecosystem/hearts-and-minds/_generators/assets/portraits/joe.jpg">    </p:cNvPr>
          <p:cNvPicPr>
            <a:picLocks noChangeAspect="1"/>
          </p:cNvPicPr>
          <p:nvPr/>
        </p:nvPicPr>
        <p:blipFill>
          <a:blip r:embed="rId2"/>
          <a:stretch>
            <a:fillRect/>
          </a:stretch>
        </p:blipFill>
        <p:spPr>
          <a:xfrm>
            <a:off x="2816809" y="4599432"/>
            <a:ext cx="868680" cy="868680"/>
          </a:xfrm>
          <a:prstGeom prst="ellipse">
            <a:avLst/>
          </a:prstGeom>
        </p:spPr>
      </p:pic>
      <p:sp>
        <p:nvSpPr>
          <p:cNvPr id="12" name="Text 7"/>
          <p:cNvSpPr/>
          <p:nvPr/>
        </p:nvSpPr>
        <p:spPr>
          <a:xfrm>
            <a:off x="1828800" y="5559552"/>
            <a:ext cx="2844698" cy="320040"/>
          </a:xfrm>
          <a:prstGeom prst="rect">
            <a:avLst/>
          </a:prstGeom>
          <a:noFill/>
          <a:ln/>
        </p:spPr>
        <p:txBody>
          <a:bodyPr wrap="square" lIns="0" tIns="0" rIns="0" bIns="0" rtlCol="0" anchor="ctr"/>
          <a:lstStyle/>
          <a:p>
            <a:pPr algn="ctr" indent="0" marL="0">
              <a:buNone/>
            </a:pPr>
            <a:r>
              <a:rPr lang="en-US" sz="1500" b="1" dirty="0">
                <a:solidFill>
                  <a:srgbClr val="003087"/>
                </a:solidFill>
                <a:latin typeface="Segoe UI" pitchFamily="34" charset="0"/>
                <a:ea typeface="Segoe UI" pitchFamily="34" charset="-122"/>
                <a:cs typeface="Segoe UI" pitchFamily="34" charset="-120"/>
              </a:rPr>
              <a:t>Joe</a:t>
            </a:r>
            <a:endParaRPr lang="en-US" sz="1500" dirty="0"/>
          </a:p>
        </p:txBody>
      </p:sp>
      <p:sp>
        <p:nvSpPr>
          <p:cNvPr id="13" name="Text 8"/>
          <p:cNvSpPr/>
          <p:nvPr/>
        </p:nvSpPr>
        <p:spPr>
          <a:xfrm>
            <a:off x="1920240" y="5879592"/>
            <a:ext cx="2661818" cy="457200"/>
          </a:xfrm>
          <a:prstGeom prst="rect">
            <a:avLst/>
          </a:prstGeom>
          <a:noFill/>
          <a:ln/>
        </p:spPr>
        <p:txBody>
          <a:bodyPr wrap="square" lIns="0" tIns="0" rIns="0" bIns="0" rtlCol="0" anchor="t">
            <a:normAutofit/>
          </a:bodyPr>
          <a:lstStyle/>
          <a:p>
            <a:pPr algn="ctr" indent="0" marL="0">
              <a:buNone/>
            </a:pPr>
            <a:r>
              <a:rPr lang="en-US" sz="1050" dirty="0">
                <a:solidFill>
                  <a:srgbClr val="4C6272"/>
                </a:solidFill>
                <a:latin typeface="Segoe UI" pitchFamily="34" charset="0"/>
                <a:ea typeface="Segoe UI" pitchFamily="34" charset="-122"/>
                <a:cs typeface="Segoe UI" pitchFamily="34" charset="-120"/>
              </a:rPr>
              <a:t>the supplier with a good test</a:t>
            </a:r>
            <a:endParaRPr lang="en-US" sz="1050" dirty="0"/>
          </a:p>
        </p:txBody>
      </p:sp>
      <p:pic>
        <p:nvPicPr>
          <p:cNvPr id="14" name="Image 2" descr="/sessions/quirky-zen-galileo/mnt/NHS/07 Sites &amp; Repos/dtx-ecosystem/hearts-and-minds/_generators/assets/portraits/sarah.jpg">    </p:cNvPr>
          <p:cNvPicPr>
            <a:picLocks noChangeAspect="1"/>
          </p:cNvPicPr>
          <p:nvPr/>
        </p:nvPicPr>
        <p:blipFill>
          <a:blip r:embed="rId3"/>
          <a:stretch>
            <a:fillRect/>
          </a:stretch>
        </p:blipFill>
        <p:spPr>
          <a:xfrm>
            <a:off x="5661508" y="4599432"/>
            <a:ext cx="868680" cy="868680"/>
          </a:xfrm>
          <a:prstGeom prst="ellipse">
            <a:avLst/>
          </a:prstGeom>
        </p:spPr>
      </p:pic>
      <p:sp>
        <p:nvSpPr>
          <p:cNvPr id="15" name="Text 9"/>
          <p:cNvSpPr/>
          <p:nvPr/>
        </p:nvSpPr>
        <p:spPr>
          <a:xfrm>
            <a:off x="4673498" y="5559552"/>
            <a:ext cx="2844698" cy="320040"/>
          </a:xfrm>
          <a:prstGeom prst="rect">
            <a:avLst/>
          </a:prstGeom>
          <a:noFill/>
          <a:ln/>
        </p:spPr>
        <p:txBody>
          <a:bodyPr wrap="square" lIns="0" tIns="0" rIns="0" bIns="0" rtlCol="0" anchor="ctr"/>
          <a:lstStyle/>
          <a:p>
            <a:pPr algn="ctr" indent="0" marL="0">
              <a:buNone/>
            </a:pPr>
            <a:r>
              <a:rPr lang="en-US" sz="1500" b="1" dirty="0">
                <a:solidFill>
                  <a:srgbClr val="003087"/>
                </a:solidFill>
                <a:latin typeface="Segoe UI" pitchFamily="34" charset="0"/>
                <a:ea typeface="Segoe UI" pitchFamily="34" charset="-122"/>
                <a:cs typeface="Segoe UI" pitchFamily="34" charset="-120"/>
              </a:rPr>
              <a:t>Sarah</a:t>
            </a:r>
            <a:endParaRPr lang="en-US" sz="1500" dirty="0"/>
          </a:p>
        </p:txBody>
      </p:sp>
      <p:sp>
        <p:nvSpPr>
          <p:cNvPr id="16" name="Text 10"/>
          <p:cNvSpPr/>
          <p:nvPr/>
        </p:nvSpPr>
        <p:spPr>
          <a:xfrm>
            <a:off x="4764938" y="5879592"/>
            <a:ext cx="2661818" cy="457200"/>
          </a:xfrm>
          <a:prstGeom prst="rect">
            <a:avLst/>
          </a:prstGeom>
          <a:noFill/>
          <a:ln/>
        </p:spPr>
        <p:txBody>
          <a:bodyPr wrap="square" lIns="0" tIns="0" rIns="0" bIns="0" rtlCol="0" anchor="t">
            <a:normAutofit/>
          </a:bodyPr>
          <a:lstStyle/>
          <a:p>
            <a:pPr algn="ctr" indent="0" marL="0">
              <a:buNone/>
            </a:pPr>
            <a:r>
              <a:rPr lang="en-US" sz="1050" dirty="0">
                <a:solidFill>
                  <a:srgbClr val="4C6272"/>
                </a:solidFill>
                <a:latin typeface="Segoe UI" pitchFamily="34" charset="0"/>
                <a:ea typeface="Segoe UI" pitchFamily="34" charset="-122"/>
                <a:cs typeface="Segoe UI" pitchFamily="34" charset="-120"/>
              </a:rPr>
              <a:t>the commissioner who calls off</a:t>
            </a:r>
            <a:endParaRPr lang="en-US" sz="1050" dirty="0"/>
          </a:p>
        </p:txBody>
      </p:sp>
      <p:pic>
        <p:nvPicPr>
          <p:cNvPr id="17" name="Image 3" descr="/sessions/quirky-zen-galileo/mnt/NHS/07 Sites &amp; Repos/dtx-ecosystem/hearts-and-minds/_generators/assets/portraits/david.jpg">    </p:cNvPr>
          <p:cNvPicPr>
            <a:picLocks noChangeAspect="1"/>
          </p:cNvPicPr>
          <p:nvPr/>
        </p:nvPicPr>
        <p:blipFill>
          <a:blip r:embed="rId4"/>
          <a:stretch>
            <a:fillRect/>
          </a:stretch>
        </p:blipFill>
        <p:spPr>
          <a:xfrm>
            <a:off x="8506206" y="4599432"/>
            <a:ext cx="868680" cy="868680"/>
          </a:xfrm>
          <a:prstGeom prst="ellipse">
            <a:avLst/>
          </a:prstGeom>
        </p:spPr>
      </p:pic>
      <p:sp>
        <p:nvSpPr>
          <p:cNvPr id="18" name="Text 11"/>
          <p:cNvSpPr/>
          <p:nvPr/>
        </p:nvSpPr>
        <p:spPr>
          <a:xfrm>
            <a:off x="7518197" y="5559552"/>
            <a:ext cx="2844698" cy="320040"/>
          </a:xfrm>
          <a:prstGeom prst="rect">
            <a:avLst/>
          </a:prstGeom>
          <a:noFill/>
          <a:ln/>
        </p:spPr>
        <p:txBody>
          <a:bodyPr wrap="square" lIns="0" tIns="0" rIns="0" bIns="0" rtlCol="0" anchor="ctr"/>
          <a:lstStyle/>
          <a:p>
            <a:pPr algn="ctr" indent="0" marL="0">
              <a:buNone/>
            </a:pPr>
            <a:r>
              <a:rPr lang="en-US" sz="1500" b="1" dirty="0">
                <a:solidFill>
                  <a:srgbClr val="003087"/>
                </a:solidFill>
                <a:latin typeface="Segoe UI" pitchFamily="34" charset="0"/>
                <a:ea typeface="Segoe UI" pitchFamily="34" charset="-122"/>
                <a:cs typeface="Segoe UI" pitchFamily="34" charset="-120"/>
              </a:rPr>
              <a:t>David</a:t>
            </a:r>
            <a:endParaRPr lang="en-US" sz="1500" dirty="0"/>
          </a:p>
        </p:txBody>
      </p:sp>
      <p:sp>
        <p:nvSpPr>
          <p:cNvPr id="19" name="Text 12"/>
          <p:cNvSpPr/>
          <p:nvPr/>
        </p:nvSpPr>
        <p:spPr>
          <a:xfrm>
            <a:off x="7609637" y="5879592"/>
            <a:ext cx="2661818" cy="457200"/>
          </a:xfrm>
          <a:prstGeom prst="rect">
            <a:avLst/>
          </a:prstGeom>
          <a:noFill/>
          <a:ln/>
        </p:spPr>
        <p:txBody>
          <a:bodyPr wrap="square" lIns="0" tIns="0" rIns="0" bIns="0" rtlCol="0" anchor="t">
            <a:normAutofit/>
          </a:bodyPr>
          <a:lstStyle/>
          <a:p>
            <a:pPr algn="ctr" indent="0" marL="0">
              <a:buNone/>
            </a:pPr>
            <a:r>
              <a:rPr lang="en-US" sz="1050" dirty="0">
                <a:solidFill>
                  <a:srgbClr val="4C6272"/>
                </a:solidFill>
                <a:latin typeface="Segoe UI" pitchFamily="34" charset="0"/>
                <a:ea typeface="Segoe UI" pitchFamily="34" charset="-122"/>
                <a:cs typeface="Segoe UI" pitchFamily="34" charset="-120"/>
              </a:rPr>
              <a:t>the commercial lead who sets the terms</a:t>
            </a:r>
            <a:endParaRPr lang="en-US" sz="1050" dirty="0"/>
          </a:p>
        </p:txBody>
      </p:sp>
      <p:sp>
        <p:nvSpPr>
          <p:cNvPr id="20" name="Text 13"/>
          <p:cNvSpPr/>
          <p:nvPr/>
        </p:nvSpPr>
        <p:spPr>
          <a:xfrm>
            <a:off x="548640" y="6473952"/>
            <a:ext cx="5943600"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audience deck No.5 · Supplier edition · proof-of-concept draft · September 2026</a:t>
            </a:r>
            <a:endParaRPr lang="en-US" sz="800" dirty="0"/>
          </a:p>
        </p:txBody>
      </p:sp>
      <p:sp>
        <p:nvSpPr>
          <p:cNvPr id="21" name="Text 14"/>
          <p:cNvSpPr/>
          <p:nvPr/>
        </p:nvSpPr>
        <p:spPr>
          <a:xfrm>
            <a:off x="6309360" y="6473952"/>
            <a:ext cx="4876495" cy="274320"/>
          </a:xfrm>
          <a:prstGeom prst="rect">
            <a:avLst/>
          </a:prstGeom>
          <a:noFill/>
          <a:ln/>
        </p:spPr>
        <p:txBody>
          <a:bodyPr wrap="square" lIns="0" tIns="0" rIns="0" bIns="0" rtlCol="0" anchor="ctr">
            <a:normAutofit/>
          </a:bodyP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22" name="Text 15"/>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pic>
        <p:nvPicPr>
          <p:cNvPr id="3" name="Image 0" descr="/sessions/quirky-zen-galileo/mnt/NHS/07 Sites &amp; Repos/dtx-ecosystem/hearts-and-minds/_generators/assets/crops/joe-6-0.667.jpg">    </p:cNvPr>
          <p:cNvPicPr>
            <a:picLocks noChangeAspect="1"/>
          </p:cNvPicPr>
          <p:nvPr/>
        </p:nvPicPr>
        <p:blipFill>
          <a:blip r:embed="rId1"/>
          <a:stretch>
            <a:fillRect/>
          </a:stretch>
        </p:blipFill>
        <p:spPr>
          <a:xfrm>
            <a:off x="7619695" y="0"/>
            <a:ext cx="4572000" cy="6858000"/>
          </a:xfrm>
          <a:prstGeom prst="rect">
            <a:avLst/>
          </a:prstGeom>
        </p:spPr>
      </p:pic>
      <p:sp>
        <p:nvSpPr>
          <p:cNvPr id="4" name="Shape 0"/>
          <p:cNvSpPr/>
          <p:nvPr/>
        </p:nvSpPr>
        <p:spPr>
          <a:xfrm>
            <a:off x="7455103" y="0"/>
            <a:ext cx="164592" cy="6858000"/>
          </a:xfrm>
          <a:prstGeom prst="rect">
            <a:avLst/>
          </a:prstGeom>
          <a:solidFill>
            <a:srgbClr val="FFB91D"/>
          </a:solidFill>
          <a:ln w="12700">
            <a:solidFill>
              <a:srgbClr val="FFB91D"/>
            </a:solidFill>
            <a:prstDash val="solid"/>
          </a:ln>
        </p:spPr>
      </p:sp>
      <p:sp>
        <p:nvSpPr>
          <p:cNvPr id="5" name="Text 1"/>
          <p:cNvSpPr/>
          <p:nvPr/>
        </p:nvSpPr>
        <p:spPr>
          <a:xfrm>
            <a:off x="548640" y="411480"/>
            <a:ext cx="6494983"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THE PRIZE</a:t>
            </a:r>
            <a:endParaRPr lang="en-US" sz="1000" dirty="0"/>
          </a:p>
        </p:txBody>
      </p:sp>
      <p:sp>
        <p:nvSpPr>
          <p:cNvPr id="6" name="Text 2"/>
          <p:cNvSpPr/>
          <p:nvPr/>
        </p:nvSpPr>
        <p:spPr>
          <a:xfrm>
            <a:off x="548640" y="731520"/>
            <a:ext cx="6494983" cy="1003300"/>
          </a:xfrm>
          <a:prstGeom prst="rect">
            <a:avLst/>
          </a:prstGeom>
          <a:noFill/>
          <a:ln/>
        </p:spPr>
        <p:txBody>
          <a:bodyPr wrap="square" lIns="0" tIns="0" rIns="0" bIns="0" rtlCol="0" anchor="t">
            <a:normAutofit/>
          </a:bodyPr>
          <a:lstStyle/>
          <a:p>
            <a:pPr indent="0" marL="0">
              <a:buNone/>
            </a:pPr>
            <a:r>
              <a:rPr lang="en-US" sz="2900" b="1" dirty="0">
                <a:solidFill>
                  <a:srgbClr val="003087"/>
                </a:solidFill>
                <a:latin typeface="Segoe UI" pitchFamily="34" charset="0"/>
                <a:ea typeface="Segoe UI" pitchFamily="34" charset="-122"/>
                <a:cs typeface="Segoe UI" pitchFamily="34" charset="-120"/>
              </a:rPr>
              <a:t>A single national route into a growing market.</a:t>
            </a:r>
            <a:endParaRPr lang="en-US" sz="2900" dirty="0"/>
          </a:p>
        </p:txBody>
      </p:sp>
      <p:sp>
        <p:nvSpPr>
          <p:cNvPr id="7" name="Text 3"/>
          <p:cNvSpPr/>
          <p:nvPr/>
        </p:nvSpPr>
        <p:spPr>
          <a:xfrm>
            <a:off x="502920" y="1917700"/>
            <a:ext cx="3572241" cy="1234440"/>
          </a:xfrm>
          <a:prstGeom prst="rect">
            <a:avLst/>
          </a:prstGeom>
          <a:noFill/>
          <a:ln/>
        </p:spPr>
        <p:txBody>
          <a:bodyPr wrap="square" lIns="0" tIns="0" rIns="0" bIns="0" rtlCol="0" anchor="ctr">
            <a:normAutofit/>
          </a:bodyPr>
          <a:lstStyle/>
          <a:p>
            <a:pPr indent="0" marL="0">
              <a:buNone/>
            </a:pPr>
            <a:r>
              <a:rPr lang="en-US" sz="6000" b="1" dirty="0">
                <a:solidFill>
                  <a:srgbClr val="003087"/>
                </a:solidFill>
                <a:latin typeface="Segoe UI" pitchFamily="34" charset="0"/>
                <a:ea typeface="Segoe UI" pitchFamily="34" charset="-122"/>
                <a:cs typeface="Segoe UI" pitchFamily="34" charset="-120"/>
              </a:rPr>
              <a:t>~£250m</a:t>
            </a:r>
            <a:endParaRPr lang="en-US" sz="6000" dirty="0"/>
          </a:p>
        </p:txBody>
      </p:sp>
      <p:sp>
        <p:nvSpPr>
          <p:cNvPr id="8" name="Text 4"/>
          <p:cNvSpPr/>
          <p:nvPr/>
        </p:nvSpPr>
        <p:spPr>
          <a:xfrm>
            <a:off x="4120881" y="2054860"/>
            <a:ext cx="2922742" cy="847344"/>
          </a:xfrm>
          <a:prstGeom prst="rect">
            <a:avLst/>
          </a:prstGeom>
          <a:noFill/>
          <a:ln/>
        </p:spPr>
        <p:txBody>
          <a:bodyPr wrap="square" lIns="0" tIns="0" rIns="0" bIns="0" rtlCol="0" anchor="t">
            <a:normAutofit/>
          </a:bodyPr>
          <a:lstStyle/>
          <a:p>
            <a:pPr indent="0" marL="0">
              <a:buNone/>
            </a:pPr>
            <a:r>
              <a:rPr lang="en-US" sz="1200" dirty="0">
                <a:solidFill>
                  <a:srgbClr val="4C6272"/>
                </a:solidFill>
                <a:latin typeface="Segoe UI" pitchFamily="34" charset="0"/>
                <a:ea typeface="Segoe UI" pitchFamily="34" charset="-122"/>
                <a:cs typeface="Segoe UI" pitchFamily="34" charset="-120"/>
              </a:rPr>
              <a:t>the indicative value of the framework over its life, with a term of up to five years, three plus one plus one.</a:t>
            </a:r>
            <a:endParaRPr lang="en-US" sz="1200" dirty="0"/>
          </a:p>
        </p:txBody>
      </p:sp>
      <p:sp>
        <p:nvSpPr>
          <p:cNvPr id="9" name="Text 5"/>
          <p:cNvSpPr/>
          <p:nvPr/>
        </p:nvSpPr>
        <p:spPr>
          <a:xfrm>
            <a:off x="548640" y="3179572"/>
            <a:ext cx="6494983" cy="22860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HomeTest commercial model, agreed in principle</a:t>
            </a:r>
            <a:endParaRPr lang="en-US" sz="850" dirty="0"/>
          </a:p>
        </p:txBody>
      </p:sp>
      <p:sp>
        <p:nvSpPr>
          <p:cNvPr id="10" name="Shape 6"/>
          <p:cNvSpPr/>
          <p:nvPr/>
        </p:nvSpPr>
        <p:spPr>
          <a:xfrm>
            <a:off x="548640" y="3517900"/>
            <a:ext cx="3110332" cy="1508760"/>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1" name="Shape 7"/>
          <p:cNvSpPr/>
          <p:nvPr/>
        </p:nvSpPr>
        <p:spPr>
          <a:xfrm>
            <a:off x="548640" y="3517900"/>
            <a:ext cx="73152" cy="1508760"/>
          </a:xfrm>
          <a:prstGeom prst="rect">
            <a:avLst/>
          </a:prstGeom>
          <a:solidFill>
            <a:srgbClr val="006747"/>
          </a:solidFill>
          <a:ln w="12700">
            <a:solidFill>
              <a:srgbClr val="006747"/>
            </a:solidFill>
            <a:prstDash val="solid"/>
          </a:ln>
        </p:spPr>
      </p:sp>
      <p:sp>
        <p:nvSpPr>
          <p:cNvPr id="12" name="Text 8"/>
          <p:cNvSpPr/>
          <p:nvPr/>
        </p:nvSpPr>
        <p:spPr>
          <a:xfrm>
            <a:off x="804672" y="3627628"/>
            <a:ext cx="2744572" cy="566928"/>
          </a:xfrm>
          <a:prstGeom prst="rect">
            <a:avLst/>
          </a:prstGeom>
          <a:noFill/>
          <a:ln/>
        </p:spPr>
        <p:txBody>
          <a:bodyPr wrap="square" lIns="0" tIns="0" rIns="0" bIns="0" rtlCol="0" anchor="ctr">
            <a:normAutofit/>
          </a:bodyPr>
          <a:lstStyle/>
          <a:p>
            <a:pPr indent="0" marL="0">
              <a:buNone/>
            </a:pPr>
            <a:r>
              <a:rPr lang="en-US" sz="3000" b="1" dirty="0">
                <a:solidFill>
                  <a:srgbClr val="006747"/>
                </a:solidFill>
                <a:latin typeface="Segoe UI" pitchFamily="34" charset="0"/>
                <a:ea typeface="Segoe UI" pitchFamily="34" charset="-122"/>
                <a:cs typeface="Segoe UI" pitchFamily="34" charset="-120"/>
              </a:rPr>
              <a:t>Q1 2028</a:t>
            </a:r>
            <a:endParaRPr lang="en-US" sz="3000" dirty="0"/>
          </a:p>
        </p:txBody>
      </p:sp>
      <p:sp>
        <p:nvSpPr>
          <p:cNvPr id="13" name="Text 9"/>
          <p:cNvSpPr/>
          <p:nvPr/>
        </p:nvSpPr>
        <p:spPr>
          <a:xfrm>
            <a:off x="804672" y="4231132"/>
            <a:ext cx="2653132" cy="574929"/>
          </a:xfrm>
          <a:prstGeom prst="rect">
            <a:avLst/>
          </a:prstGeom>
          <a:noFill/>
          <a:ln/>
        </p:spPr>
        <p:txBody>
          <a:bodyPr wrap="square" lIns="0" tIns="0" rIns="0" bIns="0" rtlCol="0" anchor="t">
            <a:normAutofit/>
          </a:bodyPr>
          <a:lstStyle/>
          <a:p>
            <a:pPr indent="0" marL="0">
              <a:buNone/>
            </a:pPr>
            <a:r>
              <a:rPr lang="en-US" sz="1050" dirty="0">
                <a:solidFill>
                  <a:srgbClr val="4C6272"/>
                </a:solidFill>
                <a:latin typeface="Segoe UI" pitchFamily="34" charset="0"/>
                <a:ea typeface="Segoe UI" pitchFamily="34" charset="-122"/>
                <a:cs typeface="Segoe UI" pitchFamily="34" charset="-120"/>
              </a:rPr>
              <a:t>the targeted go-live for the enduring open framework under the Procurement Act 2023.</a:t>
            </a:r>
            <a:endParaRPr lang="en-US" sz="1050" dirty="0"/>
          </a:p>
        </p:txBody>
      </p:sp>
      <p:sp>
        <p:nvSpPr>
          <p:cNvPr id="14" name="Text 10"/>
          <p:cNvSpPr/>
          <p:nvPr/>
        </p:nvSpPr>
        <p:spPr>
          <a:xfrm>
            <a:off x="804672" y="4752340"/>
            <a:ext cx="2653132" cy="201168"/>
          </a:xfrm>
          <a:prstGeom prst="rect">
            <a:avLst/>
          </a:prstGeom>
          <a:noFill/>
          <a:ln/>
        </p:spPr>
        <p:txBody>
          <a:bodyPr wrap="square" lIns="0" tIns="0" rIns="0" bIns="0" rtlCol="0" anchor="ctr">
            <a:normAutofit/>
          </a:bodyPr>
          <a:lstStyle/>
          <a:p>
            <a:pPr indent="0" marL="0">
              <a:buNone/>
            </a:pPr>
            <a:r>
              <a:rPr lang="en-US" sz="750" dirty="0">
                <a:solidFill>
                  <a:srgbClr val="7E8B97"/>
                </a:solidFill>
                <a:latin typeface="Segoe UI" pitchFamily="34" charset="0"/>
                <a:ea typeface="Segoe UI" pitchFamily="34" charset="-122"/>
                <a:cs typeface="Segoe UI" pitchFamily="34" charset="-120"/>
              </a:rPr>
              <a:t>HomeTest commercial model, in principle and subject to procurement</a:t>
            </a:r>
            <a:endParaRPr lang="en-US" sz="750" dirty="0"/>
          </a:p>
        </p:txBody>
      </p:sp>
      <p:sp>
        <p:nvSpPr>
          <p:cNvPr id="15" name="Shape 11"/>
          <p:cNvSpPr/>
          <p:nvPr/>
        </p:nvSpPr>
        <p:spPr>
          <a:xfrm>
            <a:off x="3933292" y="3517900"/>
            <a:ext cx="3110332" cy="1508760"/>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6" name="Shape 12"/>
          <p:cNvSpPr/>
          <p:nvPr/>
        </p:nvSpPr>
        <p:spPr>
          <a:xfrm>
            <a:off x="3933292" y="3517900"/>
            <a:ext cx="73152" cy="1508760"/>
          </a:xfrm>
          <a:prstGeom prst="rect">
            <a:avLst/>
          </a:prstGeom>
          <a:solidFill>
            <a:srgbClr val="005EB8"/>
          </a:solidFill>
          <a:ln w="12700">
            <a:solidFill>
              <a:srgbClr val="005EB8"/>
            </a:solidFill>
            <a:prstDash val="solid"/>
          </a:ln>
        </p:spPr>
      </p:sp>
      <p:sp>
        <p:nvSpPr>
          <p:cNvPr id="17" name="Text 13"/>
          <p:cNvSpPr/>
          <p:nvPr/>
        </p:nvSpPr>
        <p:spPr>
          <a:xfrm>
            <a:off x="4189324" y="3627628"/>
            <a:ext cx="2744572" cy="566928"/>
          </a:xfrm>
          <a:prstGeom prst="rect">
            <a:avLst/>
          </a:prstGeom>
          <a:noFill/>
          <a:ln/>
        </p:spPr>
        <p:txBody>
          <a:bodyPr wrap="square" lIns="0" tIns="0" rIns="0" bIns="0" rtlCol="0" anchor="ctr">
            <a:normAutofit/>
          </a:bodyPr>
          <a:lstStyle/>
          <a:p>
            <a:pPr indent="0" marL="0">
              <a:buNone/>
            </a:pPr>
            <a:r>
              <a:rPr lang="en-US" sz="3000" b="1" dirty="0">
                <a:solidFill>
                  <a:srgbClr val="005EB8"/>
                </a:solidFill>
                <a:latin typeface="Segoe UI" pitchFamily="34" charset="0"/>
                <a:ea typeface="Segoe UI" pitchFamily="34" charset="-122"/>
                <a:cs typeface="Segoe UI" pitchFamily="34" charset="-120"/>
              </a:rPr>
              <a:t>1.25bn</a:t>
            </a:r>
            <a:endParaRPr lang="en-US" sz="3000" dirty="0"/>
          </a:p>
        </p:txBody>
      </p:sp>
      <p:sp>
        <p:nvSpPr>
          <p:cNvPr id="18" name="Text 14"/>
          <p:cNvSpPr/>
          <p:nvPr/>
        </p:nvSpPr>
        <p:spPr>
          <a:xfrm>
            <a:off x="4189324" y="4231132"/>
            <a:ext cx="2653132" cy="475869"/>
          </a:xfrm>
          <a:prstGeom prst="rect">
            <a:avLst/>
          </a:prstGeom>
          <a:noFill/>
          <a:ln/>
        </p:spPr>
        <p:txBody>
          <a:bodyPr wrap="square" lIns="0" tIns="0" rIns="0" bIns="0" rtlCol="0" anchor="t">
            <a:normAutofit/>
          </a:bodyPr>
          <a:lstStyle/>
          <a:p>
            <a:pPr indent="0" marL="0">
              <a:buNone/>
            </a:pPr>
            <a:r>
              <a:rPr lang="en-US" sz="850" dirty="0">
                <a:solidFill>
                  <a:srgbClr val="4C6272"/>
                </a:solidFill>
                <a:latin typeface="Segoe UI" pitchFamily="34" charset="0"/>
                <a:ea typeface="Segoe UI" pitchFamily="34" charset="-122"/>
                <a:cs typeface="Segoe UI" pitchFamily="34" charset="-120"/>
              </a:rPr>
              <a:t>pathology test requests projected for 2025/26, growing about 5.5% a year. The demand is not in question.</a:t>
            </a:r>
            <a:endParaRPr lang="en-US" sz="850" dirty="0"/>
          </a:p>
        </p:txBody>
      </p:sp>
      <p:sp>
        <p:nvSpPr>
          <p:cNvPr id="19" name="Text 15"/>
          <p:cNvSpPr/>
          <p:nvPr/>
        </p:nvSpPr>
        <p:spPr>
          <a:xfrm>
            <a:off x="4189324" y="4752340"/>
            <a:ext cx="2653132" cy="201168"/>
          </a:xfrm>
          <a:prstGeom prst="rect">
            <a:avLst/>
          </a:prstGeom>
          <a:noFill/>
          <a:ln/>
        </p:spPr>
        <p:txBody>
          <a:bodyPr wrap="square" lIns="0" tIns="0" rIns="0" bIns="0" rtlCol="0" anchor="ctr">
            <a:normAutofit/>
          </a:bodyPr>
          <a:lstStyle/>
          <a:p>
            <a:pPr indent="0" marL="0">
              <a:buNone/>
            </a:pPr>
            <a:r>
              <a:rPr lang="en-US" sz="750" dirty="0">
                <a:solidFill>
                  <a:srgbClr val="7E8B97"/>
                </a:solidFill>
                <a:latin typeface="Segoe UI" pitchFamily="34" charset="0"/>
                <a:ea typeface="Segoe UI" pitchFamily="34" charset="-122"/>
                <a:cs typeface="Segoe UI" pitchFamily="34" charset="-120"/>
              </a:rPr>
              <a:t>Programme analysis, 2026</a:t>
            </a:r>
            <a:endParaRPr lang="en-US" sz="750" dirty="0"/>
          </a:p>
        </p:txBody>
      </p:sp>
      <p:sp>
        <p:nvSpPr>
          <p:cNvPr id="20" name="Shape 16"/>
          <p:cNvSpPr/>
          <p:nvPr/>
        </p:nvSpPr>
        <p:spPr>
          <a:xfrm>
            <a:off x="548640" y="5300980"/>
            <a:ext cx="6494983" cy="901446"/>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21" name="Text 17"/>
          <p:cNvSpPr/>
          <p:nvPr/>
        </p:nvSpPr>
        <p:spPr>
          <a:xfrm>
            <a:off x="777240" y="5410708"/>
            <a:ext cx="6037783" cy="681990"/>
          </a:xfrm>
          <a:prstGeom prst="rect">
            <a:avLst/>
          </a:prstGeom>
          <a:noFill/>
          <a:ln/>
        </p:spPr>
        <p:txBody>
          <a:bodyPr wrap="square" lIns="0" tIns="0" rIns="0" bIns="0" rtlCol="0" anchor="ctr">
            <a:normAutofit/>
          </a:bodyPr>
          <a:lstStyle/>
          <a:p>
            <a:pPr indent="0" marL="0">
              <a:buNone/>
            </a:pPr>
            <a:r>
              <a:rPr lang="en-US" sz="1100" i="1" dirty="0">
                <a:solidFill>
                  <a:srgbClr val="212B32"/>
                </a:solidFill>
                <a:latin typeface="Segoe UI" pitchFamily="34" charset="0"/>
                <a:ea typeface="Segoe UI" pitchFamily="34" charset="-122"/>
                <a:cs typeface="Segoe UI" pitchFamily="34" charset="-120"/>
              </a:rPr>
              <a:t>Live today, not a paper market: patient-initiated HIV self-testing is running in Private Beta with two local authority areas, and an acute partner is mobilising for PSA active surveillance.</a:t>
            </a:r>
            <a:endParaRPr lang="en-US" sz="1100" dirty="0"/>
          </a:p>
        </p:txBody>
      </p:sp>
      <p:sp>
        <p:nvSpPr>
          <p:cNvPr id="22" name="Text 18"/>
          <p:cNvSpPr/>
          <p:nvPr/>
        </p:nvSpPr>
        <p:spPr>
          <a:xfrm>
            <a:off x="548640" y="6473952"/>
            <a:ext cx="3247492"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audience deck No.5 · Supplier edition · proof-of-concept draft · September 2026</a:t>
            </a:r>
            <a:endParaRPr lang="en-US" sz="800" dirty="0"/>
          </a:p>
        </p:txBody>
      </p:sp>
      <p:sp>
        <p:nvSpPr>
          <p:cNvPr id="23" name="Text 19"/>
          <p:cNvSpPr/>
          <p:nvPr/>
        </p:nvSpPr>
        <p:spPr>
          <a:xfrm>
            <a:off x="3796132" y="6473952"/>
            <a:ext cx="2790292"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24" name="Text 20"/>
          <p:cNvSpPr/>
          <p:nvPr/>
        </p:nvSpPr>
        <p:spPr>
          <a:xfrm>
            <a:off x="6632143"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pic>
        <p:nvPicPr>
          <p:cNvPr id="3" name="Image 0" descr="/sessions/quirky-zen-galileo/mnt/NHS/07 Sites &amp; Repos/dtx-ecosystem/hearts-and-minds/_generators/assets/crops/joe-4-0.613.jpg">    </p:cNvPr>
          <p:cNvPicPr>
            <a:picLocks noChangeAspect="1"/>
          </p:cNvPicPr>
          <p:nvPr/>
        </p:nvPicPr>
        <p:blipFill>
          <a:blip r:embed="rId1"/>
          <a:stretch>
            <a:fillRect/>
          </a:stretch>
        </p:blipFill>
        <p:spPr>
          <a:xfrm>
            <a:off x="7985455" y="0"/>
            <a:ext cx="4206240" cy="6858000"/>
          </a:xfrm>
          <a:prstGeom prst="rect">
            <a:avLst/>
          </a:prstGeom>
        </p:spPr>
      </p:pic>
      <p:sp>
        <p:nvSpPr>
          <p:cNvPr id="4" name="Shape 0"/>
          <p:cNvSpPr/>
          <p:nvPr/>
        </p:nvSpPr>
        <p:spPr>
          <a:xfrm>
            <a:off x="7820863" y="0"/>
            <a:ext cx="164592" cy="6858000"/>
          </a:xfrm>
          <a:prstGeom prst="rect">
            <a:avLst/>
          </a:prstGeom>
          <a:solidFill>
            <a:srgbClr val="FFB91D"/>
          </a:solidFill>
          <a:ln w="12700">
            <a:solidFill>
              <a:srgbClr val="FFB91D"/>
            </a:solidFill>
            <a:prstDash val="solid"/>
          </a:ln>
        </p:spPr>
      </p:sp>
      <p:sp>
        <p:nvSpPr>
          <p:cNvPr id="5" name="Text 1"/>
          <p:cNvSpPr/>
          <p:nvPr/>
        </p:nvSpPr>
        <p:spPr>
          <a:xfrm>
            <a:off x="548640" y="411480"/>
            <a:ext cx="6860743"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HOW YOU GET IN</a:t>
            </a:r>
            <a:endParaRPr lang="en-US" sz="1000" dirty="0"/>
          </a:p>
        </p:txBody>
      </p:sp>
      <p:sp>
        <p:nvSpPr>
          <p:cNvPr id="6" name="Text 2"/>
          <p:cNvSpPr/>
          <p:nvPr/>
        </p:nvSpPr>
        <p:spPr>
          <a:xfrm>
            <a:off x="548640" y="731520"/>
            <a:ext cx="6860743" cy="887730"/>
          </a:xfrm>
          <a:prstGeom prst="rect">
            <a:avLst/>
          </a:prstGeom>
          <a:noFill/>
          <a:ln/>
        </p:spPr>
        <p:txBody>
          <a:bodyPr wrap="square" lIns="0" tIns="0" rIns="0" bIns="0" rtlCol="0" anchor="t">
            <a:normAutofit/>
          </a:bodyPr>
          <a:lstStyle/>
          <a:p>
            <a:pPr indent="0" marL="0">
              <a:buNone/>
            </a:pPr>
            <a:r>
              <a:rPr lang="en-US" sz="2550" b="1" dirty="0">
                <a:solidFill>
                  <a:srgbClr val="003087"/>
                </a:solidFill>
                <a:latin typeface="Segoe UI" pitchFamily="34" charset="0"/>
                <a:ea typeface="Segoe UI" pitchFamily="34" charset="-122"/>
                <a:cs typeface="Segoe UI" pitchFamily="34" charset="-120"/>
              </a:rPr>
              <a:t>Two tiers. The company once, then each test at its gate.</a:t>
            </a:r>
            <a:endParaRPr lang="en-US" sz="2550" dirty="0"/>
          </a:p>
        </p:txBody>
      </p:sp>
      <p:sp>
        <p:nvSpPr>
          <p:cNvPr id="7" name="Shape 3"/>
          <p:cNvSpPr/>
          <p:nvPr/>
        </p:nvSpPr>
        <p:spPr>
          <a:xfrm>
            <a:off x="548640" y="1893570"/>
            <a:ext cx="3293212" cy="2084451"/>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8" name="Shape 4"/>
          <p:cNvSpPr/>
          <p:nvPr/>
        </p:nvSpPr>
        <p:spPr>
          <a:xfrm>
            <a:off x="548640" y="1893570"/>
            <a:ext cx="73152" cy="2084451"/>
          </a:xfrm>
          <a:prstGeom prst="rect">
            <a:avLst/>
          </a:prstGeom>
          <a:solidFill>
            <a:srgbClr val="006747"/>
          </a:solidFill>
          <a:ln w="12700">
            <a:solidFill>
              <a:srgbClr val="006747"/>
            </a:solidFill>
            <a:prstDash val="solid"/>
          </a:ln>
        </p:spPr>
      </p:sp>
      <p:sp>
        <p:nvSpPr>
          <p:cNvPr id="9" name="Text 5"/>
          <p:cNvSpPr/>
          <p:nvPr/>
        </p:nvSpPr>
        <p:spPr>
          <a:xfrm>
            <a:off x="804672" y="2076450"/>
            <a:ext cx="2836012" cy="612648"/>
          </a:xfrm>
          <a:prstGeom prst="rect">
            <a:avLst/>
          </a:prstGeom>
          <a:noFill/>
          <a:ln/>
        </p:spPr>
        <p:txBody>
          <a:bodyPr wrap="square" lIns="0" tIns="0" rIns="0" bIns="0" rtlCol="0" anchor="t">
            <a:normAutofit/>
          </a:bodyPr>
          <a:lstStyle/>
          <a:p>
            <a:pPr indent="0" marL="0">
              <a:buNone/>
            </a:pPr>
            <a:r>
              <a:rPr lang="en-US" sz="1800" b="1" dirty="0">
                <a:solidFill>
                  <a:srgbClr val="006747"/>
                </a:solidFill>
                <a:latin typeface="Segoe UI" pitchFamily="34" charset="0"/>
                <a:ea typeface="Segoe UI" pitchFamily="34" charset="-122"/>
                <a:cs typeface="Segoe UI" pitchFamily="34" charset="-120"/>
              </a:rPr>
              <a:t>Tier 1: framework entry</a:t>
            </a:r>
            <a:endParaRPr lang="en-US" sz="1800" dirty="0"/>
          </a:p>
        </p:txBody>
      </p:sp>
      <p:sp>
        <p:nvSpPr>
          <p:cNvPr id="10" name="Text 6"/>
          <p:cNvSpPr/>
          <p:nvPr/>
        </p:nvSpPr>
        <p:spPr>
          <a:xfrm>
            <a:off x="804672" y="2762250"/>
            <a:ext cx="2836012" cy="979424"/>
          </a:xfrm>
          <a:prstGeom prst="rect">
            <a:avLst/>
          </a:prstGeom>
          <a:noFill/>
          <a:ln/>
        </p:spPr>
        <p:txBody>
          <a:bodyPr wrap="square" lIns="0" tIns="0" rIns="0" bIns="0" rtlCol="0" anchor="t">
            <a:normAutofit/>
          </a:bodyPr>
          <a:lstStyle/>
          <a:p>
            <a:pPr indent="0" marL="0">
              <a:buNone/>
            </a:pPr>
            <a:r>
              <a:rPr lang="en-US" sz="800" dirty="0">
                <a:solidFill>
                  <a:srgbClr val="4C6272"/>
                </a:solidFill>
                <a:latin typeface="Segoe UI" pitchFamily="34" charset="0"/>
                <a:ea typeface="Segoe UI" pitchFamily="34" charset="-122"/>
                <a:cs typeface="Segoe UI" pitchFamily="34" charset="-120"/>
              </a:rPr>
              <a:t>Company assurance, passed once. Corporate structure, technical and operational readiness including the one-off platform connection, cyber, information governance and clinical safety governance, mostly through the Master SCAL, plus financial standing added by the framework.</a:t>
            </a:r>
            <a:endParaRPr lang="en-US" sz="800" dirty="0"/>
          </a:p>
        </p:txBody>
      </p:sp>
      <p:sp>
        <p:nvSpPr>
          <p:cNvPr id="11" name="Shape 7"/>
          <p:cNvSpPr/>
          <p:nvPr/>
        </p:nvSpPr>
        <p:spPr>
          <a:xfrm>
            <a:off x="4116172" y="1893570"/>
            <a:ext cx="3293212" cy="2084451"/>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2" name="Shape 8"/>
          <p:cNvSpPr/>
          <p:nvPr/>
        </p:nvSpPr>
        <p:spPr>
          <a:xfrm>
            <a:off x="4116172" y="1893570"/>
            <a:ext cx="73152" cy="2084451"/>
          </a:xfrm>
          <a:prstGeom prst="rect">
            <a:avLst/>
          </a:prstGeom>
          <a:solidFill>
            <a:srgbClr val="005EB8"/>
          </a:solidFill>
          <a:ln w="12700">
            <a:solidFill>
              <a:srgbClr val="005EB8"/>
            </a:solidFill>
            <a:prstDash val="solid"/>
          </a:ln>
        </p:spPr>
      </p:sp>
      <p:sp>
        <p:nvSpPr>
          <p:cNvPr id="13" name="Text 9"/>
          <p:cNvSpPr/>
          <p:nvPr/>
        </p:nvSpPr>
        <p:spPr>
          <a:xfrm>
            <a:off x="4372204" y="2076450"/>
            <a:ext cx="2836012" cy="612648"/>
          </a:xfrm>
          <a:prstGeom prst="rect">
            <a:avLst/>
          </a:prstGeom>
          <a:noFill/>
          <a:ln/>
        </p:spPr>
        <p:txBody>
          <a:bodyPr wrap="square" lIns="0" tIns="0" rIns="0" bIns="0" rtlCol="0" anchor="t">
            <a:normAutofit/>
          </a:bodyPr>
          <a:lstStyle/>
          <a:p>
            <a:pPr indent="0" marL="0">
              <a:buNone/>
            </a:pPr>
            <a:r>
              <a:rPr lang="en-US" sz="1800" b="1" dirty="0">
                <a:solidFill>
                  <a:srgbClr val="005EB8"/>
                </a:solidFill>
                <a:latin typeface="Segoe UI" pitchFamily="34" charset="0"/>
                <a:ea typeface="Segoe UI" pitchFamily="34" charset="-122"/>
                <a:cs typeface="Segoe UI" pitchFamily="34" charset="-120"/>
              </a:rPr>
              <a:t>Tier 2: test approval</a:t>
            </a:r>
            <a:endParaRPr lang="en-US" sz="1800" dirty="0"/>
          </a:p>
        </p:txBody>
      </p:sp>
      <p:sp>
        <p:nvSpPr>
          <p:cNvPr id="14" name="Text 10"/>
          <p:cNvSpPr/>
          <p:nvPr/>
        </p:nvSpPr>
        <p:spPr>
          <a:xfrm>
            <a:off x="4372204" y="2762250"/>
            <a:ext cx="2836012" cy="995934"/>
          </a:xfrm>
          <a:prstGeom prst="rect">
            <a:avLst/>
          </a:prstGeom>
          <a:noFill/>
          <a:ln/>
        </p:spPr>
        <p:txBody>
          <a:bodyPr wrap="square" lIns="0" tIns="0" rIns="0" bIns="0" rtlCol="0" anchor="t">
            <a:normAutofit/>
          </a:bodyPr>
          <a:lstStyle/>
          <a:p>
            <a:pPr indent="0" marL="0">
              <a:buNone/>
            </a:pPr>
            <a:r>
              <a:rPr lang="en-US" sz="950" dirty="0">
                <a:solidFill>
                  <a:srgbClr val="4C6272"/>
                </a:solidFill>
                <a:latin typeface="Segoe UI" pitchFamily="34" charset="0"/>
                <a:ea typeface="Segoe UI" pitchFamily="34" charset="-122"/>
                <a:cs typeface="Segoe UI" pitchFamily="34" charset="-120"/>
              </a:rPr>
              <a:t>Per test category, when its gate is open. Clinical evidence including non-inferiority, UKAS accreditation for the named test, MHRA-conformant kit, and API and journey conformance for that category.</a:t>
            </a:r>
            <a:endParaRPr lang="en-US" sz="950" dirty="0"/>
          </a:p>
        </p:txBody>
      </p:sp>
      <p:sp>
        <p:nvSpPr>
          <p:cNvPr id="15" name="Shape 11"/>
          <p:cNvSpPr/>
          <p:nvPr/>
        </p:nvSpPr>
        <p:spPr>
          <a:xfrm>
            <a:off x="548640" y="4206621"/>
            <a:ext cx="3293212" cy="2084451"/>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6" name="Shape 12"/>
          <p:cNvSpPr/>
          <p:nvPr/>
        </p:nvSpPr>
        <p:spPr>
          <a:xfrm>
            <a:off x="548640" y="4206621"/>
            <a:ext cx="73152" cy="2084451"/>
          </a:xfrm>
          <a:prstGeom prst="rect">
            <a:avLst/>
          </a:prstGeom>
          <a:solidFill>
            <a:srgbClr val="006747"/>
          </a:solidFill>
          <a:ln w="12700">
            <a:solidFill>
              <a:srgbClr val="006747"/>
            </a:solidFill>
            <a:prstDash val="solid"/>
          </a:ln>
        </p:spPr>
      </p:sp>
      <p:sp>
        <p:nvSpPr>
          <p:cNvPr id="17" name="Text 13"/>
          <p:cNvSpPr/>
          <p:nvPr/>
        </p:nvSpPr>
        <p:spPr>
          <a:xfrm>
            <a:off x="804672" y="4389501"/>
            <a:ext cx="2836012" cy="612648"/>
          </a:xfrm>
          <a:prstGeom prst="rect">
            <a:avLst/>
          </a:prstGeom>
          <a:noFill/>
          <a:ln/>
        </p:spPr>
        <p:txBody>
          <a:bodyPr wrap="square" lIns="0" tIns="0" rIns="0" bIns="0" rtlCol="0" anchor="t">
            <a:normAutofit/>
          </a:bodyPr>
          <a:lstStyle/>
          <a:p>
            <a:pPr indent="0" marL="0">
              <a:buNone/>
            </a:pPr>
            <a:r>
              <a:rPr lang="en-US" sz="1800" b="1" dirty="0">
                <a:solidFill>
                  <a:srgbClr val="006747"/>
                </a:solidFill>
                <a:latin typeface="Segoe UI" pitchFamily="34" charset="0"/>
                <a:ea typeface="Segoe UI" pitchFamily="34" charset="-122"/>
                <a:cs typeface="Segoe UI" pitchFamily="34" charset="-120"/>
              </a:rPr>
              <a:t>Reusable everywhere</a:t>
            </a:r>
            <a:endParaRPr lang="en-US" sz="1800" dirty="0"/>
          </a:p>
        </p:txBody>
      </p:sp>
      <p:sp>
        <p:nvSpPr>
          <p:cNvPr id="18" name="Text 14"/>
          <p:cNvSpPr/>
          <p:nvPr/>
        </p:nvSpPr>
        <p:spPr>
          <a:xfrm>
            <a:off x="804672" y="5075301"/>
            <a:ext cx="2836012" cy="962914"/>
          </a:xfrm>
          <a:prstGeom prst="rect">
            <a:avLst/>
          </a:prstGeom>
          <a:noFill/>
          <a:ln/>
        </p:spPr>
        <p:txBody>
          <a:bodyPr wrap="square" lIns="0" tIns="0" rIns="0" bIns="0" rtlCol="0" anchor="t">
            <a:normAutofit/>
          </a:bodyPr>
          <a:lstStyle/>
          <a:p>
            <a:pPr indent="0" marL="0">
              <a:buNone/>
            </a:pPr>
            <a:r>
              <a:rPr lang="en-US" sz="1100" dirty="0">
                <a:solidFill>
                  <a:srgbClr val="4C6272"/>
                </a:solidFill>
                <a:latin typeface="Segoe UI" pitchFamily="34" charset="0"/>
                <a:ea typeface="Segoe UI" pitchFamily="34" charset="-122"/>
                <a:cs typeface="Segoe UI" pitchFamily="34" charset="-120"/>
              </a:rPr>
              <a:t>Both approvals are reusable with every commissioner who calls off. The local body deploys; it does not re-assure you. One pass, not one per buyer.</a:t>
            </a:r>
            <a:endParaRPr lang="en-US" sz="1100" dirty="0"/>
          </a:p>
        </p:txBody>
      </p:sp>
      <p:sp>
        <p:nvSpPr>
          <p:cNvPr id="19" name="Shape 15"/>
          <p:cNvSpPr/>
          <p:nvPr/>
        </p:nvSpPr>
        <p:spPr>
          <a:xfrm>
            <a:off x="4116172" y="4206621"/>
            <a:ext cx="3293212" cy="2084451"/>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20" name="Shape 16"/>
          <p:cNvSpPr/>
          <p:nvPr/>
        </p:nvSpPr>
        <p:spPr>
          <a:xfrm>
            <a:off x="4116172" y="4206621"/>
            <a:ext cx="73152" cy="2084451"/>
          </a:xfrm>
          <a:prstGeom prst="rect">
            <a:avLst/>
          </a:prstGeom>
          <a:solidFill>
            <a:srgbClr val="005EB8"/>
          </a:solidFill>
          <a:ln w="12700">
            <a:solidFill>
              <a:srgbClr val="005EB8"/>
            </a:solidFill>
            <a:prstDash val="solid"/>
          </a:ln>
        </p:spPr>
      </p:sp>
      <p:sp>
        <p:nvSpPr>
          <p:cNvPr id="21" name="Text 17"/>
          <p:cNvSpPr/>
          <p:nvPr/>
        </p:nvSpPr>
        <p:spPr>
          <a:xfrm>
            <a:off x="4372204" y="4389501"/>
            <a:ext cx="2836012" cy="612648"/>
          </a:xfrm>
          <a:prstGeom prst="rect">
            <a:avLst/>
          </a:prstGeom>
          <a:noFill/>
          <a:ln/>
        </p:spPr>
        <p:txBody>
          <a:bodyPr wrap="square" lIns="0" tIns="0" rIns="0" bIns="0" rtlCol="0" anchor="t">
            <a:normAutofit/>
          </a:bodyPr>
          <a:lstStyle/>
          <a:p>
            <a:pPr indent="0" marL="0">
              <a:buNone/>
            </a:pPr>
            <a:r>
              <a:rPr lang="en-US" sz="1800" b="1" dirty="0">
                <a:solidFill>
                  <a:srgbClr val="005EB8"/>
                </a:solidFill>
                <a:latin typeface="Segoe UI" pitchFamily="34" charset="0"/>
                <a:ea typeface="Segoe UI" pitchFamily="34" charset="-122"/>
                <a:cs typeface="Segoe UI" pitchFamily="34" charset="-120"/>
              </a:rPr>
              <a:t>Tier 1 does not expire</a:t>
            </a:r>
            <a:endParaRPr lang="en-US" sz="1800" dirty="0"/>
          </a:p>
        </p:txBody>
      </p:sp>
      <p:sp>
        <p:nvSpPr>
          <p:cNvPr id="22" name="Text 18"/>
          <p:cNvSpPr/>
          <p:nvPr/>
        </p:nvSpPr>
        <p:spPr>
          <a:xfrm>
            <a:off x="4372204" y="5075301"/>
            <a:ext cx="2836012" cy="1004189"/>
          </a:xfrm>
          <a:prstGeom prst="rect">
            <a:avLst/>
          </a:prstGeom>
          <a:noFill/>
          <a:ln/>
        </p:spPr>
        <p:txBody>
          <a:bodyPr wrap="square" lIns="0" tIns="0" rIns="0" bIns="0" rtlCol="0" anchor="t">
            <a:normAutofit/>
          </a:bodyPr>
          <a:lstStyle/>
          <a:p>
            <a:pPr indent="0" marL="0">
              <a:buNone/>
            </a:pPr>
            <a:r>
              <a:rPr lang="en-US" sz="1150" dirty="0">
                <a:solidFill>
                  <a:srgbClr val="4C6272"/>
                </a:solidFill>
                <a:latin typeface="Segoe UI" pitchFamily="34" charset="0"/>
                <a:ea typeface="Segoe UI" pitchFamily="34" charset="-122"/>
                <a:cs typeface="Segoe UI" pitchFamily="34" charset="-120"/>
              </a:rPr>
              <a:t>Miss a gate and you apply at the next one. Company approval stands; you are not sent back to the start of the queue.</a:t>
            </a:r>
            <a:endParaRPr lang="en-US" sz="1150" dirty="0"/>
          </a:p>
        </p:txBody>
      </p:sp>
      <p:sp>
        <p:nvSpPr>
          <p:cNvPr id="23" name="Text 19"/>
          <p:cNvSpPr/>
          <p:nvPr/>
        </p:nvSpPr>
        <p:spPr>
          <a:xfrm>
            <a:off x="548640" y="6473952"/>
            <a:ext cx="3430372"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audience deck No.5 · Supplier edition · proof-of-concept draft · September 2026</a:t>
            </a:r>
            <a:endParaRPr lang="en-US" sz="800" dirty="0"/>
          </a:p>
        </p:txBody>
      </p:sp>
      <p:sp>
        <p:nvSpPr>
          <p:cNvPr id="24" name="Text 20"/>
          <p:cNvSpPr/>
          <p:nvPr/>
        </p:nvSpPr>
        <p:spPr>
          <a:xfrm>
            <a:off x="3979012" y="6473952"/>
            <a:ext cx="2973172"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25" name="Text 21"/>
          <p:cNvSpPr/>
          <p:nvPr/>
        </p:nvSpPr>
        <p:spPr>
          <a:xfrm>
            <a:off x="6997903"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3"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THE GATE MODEL</a:t>
            </a:r>
            <a:endParaRPr lang="en-US" sz="1000" dirty="0"/>
          </a:p>
        </p:txBody>
      </p:sp>
      <p:sp>
        <p:nvSpPr>
          <p:cNvPr id="4" name="Text 1"/>
          <p:cNvSpPr/>
          <p:nvPr/>
        </p:nvSpPr>
        <p:spPr>
          <a:xfrm>
            <a:off x="548640" y="731520"/>
            <a:ext cx="11064240" cy="904240"/>
          </a:xfrm>
          <a:prstGeom prst="rect">
            <a:avLst/>
          </a:prstGeom>
          <a:noFill/>
          <a:ln/>
        </p:spPr>
        <p:txBody>
          <a:bodyPr wrap="square" lIns="0" tIns="0" rIns="0" bIns="0" rtlCol="0" anchor="t">
            <a:normAutofit/>
          </a:bodyPr>
          <a:lstStyle/>
          <a:p>
            <a:pPr indent="0" marL="0">
              <a:buNone/>
            </a:pPr>
            <a:r>
              <a:rPr lang="en-US" sz="2600" b="1" dirty="0">
                <a:solidFill>
                  <a:srgbClr val="003087"/>
                </a:solidFill>
                <a:latin typeface="Segoe UI" pitchFamily="34" charset="0"/>
                <a:ea typeface="Segoe UI" pitchFamily="34" charset="-122"/>
                <a:cs typeface="Segoe UI" pitchFamily="34" charset="-120"/>
              </a:rPr>
              <a:t>Categories open on a published roadmap, not on request.</a:t>
            </a:r>
            <a:endParaRPr lang="en-US" sz="2600" dirty="0"/>
          </a:p>
        </p:txBody>
      </p:sp>
      <p:sp>
        <p:nvSpPr>
          <p:cNvPr id="5" name="Shape 2"/>
          <p:cNvSpPr/>
          <p:nvPr/>
        </p:nvSpPr>
        <p:spPr>
          <a:xfrm>
            <a:off x="1280160" y="1955800"/>
            <a:ext cx="749808" cy="749808"/>
          </a:xfrm>
          <a:prstGeom prst="ellipse">
            <a:avLst/>
          </a:prstGeom>
          <a:solidFill>
            <a:srgbClr val="003087"/>
          </a:solidFill>
          <a:ln w="12700">
            <a:solidFill>
              <a:srgbClr val="003087"/>
            </a:solidFill>
            <a:prstDash val="solid"/>
          </a:ln>
        </p:spPr>
      </p:sp>
      <p:sp>
        <p:nvSpPr>
          <p:cNvPr id="6" name="Text 3"/>
          <p:cNvSpPr/>
          <p:nvPr/>
        </p:nvSpPr>
        <p:spPr>
          <a:xfrm>
            <a:off x="1280160" y="1955800"/>
            <a:ext cx="749808" cy="74980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7" name="Text 4"/>
          <p:cNvSpPr/>
          <p:nvPr/>
        </p:nvSpPr>
        <p:spPr>
          <a:xfrm>
            <a:off x="2441448" y="2065528"/>
            <a:ext cx="640080" cy="548640"/>
          </a:xfrm>
          <a:prstGeom prst="rect">
            <a:avLst/>
          </a:prstGeom>
          <a:noFill/>
          <a:ln/>
        </p:spPr>
        <p:txBody>
          <a:bodyPr wrap="square" lIns="0" tIns="0" rIns="0" bIns="0" rtlCol="0" anchor="ctr"/>
          <a:lstStyle/>
          <a:p>
            <a:pPr algn="ctr" indent="0" marL="0">
              <a:buNone/>
            </a:pPr>
            <a:r>
              <a:rPr lang="en-US" sz="2200" b="1" dirty="0">
                <a:solidFill>
                  <a:srgbClr val="FFB91D"/>
                </a:solidFill>
                <a:latin typeface="Segoe UI" pitchFamily="34" charset="0"/>
                <a:ea typeface="Segoe UI" pitchFamily="34" charset="-122"/>
                <a:cs typeface="Segoe UI" pitchFamily="34" charset="-120"/>
              </a:rPr>
              <a:t>→</a:t>
            </a:r>
            <a:endParaRPr lang="en-US" sz="2200" dirty="0"/>
          </a:p>
        </p:txBody>
      </p:sp>
      <p:sp>
        <p:nvSpPr>
          <p:cNvPr id="8" name="Text 5"/>
          <p:cNvSpPr/>
          <p:nvPr/>
        </p:nvSpPr>
        <p:spPr>
          <a:xfrm>
            <a:off x="548640" y="2815336"/>
            <a:ext cx="2212848" cy="365760"/>
          </a:xfrm>
          <a:prstGeom prst="rect">
            <a:avLst/>
          </a:prstGeom>
          <a:noFill/>
          <a:ln/>
        </p:spPr>
        <p:txBody>
          <a:bodyPr wrap="square" lIns="0" tIns="0" rIns="0" bIns="0" rtlCol="0" anchor="t">
            <a:normAutofit/>
          </a:bodyPr>
          <a:lstStyle/>
          <a:p>
            <a:pPr algn="ctr" indent="0" marL="0">
              <a:buNone/>
            </a:pPr>
            <a:r>
              <a:rPr lang="en-US" sz="1250" b="1" dirty="0">
                <a:solidFill>
                  <a:srgbClr val="003087"/>
                </a:solidFill>
                <a:latin typeface="Segoe UI" pitchFamily="34" charset="0"/>
                <a:ea typeface="Segoe UI" pitchFamily="34" charset="-122"/>
                <a:cs typeface="Segoe UI" pitchFamily="34" charset="-120"/>
              </a:rPr>
              <a:t>Roadmap publishes</a:t>
            </a:r>
            <a:endParaRPr lang="en-US" sz="1250" dirty="0"/>
          </a:p>
        </p:txBody>
      </p:sp>
      <p:sp>
        <p:nvSpPr>
          <p:cNvPr id="9" name="Text 6"/>
          <p:cNvSpPr/>
          <p:nvPr/>
        </p:nvSpPr>
        <p:spPr>
          <a:xfrm>
            <a:off x="685800" y="3208528"/>
            <a:ext cx="1938528" cy="880364"/>
          </a:xfrm>
          <a:prstGeom prst="rect">
            <a:avLst/>
          </a:prstGeom>
          <a:noFill/>
          <a:ln/>
        </p:spPr>
        <p:txBody>
          <a:bodyPr wrap="square" lIns="0" tIns="0" rIns="0" bIns="0" rtlCol="0" anchor="t">
            <a:normAutofit/>
          </a:bodyPr>
          <a:lstStyle/>
          <a:p>
            <a:pPr algn="ctr" indent="0" marL="0">
              <a:buNone/>
            </a:pPr>
            <a:r>
              <a:rPr lang="en-US" sz="1000" dirty="0">
                <a:solidFill>
                  <a:srgbClr val="4C6272"/>
                </a:solidFill>
                <a:latin typeface="Segoe UI" pitchFamily="34" charset="0"/>
                <a:ea typeface="Segoe UI" pitchFamily="34" charset="-122"/>
                <a:cs typeface="Segoe UI" pitchFamily="34" charset="-120"/>
              </a:rPr>
              <a:t>Categories and gate dates land far enough ahead for a laboratory to book and win the accreditation it needs.</a:t>
            </a:r>
            <a:endParaRPr lang="en-US" sz="1000" dirty="0"/>
          </a:p>
        </p:txBody>
      </p:sp>
      <p:sp>
        <p:nvSpPr>
          <p:cNvPr id="10" name="Shape 7"/>
          <p:cNvSpPr/>
          <p:nvPr/>
        </p:nvSpPr>
        <p:spPr>
          <a:xfrm>
            <a:off x="3493008" y="1955800"/>
            <a:ext cx="749808" cy="749808"/>
          </a:xfrm>
          <a:prstGeom prst="ellipse">
            <a:avLst/>
          </a:prstGeom>
          <a:solidFill>
            <a:srgbClr val="003087"/>
          </a:solidFill>
          <a:ln w="12700">
            <a:solidFill>
              <a:srgbClr val="003087"/>
            </a:solidFill>
            <a:prstDash val="solid"/>
          </a:ln>
        </p:spPr>
      </p:sp>
      <p:sp>
        <p:nvSpPr>
          <p:cNvPr id="11" name="Text 8"/>
          <p:cNvSpPr/>
          <p:nvPr/>
        </p:nvSpPr>
        <p:spPr>
          <a:xfrm>
            <a:off x="3493008" y="1955800"/>
            <a:ext cx="749808" cy="74980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12" name="Text 9"/>
          <p:cNvSpPr/>
          <p:nvPr/>
        </p:nvSpPr>
        <p:spPr>
          <a:xfrm>
            <a:off x="4654296" y="2065528"/>
            <a:ext cx="640080" cy="548640"/>
          </a:xfrm>
          <a:prstGeom prst="rect">
            <a:avLst/>
          </a:prstGeom>
          <a:noFill/>
          <a:ln/>
        </p:spPr>
        <p:txBody>
          <a:bodyPr wrap="square" lIns="0" tIns="0" rIns="0" bIns="0" rtlCol="0" anchor="ctr"/>
          <a:lstStyle/>
          <a:p>
            <a:pPr algn="ctr" indent="0" marL="0">
              <a:buNone/>
            </a:pPr>
            <a:r>
              <a:rPr lang="en-US" sz="2200" b="1" dirty="0">
                <a:solidFill>
                  <a:srgbClr val="FFB91D"/>
                </a:solidFill>
                <a:latin typeface="Segoe UI" pitchFamily="34" charset="0"/>
                <a:ea typeface="Segoe UI" pitchFamily="34" charset="-122"/>
                <a:cs typeface="Segoe UI" pitchFamily="34" charset="-120"/>
              </a:rPr>
              <a:t>→</a:t>
            </a:r>
            <a:endParaRPr lang="en-US" sz="2200" dirty="0"/>
          </a:p>
        </p:txBody>
      </p:sp>
      <p:sp>
        <p:nvSpPr>
          <p:cNvPr id="13" name="Text 10"/>
          <p:cNvSpPr/>
          <p:nvPr/>
        </p:nvSpPr>
        <p:spPr>
          <a:xfrm>
            <a:off x="2761488" y="2815336"/>
            <a:ext cx="2212848" cy="365760"/>
          </a:xfrm>
          <a:prstGeom prst="rect">
            <a:avLst/>
          </a:prstGeom>
          <a:noFill/>
          <a:ln/>
        </p:spPr>
        <p:txBody>
          <a:bodyPr wrap="square" lIns="0" tIns="0" rIns="0" bIns="0" rtlCol="0" anchor="t">
            <a:normAutofit/>
          </a:bodyPr>
          <a:lstStyle/>
          <a:p>
            <a:pPr algn="ctr" indent="0" marL="0">
              <a:buNone/>
            </a:pPr>
            <a:r>
              <a:rPr lang="en-US" sz="1500" b="1" dirty="0">
                <a:solidFill>
                  <a:srgbClr val="003087"/>
                </a:solidFill>
                <a:latin typeface="Segoe UI" pitchFamily="34" charset="0"/>
                <a:ea typeface="Segoe UI" pitchFamily="34" charset="-122"/>
                <a:cs typeface="Segoe UI" pitchFamily="34" charset="-120"/>
              </a:rPr>
              <a:t>Gate opens</a:t>
            </a:r>
            <a:endParaRPr lang="en-US" sz="1500" dirty="0"/>
          </a:p>
        </p:txBody>
      </p:sp>
      <p:sp>
        <p:nvSpPr>
          <p:cNvPr id="14" name="Text 11"/>
          <p:cNvSpPr/>
          <p:nvPr/>
        </p:nvSpPr>
        <p:spPr>
          <a:xfrm>
            <a:off x="2898648" y="3208528"/>
            <a:ext cx="1938528" cy="880364"/>
          </a:xfrm>
          <a:prstGeom prst="rect">
            <a:avLst/>
          </a:prstGeom>
          <a:noFill/>
          <a:ln/>
        </p:spPr>
        <p:txBody>
          <a:bodyPr wrap="square" lIns="0" tIns="0" rIns="0" bIns="0" rtlCol="0" anchor="t">
            <a:normAutofit/>
          </a:bodyPr>
          <a:lstStyle/>
          <a:p>
            <a:pPr algn="ctr" indent="0" marL="0">
              <a:buNone/>
            </a:pPr>
            <a:r>
              <a:rPr lang="en-US" sz="1000" dirty="0">
                <a:solidFill>
                  <a:srgbClr val="4C6272"/>
                </a:solidFill>
                <a:latin typeface="Segoe UI" pitchFamily="34" charset="0"/>
                <a:ea typeface="Segoe UI" pitchFamily="34" charset="-122"/>
                <a:cs typeface="Segoe UI" pitchFamily="34" charset="-120"/>
              </a:rPr>
              <a:t>The category joins the catalogue. Any supplier with Tier 1 can apply for one category or several.</a:t>
            </a:r>
            <a:endParaRPr lang="en-US" sz="1000" dirty="0"/>
          </a:p>
        </p:txBody>
      </p:sp>
      <p:sp>
        <p:nvSpPr>
          <p:cNvPr id="15" name="Shape 12"/>
          <p:cNvSpPr/>
          <p:nvPr/>
        </p:nvSpPr>
        <p:spPr>
          <a:xfrm>
            <a:off x="5705856" y="1955800"/>
            <a:ext cx="749808" cy="749808"/>
          </a:xfrm>
          <a:prstGeom prst="ellipse">
            <a:avLst/>
          </a:prstGeom>
          <a:solidFill>
            <a:srgbClr val="003087"/>
          </a:solidFill>
          <a:ln w="12700">
            <a:solidFill>
              <a:srgbClr val="003087"/>
            </a:solidFill>
            <a:prstDash val="solid"/>
          </a:ln>
        </p:spPr>
      </p:sp>
      <p:sp>
        <p:nvSpPr>
          <p:cNvPr id="16" name="Text 13"/>
          <p:cNvSpPr/>
          <p:nvPr/>
        </p:nvSpPr>
        <p:spPr>
          <a:xfrm>
            <a:off x="5705856" y="1955800"/>
            <a:ext cx="749808" cy="74980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17" name="Text 14"/>
          <p:cNvSpPr/>
          <p:nvPr/>
        </p:nvSpPr>
        <p:spPr>
          <a:xfrm>
            <a:off x="6867144" y="2065528"/>
            <a:ext cx="640080" cy="548640"/>
          </a:xfrm>
          <a:prstGeom prst="rect">
            <a:avLst/>
          </a:prstGeom>
          <a:noFill/>
          <a:ln/>
        </p:spPr>
        <p:txBody>
          <a:bodyPr wrap="square" lIns="0" tIns="0" rIns="0" bIns="0" rtlCol="0" anchor="ctr"/>
          <a:lstStyle/>
          <a:p>
            <a:pPr algn="ctr" indent="0" marL="0">
              <a:buNone/>
            </a:pPr>
            <a:r>
              <a:rPr lang="en-US" sz="2200" b="1" dirty="0">
                <a:solidFill>
                  <a:srgbClr val="FFB91D"/>
                </a:solidFill>
                <a:latin typeface="Segoe UI" pitchFamily="34" charset="0"/>
                <a:ea typeface="Segoe UI" pitchFamily="34" charset="-122"/>
                <a:cs typeface="Segoe UI" pitchFamily="34" charset="-120"/>
              </a:rPr>
              <a:t>→</a:t>
            </a:r>
            <a:endParaRPr lang="en-US" sz="2200" dirty="0"/>
          </a:p>
        </p:txBody>
      </p:sp>
      <p:sp>
        <p:nvSpPr>
          <p:cNvPr id="18" name="Text 15"/>
          <p:cNvSpPr/>
          <p:nvPr/>
        </p:nvSpPr>
        <p:spPr>
          <a:xfrm>
            <a:off x="4974336" y="2815336"/>
            <a:ext cx="2212848" cy="365760"/>
          </a:xfrm>
          <a:prstGeom prst="rect">
            <a:avLst/>
          </a:prstGeom>
          <a:noFill/>
          <a:ln/>
        </p:spPr>
        <p:txBody>
          <a:bodyPr wrap="square" lIns="0" tIns="0" rIns="0" bIns="0" rtlCol="0" anchor="t">
            <a:normAutofit/>
          </a:bodyPr>
          <a:lstStyle/>
          <a:p>
            <a:pPr algn="ctr" indent="0" marL="0">
              <a:buNone/>
            </a:pPr>
            <a:r>
              <a:rPr lang="en-US" sz="1200" b="1" dirty="0">
                <a:solidFill>
                  <a:srgbClr val="003087"/>
                </a:solidFill>
                <a:latin typeface="Segoe UI" pitchFamily="34" charset="0"/>
                <a:ea typeface="Segoe UI" pitchFamily="34" charset="-122"/>
                <a:cs typeface="Segoe UI" pitchFamily="34" charset="-120"/>
              </a:rPr>
              <a:t>Suppliers accredit</a:t>
            </a:r>
            <a:endParaRPr lang="en-US" sz="1200" dirty="0"/>
          </a:p>
        </p:txBody>
      </p:sp>
      <p:sp>
        <p:nvSpPr>
          <p:cNvPr id="19" name="Text 16"/>
          <p:cNvSpPr/>
          <p:nvPr/>
        </p:nvSpPr>
        <p:spPr>
          <a:xfrm>
            <a:off x="5111496" y="3208528"/>
            <a:ext cx="1938528" cy="880364"/>
          </a:xfrm>
          <a:prstGeom prst="rect">
            <a:avLst/>
          </a:prstGeom>
          <a:noFill/>
          <a:ln/>
        </p:spPr>
        <p:txBody>
          <a:bodyPr wrap="square" lIns="0" tIns="0" rIns="0" bIns="0" rtlCol="0" anchor="t">
            <a:normAutofit/>
          </a:bodyPr>
          <a:lstStyle/>
          <a:p>
            <a:pPr algn="ctr" indent="0" marL="0">
              <a:buNone/>
            </a:pPr>
            <a:r>
              <a:rPr lang="en-US" sz="1000" dirty="0">
                <a:solidFill>
                  <a:srgbClr val="4C6272"/>
                </a:solidFill>
                <a:latin typeface="Segoe UI" pitchFamily="34" charset="0"/>
                <a:ea typeface="Segoe UI" pitchFamily="34" charset="-122"/>
                <a:cs typeface="Segoe UI" pitchFamily="34" charset="-120"/>
              </a:rPr>
              <a:t>A clinician panel judges the clinical bar; automated conformance takes the technical one.</a:t>
            </a:r>
            <a:endParaRPr lang="en-US" sz="1000" dirty="0"/>
          </a:p>
        </p:txBody>
      </p:sp>
      <p:sp>
        <p:nvSpPr>
          <p:cNvPr id="20" name="Shape 17"/>
          <p:cNvSpPr/>
          <p:nvPr/>
        </p:nvSpPr>
        <p:spPr>
          <a:xfrm>
            <a:off x="7918704" y="1955800"/>
            <a:ext cx="749808" cy="749808"/>
          </a:xfrm>
          <a:prstGeom prst="ellipse">
            <a:avLst/>
          </a:prstGeom>
          <a:solidFill>
            <a:srgbClr val="003087"/>
          </a:solidFill>
          <a:ln w="12700">
            <a:solidFill>
              <a:srgbClr val="003087"/>
            </a:solidFill>
            <a:prstDash val="solid"/>
          </a:ln>
        </p:spPr>
      </p:sp>
      <p:sp>
        <p:nvSpPr>
          <p:cNvPr id="21" name="Text 18"/>
          <p:cNvSpPr/>
          <p:nvPr/>
        </p:nvSpPr>
        <p:spPr>
          <a:xfrm>
            <a:off x="7918704" y="1955800"/>
            <a:ext cx="749808" cy="74980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22" name="Text 19"/>
          <p:cNvSpPr/>
          <p:nvPr/>
        </p:nvSpPr>
        <p:spPr>
          <a:xfrm>
            <a:off x="9079992" y="2065528"/>
            <a:ext cx="640080" cy="548640"/>
          </a:xfrm>
          <a:prstGeom prst="rect">
            <a:avLst/>
          </a:prstGeom>
          <a:noFill/>
          <a:ln/>
        </p:spPr>
        <p:txBody>
          <a:bodyPr wrap="square" lIns="0" tIns="0" rIns="0" bIns="0" rtlCol="0" anchor="ctr"/>
          <a:lstStyle/>
          <a:p>
            <a:pPr algn="ctr" indent="0" marL="0">
              <a:buNone/>
            </a:pPr>
            <a:r>
              <a:rPr lang="en-US" sz="2200" b="1" dirty="0">
                <a:solidFill>
                  <a:srgbClr val="FFB91D"/>
                </a:solidFill>
                <a:latin typeface="Segoe UI" pitchFamily="34" charset="0"/>
                <a:ea typeface="Segoe UI" pitchFamily="34" charset="-122"/>
                <a:cs typeface="Segoe UI" pitchFamily="34" charset="-120"/>
              </a:rPr>
              <a:t>→</a:t>
            </a:r>
            <a:endParaRPr lang="en-US" sz="2200" dirty="0"/>
          </a:p>
        </p:txBody>
      </p:sp>
      <p:sp>
        <p:nvSpPr>
          <p:cNvPr id="23" name="Text 20"/>
          <p:cNvSpPr/>
          <p:nvPr/>
        </p:nvSpPr>
        <p:spPr>
          <a:xfrm>
            <a:off x="7187184" y="2815336"/>
            <a:ext cx="2212848" cy="365760"/>
          </a:xfrm>
          <a:prstGeom prst="rect">
            <a:avLst/>
          </a:prstGeom>
          <a:noFill/>
          <a:ln/>
        </p:spPr>
        <p:txBody>
          <a:bodyPr wrap="square" lIns="0" tIns="0" rIns="0" bIns="0" rtlCol="0" anchor="t">
            <a:normAutofit/>
          </a:bodyPr>
          <a:lstStyle/>
          <a:p>
            <a:pPr algn="ctr" indent="0" marL="0">
              <a:buNone/>
            </a:pPr>
            <a:r>
              <a:rPr lang="en-US" sz="1350" b="1" dirty="0">
                <a:solidFill>
                  <a:srgbClr val="003087"/>
                </a:solidFill>
                <a:latin typeface="Segoe UI" pitchFamily="34" charset="0"/>
                <a:ea typeface="Segoe UI" pitchFamily="34" charset="-122"/>
                <a:cs typeface="Segoe UI" pitchFamily="34" charset="-120"/>
              </a:rPr>
              <a:t>Register updates</a:t>
            </a:r>
            <a:endParaRPr lang="en-US" sz="1350" dirty="0"/>
          </a:p>
        </p:txBody>
      </p:sp>
      <p:sp>
        <p:nvSpPr>
          <p:cNvPr id="24" name="Text 21"/>
          <p:cNvSpPr/>
          <p:nvPr/>
        </p:nvSpPr>
        <p:spPr>
          <a:xfrm>
            <a:off x="7324344" y="3208528"/>
            <a:ext cx="1938528" cy="880364"/>
          </a:xfrm>
          <a:prstGeom prst="rect">
            <a:avLst/>
          </a:prstGeom>
          <a:noFill/>
          <a:ln/>
        </p:spPr>
        <p:txBody>
          <a:bodyPr wrap="square" lIns="0" tIns="0" rIns="0" bIns="0" rtlCol="0" anchor="t">
            <a:normAutofit/>
          </a:bodyPr>
          <a:lstStyle/>
          <a:p>
            <a:pPr algn="ctr" indent="0" marL="0">
              <a:buNone/>
            </a:pPr>
            <a:r>
              <a:rPr lang="en-US" sz="1000" dirty="0">
                <a:solidFill>
                  <a:srgbClr val="4C6272"/>
                </a:solidFill>
                <a:latin typeface="Segoe UI" pitchFamily="34" charset="0"/>
                <a:ea typeface="Segoe UI" pitchFamily="34" charset="-122"/>
                <a:cs typeface="Segoe UI" pitchFamily="34" charset="-120"/>
              </a:rPr>
              <a:t>The accredited register shows who can sell what. About three suppliers per test is the working floor.</a:t>
            </a:r>
            <a:endParaRPr lang="en-US" sz="1000" dirty="0"/>
          </a:p>
        </p:txBody>
      </p:sp>
      <p:sp>
        <p:nvSpPr>
          <p:cNvPr id="25" name="Shape 22"/>
          <p:cNvSpPr/>
          <p:nvPr/>
        </p:nvSpPr>
        <p:spPr>
          <a:xfrm>
            <a:off x="10131552" y="1955800"/>
            <a:ext cx="749808" cy="749808"/>
          </a:xfrm>
          <a:prstGeom prst="ellipse">
            <a:avLst/>
          </a:prstGeom>
          <a:solidFill>
            <a:srgbClr val="003087"/>
          </a:solidFill>
          <a:ln w="12700">
            <a:solidFill>
              <a:srgbClr val="003087"/>
            </a:solidFill>
            <a:prstDash val="solid"/>
          </a:ln>
        </p:spPr>
      </p:sp>
      <p:sp>
        <p:nvSpPr>
          <p:cNvPr id="26" name="Text 23"/>
          <p:cNvSpPr/>
          <p:nvPr/>
        </p:nvSpPr>
        <p:spPr>
          <a:xfrm>
            <a:off x="10131552" y="1955800"/>
            <a:ext cx="749808" cy="74980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5</a:t>
            </a:r>
            <a:endParaRPr lang="en-US" sz="2000" dirty="0"/>
          </a:p>
        </p:txBody>
      </p:sp>
      <p:sp>
        <p:nvSpPr>
          <p:cNvPr id="27" name="Text 24"/>
          <p:cNvSpPr/>
          <p:nvPr/>
        </p:nvSpPr>
        <p:spPr>
          <a:xfrm>
            <a:off x="9400032" y="2815336"/>
            <a:ext cx="2212848" cy="398018"/>
          </a:xfrm>
          <a:prstGeom prst="rect">
            <a:avLst/>
          </a:prstGeom>
          <a:noFill/>
          <a:ln/>
        </p:spPr>
        <p:txBody>
          <a:bodyPr wrap="square" lIns="0" tIns="0" rIns="0" bIns="0" rtlCol="0" anchor="t">
            <a:normAutofit/>
          </a:bodyPr>
          <a:lstStyle/>
          <a:p>
            <a:pPr algn="ctr" indent="0" marL="0">
              <a:buNone/>
            </a:pPr>
            <a:r>
              <a:rPr lang="en-US" sz="1150" b="1" dirty="0">
                <a:solidFill>
                  <a:srgbClr val="003087"/>
                </a:solidFill>
                <a:latin typeface="Segoe UI" pitchFamily="34" charset="0"/>
                <a:ea typeface="Segoe UI" pitchFamily="34" charset="-122"/>
                <a:cs typeface="Segoe UI" pitchFamily="34" charset="-120"/>
              </a:rPr>
              <a:t>Commissioners call off</a:t>
            </a:r>
            <a:endParaRPr lang="en-US" sz="1150" dirty="0"/>
          </a:p>
        </p:txBody>
      </p:sp>
      <p:sp>
        <p:nvSpPr>
          <p:cNvPr id="28" name="Text 25"/>
          <p:cNvSpPr/>
          <p:nvPr/>
        </p:nvSpPr>
        <p:spPr>
          <a:xfrm>
            <a:off x="9537192" y="3240786"/>
            <a:ext cx="1938528" cy="814324"/>
          </a:xfrm>
          <a:prstGeom prst="rect">
            <a:avLst/>
          </a:prstGeom>
          <a:noFill/>
          <a:ln/>
        </p:spPr>
        <p:txBody>
          <a:bodyPr wrap="square" lIns="0" tIns="0" rIns="0" bIns="0" rtlCol="0" anchor="t">
            <a:normAutofit/>
          </a:bodyPr>
          <a:lstStyle/>
          <a:p>
            <a:pPr algn="ctr" indent="0" marL="0">
              <a:buNone/>
            </a:pPr>
            <a:r>
              <a:rPr lang="en-US" sz="1150" dirty="0">
                <a:solidFill>
                  <a:srgbClr val="4C6272"/>
                </a:solidFill>
                <a:latin typeface="Segoe UI" pitchFamily="34" charset="0"/>
                <a:ea typeface="Segoe UI" pitchFamily="34" charset="-122"/>
                <a:cs typeface="Segoe UI" pitchFamily="34" charset="-120"/>
              </a:rPr>
              <a:t>Local call-offs run against the register, at or below the national ceiling.</a:t>
            </a:r>
            <a:endParaRPr lang="en-US" sz="1150" dirty="0"/>
          </a:p>
        </p:txBody>
      </p:sp>
      <p:pic>
        <p:nvPicPr>
          <p:cNvPr id="29" name="Image 0" descr="/sessions/quirky-zen-galileo/mnt/NHS/07 Sites &amp; Repos/dtx-ecosystem/hearts-and-minds/_generators/assets/crops/joe-5-1.491.jpg">    </p:cNvPr>
          <p:cNvPicPr>
            <a:picLocks noChangeAspect="1"/>
          </p:cNvPicPr>
          <p:nvPr/>
        </p:nvPicPr>
        <p:blipFill>
          <a:blip r:embed="rId1"/>
          <a:stretch>
            <a:fillRect/>
          </a:stretch>
        </p:blipFill>
        <p:spPr>
          <a:xfrm>
            <a:off x="548640" y="4397248"/>
            <a:ext cx="2822870" cy="1893824"/>
          </a:xfrm>
          <a:prstGeom prst="rect">
            <a:avLst/>
          </a:prstGeom>
        </p:spPr>
      </p:pic>
      <p:sp>
        <p:nvSpPr>
          <p:cNvPr id="30" name="Shape 26"/>
          <p:cNvSpPr/>
          <p:nvPr/>
        </p:nvSpPr>
        <p:spPr>
          <a:xfrm>
            <a:off x="3645830" y="4699000"/>
            <a:ext cx="7997225" cy="1281176"/>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31" name="Text 27"/>
          <p:cNvSpPr/>
          <p:nvPr/>
        </p:nvSpPr>
        <p:spPr>
          <a:xfrm>
            <a:off x="3874430" y="4808728"/>
            <a:ext cx="7540025" cy="1061720"/>
          </a:xfrm>
          <a:prstGeom prst="rect">
            <a:avLst/>
          </a:prstGeom>
          <a:noFill/>
          <a:ln/>
        </p:spPr>
        <p:txBody>
          <a:bodyPr wrap="square" lIns="0" tIns="0" rIns="0" bIns="0" rtlCol="0" anchor="ctr">
            <a:normAutofit/>
          </a:bodyPr>
          <a:lstStyle/>
          <a:p>
            <a:pPr indent="0" marL="0">
              <a:buNone/>
            </a:pPr>
            <a:r>
              <a:rPr lang="en-US" sz="1400" i="1" dirty="0">
                <a:solidFill>
                  <a:srgbClr val="212B32"/>
                </a:solidFill>
                <a:latin typeface="Segoe UI" pitchFamily="34" charset="0"/>
                <a:ea typeface="Segoe UI" pitchFamily="34" charset="-122"/>
                <a:cs typeface="Segoe UI" pitchFamily="34" charset="-120"/>
              </a:rPr>
              <a:t>A category only one laboratory can serve does not open. It stays closed until competition can exist, which is also the guarantee that a gate you win is a market and not a monopoly you are bidding into.</a:t>
            </a:r>
            <a:endParaRPr lang="en-US" sz="1400" dirty="0"/>
          </a:p>
        </p:txBody>
      </p:sp>
      <p:sp>
        <p:nvSpPr>
          <p:cNvPr id="32" name="Text 28"/>
          <p:cNvSpPr/>
          <p:nvPr/>
        </p:nvSpPr>
        <p:spPr>
          <a:xfrm>
            <a:off x="548640" y="6473952"/>
            <a:ext cx="5943600"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audience deck No.5 · Supplier edition · proof-of-concept draft · September 2026</a:t>
            </a:r>
            <a:endParaRPr lang="en-US" sz="800" dirty="0"/>
          </a:p>
        </p:txBody>
      </p:sp>
      <p:sp>
        <p:nvSpPr>
          <p:cNvPr id="33" name="Text 29"/>
          <p:cNvSpPr/>
          <p:nvPr/>
        </p:nvSpPr>
        <p:spPr>
          <a:xfrm>
            <a:off x="6309360" y="6473952"/>
            <a:ext cx="4876495" cy="274320"/>
          </a:xfrm>
          <a:prstGeom prst="rect">
            <a:avLst/>
          </a:prstGeom>
          <a:noFill/>
          <a:ln/>
        </p:spPr>
        <p:txBody>
          <a:bodyPr wrap="square" lIns="0" tIns="0" rIns="0" bIns="0" rtlCol="0" anchor="ctr">
            <a:normAutofit/>
          </a:bodyP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4" name="Text 30"/>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pic>
        <p:nvPicPr>
          <p:cNvPr id="3" name="Image 0" descr="/sessions/quirky-zen-galileo/mnt/NHS/07 Sites &amp; Repos/dtx-ecosystem/hearts-and-minds/_generators/assets/crops/anita-5-0.613.jpg">    </p:cNvPr>
          <p:cNvPicPr>
            <a:picLocks noChangeAspect="1"/>
          </p:cNvPicPr>
          <p:nvPr/>
        </p:nvPicPr>
        <p:blipFill>
          <a:blip r:embed="rId1"/>
          <a:stretch>
            <a:fillRect/>
          </a:stretch>
        </p:blipFill>
        <p:spPr>
          <a:xfrm>
            <a:off x="7985455" y="0"/>
            <a:ext cx="4206240" cy="6858000"/>
          </a:xfrm>
          <a:prstGeom prst="rect">
            <a:avLst/>
          </a:prstGeom>
        </p:spPr>
      </p:pic>
      <p:sp>
        <p:nvSpPr>
          <p:cNvPr id="4" name="Shape 0"/>
          <p:cNvSpPr/>
          <p:nvPr/>
        </p:nvSpPr>
        <p:spPr>
          <a:xfrm>
            <a:off x="7820863" y="0"/>
            <a:ext cx="164592" cy="6858000"/>
          </a:xfrm>
          <a:prstGeom prst="rect">
            <a:avLst/>
          </a:prstGeom>
          <a:solidFill>
            <a:srgbClr val="FFB91D"/>
          </a:solidFill>
          <a:ln w="12700">
            <a:solidFill>
              <a:srgbClr val="FFB91D"/>
            </a:solidFill>
            <a:prstDash val="solid"/>
          </a:ln>
        </p:spPr>
      </p:sp>
      <p:sp>
        <p:nvSpPr>
          <p:cNvPr id="5" name="Text 1"/>
          <p:cNvSpPr/>
          <p:nvPr/>
        </p:nvSpPr>
        <p:spPr>
          <a:xfrm>
            <a:off x="548640" y="411480"/>
            <a:ext cx="6860743"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HOW YOU GET PAID</a:t>
            </a:r>
            <a:endParaRPr lang="en-US" sz="1000" dirty="0"/>
          </a:p>
        </p:txBody>
      </p:sp>
      <p:sp>
        <p:nvSpPr>
          <p:cNvPr id="6" name="Text 2"/>
          <p:cNvSpPr/>
          <p:nvPr/>
        </p:nvSpPr>
        <p:spPr>
          <a:xfrm>
            <a:off x="548640" y="731520"/>
            <a:ext cx="6860743" cy="953770"/>
          </a:xfrm>
          <a:prstGeom prst="rect">
            <a:avLst/>
          </a:prstGeom>
          <a:noFill/>
          <a:ln/>
        </p:spPr>
        <p:txBody>
          <a:bodyPr wrap="square" lIns="0" tIns="0" rIns="0" bIns="0" rtlCol="0" anchor="t">
            <a:normAutofit/>
          </a:bodyPr>
          <a:lstStyle/>
          <a:p>
            <a:pPr indent="0" marL="0">
              <a:buNone/>
            </a:pPr>
            <a:r>
              <a:rPr lang="en-US" sz="2750" b="1" dirty="0">
                <a:solidFill>
                  <a:srgbClr val="003087"/>
                </a:solidFill>
                <a:latin typeface="Segoe UI" pitchFamily="34" charset="0"/>
                <a:ea typeface="Segoe UI" pitchFamily="34" charset="-122"/>
                <a:cs typeface="Segoe UI" pitchFamily="34" charset="-120"/>
              </a:rPr>
              <a:t>Cost per activity, direct from the commissioner.</a:t>
            </a:r>
            <a:endParaRPr lang="en-US" sz="2750" dirty="0"/>
          </a:p>
        </p:txBody>
      </p:sp>
      <p:sp>
        <p:nvSpPr>
          <p:cNvPr id="7" name="Shape 3"/>
          <p:cNvSpPr/>
          <p:nvPr/>
        </p:nvSpPr>
        <p:spPr>
          <a:xfrm>
            <a:off x="548640" y="1959610"/>
            <a:ext cx="3293212" cy="2051431"/>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8" name="Shape 4"/>
          <p:cNvSpPr/>
          <p:nvPr/>
        </p:nvSpPr>
        <p:spPr>
          <a:xfrm>
            <a:off x="548640" y="1959610"/>
            <a:ext cx="73152" cy="2051431"/>
          </a:xfrm>
          <a:prstGeom prst="rect">
            <a:avLst/>
          </a:prstGeom>
          <a:solidFill>
            <a:srgbClr val="006747"/>
          </a:solidFill>
          <a:ln w="12700">
            <a:solidFill>
              <a:srgbClr val="006747"/>
            </a:solidFill>
            <a:prstDash val="solid"/>
          </a:ln>
        </p:spPr>
      </p:sp>
      <p:sp>
        <p:nvSpPr>
          <p:cNvPr id="9" name="Text 5"/>
          <p:cNvSpPr/>
          <p:nvPr/>
        </p:nvSpPr>
        <p:spPr>
          <a:xfrm>
            <a:off x="804672" y="2142490"/>
            <a:ext cx="2836012" cy="315468"/>
          </a:xfrm>
          <a:prstGeom prst="rect">
            <a:avLst/>
          </a:prstGeom>
          <a:noFill/>
          <a:ln/>
        </p:spPr>
        <p:txBody>
          <a:bodyPr wrap="square" lIns="0" tIns="0" rIns="0" bIns="0" rtlCol="0" anchor="t">
            <a:normAutofit/>
          </a:bodyPr>
          <a:lstStyle/>
          <a:p>
            <a:pPr indent="0" marL="0">
              <a:buNone/>
            </a:pPr>
            <a:r>
              <a:rPr lang="en-US" sz="1800" b="1" dirty="0">
                <a:solidFill>
                  <a:srgbClr val="006747"/>
                </a:solidFill>
                <a:latin typeface="Segoe UI" pitchFamily="34" charset="0"/>
                <a:ea typeface="Segoe UI" pitchFamily="34" charset="-122"/>
                <a:cs typeface="Segoe UI" pitchFamily="34" charset="-120"/>
              </a:rPr>
              <a:t>The payment</a:t>
            </a:r>
            <a:endParaRPr lang="en-US" sz="1800" dirty="0"/>
          </a:p>
        </p:txBody>
      </p:sp>
      <p:sp>
        <p:nvSpPr>
          <p:cNvPr id="10" name="Text 6"/>
          <p:cNvSpPr/>
          <p:nvPr/>
        </p:nvSpPr>
        <p:spPr>
          <a:xfrm>
            <a:off x="804672" y="2531110"/>
            <a:ext cx="2836012" cy="1243584"/>
          </a:xfrm>
          <a:prstGeom prst="rect">
            <a:avLst/>
          </a:prstGeom>
          <a:noFill/>
          <a:ln/>
        </p:spPr>
        <p:txBody>
          <a:bodyPr wrap="square" lIns="0" tIns="0" rIns="0" bIns="0" rtlCol="0" anchor="t">
            <a:normAutofit/>
          </a:bodyPr>
          <a:lstStyle/>
          <a:p>
            <a:pPr indent="0" marL="0">
              <a:buNone/>
            </a:pPr>
            <a:r>
              <a:rPr lang="en-US" sz="1200" dirty="0">
                <a:solidFill>
                  <a:srgbClr val="4C6272"/>
                </a:solidFill>
                <a:latin typeface="Segoe UI" pitchFamily="34" charset="0"/>
                <a:ea typeface="Segoe UI" pitchFamily="34" charset="-122"/>
                <a:cs typeface="Segoe UI" pitchFamily="34" charset="-120"/>
              </a:rPr>
              <a:t>A cost per activity for each completed test, paid by the commissioner direct to the supplier that processed it. No intermediary taking a cut of the delivery.</a:t>
            </a:r>
            <a:endParaRPr lang="en-US" sz="1200" dirty="0"/>
          </a:p>
        </p:txBody>
      </p:sp>
      <p:sp>
        <p:nvSpPr>
          <p:cNvPr id="11" name="Shape 7"/>
          <p:cNvSpPr/>
          <p:nvPr/>
        </p:nvSpPr>
        <p:spPr>
          <a:xfrm>
            <a:off x="4116172" y="1959610"/>
            <a:ext cx="3293212" cy="2051431"/>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2" name="Shape 8"/>
          <p:cNvSpPr/>
          <p:nvPr/>
        </p:nvSpPr>
        <p:spPr>
          <a:xfrm>
            <a:off x="4116172" y="1959610"/>
            <a:ext cx="73152" cy="2051431"/>
          </a:xfrm>
          <a:prstGeom prst="rect">
            <a:avLst/>
          </a:prstGeom>
          <a:solidFill>
            <a:srgbClr val="005EB8"/>
          </a:solidFill>
          <a:ln w="12700">
            <a:solidFill>
              <a:srgbClr val="005EB8"/>
            </a:solidFill>
            <a:prstDash val="solid"/>
          </a:ln>
        </p:spPr>
      </p:sp>
      <p:sp>
        <p:nvSpPr>
          <p:cNvPr id="13" name="Text 9"/>
          <p:cNvSpPr/>
          <p:nvPr/>
        </p:nvSpPr>
        <p:spPr>
          <a:xfrm>
            <a:off x="4372204" y="2142490"/>
            <a:ext cx="2836012" cy="315468"/>
          </a:xfrm>
          <a:prstGeom prst="rect">
            <a:avLst/>
          </a:prstGeom>
          <a:noFill/>
          <a:ln/>
        </p:spPr>
        <p:txBody>
          <a:bodyPr wrap="square" lIns="0" tIns="0" rIns="0" bIns="0" rtlCol="0" anchor="t">
            <a:normAutofit/>
          </a:bodyPr>
          <a:lstStyle/>
          <a:p>
            <a:pPr indent="0" marL="0">
              <a:buNone/>
            </a:pPr>
            <a:r>
              <a:rPr lang="en-US" sz="1800" b="1" dirty="0">
                <a:solidFill>
                  <a:srgbClr val="005EB8"/>
                </a:solidFill>
                <a:latin typeface="Segoe UI" pitchFamily="34" charset="0"/>
                <a:ea typeface="Segoe UI" pitchFamily="34" charset="-122"/>
                <a:cs typeface="Segoe UI" pitchFamily="34" charset="-120"/>
              </a:rPr>
              <a:t>The ceiling</a:t>
            </a:r>
            <a:endParaRPr lang="en-US" sz="1800" dirty="0"/>
          </a:p>
        </p:txBody>
      </p:sp>
      <p:sp>
        <p:nvSpPr>
          <p:cNvPr id="14" name="Text 10"/>
          <p:cNvSpPr/>
          <p:nvPr/>
        </p:nvSpPr>
        <p:spPr>
          <a:xfrm>
            <a:off x="4372204" y="2531110"/>
            <a:ext cx="2836012" cy="1194054"/>
          </a:xfrm>
          <a:prstGeom prst="rect">
            <a:avLst/>
          </a:prstGeom>
          <a:noFill/>
          <a:ln/>
        </p:spPr>
        <p:txBody>
          <a:bodyPr wrap="square" lIns="0" tIns="0" rIns="0" bIns="0" rtlCol="0" anchor="t">
            <a:normAutofit/>
          </a:bodyPr>
          <a:lstStyle/>
          <a:p>
            <a:pPr indent="0" marL="0">
              <a:buNone/>
            </a:pPr>
            <a:r>
              <a:rPr lang="en-US" sz="1150" dirty="0">
                <a:solidFill>
                  <a:srgbClr val="4C6272"/>
                </a:solidFill>
                <a:latin typeface="Segoe UI" pitchFamily="34" charset="0"/>
                <a:ea typeface="Segoe UI" pitchFamily="34" charset="-122"/>
                <a:cs typeface="Segoe UI" pitchFamily="34" charset="-120"/>
              </a:rPr>
              <a:t>A national maximum price per test, which local competition can beat. More accredited suppliers in a category means more price tension, and that is the design intent.</a:t>
            </a:r>
            <a:endParaRPr lang="en-US" sz="1150" dirty="0"/>
          </a:p>
        </p:txBody>
      </p:sp>
      <p:sp>
        <p:nvSpPr>
          <p:cNvPr id="15" name="Shape 11"/>
          <p:cNvSpPr/>
          <p:nvPr/>
        </p:nvSpPr>
        <p:spPr>
          <a:xfrm>
            <a:off x="548640" y="4239641"/>
            <a:ext cx="3293212" cy="2051431"/>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6" name="Shape 12"/>
          <p:cNvSpPr/>
          <p:nvPr/>
        </p:nvSpPr>
        <p:spPr>
          <a:xfrm>
            <a:off x="548640" y="4239641"/>
            <a:ext cx="73152" cy="2051431"/>
          </a:xfrm>
          <a:prstGeom prst="rect">
            <a:avLst/>
          </a:prstGeom>
          <a:solidFill>
            <a:srgbClr val="006747"/>
          </a:solidFill>
          <a:ln w="12700">
            <a:solidFill>
              <a:srgbClr val="006747"/>
            </a:solidFill>
            <a:prstDash val="solid"/>
          </a:ln>
        </p:spPr>
      </p:sp>
      <p:sp>
        <p:nvSpPr>
          <p:cNvPr id="17" name="Text 13"/>
          <p:cNvSpPr/>
          <p:nvPr/>
        </p:nvSpPr>
        <p:spPr>
          <a:xfrm>
            <a:off x="804672" y="4422521"/>
            <a:ext cx="2836012" cy="315468"/>
          </a:xfrm>
          <a:prstGeom prst="rect">
            <a:avLst/>
          </a:prstGeom>
          <a:noFill/>
          <a:ln/>
        </p:spPr>
        <p:txBody>
          <a:bodyPr wrap="square" lIns="0" tIns="0" rIns="0" bIns="0" rtlCol="0" anchor="t">
            <a:normAutofit/>
          </a:bodyPr>
          <a:lstStyle/>
          <a:p>
            <a:pPr indent="0" marL="0">
              <a:buNone/>
            </a:pPr>
            <a:r>
              <a:rPr lang="en-US" sz="1800" b="1" dirty="0">
                <a:solidFill>
                  <a:srgbClr val="006747"/>
                </a:solidFill>
                <a:latin typeface="Segoe UI" pitchFamily="34" charset="0"/>
                <a:ea typeface="Segoe UI" pitchFamily="34" charset="-122"/>
                <a:cs typeface="Segoe UI" pitchFamily="34" charset="-120"/>
              </a:rPr>
              <a:t>The levy</a:t>
            </a:r>
            <a:endParaRPr lang="en-US" sz="1800" dirty="0"/>
          </a:p>
        </p:txBody>
      </p:sp>
      <p:sp>
        <p:nvSpPr>
          <p:cNvPr id="18" name="Text 14"/>
          <p:cNvSpPr/>
          <p:nvPr/>
        </p:nvSpPr>
        <p:spPr>
          <a:xfrm>
            <a:off x="804672" y="4811141"/>
            <a:ext cx="2836012" cy="1268349"/>
          </a:xfrm>
          <a:prstGeom prst="rect">
            <a:avLst/>
          </a:prstGeom>
          <a:noFill/>
          <a:ln/>
        </p:spPr>
        <p:txBody>
          <a:bodyPr wrap="square" lIns="0" tIns="0" rIns="0" bIns="0" rtlCol="0" anchor="t">
            <a:normAutofit/>
          </a:bodyPr>
          <a:lstStyle/>
          <a:p>
            <a:pPr indent="0" marL="0">
              <a:buNone/>
            </a:pPr>
            <a:r>
              <a:rPr lang="en-US" sz="1050" dirty="0">
                <a:solidFill>
                  <a:srgbClr val="4C6272"/>
                </a:solidFill>
                <a:latin typeface="Segoe UI" pitchFamily="34" charset="0"/>
                <a:ea typeface="Segoe UI" pitchFamily="34" charset="-122"/>
                <a:cs typeface="Segoe UI" pitchFamily="34" charset="-120"/>
              </a:rPr>
              <a:t>A levy on throughput funds the platform, with a share returned to NHS England for clinical validation, NHS App eligibility and pathway transformation. The route the levy takes back is still being resolved.</a:t>
            </a:r>
            <a:endParaRPr lang="en-US" sz="1050" dirty="0"/>
          </a:p>
        </p:txBody>
      </p:sp>
      <p:sp>
        <p:nvSpPr>
          <p:cNvPr id="19" name="Shape 15"/>
          <p:cNvSpPr/>
          <p:nvPr/>
        </p:nvSpPr>
        <p:spPr>
          <a:xfrm>
            <a:off x="4116172" y="4239641"/>
            <a:ext cx="3293212" cy="2051431"/>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20" name="Shape 16"/>
          <p:cNvSpPr/>
          <p:nvPr/>
        </p:nvSpPr>
        <p:spPr>
          <a:xfrm>
            <a:off x="4116172" y="4239641"/>
            <a:ext cx="73152" cy="2051431"/>
          </a:xfrm>
          <a:prstGeom prst="rect">
            <a:avLst/>
          </a:prstGeom>
          <a:solidFill>
            <a:srgbClr val="005EB8"/>
          </a:solidFill>
          <a:ln w="12700">
            <a:solidFill>
              <a:srgbClr val="005EB8"/>
            </a:solidFill>
            <a:prstDash val="solid"/>
          </a:ln>
        </p:spPr>
      </p:sp>
      <p:sp>
        <p:nvSpPr>
          <p:cNvPr id="21" name="Text 17"/>
          <p:cNvSpPr/>
          <p:nvPr/>
        </p:nvSpPr>
        <p:spPr>
          <a:xfrm>
            <a:off x="4372204" y="4422521"/>
            <a:ext cx="2836012" cy="315468"/>
          </a:xfrm>
          <a:prstGeom prst="rect">
            <a:avLst/>
          </a:prstGeom>
          <a:noFill/>
          <a:ln/>
        </p:spPr>
        <p:txBody>
          <a:bodyPr wrap="square" lIns="0" tIns="0" rIns="0" bIns="0" rtlCol="0" anchor="t">
            <a:normAutofit/>
          </a:bodyPr>
          <a:lstStyle/>
          <a:p>
            <a:pPr indent="0" marL="0">
              <a:buNone/>
            </a:pPr>
            <a:r>
              <a:rPr lang="en-US" sz="1800" b="1" dirty="0">
                <a:solidFill>
                  <a:srgbClr val="005EB8"/>
                </a:solidFill>
                <a:latin typeface="Segoe UI" pitchFamily="34" charset="0"/>
                <a:ea typeface="Segoe UI" pitchFamily="34" charset="-122"/>
                <a:cs typeface="Segoe UI" pitchFamily="34" charset="-120"/>
              </a:rPr>
              <a:t>Demand</a:t>
            </a:r>
            <a:endParaRPr lang="en-US" sz="1800" dirty="0"/>
          </a:p>
        </p:txBody>
      </p:sp>
      <p:sp>
        <p:nvSpPr>
          <p:cNvPr id="22" name="Text 18"/>
          <p:cNvSpPr/>
          <p:nvPr/>
        </p:nvSpPr>
        <p:spPr>
          <a:xfrm>
            <a:off x="4372204" y="4811141"/>
            <a:ext cx="2836012" cy="1169289"/>
          </a:xfrm>
          <a:prstGeom prst="rect">
            <a:avLst/>
          </a:prstGeom>
          <a:noFill/>
          <a:ln/>
        </p:spPr>
        <p:txBody>
          <a:bodyPr wrap="square" lIns="0" tIns="0" rIns="0" bIns="0" rtlCol="0" anchor="t">
            <a:normAutofit/>
          </a:bodyPr>
          <a:lstStyle/>
          <a:p>
            <a:pPr indent="0" marL="0">
              <a:buNone/>
            </a:pPr>
            <a:r>
              <a:rPr lang="en-US" sz="1350" dirty="0">
                <a:solidFill>
                  <a:srgbClr val="4C6272"/>
                </a:solidFill>
                <a:latin typeface="Segoe UI" pitchFamily="34" charset="0"/>
                <a:ea typeface="Segoe UI" pitchFamily="34" charset="-122"/>
                <a:cs typeface="Segoe UI" pitchFamily="34" charset="-120"/>
              </a:rPr>
              <a:t>Aggregated national demand against one route, instead of a bespoke sale per commissioner. Volume tiers are still open.</a:t>
            </a:r>
            <a:endParaRPr lang="en-US" sz="1350" dirty="0"/>
          </a:p>
        </p:txBody>
      </p:sp>
      <p:sp>
        <p:nvSpPr>
          <p:cNvPr id="23" name="Text 19"/>
          <p:cNvSpPr/>
          <p:nvPr/>
        </p:nvSpPr>
        <p:spPr>
          <a:xfrm>
            <a:off x="548640" y="6473952"/>
            <a:ext cx="3430372"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audience deck No.5 · Supplier edition · proof-of-concept draft · September 2026</a:t>
            </a:r>
            <a:endParaRPr lang="en-US" sz="800" dirty="0"/>
          </a:p>
        </p:txBody>
      </p:sp>
      <p:sp>
        <p:nvSpPr>
          <p:cNvPr id="24" name="Text 20"/>
          <p:cNvSpPr/>
          <p:nvPr/>
        </p:nvSpPr>
        <p:spPr>
          <a:xfrm>
            <a:off x="3979012" y="6473952"/>
            <a:ext cx="2973172"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25" name="Text 21"/>
          <p:cNvSpPr/>
          <p:nvPr/>
        </p:nvSpPr>
        <p:spPr>
          <a:xfrm>
            <a:off x="6997903"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pic>
        <p:nvPicPr>
          <p:cNvPr id="3" name="Image 0" descr="/sessions/quirky-zen-galileo/mnt/NHS/07 Sites &amp; Repos/dtx-ecosystem/hearts-and-minds/_generators/assets/crops/joe-2-0.613.jpg">    </p:cNvPr>
          <p:cNvPicPr>
            <a:picLocks noChangeAspect="1"/>
          </p:cNvPicPr>
          <p:nvPr/>
        </p:nvPicPr>
        <p:blipFill>
          <a:blip r:embed="rId1"/>
          <a:stretch>
            <a:fillRect/>
          </a:stretch>
        </p:blipFill>
        <p:spPr>
          <a:xfrm>
            <a:off x="0" y="0"/>
            <a:ext cx="4206240" cy="6858000"/>
          </a:xfrm>
          <a:prstGeom prst="rect">
            <a:avLst/>
          </a:prstGeom>
        </p:spPr>
      </p:pic>
      <p:sp>
        <p:nvSpPr>
          <p:cNvPr id="4" name="Shape 0"/>
          <p:cNvSpPr/>
          <p:nvPr/>
        </p:nvSpPr>
        <p:spPr>
          <a:xfrm>
            <a:off x="4206240" y="0"/>
            <a:ext cx="164592" cy="6858000"/>
          </a:xfrm>
          <a:prstGeom prst="rect">
            <a:avLst/>
          </a:prstGeom>
          <a:solidFill>
            <a:srgbClr val="FFB91D"/>
          </a:solidFill>
          <a:ln w="12700">
            <a:solidFill>
              <a:srgbClr val="FFB91D"/>
            </a:solidFill>
            <a:prstDash val="solid"/>
          </a:ln>
        </p:spPr>
      </p:sp>
      <p:sp>
        <p:nvSpPr>
          <p:cNvPr id="5" name="Text 1"/>
          <p:cNvSpPr/>
          <p:nvPr/>
        </p:nvSpPr>
        <p:spPr>
          <a:xfrm>
            <a:off x="4800600" y="411480"/>
            <a:ext cx="6842455"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THE DEAL, BOTH WAYS</a:t>
            </a:r>
            <a:endParaRPr lang="en-US" sz="1000" dirty="0"/>
          </a:p>
        </p:txBody>
      </p:sp>
      <p:sp>
        <p:nvSpPr>
          <p:cNvPr id="6" name="Text 2"/>
          <p:cNvSpPr/>
          <p:nvPr/>
        </p:nvSpPr>
        <p:spPr>
          <a:xfrm>
            <a:off x="4800600" y="731520"/>
            <a:ext cx="6842455" cy="904240"/>
          </a:xfrm>
          <a:prstGeom prst="rect">
            <a:avLst/>
          </a:prstGeom>
          <a:noFill/>
          <a:ln/>
        </p:spPr>
        <p:txBody>
          <a:bodyPr wrap="square" lIns="0" tIns="0" rIns="0" bIns="0" rtlCol="0" anchor="t">
            <a:normAutofit/>
          </a:bodyPr>
          <a:lstStyle/>
          <a:p>
            <a:pPr indent="0" marL="0">
              <a:buNone/>
            </a:pPr>
            <a:r>
              <a:rPr lang="en-US" sz="2600" b="1" dirty="0">
                <a:solidFill>
                  <a:srgbClr val="003087"/>
                </a:solidFill>
                <a:latin typeface="Segoe UI" pitchFamily="34" charset="0"/>
                <a:ea typeface="Segoe UI" pitchFamily="34" charset="-122"/>
                <a:cs typeface="Segoe UI" pitchFamily="34" charset="-120"/>
              </a:rPr>
              <a:t>What you get, and what we hold you to.</a:t>
            </a:r>
            <a:endParaRPr lang="en-US" sz="2600" dirty="0"/>
          </a:p>
        </p:txBody>
      </p:sp>
      <p:sp>
        <p:nvSpPr>
          <p:cNvPr id="7" name="Shape 3"/>
          <p:cNvSpPr/>
          <p:nvPr/>
        </p:nvSpPr>
        <p:spPr>
          <a:xfrm>
            <a:off x="4800600" y="1910080"/>
            <a:ext cx="3284068" cy="457200"/>
          </a:xfrm>
          <a:prstGeom prst="rect">
            <a:avLst/>
          </a:prstGeom>
          <a:solidFill>
            <a:srgbClr val="006747"/>
          </a:solidFill>
          <a:ln w="12700">
            <a:solidFill>
              <a:srgbClr val="006747"/>
            </a:solidFill>
            <a:prstDash val="solid"/>
          </a:ln>
        </p:spPr>
      </p:sp>
      <p:sp>
        <p:nvSpPr>
          <p:cNvPr id="8" name="Text 4"/>
          <p:cNvSpPr/>
          <p:nvPr/>
        </p:nvSpPr>
        <p:spPr>
          <a:xfrm>
            <a:off x="4983480" y="1910080"/>
            <a:ext cx="2918308" cy="45720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Segoe UI" pitchFamily="34" charset="0"/>
                <a:ea typeface="Segoe UI" pitchFamily="34" charset="-122"/>
                <a:cs typeface="Segoe UI" pitchFamily="34" charset="-120"/>
              </a:rPr>
              <a:t>What you get</a:t>
            </a:r>
            <a:endParaRPr lang="en-US" sz="1400" dirty="0"/>
          </a:p>
        </p:txBody>
      </p:sp>
      <p:sp>
        <p:nvSpPr>
          <p:cNvPr id="9" name="Shape 5"/>
          <p:cNvSpPr/>
          <p:nvPr/>
        </p:nvSpPr>
        <p:spPr>
          <a:xfrm>
            <a:off x="4800600" y="2367280"/>
            <a:ext cx="3284068" cy="2925826"/>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0" name="Text 6"/>
          <p:cNvSpPr/>
          <p:nvPr/>
        </p:nvSpPr>
        <p:spPr>
          <a:xfrm>
            <a:off x="4937760" y="2504440"/>
            <a:ext cx="2964028" cy="2651506"/>
          </a:xfrm>
          <a:prstGeom prst="rect">
            <a:avLst/>
          </a:prstGeom>
          <a:noFill/>
          <a:ln/>
        </p:spPr>
        <p:txBody>
          <a:bodyPr wrap="square" lIns="0" tIns="0" rIns="0" bIns="0" rtlCol="0" anchor="t">
            <a:normAutofit/>
          </a:bodyPr>
          <a:lstStyle/>
          <a:p>
            <a:pPr marL="342900" indent="-342900">
              <a:spcAft>
                <a:spcPts val="700"/>
              </a:spcAft>
              <a:buSzPct val="100000"/>
              <a:buChar char="●"/>
            </a:pPr>
            <a:r>
              <a:rPr lang="en-US" sz="1150" dirty="0">
                <a:solidFill>
                  <a:srgbClr val="212B32"/>
                </a:solidFill>
                <a:latin typeface="Segoe UI" pitchFamily="34" charset="0"/>
                <a:ea typeface="Segoe UI" pitchFamily="34" charset="-122"/>
                <a:cs typeface="Segoe UI" pitchFamily="34" charset="-120"/>
              </a:rPr>
              <a:t>One assurance pass, reusable with every commissioner.</a:t>
            </a:r>
            <a:endParaRPr lang="en-US" sz="1150" dirty="0"/>
          </a:p>
          <a:p>
            <a:pPr marL="342900" indent="-342900">
              <a:spcAft>
                <a:spcPts val="700"/>
              </a:spcAft>
              <a:buSzPct val="100000"/>
              <a:buChar char="●"/>
            </a:pPr>
            <a:r>
              <a:rPr lang="en-US" sz="1150" dirty="0">
                <a:solidFill>
                  <a:srgbClr val="212B32"/>
                </a:solidFill>
                <a:latin typeface="Segoe UI" pitchFamily="34" charset="0"/>
                <a:ea typeface="Segoe UI" pitchFamily="34" charset="-122"/>
                <a:cs typeface="Segoe UI" pitchFamily="34" charset="-120"/>
              </a:rPr>
              <a:t>A published roadmap you can plan laboratory capacity against.</a:t>
            </a:r>
            <a:endParaRPr lang="en-US" sz="1150" dirty="0"/>
          </a:p>
          <a:p>
            <a:pPr marL="342900" indent="-342900">
              <a:spcAft>
                <a:spcPts val="700"/>
              </a:spcAft>
              <a:buSzPct val="100000"/>
              <a:buChar char="●"/>
            </a:pPr>
            <a:r>
              <a:rPr lang="en-US" sz="1150" dirty="0">
                <a:solidFill>
                  <a:srgbClr val="212B32"/>
                </a:solidFill>
                <a:latin typeface="Segoe UI" pitchFamily="34" charset="0"/>
                <a:ea typeface="Segoe UI" pitchFamily="34" charset="-122"/>
                <a:cs typeface="Segoe UI" pitchFamily="34" charset="-120"/>
              </a:rPr>
              <a:t>A place on the accredited register, visible to every buyer.</a:t>
            </a:r>
            <a:endParaRPr lang="en-US" sz="1150" dirty="0"/>
          </a:p>
          <a:p>
            <a:pPr marL="342900" indent="-342900">
              <a:spcAft>
                <a:spcPts val="700"/>
              </a:spcAft>
              <a:buSzPct val="100000"/>
              <a:buChar char="●"/>
            </a:pPr>
            <a:r>
              <a:rPr lang="en-US" sz="1150" dirty="0">
                <a:solidFill>
                  <a:srgbClr val="212B32"/>
                </a:solidFill>
                <a:latin typeface="Segoe UI" pitchFamily="34" charset="0"/>
                <a:ea typeface="Segoe UI" pitchFamily="34" charset="-122"/>
                <a:cs typeface="Segoe UI" pitchFamily="34" charset="-120"/>
              </a:rPr>
              <a:t>Routes in that suit your size: prime, consortium, NHS-led or partnering.</a:t>
            </a:r>
            <a:endParaRPr lang="en-US" sz="1150" dirty="0"/>
          </a:p>
        </p:txBody>
      </p:sp>
      <p:sp>
        <p:nvSpPr>
          <p:cNvPr id="11" name="Shape 7"/>
          <p:cNvSpPr/>
          <p:nvPr/>
        </p:nvSpPr>
        <p:spPr>
          <a:xfrm>
            <a:off x="8358988" y="1910080"/>
            <a:ext cx="3284068" cy="457200"/>
          </a:xfrm>
          <a:prstGeom prst="rect">
            <a:avLst/>
          </a:prstGeom>
          <a:solidFill>
            <a:srgbClr val="005EB8"/>
          </a:solidFill>
          <a:ln w="12700">
            <a:solidFill>
              <a:srgbClr val="005EB8"/>
            </a:solidFill>
            <a:prstDash val="solid"/>
          </a:ln>
        </p:spPr>
      </p:sp>
      <p:sp>
        <p:nvSpPr>
          <p:cNvPr id="12" name="Text 8"/>
          <p:cNvSpPr/>
          <p:nvPr/>
        </p:nvSpPr>
        <p:spPr>
          <a:xfrm>
            <a:off x="8541868" y="1910080"/>
            <a:ext cx="2918308" cy="45720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Segoe UI" pitchFamily="34" charset="0"/>
                <a:ea typeface="Segoe UI" pitchFamily="34" charset="-122"/>
                <a:cs typeface="Segoe UI" pitchFamily="34" charset="-120"/>
              </a:rPr>
              <a:t>What we hold you to</a:t>
            </a:r>
            <a:endParaRPr lang="en-US" sz="1400" dirty="0"/>
          </a:p>
        </p:txBody>
      </p:sp>
      <p:sp>
        <p:nvSpPr>
          <p:cNvPr id="13" name="Shape 9"/>
          <p:cNvSpPr/>
          <p:nvPr/>
        </p:nvSpPr>
        <p:spPr>
          <a:xfrm>
            <a:off x="8358988" y="2367280"/>
            <a:ext cx="3284068" cy="2925826"/>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4" name="Text 10"/>
          <p:cNvSpPr/>
          <p:nvPr/>
        </p:nvSpPr>
        <p:spPr>
          <a:xfrm>
            <a:off x="8496148" y="2504440"/>
            <a:ext cx="2964028" cy="2651506"/>
          </a:xfrm>
          <a:prstGeom prst="rect">
            <a:avLst/>
          </a:prstGeom>
          <a:noFill/>
          <a:ln/>
        </p:spPr>
        <p:txBody>
          <a:bodyPr wrap="square" lIns="0" tIns="0" rIns="0" bIns="0" rtlCol="0" anchor="t">
            <a:normAutofit/>
          </a:bodyPr>
          <a:lstStyle/>
          <a:p>
            <a:pPr marL="342900" indent="-342900">
              <a:spcAft>
                <a:spcPts val="700"/>
              </a:spcAft>
              <a:buSzPct val="100000"/>
              <a:buChar char="●"/>
            </a:pPr>
            <a:r>
              <a:rPr lang="en-US" sz="1050" dirty="0">
                <a:solidFill>
                  <a:srgbClr val="212B32"/>
                </a:solidFill>
                <a:latin typeface="Segoe UI" pitchFamily="34" charset="0"/>
                <a:ea typeface="Segoe UI" pitchFamily="34" charset="-122"/>
                <a:cs typeface="Segoe UI" pitchFamily="34" charset="-120"/>
              </a:rPr>
              <a:t>Clinical evidence, including non-inferiority for the named test.</a:t>
            </a:r>
            <a:endParaRPr lang="en-US" sz="1050" dirty="0"/>
          </a:p>
          <a:p>
            <a:pPr marL="342900" indent="-342900">
              <a:spcAft>
                <a:spcPts val="700"/>
              </a:spcAft>
              <a:buSzPct val="100000"/>
              <a:buChar char="●"/>
            </a:pPr>
            <a:r>
              <a:rPr lang="en-US" sz="1050" dirty="0">
                <a:solidFill>
                  <a:srgbClr val="212B32"/>
                </a:solidFill>
                <a:latin typeface="Segoe UI" pitchFamily="34" charset="0"/>
                <a:ea typeface="Segoe UI" pitchFamily="34" charset="-122"/>
                <a:cs typeface="Segoe UI" pitchFamily="34" charset="-120"/>
              </a:rPr>
              <a:t>UKAS accreditation and MHRA conformity, maintained not just achieved.</a:t>
            </a:r>
            <a:endParaRPr lang="en-US" sz="1050" dirty="0"/>
          </a:p>
          <a:p>
            <a:pPr marL="342900" indent="-342900">
              <a:spcAft>
                <a:spcPts val="700"/>
              </a:spcAft>
              <a:buSzPct val="100000"/>
              <a:buChar char="●"/>
            </a:pPr>
            <a:r>
              <a:rPr lang="en-US" sz="1050" dirty="0">
                <a:solidFill>
                  <a:srgbClr val="212B32"/>
                </a:solidFill>
                <a:latin typeface="Segoe UI" pitchFamily="34" charset="0"/>
                <a:ea typeface="Segoe UI" pitchFamily="34" charset="-122"/>
                <a:cs typeface="Segoe UI" pitchFamily="34" charset="-120"/>
              </a:rPr>
              <a:t>Conformance to the published API and journey specifications.</a:t>
            </a:r>
            <a:endParaRPr lang="en-US" sz="1050" dirty="0"/>
          </a:p>
          <a:p>
            <a:pPr marL="342900" indent="-342900">
              <a:spcAft>
                <a:spcPts val="700"/>
              </a:spcAft>
              <a:buSzPct val="100000"/>
              <a:buChar char="●"/>
            </a:pPr>
            <a:r>
              <a:rPr lang="en-US" sz="1050" dirty="0">
                <a:solidFill>
                  <a:srgbClr val="212B32"/>
                </a:solidFill>
                <a:latin typeface="Segoe UI" pitchFamily="34" charset="0"/>
                <a:ea typeface="Segoe UI" pitchFamily="34" charset="-122"/>
                <a:cs typeface="Segoe UI" pitchFamily="34" charset="-120"/>
              </a:rPr>
              <a:t>Service performance, with commercial recourse in the contract; service credits are the worked example.</a:t>
            </a:r>
            <a:endParaRPr lang="en-US" sz="1050" dirty="0"/>
          </a:p>
        </p:txBody>
      </p:sp>
      <p:sp>
        <p:nvSpPr>
          <p:cNvPr id="15" name="Shape 11"/>
          <p:cNvSpPr/>
          <p:nvPr/>
        </p:nvSpPr>
        <p:spPr>
          <a:xfrm>
            <a:off x="4800600" y="5521706"/>
            <a:ext cx="6842455" cy="769366"/>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16" name="Text 12"/>
          <p:cNvSpPr/>
          <p:nvPr/>
        </p:nvSpPr>
        <p:spPr>
          <a:xfrm>
            <a:off x="5029200" y="5631434"/>
            <a:ext cx="6385255" cy="549910"/>
          </a:xfrm>
          <a:prstGeom prst="rect">
            <a:avLst/>
          </a:prstGeom>
          <a:noFill/>
          <a:ln/>
        </p:spPr>
        <p:txBody>
          <a:bodyPr wrap="square" lIns="0" tIns="0" rIns="0" bIns="0" rtlCol="0" anchor="ctr">
            <a:normAutofit/>
          </a:bodyPr>
          <a:lstStyle/>
          <a:p>
            <a:pPr indent="0" marL="0">
              <a:buNone/>
            </a:pPr>
            <a:r>
              <a:rPr lang="en-US" sz="1300" i="1" dirty="0">
                <a:solidFill>
                  <a:srgbClr val="212B32"/>
                </a:solidFill>
                <a:latin typeface="Segoe UI" pitchFamily="34" charset="0"/>
                <a:ea typeface="Segoe UI" pitchFamily="34" charset="-122"/>
                <a:cs typeface="Segoe UI" pitchFamily="34" charset="-120"/>
              </a:rPr>
              <a:t>The standard does not move. What moves is how many times you have to prove you meet it.</a:t>
            </a:r>
            <a:endParaRPr lang="en-US" sz="1300" dirty="0"/>
          </a:p>
        </p:txBody>
      </p:sp>
      <p:sp>
        <p:nvSpPr>
          <p:cNvPr id="17" name="Text 13"/>
          <p:cNvSpPr/>
          <p:nvPr/>
        </p:nvSpPr>
        <p:spPr>
          <a:xfrm>
            <a:off x="4800600" y="6473952"/>
            <a:ext cx="3421228"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audience deck No.5 · Supplier edition · proof-of-concept draft · September 2026</a:t>
            </a:r>
            <a:endParaRPr lang="en-US" sz="800" dirty="0"/>
          </a:p>
        </p:txBody>
      </p:sp>
      <p:sp>
        <p:nvSpPr>
          <p:cNvPr id="18" name="Text 14"/>
          <p:cNvSpPr/>
          <p:nvPr/>
        </p:nvSpPr>
        <p:spPr>
          <a:xfrm>
            <a:off x="8221828" y="6473952"/>
            <a:ext cx="2964028"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19" name="Text 15"/>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pic>
        <p:nvPicPr>
          <p:cNvPr id="3" name="Image 0" descr="/sessions/quirky-zen-galileo/mnt/NHS/07 Sites &amp; Repos/dtx-ecosystem/hearts-and-minds/_generators/assets/crops/joe-3-0.747.jpg">    </p:cNvPr>
          <p:cNvPicPr>
            <a:picLocks noChangeAspect="1"/>
          </p:cNvPicPr>
          <p:nvPr/>
        </p:nvPicPr>
        <p:blipFill>
          <a:blip r:embed="rId1"/>
          <a:stretch>
            <a:fillRect/>
          </a:stretch>
        </p:blipFill>
        <p:spPr>
          <a:xfrm>
            <a:off x="0" y="0"/>
            <a:ext cx="5120640" cy="6858000"/>
          </a:xfrm>
          <a:prstGeom prst="rect">
            <a:avLst/>
          </a:prstGeom>
        </p:spPr>
      </p:pic>
      <p:sp>
        <p:nvSpPr>
          <p:cNvPr id="4" name="Shape 0"/>
          <p:cNvSpPr/>
          <p:nvPr/>
        </p:nvSpPr>
        <p:spPr>
          <a:xfrm>
            <a:off x="5120640" y="0"/>
            <a:ext cx="7071055" cy="6858000"/>
          </a:xfrm>
          <a:prstGeom prst="rect">
            <a:avLst/>
          </a:prstGeom>
          <a:solidFill>
            <a:srgbClr val="E8F3EE"/>
          </a:solidFill>
          <a:ln w="12700">
            <a:solidFill>
              <a:srgbClr val="E8F3EE"/>
            </a:solidFill>
            <a:prstDash val="solid"/>
          </a:ln>
        </p:spPr>
      </p:sp>
      <p:sp>
        <p:nvSpPr>
          <p:cNvPr id="5" name="Text 1"/>
          <p:cNvSpPr/>
          <p:nvPr/>
        </p:nvSpPr>
        <p:spPr>
          <a:xfrm>
            <a:off x="5623560" y="457200"/>
            <a:ext cx="6019495" cy="274320"/>
          </a:xfrm>
          <a:prstGeom prst="rect">
            <a:avLst/>
          </a:prstGeom>
          <a:noFill/>
          <a:ln/>
        </p:spPr>
        <p:txBody>
          <a:bodyPr wrap="square" lIns="0" tIns="0" rIns="0" bIns="0" rtlCol="0" anchor="ctr"/>
          <a:lstStyle/>
          <a:p>
            <a:pPr indent="0" marL="0">
              <a:buNone/>
            </a:pPr>
            <a:r>
              <a:rPr lang="en-US" sz="1000" b="1" spc="260" kern="0" dirty="0">
                <a:solidFill>
                  <a:srgbClr val="006747"/>
                </a:solidFill>
                <a:latin typeface="Segoe UI" pitchFamily="34" charset="0"/>
                <a:ea typeface="Segoe UI" pitchFamily="34" charset="-122"/>
                <a:cs typeface="Segoe UI" pitchFamily="34" charset="-120"/>
              </a:rPr>
              <a:t>A SUPPLIER’S STORY</a:t>
            </a:r>
            <a:endParaRPr lang="en-US" sz="1000" dirty="0"/>
          </a:p>
        </p:txBody>
      </p:sp>
      <p:sp>
        <p:nvSpPr>
          <p:cNvPr id="6" name="Text 2"/>
          <p:cNvSpPr/>
          <p:nvPr/>
        </p:nvSpPr>
        <p:spPr>
          <a:xfrm>
            <a:off x="5623560" y="777240"/>
            <a:ext cx="6019495" cy="986790"/>
          </a:xfrm>
          <a:prstGeom prst="rect">
            <a:avLst/>
          </a:prstGeom>
          <a:noFill/>
          <a:ln/>
        </p:spPr>
        <p:txBody>
          <a:bodyPr wrap="square" lIns="0" tIns="0" rIns="0" bIns="0" rtlCol="0" anchor="t">
            <a:normAutofit/>
          </a:bodyPr>
          <a:lstStyle/>
          <a:p>
            <a:pPr indent="0" marL="0">
              <a:buNone/>
            </a:pPr>
            <a:r>
              <a:rPr lang="en-US" sz="2850" b="1" dirty="0">
                <a:solidFill>
                  <a:srgbClr val="006747"/>
                </a:solidFill>
                <a:latin typeface="Segoe UI" pitchFamily="34" charset="0"/>
                <a:ea typeface="Segoe UI" pitchFamily="34" charset="-122"/>
                <a:cs typeface="Segoe UI" pitchFamily="34" charset="-120"/>
              </a:rPr>
              <a:t>Joe is admitted once and reused everywhere.</a:t>
            </a:r>
            <a:endParaRPr lang="en-US" sz="2850" dirty="0"/>
          </a:p>
        </p:txBody>
      </p:sp>
      <p:sp>
        <p:nvSpPr>
          <p:cNvPr id="7" name="Shape 3"/>
          <p:cNvSpPr/>
          <p:nvPr/>
        </p:nvSpPr>
        <p:spPr>
          <a:xfrm>
            <a:off x="5577840" y="1946910"/>
            <a:ext cx="822960" cy="822960"/>
          </a:xfrm>
          <a:prstGeom prst="ellipse">
            <a:avLst/>
          </a:prstGeom>
          <a:solidFill>
            <a:srgbClr val="006747"/>
          </a:solidFill>
          <a:ln w="12700">
            <a:solidFill>
              <a:srgbClr val="006747"/>
            </a:solidFill>
            <a:prstDash val="solid"/>
          </a:ln>
        </p:spPr>
      </p:sp>
      <p:pic>
        <p:nvPicPr>
          <p:cNvPr id="8" name="Image 1" descr="/sessions/quirky-zen-galileo/mnt/NHS/07 Sites &amp; Repos/dtx-ecosystem/hearts-and-minds/_generators/assets/portraits/joe.jpg">    </p:cNvPr>
          <p:cNvPicPr>
            <a:picLocks noChangeAspect="1"/>
          </p:cNvPicPr>
          <p:nvPr/>
        </p:nvPicPr>
        <p:blipFill>
          <a:blip r:embed="rId2"/>
          <a:stretch>
            <a:fillRect/>
          </a:stretch>
        </p:blipFill>
        <p:spPr>
          <a:xfrm>
            <a:off x="5623560" y="1992630"/>
            <a:ext cx="731520" cy="731520"/>
          </a:xfrm>
          <a:prstGeom prst="ellipse">
            <a:avLst/>
          </a:prstGeom>
        </p:spPr>
      </p:pic>
      <p:sp>
        <p:nvSpPr>
          <p:cNvPr id="9" name="Text 4"/>
          <p:cNvSpPr/>
          <p:nvPr/>
        </p:nvSpPr>
        <p:spPr>
          <a:xfrm>
            <a:off x="6492240" y="2157222"/>
            <a:ext cx="2743200" cy="411480"/>
          </a:xfrm>
          <a:prstGeom prst="rect">
            <a:avLst/>
          </a:prstGeom>
          <a:noFill/>
          <a:ln/>
        </p:spPr>
        <p:txBody>
          <a:bodyPr wrap="square" lIns="0" tIns="0" rIns="0" bIns="0" rtlCol="0" anchor="ctr"/>
          <a:lstStyle/>
          <a:p>
            <a:pPr indent="0" marL="0">
              <a:buNone/>
            </a:pPr>
            <a:r>
              <a:rPr lang="en-US" sz="1500" b="1" dirty="0">
                <a:solidFill>
                  <a:srgbClr val="006747"/>
                </a:solidFill>
                <a:latin typeface="Segoe UI" pitchFamily="34" charset="0"/>
                <a:ea typeface="Segoe UI" pitchFamily="34" charset="-122"/>
                <a:cs typeface="Segoe UI" pitchFamily="34" charset="-120"/>
              </a:rPr>
              <a:t>Joe</a:t>
            </a:r>
            <a:endParaRPr lang="en-US" sz="1500" dirty="0"/>
          </a:p>
        </p:txBody>
      </p:sp>
      <p:sp>
        <p:nvSpPr>
          <p:cNvPr id="10" name="Text 5"/>
          <p:cNvSpPr/>
          <p:nvPr/>
        </p:nvSpPr>
        <p:spPr>
          <a:xfrm>
            <a:off x="5623560" y="2952750"/>
            <a:ext cx="6019495" cy="2012442"/>
          </a:xfrm>
          <a:prstGeom prst="rect">
            <a:avLst/>
          </a:prstGeom>
          <a:noFill/>
          <a:ln/>
        </p:spPr>
        <p:txBody>
          <a:bodyPr wrap="square" lIns="0" tIns="0" rIns="0" bIns="0" rtlCol="0" anchor="t">
            <a:normAutofit/>
          </a:bodyPr>
          <a:lstStyle/>
          <a:p>
            <a:pPr indent="0" marL="0">
              <a:spcAft>
                <a:spcPts val="600"/>
              </a:spcAft>
              <a:buNone/>
            </a:pPr>
            <a:r>
              <a:rPr lang="en-US" sz="1050" b="1" dirty="0">
                <a:solidFill>
                  <a:srgbClr val="212B32"/>
                </a:solidFill>
                <a:latin typeface="Segoe UI" pitchFamily="34" charset="0"/>
                <a:ea typeface="Segoe UI" pitchFamily="34" charset="-122"/>
                <a:cs typeface="Segoe UI" pitchFamily="34" charset="-120"/>
              </a:rPr>
              <a:t>Before. </a:t>
            </a:r>
            <a:pPr indent="0" marL="0">
              <a:spcAft>
                <a:spcPts val="600"/>
              </a:spcAft>
              <a:buNone/>
            </a:pPr>
            <a:r>
              <a:rPr lang="en-US" sz="1050" dirty="0">
                <a:solidFill>
                  <a:srgbClr val="212B32"/>
                </a:solidFill>
                <a:latin typeface="Segoe UI" pitchFamily="34" charset="0"/>
                <a:ea typeface="Segoe UI" pitchFamily="34" charset="-122"/>
                <a:cs typeface="Segoe UI" pitchFamily="34" charset="-120"/>
              </a:rPr>
              <a:t>Three months of clarifications per commissioner, a bespoke DPIA each time, a clinical safety case rewritten for every deployment, and a pilot that ended without a route to scale.</a:t>
            </a:r>
            <a:endParaRPr lang="en-US" sz="1050" dirty="0"/>
          </a:p>
          <a:p>
            <a:pPr indent="0" marL="0">
              <a:spcAft>
                <a:spcPts val="600"/>
              </a:spcAft>
              <a:buNone/>
            </a:pPr>
            <a:r>
              <a:rPr lang="en-US" sz="1050" b="1" dirty="0">
                <a:solidFill>
                  <a:srgbClr val="212B32"/>
                </a:solidFill>
                <a:latin typeface="Segoe UI" pitchFamily="34" charset="0"/>
                <a:ea typeface="Segoe UI" pitchFamily="34" charset="-122"/>
                <a:cs typeface="Segoe UI" pitchFamily="34" charset="-120"/>
              </a:rPr>
              <a:t>Now. </a:t>
            </a:r>
            <a:pPr indent="0" marL="0">
              <a:spcAft>
                <a:spcPts val="600"/>
              </a:spcAft>
              <a:buNone/>
            </a:pPr>
            <a:r>
              <a:rPr lang="en-US" sz="1050" dirty="0">
                <a:solidFill>
                  <a:srgbClr val="212B32"/>
                </a:solidFill>
                <a:latin typeface="Segoe UI" pitchFamily="34" charset="0"/>
                <a:ea typeface="Segoe UI" pitchFamily="34" charset="-122"/>
                <a:cs typeface="Segoe UI" pitchFamily="34" charset="-120"/>
              </a:rPr>
              <a:t>Company assurance once through the Master SCAL. Category approval when the gate opens. Every commissioner who calls off inherits that work rather than repeating it.</a:t>
            </a:r>
            <a:endParaRPr lang="en-US" sz="1050" dirty="0"/>
          </a:p>
          <a:p>
            <a:pPr indent="0" marL="0">
              <a:spcAft>
                <a:spcPts val="600"/>
              </a:spcAft>
              <a:buNone/>
            </a:pPr>
            <a:r>
              <a:rPr lang="en-US" sz="1050" b="1" dirty="0">
                <a:solidFill>
                  <a:srgbClr val="212B32"/>
                </a:solidFill>
                <a:latin typeface="Segoe UI" pitchFamily="34" charset="0"/>
                <a:ea typeface="Segoe UI" pitchFamily="34" charset="-122"/>
                <a:cs typeface="Segoe UI" pitchFamily="34" charset="-120"/>
              </a:rPr>
              <a:t>The commercial shape. </a:t>
            </a:r>
            <a:pPr indent="0" marL="0">
              <a:spcAft>
                <a:spcPts val="600"/>
              </a:spcAft>
              <a:buNone/>
            </a:pPr>
            <a:r>
              <a:rPr lang="en-US" sz="1050" dirty="0">
                <a:solidFill>
                  <a:srgbClr val="212B32"/>
                </a:solidFill>
                <a:latin typeface="Segoe UI" pitchFamily="34" charset="0"/>
                <a:ea typeface="Segoe UI" pitchFamily="34" charset="-122"/>
                <a:cs typeface="Segoe UI" pitchFamily="34" charset="-120"/>
              </a:rPr>
              <a:t>Predictable volume against a published roadmap, payment per completed test, and a market with a floor of about three suppliers per category, so winning the category means winning a market rather than a monopoly.</a:t>
            </a:r>
            <a:endParaRPr lang="en-US" sz="1050" dirty="0"/>
          </a:p>
        </p:txBody>
      </p:sp>
      <p:sp>
        <p:nvSpPr>
          <p:cNvPr id="11" name="Shape 6"/>
          <p:cNvSpPr/>
          <p:nvPr/>
        </p:nvSpPr>
        <p:spPr>
          <a:xfrm>
            <a:off x="5623560" y="5193792"/>
            <a:ext cx="6019495" cy="1051560"/>
          </a:xfrm>
          <a:prstGeom prst="rect">
            <a:avLst/>
          </a:prstGeom>
          <a:solidFill>
            <a:srgbClr val="006747"/>
          </a:solidFill>
          <a:ln w="12700">
            <a:solidFill>
              <a:srgbClr val="006747"/>
            </a:solidFill>
            <a:prstDash val="solid"/>
          </a:ln>
        </p:spPr>
      </p:sp>
      <p:sp>
        <p:nvSpPr>
          <p:cNvPr id="12" name="Text 7"/>
          <p:cNvSpPr/>
          <p:nvPr/>
        </p:nvSpPr>
        <p:spPr>
          <a:xfrm>
            <a:off x="5897880" y="5193792"/>
            <a:ext cx="5470855" cy="1051560"/>
          </a:xfrm>
          <a:prstGeom prst="rect">
            <a:avLst/>
          </a:prstGeom>
          <a:noFill/>
          <a:ln/>
        </p:spPr>
        <p:txBody>
          <a:bodyPr wrap="square" lIns="0" tIns="0" rIns="0" bIns="0" rtlCol="0" anchor="ctr">
            <a:normAutofit/>
          </a:bodyPr>
          <a:lstStyle/>
          <a:p>
            <a:pPr indent="0" marL="0">
              <a:buNone/>
            </a:pPr>
            <a:r>
              <a:rPr lang="en-US" sz="1400" b="1" i="1" dirty="0">
                <a:solidFill>
                  <a:srgbClr val="FFFFFF"/>
                </a:solidFill>
                <a:latin typeface="Segoe UI" pitchFamily="34" charset="0"/>
                <a:ea typeface="Segoe UI" pitchFamily="34" charset="-122"/>
                <a:cs typeface="Segoe UI" pitchFamily="34" charset="-120"/>
              </a:rPr>
              <a:t>“The old price of bidding for NHS work was paying to find out what was wanted. Now I read the criteria and decide whether I fit.”</a:t>
            </a:r>
            <a:endParaRPr lang="en-US" sz="1400" dirty="0"/>
          </a:p>
        </p:txBody>
      </p:sp>
      <p:sp>
        <p:nvSpPr>
          <p:cNvPr id="13" name="Text 8"/>
          <p:cNvSpPr/>
          <p:nvPr/>
        </p:nvSpPr>
        <p:spPr>
          <a:xfrm>
            <a:off x="5623560" y="6473952"/>
            <a:ext cx="3009748"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audience deck No.5 · Supplier edition · proof-of-concept draft · September 2026</a:t>
            </a:r>
            <a:endParaRPr lang="en-US" sz="800" dirty="0"/>
          </a:p>
        </p:txBody>
      </p:sp>
      <p:sp>
        <p:nvSpPr>
          <p:cNvPr id="14" name="Text 9"/>
          <p:cNvSpPr/>
          <p:nvPr/>
        </p:nvSpPr>
        <p:spPr>
          <a:xfrm>
            <a:off x="8633308" y="6473952"/>
            <a:ext cx="2552548"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15" name="Text 10"/>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3"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WHAT HAPPENS NEXT</a:t>
            </a:r>
            <a:endParaRPr lang="en-US" sz="1000" dirty="0"/>
          </a:p>
        </p:txBody>
      </p:sp>
      <p:sp>
        <p:nvSpPr>
          <p:cNvPr id="4" name="Text 1"/>
          <p:cNvSpPr/>
          <p:nvPr/>
        </p:nvSpPr>
        <p:spPr>
          <a:xfrm>
            <a:off x="548640" y="731520"/>
            <a:ext cx="11064240" cy="904240"/>
          </a:xfrm>
          <a:prstGeom prst="rect">
            <a:avLst/>
          </a:prstGeom>
          <a:noFill/>
          <a:ln/>
        </p:spPr>
        <p:txBody>
          <a:bodyPr wrap="square" lIns="0" tIns="0" rIns="0" bIns="0" rtlCol="0" anchor="t">
            <a:normAutofit/>
          </a:bodyPr>
          <a:lstStyle/>
          <a:p>
            <a:pPr indent="0" marL="0">
              <a:buNone/>
            </a:pPr>
            <a:r>
              <a:rPr lang="en-US" sz="2600" b="1" dirty="0">
                <a:solidFill>
                  <a:srgbClr val="003087"/>
                </a:solidFill>
                <a:latin typeface="Segoe UI" pitchFamily="34" charset="0"/>
                <a:ea typeface="Segoe UI" pitchFamily="34" charset="-122"/>
                <a:cs typeface="Segoe UI" pitchFamily="34" charset="-120"/>
              </a:rPr>
              <a:t>What we want from suppliers now, before the framework goes live.</a:t>
            </a:r>
            <a:endParaRPr lang="en-US" sz="2600" dirty="0"/>
          </a:p>
        </p:txBody>
      </p:sp>
      <p:sp>
        <p:nvSpPr>
          <p:cNvPr id="5" name="Shape 2"/>
          <p:cNvSpPr/>
          <p:nvPr/>
        </p:nvSpPr>
        <p:spPr>
          <a:xfrm>
            <a:off x="548640" y="1955800"/>
            <a:ext cx="2341778" cy="4289552"/>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6" name="Shape 3"/>
          <p:cNvSpPr/>
          <p:nvPr/>
        </p:nvSpPr>
        <p:spPr>
          <a:xfrm>
            <a:off x="548640" y="1955800"/>
            <a:ext cx="73152" cy="4289552"/>
          </a:xfrm>
          <a:prstGeom prst="rect">
            <a:avLst/>
          </a:prstGeom>
          <a:solidFill>
            <a:srgbClr val="006747"/>
          </a:solidFill>
          <a:ln w="12700">
            <a:solidFill>
              <a:srgbClr val="006747"/>
            </a:solidFill>
            <a:prstDash val="solid"/>
          </a:ln>
        </p:spPr>
      </p:sp>
      <p:sp>
        <p:nvSpPr>
          <p:cNvPr id="7" name="Shape 4"/>
          <p:cNvSpPr/>
          <p:nvPr/>
        </p:nvSpPr>
        <p:spPr>
          <a:xfrm>
            <a:off x="822960" y="2184400"/>
            <a:ext cx="548640" cy="548640"/>
          </a:xfrm>
          <a:prstGeom prst="ellipse">
            <a:avLst/>
          </a:prstGeom>
          <a:solidFill>
            <a:srgbClr val="003087"/>
          </a:solidFill>
          <a:ln w="12700">
            <a:solidFill>
              <a:srgbClr val="003087"/>
            </a:solidFill>
            <a:prstDash val="solid"/>
          </a:ln>
        </p:spPr>
      </p:sp>
      <p:sp>
        <p:nvSpPr>
          <p:cNvPr id="8" name="Text 5"/>
          <p:cNvSpPr/>
          <p:nvPr/>
        </p:nvSpPr>
        <p:spPr>
          <a:xfrm>
            <a:off x="822960" y="21844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9" name="Text 6"/>
          <p:cNvSpPr/>
          <p:nvPr/>
        </p:nvSpPr>
        <p:spPr>
          <a:xfrm>
            <a:off x="822960" y="2870200"/>
            <a:ext cx="1838858" cy="731520"/>
          </a:xfrm>
          <a:prstGeom prst="rect">
            <a:avLst/>
          </a:prstGeom>
          <a:noFill/>
          <a:ln/>
        </p:spPr>
        <p:txBody>
          <a:bodyPr wrap="square" lIns="0" tIns="0" rIns="0" bIns="0" rtlCol="0" anchor="t">
            <a:normAutofit/>
          </a:bodyPr>
          <a:lstStyle/>
          <a:p>
            <a:pPr indent="0" marL="0">
              <a:buNone/>
            </a:pPr>
            <a:r>
              <a:rPr lang="en-US" sz="1750" b="1" dirty="0">
                <a:solidFill>
                  <a:srgbClr val="003087"/>
                </a:solidFill>
                <a:latin typeface="Segoe UI" pitchFamily="34" charset="0"/>
                <a:ea typeface="Segoe UI" pitchFamily="34" charset="-122"/>
                <a:cs typeface="Segoe UI" pitchFamily="34" charset="-120"/>
              </a:rPr>
              <a:t>Tell us what breaks this</a:t>
            </a:r>
            <a:endParaRPr lang="en-US" sz="1750" dirty="0"/>
          </a:p>
        </p:txBody>
      </p:sp>
      <p:sp>
        <p:nvSpPr>
          <p:cNvPr id="10" name="Text 7"/>
          <p:cNvSpPr/>
          <p:nvPr/>
        </p:nvSpPr>
        <p:spPr>
          <a:xfrm>
            <a:off x="822960" y="3647440"/>
            <a:ext cx="1838858" cy="2366264"/>
          </a:xfrm>
          <a:prstGeom prst="rect">
            <a:avLst/>
          </a:prstGeom>
          <a:noFill/>
          <a:ln/>
        </p:spPr>
        <p:txBody>
          <a:bodyPr wrap="square" lIns="0" tIns="0" rIns="0" bIns="0" rtlCol="0" anchor="t">
            <a:normAutofit/>
          </a:bodyPr>
          <a:lstStyle/>
          <a:p>
            <a:pPr indent="0" marL="0">
              <a:buNone/>
            </a:pPr>
            <a:r>
              <a:rPr lang="en-US" sz="1400" dirty="0">
                <a:solidFill>
                  <a:srgbClr val="4C6272"/>
                </a:solidFill>
                <a:latin typeface="Segoe UI" pitchFamily="34" charset="0"/>
                <a:ea typeface="Segoe UI" pitchFamily="34" charset="-122"/>
                <a:cs typeface="Segoe UI" pitchFamily="34" charset="-120"/>
              </a:rPr>
              <a:t>The assurance burden, the gate cadence, the ceiling, the levy. If it does not work commercially, we would rather hear it now than at tender.</a:t>
            </a:r>
            <a:endParaRPr lang="en-US" sz="1400" dirty="0"/>
          </a:p>
        </p:txBody>
      </p:sp>
      <p:sp>
        <p:nvSpPr>
          <p:cNvPr id="11" name="Shape 8"/>
          <p:cNvSpPr/>
          <p:nvPr/>
        </p:nvSpPr>
        <p:spPr>
          <a:xfrm>
            <a:off x="3119018" y="1955800"/>
            <a:ext cx="2341778" cy="4289552"/>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2" name="Shape 9"/>
          <p:cNvSpPr/>
          <p:nvPr/>
        </p:nvSpPr>
        <p:spPr>
          <a:xfrm>
            <a:off x="3119018" y="1955800"/>
            <a:ext cx="73152" cy="4289552"/>
          </a:xfrm>
          <a:prstGeom prst="rect">
            <a:avLst/>
          </a:prstGeom>
          <a:solidFill>
            <a:srgbClr val="005EB8"/>
          </a:solidFill>
          <a:ln w="12700">
            <a:solidFill>
              <a:srgbClr val="005EB8"/>
            </a:solidFill>
            <a:prstDash val="solid"/>
          </a:ln>
        </p:spPr>
      </p:sp>
      <p:sp>
        <p:nvSpPr>
          <p:cNvPr id="13" name="Shape 10"/>
          <p:cNvSpPr/>
          <p:nvPr/>
        </p:nvSpPr>
        <p:spPr>
          <a:xfrm>
            <a:off x="3393338" y="2184400"/>
            <a:ext cx="548640" cy="548640"/>
          </a:xfrm>
          <a:prstGeom prst="ellipse">
            <a:avLst/>
          </a:prstGeom>
          <a:solidFill>
            <a:srgbClr val="003087"/>
          </a:solidFill>
          <a:ln w="12700">
            <a:solidFill>
              <a:srgbClr val="003087"/>
            </a:solidFill>
            <a:prstDash val="solid"/>
          </a:ln>
        </p:spPr>
      </p:sp>
      <p:sp>
        <p:nvSpPr>
          <p:cNvPr id="14" name="Text 11"/>
          <p:cNvSpPr/>
          <p:nvPr/>
        </p:nvSpPr>
        <p:spPr>
          <a:xfrm>
            <a:off x="3393338" y="21844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5" name="Text 12"/>
          <p:cNvSpPr/>
          <p:nvPr/>
        </p:nvSpPr>
        <p:spPr>
          <a:xfrm>
            <a:off x="3393338" y="2870200"/>
            <a:ext cx="1838858" cy="731520"/>
          </a:xfrm>
          <a:prstGeom prst="rect">
            <a:avLst/>
          </a:prstGeom>
          <a:noFill/>
          <a:ln/>
        </p:spPr>
        <p:txBody>
          <a:bodyPr wrap="square" lIns="0" tIns="0" rIns="0" bIns="0" rtlCol="0" anchor="t">
            <a:normAutofit/>
          </a:bodyPr>
          <a:lstStyle/>
          <a:p>
            <a:pPr indent="0" marL="0">
              <a:buNone/>
            </a:pPr>
            <a:r>
              <a:rPr lang="en-US" sz="1600" b="1" dirty="0">
                <a:solidFill>
                  <a:srgbClr val="003087"/>
                </a:solidFill>
                <a:latin typeface="Segoe UI" pitchFamily="34" charset="0"/>
                <a:ea typeface="Segoe UI" pitchFamily="34" charset="-122"/>
                <a:cs typeface="Segoe UI" pitchFamily="34" charset="-120"/>
              </a:rPr>
              <a:t>Tell us what you can serve</a:t>
            </a:r>
            <a:endParaRPr lang="en-US" sz="1600" dirty="0"/>
          </a:p>
        </p:txBody>
      </p:sp>
      <p:sp>
        <p:nvSpPr>
          <p:cNvPr id="16" name="Text 13"/>
          <p:cNvSpPr/>
          <p:nvPr/>
        </p:nvSpPr>
        <p:spPr>
          <a:xfrm>
            <a:off x="3393338" y="3647440"/>
            <a:ext cx="1838858" cy="2135124"/>
          </a:xfrm>
          <a:prstGeom prst="rect">
            <a:avLst/>
          </a:prstGeom>
          <a:noFill/>
          <a:ln/>
        </p:spPr>
        <p:txBody>
          <a:bodyPr wrap="square" lIns="0" tIns="0" rIns="0" bIns="0" rtlCol="0" anchor="t">
            <a:normAutofit/>
          </a:bodyPr>
          <a:lstStyle/>
          <a:p>
            <a:pPr indent="0" marL="0">
              <a:buNone/>
            </a:pPr>
            <a:r>
              <a:rPr lang="en-US" sz="1400" dirty="0">
                <a:solidFill>
                  <a:srgbClr val="4C6272"/>
                </a:solidFill>
                <a:latin typeface="Segoe UI" pitchFamily="34" charset="0"/>
                <a:ea typeface="Segoe UI" pitchFamily="34" charset="-122"/>
                <a:cs typeface="Segoe UI" pitchFamily="34" charset="-120"/>
              </a:rPr>
              <a:t>Which test categories you could accredit for, and how long the laboratory accreditation would take you. That shapes the roadmap.</a:t>
            </a:r>
            <a:endParaRPr lang="en-US" sz="1400" dirty="0"/>
          </a:p>
        </p:txBody>
      </p:sp>
      <p:sp>
        <p:nvSpPr>
          <p:cNvPr id="17" name="Shape 14"/>
          <p:cNvSpPr/>
          <p:nvPr/>
        </p:nvSpPr>
        <p:spPr>
          <a:xfrm>
            <a:off x="5689397" y="1955800"/>
            <a:ext cx="2341778" cy="4289552"/>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8" name="Shape 15"/>
          <p:cNvSpPr/>
          <p:nvPr/>
        </p:nvSpPr>
        <p:spPr>
          <a:xfrm>
            <a:off x="5689397" y="1955800"/>
            <a:ext cx="73152" cy="4289552"/>
          </a:xfrm>
          <a:prstGeom prst="rect">
            <a:avLst/>
          </a:prstGeom>
          <a:solidFill>
            <a:srgbClr val="006747"/>
          </a:solidFill>
          <a:ln w="12700">
            <a:solidFill>
              <a:srgbClr val="006747"/>
            </a:solidFill>
            <a:prstDash val="solid"/>
          </a:ln>
        </p:spPr>
      </p:sp>
      <p:sp>
        <p:nvSpPr>
          <p:cNvPr id="19" name="Shape 16"/>
          <p:cNvSpPr/>
          <p:nvPr/>
        </p:nvSpPr>
        <p:spPr>
          <a:xfrm>
            <a:off x="5963717" y="2184400"/>
            <a:ext cx="548640" cy="548640"/>
          </a:xfrm>
          <a:prstGeom prst="ellipse">
            <a:avLst/>
          </a:prstGeom>
          <a:solidFill>
            <a:srgbClr val="003087"/>
          </a:solidFill>
          <a:ln w="12700">
            <a:solidFill>
              <a:srgbClr val="003087"/>
            </a:solidFill>
            <a:prstDash val="solid"/>
          </a:ln>
        </p:spPr>
      </p:sp>
      <p:sp>
        <p:nvSpPr>
          <p:cNvPr id="20" name="Text 17"/>
          <p:cNvSpPr/>
          <p:nvPr/>
        </p:nvSpPr>
        <p:spPr>
          <a:xfrm>
            <a:off x="5963717" y="21844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21" name="Text 18"/>
          <p:cNvSpPr/>
          <p:nvPr/>
        </p:nvSpPr>
        <p:spPr>
          <a:xfrm>
            <a:off x="5963717" y="2870200"/>
            <a:ext cx="1838858" cy="731520"/>
          </a:xfrm>
          <a:prstGeom prst="rect">
            <a:avLst/>
          </a:prstGeom>
          <a:noFill/>
          <a:ln/>
        </p:spPr>
        <p:txBody>
          <a:bodyPr wrap="square" lIns="0" tIns="0" rIns="0" bIns="0" rtlCol="0" anchor="t">
            <a:normAutofit/>
          </a:bodyPr>
          <a:lstStyle/>
          <a:p>
            <a:pPr indent="0" marL="0">
              <a:buNone/>
            </a:pPr>
            <a:r>
              <a:rPr lang="en-US" sz="1600" b="1" dirty="0">
                <a:solidFill>
                  <a:srgbClr val="003087"/>
                </a:solidFill>
                <a:latin typeface="Segoe UI" pitchFamily="34" charset="0"/>
                <a:ea typeface="Segoe UI" pitchFamily="34" charset="-122"/>
                <a:cs typeface="Segoe UI" pitchFamily="34" charset="-120"/>
              </a:rPr>
              <a:t>Come to the Supplier Forum</a:t>
            </a:r>
            <a:endParaRPr lang="en-US" sz="1600" dirty="0"/>
          </a:p>
        </p:txBody>
      </p:sp>
      <p:sp>
        <p:nvSpPr>
          <p:cNvPr id="22" name="Text 19"/>
          <p:cNvSpPr/>
          <p:nvPr/>
        </p:nvSpPr>
        <p:spPr>
          <a:xfrm>
            <a:off x="5963717" y="3647440"/>
            <a:ext cx="1838858" cy="2333244"/>
          </a:xfrm>
          <a:prstGeom prst="rect">
            <a:avLst/>
          </a:prstGeom>
          <a:noFill/>
          <a:ln/>
        </p:spPr>
        <p:txBody>
          <a:bodyPr wrap="square" lIns="0" tIns="0" rIns="0" bIns="0" rtlCol="0" anchor="t">
            <a:normAutofit/>
          </a:bodyPr>
          <a:lstStyle/>
          <a:p>
            <a:pPr indent="0" marL="0">
              <a:buNone/>
            </a:pPr>
            <a:r>
              <a:rPr lang="en-US" sz="1150" dirty="0">
                <a:solidFill>
                  <a:srgbClr val="4C6272"/>
                </a:solidFill>
                <a:latin typeface="Segoe UI" pitchFamily="34" charset="0"/>
                <a:ea typeface="Segoe UI" pitchFamily="34" charset="-122"/>
                <a:cs typeface="Segoe UI" pitchFamily="34" charset="-120"/>
              </a:rPr>
              <a:t>A standing forum with a monthly cadence: structured information sharing, non-evaluative and non-decision-making. Being in the room now is not an advantage at tender, and it is where the design gets tested.</a:t>
            </a:r>
            <a:endParaRPr lang="en-US" sz="1150" dirty="0"/>
          </a:p>
        </p:txBody>
      </p:sp>
      <p:sp>
        <p:nvSpPr>
          <p:cNvPr id="23" name="Shape 20"/>
          <p:cNvSpPr/>
          <p:nvPr/>
        </p:nvSpPr>
        <p:spPr>
          <a:xfrm>
            <a:off x="8351215" y="1955800"/>
            <a:ext cx="3291840" cy="4289552"/>
          </a:xfrm>
          <a:prstGeom prst="rect">
            <a:avLst/>
          </a:prstGeom>
          <a:solidFill>
            <a:srgbClr val="006747"/>
          </a:solidFill>
          <a:ln w="12700">
            <a:solidFill>
              <a:srgbClr val="006747"/>
            </a:solidFill>
            <a:prstDash val="solid"/>
          </a:ln>
        </p:spPr>
      </p:sp>
      <p:sp>
        <p:nvSpPr>
          <p:cNvPr id="24" name="Text 21"/>
          <p:cNvSpPr/>
          <p:nvPr/>
        </p:nvSpPr>
        <p:spPr>
          <a:xfrm>
            <a:off x="8625535" y="2230120"/>
            <a:ext cx="2743200" cy="2277872"/>
          </a:xfrm>
          <a:prstGeom prst="rect">
            <a:avLst/>
          </a:prstGeom>
          <a:noFill/>
          <a:ln/>
        </p:spPr>
        <p:txBody>
          <a:bodyPr wrap="square" lIns="0" tIns="0" rIns="0" bIns="0" rtlCol="0" anchor="t">
            <a:normAutofit/>
          </a:bodyPr>
          <a:lstStyle/>
          <a:p>
            <a:pPr indent="0" marL="0">
              <a:buNone/>
            </a:pPr>
            <a:r>
              <a:rPr lang="en-US" sz="1600" b="1" dirty="0">
                <a:solidFill>
                  <a:srgbClr val="FFFFFF"/>
                </a:solidFill>
                <a:latin typeface="Segoe UI" pitchFamily="34" charset="0"/>
                <a:ea typeface="Segoe UI" pitchFamily="34" charset="-122"/>
                <a:cs typeface="Segoe UI" pitchFamily="34" charset="-120"/>
              </a:rPr>
              <a:t>Everything commercial here is agreed in principle and subject to the live procurement. Nothing in this conversation confers any advantage in it.</a:t>
            </a:r>
            <a:endParaRPr lang="en-US" sz="1600" dirty="0"/>
          </a:p>
        </p:txBody>
      </p:sp>
      <p:sp>
        <p:nvSpPr>
          <p:cNvPr id="25" name="Shape 22"/>
          <p:cNvSpPr/>
          <p:nvPr/>
        </p:nvSpPr>
        <p:spPr>
          <a:xfrm>
            <a:off x="8826703" y="5312664"/>
            <a:ext cx="658368" cy="658368"/>
          </a:xfrm>
          <a:prstGeom prst="ellipse">
            <a:avLst/>
          </a:prstGeom>
          <a:solidFill>
            <a:srgbClr val="FFFFFF"/>
          </a:solidFill>
          <a:ln w="12700">
            <a:solidFill>
              <a:srgbClr val="FFFFFF"/>
            </a:solidFill>
            <a:prstDash val="solid"/>
          </a:ln>
        </p:spPr>
      </p:sp>
      <p:pic>
        <p:nvPicPr>
          <p:cNvPr id="26" name="Image 0" descr="/sessions/quirky-zen-galileo/mnt/NHS/07 Sites &amp; Repos/dtx-ecosystem/hearts-and-minds/_generators/assets/portraits/joe.jpg">    </p:cNvPr>
          <p:cNvPicPr>
            <a:picLocks noChangeAspect="1"/>
          </p:cNvPicPr>
          <p:nvPr/>
        </p:nvPicPr>
        <p:blipFill>
          <a:blip r:embed="rId1"/>
          <a:stretch>
            <a:fillRect/>
          </a:stretch>
        </p:blipFill>
        <p:spPr>
          <a:xfrm>
            <a:off x="8872423" y="5358384"/>
            <a:ext cx="566928" cy="566928"/>
          </a:xfrm>
          <a:prstGeom prst="ellipse">
            <a:avLst/>
          </a:prstGeom>
        </p:spPr>
      </p:pic>
      <p:sp>
        <p:nvSpPr>
          <p:cNvPr id="27" name="Shape 23"/>
          <p:cNvSpPr/>
          <p:nvPr/>
        </p:nvSpPr>
        <p:spPr>
          <a:xfrm>
            <a:off x="9576511" y="5312664"/>
            <a:ext cx="658368" cy="658368"/>
          </a:xfrm>
          <a:prstGeom prst="ellipse">
            <a:avLst/>
          </a:prstGeom>
          <a:solidFill>
            <a:srgbClr val="FFFFFF"/>
          </a:solidFill>
          <a:ln w="12700">
            <a:solidFill>
              <a:srgbClr val="FFFFFF"/>
            </a:solidFill>
            <a:prstDash val="solid"/>
          </a:ln>
        </p:spPr>
      </p:sp>
      <p:pic>
        <p:nvPicPr>
          <p:cNvPr id="28" name="Image 1" descr="/sessions/quirky-zen-galileo/mnt/NHS/07 Sites &amp; Repos/dtx-ecosystem/hearts-and-minds/_generators/assets/portraits/sarah.jpg">    </p:cNvPr>
          <p:cNvPicPr>
            <a:picLocks noChangeAspect="1"/>
          </p:cNvPicPr>
          <p:nvPr/>
        </p:nvPicPr>
        <p:blipFill>
          <a:blip r:embed="rId2"/>
          <a:stretch>
            <a:fillRect/>
          </a:stretch>
        </p:blipFill>
        <p:spPr>
          <a:xfrm>
            <a:off x="9622231" y="5358384"/>
            <a:ext cx="566928" cy="566928"/>
          </a:xfrm>
          <a:prstGeom prst="ellipse">
            <a:avLst/>
          </a:prstGeom>
        </p:spPr>
      </p:pic>
      <p:sp>
        <p:nvSpPr>
          <p:cNvPr id="29" name="Shape 24"/>
          <p:cNvSpPr/>
          <p:nvPr/>
        </p:nvSpPr>
        <p:spPr>
          <a:xfrm>
            <a:off x="10326319" y="5312664"/>
            <a:ext cx="658368" cy="658368"/>
          </a:xfrm>
          <a:prstGeom prst="ellipse">
            <a:avLst/>
          </a:prstGeom>
          <a:solidFill>
            <a:srgbClr val="FFFFFF"/>
          </a:solidFill>
          <a:ln w="12700">
            <a:solidFill>
              <a:srgbClr val="FFFFFF"/>
            </a:solidFill>
            <a:prstDash val="solid"/>
          </a:ln>
        </p:spPr>
      </p:sp>
      <p:pic>
        <p:nvPicPr>
          <p:cNvPr id="30" name="Image 2" descr="/sessions/quirky-zen-galileo/mnt/NHS/07 Sites &amp; Repos/dtx-ecosystem/hearts-and-minds/_generators/assets/portraits/david.jpg">    </p:cNvPr>
          <p:cNvPicPr>
            <a:picLocks noChangeAspect="1"/>
          </p:cNvPicPr>
          <p:nvPr/>
        </p:nvPicPr>
        <p:blipFill>
          <a:blip r:embed="rId3"/>
          <a:stretch>
            <a:fillRect/>
          </a:stretch>
        </p:blipFill>
        <p:spPr>
          <a:xfrm>
            <a:off x="10372039" y="5358384"/>
            <a:ext cx="566928" cy="566928"/>
          </a:xfrm>
          <a:prstGeom prst="ellipse">
            <a:avLst/>
          </a:prstGeom>
        </p:spPr>
      </p:pic>
      <p:sp>
        <p:nvSpPr>
          <p:cNvPr id="31" name="Text 25"/>
          <p:cNvSpPr/>
          <p:nvPr/>
        </p:nvSpPr>
        <p:spPr>
          <a:xfrm>
            <a:off x="548640" y="6473952"/>
            <a:ext cx="5943600"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audience deck No.5 · Supplier edition · proof-of-concept draft · September 2026</a:t>
            </a:r>
            <a:endParaRPr lang="en-US" sz="800" dirty="0"/>
          </a:p>
        </p:txBody>
      </p:sp>
      <p:sp>
        <p:nvSpPr>
          <p:cNvPr id="32" name="Text 26"/>
          <p:cNvSpPr/>
          <p:nvPr/>
        </p:nvSpPr>
        <p:spPr>
          <a:xfrm>
            <a:off x="6309360" y="6473952"/>
            <a:ext cx="4876495" cy="274320"/>
          </a:xfrm>
          <a:prstGeom prst="rect">
            <a:avLst/>
          </a:prstGeom>
          <a:noFill/>
          <a:ln/>
        </p:spPr>
        <p:txBody>
          <a:bodyPr wrap="square" lIns="0" tIns="0" rIns="0" bIns="0" rtlCol="0" anchor="ctr">
            <a:normAutofit/>
          </a:bodyP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33" name="Text 27"/>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10782523" y="457200"/>
            <a:ext cx="860532" cy="658368"/>
          </a:xfrm>
          <a:prstGeom prst="roundRect">
            <a:avLst>
              <a:gd name="adj" fmla="val 11111"/>
            </a:avLst>
          </a:prstGeom>
          <a:solidFill>
            <a:srgbClr val="FFFFFF"/>
          </a:solidFill>
          <a:ln w="12700">
            <a:solidFill>
              <a:srgbClr val="FFFFFF"/>
            </a:solidFill>
            <a:prstDash val="solid"/>
          </a:ln>
        </p:spPr>
      </p:sp>
      <p:pic>
        <p:nvPicPr>
          <p:cNvPr id="3" name="Image 0" descr="/sessions/quirky-zen-galileo/mnt/NHS/07 Sites &amp; Repos/dtx-ecosystem/hearts-and-minds/_generators/assets/nhs-logo.png">    </p:cNvPr>
          <p:cNvPicPr>
            <a:picLocks noChangeAspect="1"/>
          </p:cNvPicPr>
          <p:nvPr/>
        </p:nvPicPr>
        <p:blipFill>
          <a:blip r:embed="rId1"/>
          <a:stretch>
            <a:fillRect/>
          </a:stretch>
        </p:blipFill>
        <p:spPr>
          <a:xfrm>
            <a:off x="10919683" y="557784"/>
            <a:ext cx="586212" cy="457200"/>
          </a:xfrm>
          <a:prstGeom prst="rect">
            <a:avLst/>
          </a:prstGeom>
        </p:spPr>
      </p:pic>
      <p:sp>
        <p:nvSpPr>
          <p:cNvPr id="4" name="Text 1"/>
          <p:cNvSpPr/>
          <p:nvPr/>
        </p:nvSpPr>
        <p:spPr>
          <a:xfrm>
            <a:off x="548640" y="548640"/>
            <a:ext cx="7315200" cy="274320"/>
          </a:xfrm>
          <a:prstGeom prst="rect">
            <a:avLst/>
          </a:prstGeom>
          <a:noFill/>
          <a:ln/>
        </p:spPr>
        <p:txBody>
          <a:bodyPr wrap="square" lIns="0" tIns="0" rIns="0" bIns="0" rtlCol="0" anchor="ctr"/>
          <a:lstStyle/>
          <a:p>
            <a:pPr indent="0" marL="0">
              <a:buNone/>
            </a:pPr>
            <a:r>
              <a:rPr lang="en-US" sz="1000" b="1" spc="260" kern="0" dirty="0">
                <a:solidFill>
                  <a:srgbClr val="FFB91D"/>
                </a:solidFill>
                <a:latin typeface="Segoe UI" pitchFamily="34" charset="0"/>
                <a:ea typeface="Segoe UI" pitchFamily="34" charset="-122"/>
                <a:cs typeface="Segoe UI" pitchFamily="34" charset="-120"/>
              </a:rPr>
              <a:t>HEARTS AND MINDS · SUPPLIER EDITION</a:t>
            </a:r>
            <a:endParaRPr lang="en-US" sz="1000" dirty="0"/>
          </a:p>
        </p:txBody>
      </p:sp>
      <p:sp>
        <p:nvSpPr>
          <p:cNvPr id="5" name="Shape 2"/>
          <p:cNvSpPr/>
          <p:nvPr/>
        </p:nvSpPr>
        <p:spPr>
          <a:xfrm>
            <a:off x="2039569" y="1508760"/>
            <a:ext cx="1691640" cy="1691640"/>
          </a:xfrm>
          <a:prstGeom prst="ellipse">
            <a:avLst/>
          </a:prstGeom>
          <a:solidFill>
            <a:srgbClr val="FFFFFF"/>
          </a:solidFill>
          <a:ln w="12700">
            <a:solidFill>
              <a:srgbClr val="FFFFFF"/>
            </a:solidFill>
            <a:prstDash val="solid"/>
          </a:ln>
        </p:spPr>
      </p:sp>
      <p:pic>
        <p:nvPicPr>
          <p:cNvPr id="6" name="Image 1" descr="/sessions/quirky-zen-galileo/mnt/NHS/07 Sites &amp; Repos/dtx-ecosystem/hearts-and-minds/_generators/assets/portraits/joe.jpg">    </p:cNvPr>
          <p:cNvPicPr>
            <a:picLocks noChangeAspect="1"/>
          </p:cNvPicPr>
          <p:nvPr/>
        </p:nvPicPr>
        <p:blipFill>
          <a:blip r:embed="rId2"/>
          <a:stretch>
            <a:fillRect/>
          </a:stretch>
        </p:blipFill>
        <p:spPr>
          <a:xfrm>
            <a:off x="2085289" y="1554480"/>
            <a:ext cx="1600200" cy="1600200"/>
          </a:xfrm>
          <a:prstGeom prst="ellipse">
            <a:avLst/>
          </a:prstGeom>
        </p:spPr>
      </p:pic>
      <p:sp>
        <p:nvSpPr>
          <p:cNvPr id="7" name="Text 3"/>
          <p:cNvSpPr/>
          <p:nvPr/>
        </p:nvSpPr>
        <p:spPr>
          <a:xfrm>
            <a:off x="1280160" y="3246120"/>
            <a:ext cx="3210458"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Joe</a:t>
            </a:r>
            <a:endParaRPr lang="en-US" sz="1500" dirty="0"/>
          </a:p>
        </p:txBody>
      </p:sp>
      <p:sp>
        <p:nvSpPr>
          <p:cNvPr id="8" name="Text 4"/>
          <p:cNvSpPr/>
          <p:nvPr/>
        </p:nvSpPr>
        <p:spPr>
          <a:xfrm>
            <a:off x="1371600" y="3566160"/>
            <a:ext cx="3027578" cy="457200"/>
          </a:xfrm>
          <a:prstGeom prst="rect">
            <a:avLst/>
          </a:prstGeom>
          <a:noFill/>
          <a:ln/>
        </p:spPr>
        <p:txBody>
          <a:bodyPr wrap="square" lIns="0" tIns="0" rIns="0" bIns="0" rtlCol="0" anchor="t">
            <a:normAutofit/>
          </a:bodyPr>
          <a:lstStyle/>
          <a:p>
            <a:pPr algn="ctr" indent="0" marL="0">
              <a:buNone/>
            </a:pPr>
            <a:r>
              <a:rPr lang="en-US" sz="1050" dirty="0">
                <a:solidFill>
                  <a:srgbClr val="CFE0F5"/>
                </a:solidFill>
                <a:latin typeface="Segoe UI" pitchFamily="34" charset="0"/>
                <a:ea typeface="Segoe UI" pitchFamily="34" charset="-122"/>
                <a:cs typeface="Segoe UI" pitchFamily="34" charset="-120"/>
              </a:rPr>
              <a:t>the supplier with a good test</a:t>
            </a:r>
            <a:endParaRPr lang="en-US" sz="1050" dirty="0"/>
          </a:p>
        </p:txBody>
      </p:sp>
      <p:sp>
        <p:nvSpPr>
          <p:cNvPr id="9" name="Shape 5"/>
          <p:cNvSpPr/>
          <p:nvPr/>
        </p:nvSpPr>
        <p:spPr>
          <a:xfrm>
            <a:off x="5250028" y="1508760"/>
            <a:ext cx="1691640" cy="1691640"/>
          </a:xfrm>
          <a:prstGeom prst="ellipse">
            <a:avLst/>
          </a:prstGeom>
          <a:solidFill>
            <a:srgbClr val="FFFFFF"/>
          </a:solidFill>
          <a:ln w="12700">
            <a:solidFill>
              <a:srgbClr val="FFFFFF"/>
            </a:solidFill>
            <a:prstDash val="solid"/>
          </a:ln>
        </p:spPr>
      </p:sp>
      <p:pic>
        <p:nvPicPr>
          <p:cNvPr id="10" name="Image 2" descr="/sessions/quirky-zen-galileo/mnt/NHS/07 Sites &amp; Repos/dtx-ecosystem/hearts-and-minds/_generators/assets/portraits/sarah.jpg">    </p:cNvPr>
          <p:cNvPicPr>
            <a:picLocks noChangeAspect="1"/>
          </p:cNvPicPr>
          <p:nvPr/>
        </p:nvPicPr>
        <p:blipFill>
          <a:blip r:embed="rId3"/>
          <a:stretch>
            <a:fillRect/>
          </a:stretch>
        </p:blipFill>
        <p:spPr>
          <a:xfrm>
            <a:off x="5295748" y="1554480"/>
            <a:ext cx="1600200" cy="1600200"/>
          </a:xfrm>
          <a:prstGeom prst="ellipse">
            <a:avLst/>
          </a:prstGeom>
        </p:spPr>
      </p:pic>
      <p:sp>
        <p:nvSpPr>
          <p:cNvPr id="11" name="Text 6"/>
          <p:cNvSpPr/>
          <p:nvPr/>
        </p:nvSpPr>
        <p:spPr>
          <a:xfrm>
            <a:off x="4490618" y="3246120"/>
            <a:ext cx="3210458"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Sarah</a:t>
            </a:r>
            <a:endParaRPr lang="en-US" sz="1500" dirty="0"/>
          </a:p>
        </p:txBody>
      </p:sp>
      <p:sp>
        <p:nvSpPr>
          <p:cNvPr id="12" name="Text 7"/>
          <p:cNvSpPr/>
          <p:nvPr/>
        </p:nvSpPr>
        <p:spPr>
          <a:xfrm>
            <a:off x="4582058" y="3566160"/>
            <a:ext cx="3027578" cy="457200"/>
          </a:xfrm>
          <a:prstGeom prst="rect">
            <a:avLst/>
          </a:prstGeom>
          <a:noFill/>
          <a:ln/>
        </p:spPr>
        <p:txBody>
          <a:bodyPr wrap="square" lIns="0" tIns="0" rIns="0" bIns="0" rtlCol="0" anchor="t">
            <a:normAutofit/>
          </a:bodyPr>
          <a:lstStyle/>
          <a:p>
            <a:pPr algn="ctr" indent="0" marL="0">
              <a:buNone/>
            </a:pPr>
            <a:r>
              <a:rPr lang="en-US" sz="1050" dirty="0">
                <a:solidFill>
                  <a:srgbClr val="CFE0F5"/>
                </a:solidFill>
                <a:latin typeface="Segoe UI" pitchFamily="34" charset="0"/>
                <a:ea typeface="Segoe UI" pitchFamily="34" charset="-122"/>
                <a:cs typeface="Segoe UI" pitchFamily="34" charset="-120"/>
              </a:rPr>
              <a:t>the commissioner who calls off</a:t>
            </a:r>
            <a:endParaRPr lang="en-US" sz="1050" dirty="0"/>
          </a:p>
        </p:txBody>
      </p:sp>
      <p:sp>
        <p:nvSpPr>
          <p:cNvPr id="13" name="Shape 8"/>
          <p:cNvSpPr/>
          <p:nvPr/>
        </p:nvSpPr>
        <p:spPr>
          <a:xfrm>
            <a:off x="8460486" y="1508760"/>
            <a:ext cx="1691640" cy="1691640"/>
          </a:xfrm>
          <a:prstGeom prst="ellipse">
            <a:avLst/>
          </a:prstGeom>
          <a:solidFill>
            <a:srgbClr val="FFFFFF"/>
          </a:solidFill>
          <a:ln w="12700">
            <a:solidFill>
              <a:srgbClr val="FFFFFF"/>
            </a:solidFill>
            <a:prstDash val="solid"/>
          </a:ln>
        </p:spPr>
      </p:sp>
      <p:pic>
        <p:nvPicPr>
          <p:cNvPr id="14" name="Image 3" descr="/sessions/quirky-zen-galileo/mnt/NHS/07 Sites &amp; Repos/dtx-ecosystem/hearts-and-minds/_generators/assets/portraits/david.jpg">    </p:cNvPr>
          <p:cNvPicPr>
            <a:picLocks noChangeAspect="1"/>
          </p:cNvPicPr>
          <p:nvPr/>
        </p:nvPicPr>
        <p:blipFill>
          <a:blip r:embed="rId4"/>
          <a:stretch>
            <a:fillRect/>
          </a:stretch>
        </p:blipFill>
        <p:spPr>
          <a:xfrm>
            <a:off x="8506206" y="1554480"/>
            <a:ext cx="1600200" cy="1600200"/>
          </a:xfrm>
          <a:prstGeom prst="ellipse">
            <a:avLst/>
          </a:prstGeom>
        </p:spPr>
      </p:pic>
      <p:sp>
        <p:nvSpPr>
          <p:cNvPr id="15" name="Text 9"/>
          <p:cNvSpPr/>
          <p:nvPr/>
        </p:nvSpPr>
        <p:spPr>
          <a:xfrm>
            <a:off x="7701077" y="3246120"/>
            <a:ext cx="3210458"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David</a:t>
            </a:r>
            <a:endParaRPr lang="en-US" sz="1500" dirty="0"/>
          </a:p>
        </p:txBody>
      </p:sp>
      <p:sp>
        <p:nvSpPr>
          <p:cNvPr id="16" name="Text 10"/>
          <p:cNvSpPr/>
          <p:nvPr/>
        </p:nvSpPr>
        <p:spPr>
          <a:xfrm>
            <a:off x="7792517" y="3566160"/>
            <a:ext cx="3027578" cy="457200"/>
          </a:xfrm>
          <a:prstGeom prst="rect">
            <a:avLst/>
          </a:prstGeom>
          <a:noFill/>
          <a:ln/>
        </p:spPr>
        <p:txBody>
          <a:bodyPr wrap="square" lIns="0" tIns="0" rIns="0" bIns="0" rtlCol="0" anchor="t">
            <a:normAutofit/>
          </a:bodyPr>
          <a:lstStyle/>
          <a:p>
            <a:pPr algn="ctr" indent="0" marL="0">
              <a:buNone/>
            </a:pPr>
            <a:r>
              <a:rPr lang="en-US" sz="1050" dirty="0">
                <a:solidFill>
                  <a:srgbClr val="CFE0F5"/>
                </a:solidFill>
                <a:latin typeface="Segoe UI" pitchFamily="34" charset="0"/>
                <a:ea typeface="Segoe UI" pitchFamily="34" charset="-122"/>
                <a:cs typeface="Segoe UI" pitchFamily="34" charset="-120"/>
              </a:rPr>
              <a:t>the commercial lead who sets the terms</a:t>
            </a:r>
            <a:endParaRPr lang="en-US" sz="1050" dirty="0"/>
          </a:p>
        </p:txBody>
      </p:sp>
      <p:sp>
        <p:nvSpPr>
          <p:cNvPr id="17" name="Text 11"/>
          <p:cNvSpPr/>
          <p:nvPr/>
        </p:nvSpPr>
        <p:spPr>
          <a:xfrm>
            <a:off x="822960" y="4343400"/>
            <a:ext cx="10545775" cy="1005840"/>
          </a:xfrm>
          <a:prstGeom prst="rect">
            <a:avLst/>
          </a:prstGeom>
          <a:noFill/>
          <a:ln/>
        </p:spPr>
        <p:txBody>
          <a:bodyPr wrap="square" lIns="0" tIns="0" rIns="0" bIns="0" rtlCol="0" anchor="ctr">
            <a:normAutofit/>
          </a:bodyPr>
          <a:lstStyle/>
          <a:p>
            <a:pPr algn="ctr" indent="0" marL="0">
              <a:buNone/>
            </a:pPr>
            <a:r>
              <a:rPr lang="en-US" sz="2800" b="1" dirty="0">
                <a:solidFill>
                  <a:srgbClr val="FFD66B"/>
                </a:solidFill>
                <a:latin typeface="Segoe UI" pitchFamily="34" charset="0"/>
                <a:ea typeface="Segoe UI" pitchFamily="34" charset="-122"/>
                <a:cs typeface="Segoe UI" pitchFamily="34" charset="-120"/>
              </a:rPr>
              <a:t>One assurance pass. Every commissioner in England, on the same terms.</a:t>
            </a:r>
            <a:endParaRPr lang="en-US" sz="2800" dirty="0"/>
          </a:p>
        </p:txBody>
      </p:sp>
      <p:sp>
        <p:nvSpPr>
          <p:cNvPr id="18" name="Text 12"/>
          <p:cNvSpPr/>
          <p:nvPr/>
        </p:nvSpPr>
        <p:spPr>
          <a:xfrm>
            <a:off x="822960" y="5394960"/>
            <a:ext cx="10545775" cy="457200"/>
          </a:xfrm>
          <a:prstGeom prst="rect">
            <a:avLst/>
          </a:prstGeom>
          <a:noFill/>
          <a:ln/>
        </p:spPr>
        <p:txBody>
          <a:bodyPr wrap="square" lIns="0" tIns="0" rIns="0" bIns="0" rtlCol="0" anchor="ctr"/>
          <a:lstStyle/>
          <a:p>
            <a:pPr algn="ctr" indent="0" marL="0">
              <a:buNone/>
            </a:pPr>
            <a:r>
              <a:rPr lang="en-US" sz="1500" dirty="0">
                <a:solidFill>
                  <a:srgbClr val="CFE0F5"/>
                </a:solidFill>
                <a:latin typeface="Segoe UI" pitchFamily="34" charset="0"/>
                <a:ea typeface="Segoe UI" pitchFamily="34" charset="-122"/>
                <a:cs typeface="Segoe UI" pitchFamily="34" charset="-120"/>
              </a:rPr>
              <a:t>Built around people. Bought without pain. Live today.</a:t>
            </a:r>
            <a:endParaRPr lang="en-US" sz="1500" dirty="0"/>
          </a:p>
        </p:txBody>
      </p:sp>
      <p:sp>
        <p:nvSpPr>
          <p:cNvPr id="19" name="Text 13"/>
          <p:cNvSpPr/>
          <p:nvPr/>
        </p:nvSpPr>
        <p:spPr>
          <a:xfrm>
            <a:off x="548640" y="6473952"/>
            <a:ext cx="5943600" cy="274320"/>
          </a:xfrm>
          <a:prstGeom prst="rect">
            <a:avLst/>
          </a:prstGeom>
          <a:noFill/>
          <a:ln/>
        </p:spPr>
        <p:txBody>
          <a:bodyPr wrap="square" lIns="0" tIns="0" rIns="0" bIns="0" rtlCol="0" anchor="ctr">
            <a:normAutofit/>
          </a:bodyPr>
          <a:lstStyle/>
          <a:p>
            <a:pPr indent="0" marL="0">
              <a:buNone/>
            </a:pPr>
            <a:r>
              <a:rPr lang="en-US" sz="800" dirty="0">
                <a:solidFill>
                  <a:srgbClr val="9FB6D9"/>
                </a:solidFill>
                <a:latin typeface="Segoe UI" pitchFamily="34" charset="0"/>
                <a:ea typeface="Segoe UI" pitchFamily="34" charset="-122"/>
                <a:cs typeface="Segoe UI" pitchFamily="34" charset="-120"/>
              </a:rPr>
              <a:t>Hearts and Minds · audience deck No.5 · Supplier edition · proof-of-concept draft · September 2026</a:t>
            </a:r>
            <a:endParaRPr lang="en-US" sz="800" dirty="0"/>
          </a:p>
        </p:txBody>
      </p:sp>
      <p:sp>
        <p:nvSpPr>
          <p:cNvPr id="20" name="Text 14"/>
          <p:cNvSpPr/>
          <p:nvPr/>
        </p:nvSpPr>
        <p:spPr>
          <a:xfrm>
            <a:off x="6309360" y="6473952"/>
            <a:ext cx="4876495" cy="274320"/>
          </a:xfrm>
          <a:prstGeom prst="rect">
            <a:avLst/>
          </a:prstGeom>
          <a:noFill/>
          <a:ln/>
        </p:spPr>
        <p:txBody>
          <a:bodyPr wrap="square" lIns="0" tIns="0" rIns="0" bIns="0" rtlCol="0" anchor="ctr">
            <a:normAutofit/>
          </a:bodyPr>
          <a:lstStyle/>
          <a:p>
            <a:pPr algn="r" indent="0" marL="0">
              <a:buNone/>
            </a:pPr>
            <a:r>
              <a:rPr lang="en-US" sz="800" dirty="0">
                <a:solidFill>
                  <a:srgbClr val="9FB6D9"/>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21" name="Text 15"/>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9FB6D9"/>
                </a:solidFill>
                <a:latin typeface="Segoe UI" pitchFamily="34" charset="0"/>
                <a:ea typeface="Segoe UI" pitchFamily="34" charset="-122"/>
                <a:cs typeface="Segoe UI" pitchFamily="34" charset="-120"/>
              </a:rPr>
              <a:t>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Hearts and Minds No.5 Supplier edition: Assured once. Sold many times.</dc:title>
  <dc:subject>PptxGenJS Presentation</dc:subject>
  <dc:creator>HomeTest Commercial</dc:creator>
  <cp:lastModifiedBy>HomeTest Commercial</cp:lastModifiedBy>
  <cp:revision>1</cp:revision>
  <dcterms:created xsi:type="dcterms:W3CDTF">2026-09-05T10:52:51Z</dcterms:created>
  <dcterms:modified xsi:type="dcterms:W3CDTF">2026-09-05T10:52:51Z</dcterms:modified>
</cp:coreProperties>
</file>