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A4D"/>
        </a:solidFill>
      </p:bgPr>
    </p:bg>
    <p:spTree>
      <p:nvGrpSpPr>
        <p:cNvPr id="1" name=""/>
        <p:cNvGrpSpPr/>
        <p:nvPr/>
      </p:nvGrpSpPr>
      <p:grpSpPr>
        <a:xfrm>
          <a:off x="0" y="0"/>
          <a:ext cx="0" cy="0"/>
          <a:chOff x="0" y="0"/>
          <a:chExt cx="0" cy="0"/>
        </a:xfrm>
      </p:grpSpPr>
      <p:sp>
        <p:nvSpPr>
          <p:cNvPr id="2" name="Shape 0"/>
          <p:cNvSpPr/>
          <p:nvPr/>
        </p:nvSpPr>
        <p:spPr>
          <a:xfrm>
            <a:off x="8076895" y="0"/>
            <a:ext cx="4114800" cy="6858000"/>
          </a:xfrm>
          <a:prstGeom prst="rect">
            <a:avLst/>
          </a:prstGeom>
          <a:solidFill>
            <a:srgbClr val="003087"/>
          </a:solidFill>
          <a:ln w="12700">
            <a:solidFill>
              <a:srgbClr val="003087"/>
            </a:solidFill>
            <a:prstDash val="solid"/>
          </a:ln>
        </p:spPr>
      </p:sp>
      <p:pic>
        <p:nvPicPr>
          <p:cNvPr id="3" name="Image 0" descr="/tmp/ppt-build/nhs-logo.jpg">    </p:cNvPr>
          <p:cNvPicPr>
            <a:picLocks noChangeAspect="1"/>
          </p:cNvPicPr>
          <p:nvPr/>
        </p:nvPicPr>
        <p:blipFill>
          <a:blip r:embed="rId1"/>
          <a:stretch>
            <a:fillRect/>
          </a:stretch>
        </p:blipFill>
        <p:spPr>
          <a:xfrm>
            <a:off x="10545775" y="457200"/>
            <a:ext cx="1188720" cy="932688"/>
          </a:xfrm>
          <a:prstGeom prst="rect">
            <a:avLst/>
          </a:prstGeom>
        </p:spPr>
      </p:pic>
      <p:sp>
        <p:nvSpPr>
          <p:cNvPr id="4" name="Shape 1"/>
          <p:cNvSpPr/>
          <p:nvPr/>
        </p:nvSpPr>
        <p:spPr>
          <a:xfrm>
            <a:off x="548640" y="1097280"/>
            <a:ext cx="822960" cy="54864"/>
          </a:xfrm>
          <a:prstGeom prst="rect">
            <a:avLst/>
          </a:prstGeom>
          <a:solidFill>
            <a:srgbClr val="FFD66B"/>
          </a:solidFill>
          <a:ln w="12700">
            <a:solidFill>
              <a:srgbClr val="FFD66B"/>
            </a:solidFill>
            <a:prstDash val="solid"/>
          </a:ln>
        </p:spPr>
      </p:sp>
      <p:sp>
        <p:nvSpPr>
          <p:cNvPr id="5" name="Text 2"/>
          <p:cNvSpPr/>
          <p:nvPr/>
        </p:nvSpPr>
        <p:spPr>
          <a:xfrm>
            <a:off x="548640" y="1325880"/>
            <a:ext cx="7315200" cy="32004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DTX OPERATING MODEL  ·  SALES PACK</a:t>
            </a:r>
            <a:endParaRPr lang="en-US" sz="1100" dirty="0"/>
          </a:p>
        </p:txBody>
      </p:sp>
      <p:sp>
        <p:nvSpPr>
          <p:cNvPr id="6" name="Text 3"/>
          <p:cNvSpPr/>
          <p:nvPr/>
        </p:nvSpPr>
        <p:spPr>
          <a:xfrm>
            <a:off x="548640" y="1691640"/>
            <a:ext cx="7315200" cy="320040"/>
          </a:xfrm>
          <a:prstGeom prst="rect">
            <a:avLst/>
          </a:prstGeom>
          <a:noFill/>
          <a:ln/>
        </p:spPr>
        <p:txBody>
          <a:bodyPr wrap="square" rtlCol="0" anchor="ctr"/>
          <a:lstStyle/>
          <a:p>
            <a:pPr indent="0" marL="0">
              <a:buNone/>
            </a:pPr>
            <a:r>
              <a:rPr lang="en-US" sz="1000" b="1" spc="100" kern="0" dirty="0">
                <a:solidFill>
                  <a:srgbClr val="FFFFFF"/>
                </a:solidFill>
                <a:latin typeface="Abadi" pitchFamily="34" charset="0"/>
                <a:ea typeface="Abadi" pitchFamily="34" charset="-122"/>
                <a:cs typeface="Abadi" pitchFamily="34" charset="-120"/>
              </a:rPr>
              <a:t>PATIENT GROUP</a:t>
            </a:r>
            <a:endParaRPr lang="en-US" sz="1000" dirty="0"/>
          </a:p>
        </p:txBody>
      </p:sp>
      <p:sp>
        <p:nvSpPr>
          <p:cNvPr id="7" name="Text 4"/>
          <p:cNvSpPr/>
          <p:nvPr/>
        </p:nvSpPr>
        <p:spPr>
          <a:xfrm>
            <a:off x="548640" y="2286000"/>
            <a:ext cx="7772400" cy="2011680"/>
          </a:xfrm>
          <a:prstGeom prst="rect">
            <a:avLst/>
          </a:prstGeom>
          <a:noFill/>
          <a:ln/>
        </p:spPr>
        <p:txBody>
          <a:bodyPr wrap="square" rtlCol="0" anchor="t"/>
          <a:lstStyle/>
          <a:p>
            <a:pPr indent="0" marL="0">
              <a:buNone/>
            </a:pPr>
            <a:r>
              <a:rPr lang="en-US" sz="4400" b="1" dirty="0">
                <a:solidFill>
                  <a:srgbClr val="FFFFFF"/>
                </a:solidFill>
                <a:latin typeface="Abadi" pitchFamily="34" charset="0"/>
                <a:ea typeface="Abadi" pitchFamily="34" charset="-122"/>
                <a:cs typeface="Abadi" pitchFamily="34" charset="-120"/>
              </a:rPr>
              <a:t>Care that meets you where you are.</a:t>
            </a:r>
            <a:endParaRPr lang="en-US" sz="4400" dirty="0"/>
          </a:p>
        </p:txBody>
      </p:sp>
      <p:sp>
        <p:nvSpPr>
          <p:cNvPr id="8" name="Text 5"/>
          <p:cNvSpPr/>
          <p:nvPr/>
        </p:nvSpPr>
        <p:spPr>
          <a:xfrm>
            <a:off x="548640" y="4572000"/>
            <a:ext cx="7772400" cy="1463040"/>
          </a:xfrm>
          <a:prstGeom prst="rect">
            <a:avLst/>
          </a:prstGeom>
          <a:noFill/>
          <a:ln/>
        </p:spPr>
        <p:txBody>
          <a:bodyPr wrap="square" rtlCol="0" anchor="t"/>
          <a:lstStyle/>
          <a:p>
            <a:pPr indent="0" marL="0">
              <a:buNone/>
            </a:pPr>
            <a:r>
              <a:rPr lang="en-US" sz="1700" dirty="0">
                <a:solidFill>
                  <a:srgbClr val="7EC8E3"/>
                </a:solidFill>
                <a:latin typeface="Abadi" pitchFamily="34" charset="0"/>
                <a:ea typeface="Abadi" pitchFamily="34" charset="-122"/>
                <a:cs typeface="Abadi" pitchFamily="34" charset="-120"/>
              </a:rPr>
              <a:t>One operating model. Three workstreams. Built around real people. A story for patients and the groups who represent them.</a:t>
            </a:r>
            <a:endParaRPr lang="en-US" sz="1700" dirty="0"/>
          </a:p>
        </p:txBody>
      </p:sp>
      <p:sp>
        <p:nvSpPr>
          <p:cNvPr id="9" name="Text 6"/>
          <p:cNvSpPr/>
          <p:nvPr/>
        </p:nvSpPr>
        <p:spPr>
          <a:xfrm>
            <a:off x="548640" y="6217920"/>
            <a:ext cx="8229600" cy="274320"/>
          </a:xfrm>
          <a:prstGeom prst="rect">
            <a:avLst/>
          </a:prstGeom>
          <a:noFill/>
          <a:ln/>
        </p:spPr>
        <p:txBody>
          <a:bodyPr wrap="square" rtlCol="0" anchor="ctr"/>
          <a:lstStyle/>
          <a:p>
            <a:pPr indent="0" marL="0">
              <a:buNone/>
            </a:pPr>
            <a:r>
              <a:rPr lang="en-US" sz="900" i="1" spc="100" kern="0" dirty="0">
                <a:solidFill>
                  <a:srgbClr val="AABBD0"/>
                </a:solidFill>
                <a:latin typeface="Abadi" pitchFamily="34" charset="0"/>
                <a:ea typeface="Abadi" pitchFamily="34" charset="-122"/>
                <a:cs typeface="Abadi" pitchFamily="34" charset="-120"/>
              </a:rPr>
              <a:t>Digital Therapeutics  ·  HomeTest  ·  HealthStore  ·  HealthSync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3087"/>
          </a:solidFill>
          <a:ln w="12700">
            <a:solidFill>
              <a:srgbClr val="003087"/>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THE REALITY</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6858000" cy="1371600"/>
          </a:xfrm>
          <a:prstGeom prst="rect">
            <a:avLst/>
          </a:prstGeom>
          <a:noFill/>
          <a:ln/>
        </p:spPr>
        <p:txBody>
          <a:bodyPr wrap="square" rtlCol="0" anchor="t"/>
          <a:lstStyle/>
          <a:p>
            <a:pPr indent="0" marL="0">
              <a:buNone/>
            </a:pPr>
            <a:r>
              <a:rPr lang="en-US" sz="3000" b="1" dirty="0">
                <a:solidFill>
                  <a:srgbClr val="001A4D"/>
                </a:solidFill>
                <a:latin typeface="Abadi" pitchFamily="34" charset="0"/>
                <a:ea typeface="Abadi" pitchFamily="34" charset="-122"/>
                <a:cs typeface="Abadi" pitchFamily="34" charset="-120"/>
              </a:rPr>
              <a:t>Three services. One health journey. None of them talking to each other.</a:t>
            </a:r>
            <a:endParaRPr lang="en-US" sz="3000" dirty="0"/>
          </a:p>
        </p:txBody>
      </p:sp>
      <p:sp>
        <p:nvSpPr>
          <p:cNvPr id="6" name="Text 4"/>
          <p:cNvSpPr/>
          <p:nvPr/>
        </p:nvSpPr>
        <p:spPr>
          <a:xfrm>
            <a:off x="548640" y="2468880"/>
            <a:ext cx="6858000" cy="3657600"/>
          </a:xfrm>
          <a:prstGeom prst="rect">
            <a:avLst/>
          </a:prstGeom>
          <a:noFill/>
          <a:ln/>
        </p:spPr>
        <p:txBody>
          <a:bodyPr wrap="square" rtlCol="0" anchor="t"/>
          <a:lstStyle/>
          <a:p>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For most patients, what is meant to be one health journey arrives as three separate experiences.</a:t>
            </a:r>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A blood test from one route. An app from another. A wearable from a third. Different logins, different consent forms, different conversations with different care teams.</a:t>
            </a:r>
            <a:pPr indent="0" marL="0">
              <a:lnSpc>
                <a:spcPct val="130000"/>
              </a:lnSpc>
              <a:spcAft>
                <a:spcPts val="800"/>
              </a:spcAft>
              <a:buNone/>
            </a:pPr>
            <a:r>
              <a:rPr lang="en-US" sz="1400" b="1" dirty="0">
                <a:solidFill>
                  <a:srgbClr val="001A4D"/>
                </a:solidFill>
                <a:latin typeface="Abadi" pitchFamily="34" charset="0"/>
                <a:ea typeface="Abadi" pitchFamily="34" charset="-122"/>
                <a:cs typeface="Abadi" pitchFamily="34" charset="-120"/>
              </a:rPr>
              <a:t>The operating model is the answer to that fragmentation. The same patient, the same record, the same NHS App as the front door, across all three.</a:t>
            </a:r>
            <a:endParaRPr lang="en-US" sz="1400" dirty="0"/>
          </a:p>
        </p:txBody>
      </p:sp>
      <p:sp>
        <p:nvSpPr>
          <p:cNvPr id="7" name="Text 5"/>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Patient group</a:t>
            </a:r>
            <a:endParaRPr lang="en-US" sz="900" dirty="0"/>
          </a:p>
        </p:txBody>
      </p:sp>
      <p:sp>
        <p:nvSpPr>
          <p:cNvPr id="8" name="Text 6"/>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2 of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1A4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FFD66B"/>
                </a:solidFill>
                <a:latin typeface="Abadi" pitchFamily="34" charset="0"/>
                <a:ea typeface="Abadi" pitchFamily="34" charset="-122"/>
                <a:cs typeface="Abadi" pitchFamily="34" charset="-120"/>
              </a:rPr>
              <a:t>MEET ERROL</a:t>
            </a:r>
            <a:endParaRPr lang="en-US" sz="1000" dirty="0"/>
          </a:p>
        </p:txBody>
      </p:sp>
      <p:sp>
        <p:nvSpPr>
          <p:cNvPr id="4" name="Text 2"/>
          <p:cNvSpPr/>
          <p:nvPr/>
        </p:nvSpPr>
        <p:spPr>
          <a:xfrm>
            <a:off x="548640" y="777240"/>
            <a:ext cx="7772400" cy="731520"/>
          </a:xfrm>
          <a:prstGeom prst="rect">
            <a:avLst/>
          </a:prstGeom>
          <a:noFill/>
          <a:ln/>
        </p:spPr>
        <p:txBody>
          <a:bodyPr wrap="square" rtlCol="0" anchor="t"/>
          <a:lstStyle/>
          <a:p>
            <a:pPr indent="0" marL="0">
              <a:buNone/>
            </a:pPr>
            <a:r>
              <a:rPr lang="en-US" sz="2000" b="1" dirty="0">
                <a:solidFill>
                  <a:srgbClr val="FFFFFF"/>
                </a:solidFill>
                <a:latin typeface="Abadi" pitchFamily="34" charset="0"/>
                <a:ea typeface="Abadi" pitchFamily="34" charset="-122"/>
                <a:cs typeface="Abadi" pitchFamily="34" charset="-120"/>
              </a:rPr>
              <a:t>Hypertension. Fifty-six. Two grown daughters. No symptoms that morning.</a:t>
            </a:r>
            <a:endParaRPr lang="en-US" sz="2000" dirty="0"/>
          </a:p>
        </p:txBody>
      </p:sp>
      <p:pic>
        <p:nvPicPr>
          <p:cNvPr id="5" name="Image 0" descr="/tmp/ppt-build/errol.png">    </p:cNvPr>
          <p:cNvPicPr>
            <a:picLocks noChangeAspect="1"/>
          </p:cNvPicPr>
          <p:nvPr/>
        </p:nvPicPr>
        <p:blipFill>
          <a:blip r:embed="rId1"/>
          <a:stretch>
            <a:fillRect/>
          </a:stretch>
        </p:blipFill>
        <p:spPr>
          <a:xfrm>
            <a:off x="640080" y="1828800"/>
            <a:ext cx="3017520" cy="3017520"/>
          </a:xfrm>
          <a:prstGeom prst="rect">
            <a:avLst/>
          </a:prstGeom>
        </p:spPr>
      </p:pic>
      <p:sp>
        <p:nvSpPr>
          <p:cNvPr id="6" name="Shape 3"/>
          <p:cNvSpPr/>
          <p:nvPr/>
        </p:nvSpPr>
        <p:spPr>
          <a:xfrm>
            <a:off x="640080" y="4937760"/>
            <a:ext cx="1097280" cy="54864"/>
          </a:xfrm>
          <a:prstGeom prst="rect">
            <a:avLst/>
          </a:prstGeom>
          <a:solidFill>
            <a:srgbClr val="FFD66B"/>
          </a:solidFill>
          <a:ln w="12700">
            <a:solidFill>
              <a:srgbClr val="FFD66B"/>
            </a:solidFill>
            <a:prstDash val="solid"/>
          </a:ln>
        </p:spPr>
      </p:sp>
      <p:sp>
        <p:nvSpPr>
          <p:cNvPr id="7" name="Text 4"/>
          <p:cNvSpPr/>
          <p:nvPr/>
        </p:nvSpPr>
        <p:spPr>
          <a:xfrm>
            <a:off x="4114800" y="1737360"/>
            <a:ext cx="7498080" cy="4114800"/>
          </a:xfrm>
          <a:prstGeom prst="rect">
            <a:avLst/>
          </a:prstGeom>
          <a:noFill/>
          <a:ln/>
        </p:spPr>
        <p:txBody>
          <a:bodyPr wrap="square" rtlCol="0" anchor="t"/>
          <a:lstStyle/>
          <a:p>
            <a:pPr indent="0" marL="0">
              <a:lnSpc>
                <a:spcPct val="125000"/>
              </a:lnSpc>
              <a:buNone/>
            </a:pPr>
            <a:r>
              <a:rPr lang="en-US" sz="2200" i="1" dirty="0">
                <a:solidFill>
                  <a:srgbClr val="FFFFFF"/>
                </a:solidFill>
                <a:latin typeface="Abadi" pitchFamily="34" charset="0"/>
                <a:ea typeface="Abadi" pitchFamily="34" charset="-122"/>
                <a:cs typeface="Abadi" pitchFamily="34" charset="-120"/>
              </a:rPr>
              <a:t>“I felt fine. I had the cuff at home for the BP, I had the watch on my wrist, I had the app on my phone. None of those felt like much on their own. Then the GP called before I knew anything was wrong. That call was every one of them working at the same time.”</a:t>
            </a:r>
            <a:endParaRPr lang="en-US" sz="2200" dirty="0"/>
          </a:p>
        </p:txBody>
      </p:sp>
      <p:sp>
        <p:nvSpPr>
          <p:cNvPr id="8" name="Text 5"/>
          <p:cNvSpPr/>
          <p:nvPr/>
        </p:nvSpPr>
        <p:spPr>
          <a:xfrm>
            <a:off x="4114800" y="5212080"/>
            <a:ext cx="7498080" cy="36576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ERROL  ·  THE PATIENT WHO DID NOT HAVE TO EXPERIENCE THE OPERATING MODEL</a:t>
            </a:r>
            <a:endParaRPr lang="en-US" sz="1100" dirty="0"/>
          </a:p>
        </p:txBody>
      </p:sp>
      <p:sp>
        <p:nvSpPr>
          <p:cNvPr id="9" name="Text 6"/>
          <p:cNvSpPr/>
          <p:nvPr/>
        </p:nvSpPr>
        <p:spPr>
          <a:xfrm>
            <a:off x="548640" y="6355080"/>
            <a:ext cx="7315200" cy="274320"/>
          </a:xfrm>
          <a:prstGeom prst="rect">
            <a:avLst/>
          </a:prstGeom>
          <a:noFill/>
          <a:ln/>
        </p:spPr>
        <p:txBody>
          <a:bodyPr wrap="square" rtlCol="0" anchor="ctr"/>
          <a:lstStyle/>
          <a:p>
            <a:pPr indent="0" marL="0">
              <a:buNone/>
            </a:pPr>
            <a:r>
              <a:rPr lang="en-US" sz="900" i="1" dirty="0">
                <a:solidFill>
                  <a:srgbClr val="AABBD0"/>
                </a:solidFill>
                <a:latin typeface="Abadi" pitchFamily="34" charset="0"/>
                <a:ea typeface="Abadi" pitchFamily="34" charset="-122"/>
                <a:cs typeface="Abadi" pitchFamily="34" charset="-120"/>
              </a:rPr>
              <a:t>DTx Operating Model · Sales pack · Patient group</a:t>
            </a:r>
            <a:endParaRPr lang="en-US" sz="900" dirty="0"/>
          </a:p>
        </p:txBody>
      </p:sp>
      <p:sp>
        <p:nvSpPr>
          <p:cNvPr id="10" name="Text 7"/>
          <p:cNvSpPr/>
          <p:nvPr/>
        </p:nvSpPr>
        <p:spPr>
          <a:xfrm>
            <a:off x="11002975" y="6355080"/>
            <a:ext cx="914400" cy="274320"/>
          </a:xfrm>
          <a:prstGeom prst="rect">
            <a:avLst/>
          </a:prstGeom>
          <a:noFill/>
          <a:ln/>
        </p:spPr>
        <p:txBody>
          <a:bodyPr wrap="square" rtlCol="0" anchor="ctr"/>
          <a:lstStyle/>
          <a:p>
            <a:pPr algn="r" indent="0" marL="0">
              <a:buNone/>
            </a:pPr>
            <a:r>
              <a:rPr lang="en-US" sz="900" dirty="0">
                <a:solidFill>
                  <a:srgbClr val="AABBD0"/>
                </a:solidFill>
                <a:latin typeface="Abadi" pitchFamily="34" charset="0"/>
                <a:ea typeface="Abadi" pitchFamily="34" charset="-122"/>
                <a:cs typeface="Abadi" pitchFamily="34" charset="-120"/>
              </a:rPr>
              <a:t>3 of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3087"/>
          </a:solidFill>
          <a:ln w="12700">
            <a:solidFill>
              <a:srgbClr val="003087"/>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THE MORNING</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10972800" cy="914400"/>
          </a:xfrm>
          <a:prstGeom prst="rect">
            <a:avLst/>
          </a:prstGeom>
          <a:noFill/>
          <a:ln/>
        </p:spPr>
        <p:txBody>
          <a:bodyPr wrap="square" rtlCol="0" anchor="t"/>
          <a:lstStyle/>
          <a:p>
            <a:pPr indent="0" marL="0">
              <a:buNone/>
            </a:pPr>
            <a:r>
              <a:rPr lang="en-US" sz="2600" b="1" dirty="0">
                <a:solidFill>
                  <a:srgbClr val="001A4D"/>
                </a:solidFill>
                <a:latin typeface="Abadi" pitchFamily="34" charset="0"/>
                <a:ea typeface="Abadi" pitchFamily="34" charset="-122"/>
                <a:cs typeface="Abadi" pitchFamily="34" charset="-120"/>
              </a:rPr>
              <a:t>Three workstreams working at once, in a way Errol never had to think about.</a:t>
            </a:r>
            <a:endParaRPr lang="en-US" sz="2600" dirty="0"/>
          </a:p>
        </p:txBody>
      </p:sp>
      <p:sp>
        <p:nvSpPr>
          <p:cNvPr id="6" name="Shape 4"/>
          <p:cNvSpPr/>
          <p:nvPr/>
        </p:nvSpPr>
        <p:spPr>
          <a:xfrm>
            <a:off x="548640" y="2194560"/>
            <a:ext cx="3611880" cy="3657600"/>
          </a:xfrm>
          <a:prstGeom prst="rect">
            <a:avLst/>
          </a:prstGeom>
          <a:solidFill>
            <a:srgbClr val="F4F8FC"/>
          </a:solidFill>
          <a:ln w="6350">
            <a:solidFill>
              <a:srgbClr val="003087"/>
            </a:solidFill>
            <a:prstDash val="solid"/>
          </a:ln>
        </p:spPr>
      </p:sp>
      <p:sp>
        <p:nvSpPr>
          <p:cNvPr id="7" name="Text 5"/>
          <p:cNvSpPr/>
          <p:nvPr/>
        </p:nvSpPr>
        <p:spPr>
          <a:xfrm>
            <a:off x="777240" y="2423160"/>
            <a:ext cx="3154680" cy="32004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HEALTHSYNC  ·  THE WATCH</a:t>
            </a:r>
            <a:endParaRPr lang="en-US" sz="1000" dirty="0"/>
          </a:p>
        </p:txBody>
      </p:sp>
      <p:sp>
        <p:nvSpPr>
          <p:cNvPr id="8" name="Text 6"/>
          <p:cNvSpPr/>
          <p:nvPr/>
        </p:nvSpPr>
        <p:spPr>
          <a:xfrm>
            <a:off x="777240" y="2788920"/>
            <a:ext cx="3154680" cy="822960"/>
          </a:xfrm>
          <a:prstGeom prst="rect">
            <a:avLst/>
          </a:prstGeom>
          <a:noFill/>
          <a:ln/>
        </p:spPr>
        <p:txBody>
          <a:bodyPr wrap="square" rtlCol="0" anchor="t"/>
          <a:lstStyle/>
          <a:p>
            <a:pPr indent="0" marL="0">
              <a:buNone/>
            </a:pPr>
            <a:r>
              <a:rPr lang="en-US" sz="1600" b="1" dirty="0">
                <a:solidFill>
                  <a:srgbClr val="001A4D"/>
                </a:solidFill>
                <a:latin typeface="Abadi" pitchFamily="34" charset="0"/>
                <a:ea typeface="Abadi" pitchFamily="34" charset="-122"/>
                <a:cs typeface="Abadi" pitchFamily="34" charset="-120"/>
              </a:rPr>
              <a:t>The wearable caught the signal</a:t>
            </a:r>
            <a:endParaRPr lang="en-US" sz="1600" dirty="0"/>
          </a:p>
        </p:txBody>
      </p:sp>
      <p:sp>
        <p:nvSpPr>
          <p:cNvPr id="9" name="Text 7"/>
          <p:cNvSpPr/>
          <p:nvPr/>
        </p:nvSpPr>
        <p:spPr>
          <a:xfrm>
            <a:off x="777240" y="3703320"/>
            <a:ext cx="3154680" cy="1965960"/>
          </a:xfrm>
          <a:prstGeom prst="rect">
            <a:avLst/>
          </a:prstGeom>
          <a:noFill/>
          <a:ln/>
        </p:spPr>
        <p:txBody>
          <a:bodyPr wrap="square" rtlCol="0" anchor="t"/>
          <a:lstStyle/>
          <a:p>
            <a:pPr indent="0" marL="0">
              <a:lnSpc>
                <a:spcPct val="130000"/>
              </a:lnSpc>
              <a:buNone/>
            </a:pPr>
            <a:r>
              <a:rPr lang="en-US" sz="1100" dirty="0">
                <a:solidFill>
                  <a:srgbClr val="231F20"/>
                </a:solidFill>
                <a:latin typeface="Abadi" pitchFamily="34" charset="0"/>
                <a:ea typeface="Abadi" pitchFamily="34" charset="-122"/>
                <a:cs typeface="Abadi" pitchFamily="34" charset="-120"/>
              </a:rPr>
              <a:t>A subtle pattern shift in Errol’s resting heart rate and the way it lined up with his BP readings was the early flag. The watch did the watching. The GP got the alert.</a:t>
            </a:r>
            <a:endParaRPr lang="en-US" sz="1100" dirty="0"/>
          </a:p>
        </p:txBody>
      </p:sp>
      <p:sp>
        <p:nvSpPr>
          <p:cNvPr id="10" name="Shape 8"/>
          <p:cNvSpPr/>
          <p:nvPr/>
        </p:nvSpPr>
        <p:spPr>
          <a:xfrm>
            <a:off x="4343400" y="2194560"/>
            <a:ext cx="3611880" cy="3657600"/>
          </a:xfrm>
          <a:prstGeom prst="rect">
            <a:avLst/>
          </a:prstGeom>
          <a:solidFill>
            <a:srgbClr val="F4F8FC"/>
          </a:solidFill>
          <a:ln w="6350">
            <a:solidFill>
              <a:srgbClr val="003087"/>
            </a:solidFill>
            <a:prstDash val="solid"/>
          </a:ln>
        </p:spPr>
      </p:sp>
      <p:sp>
        <p:nvSpPr>
          <p:cNvPr id="11" name="Text 9"/>
          <p:cNvSpPr/>
          <p:nvPr/>
        </p:nvSpPr>
        <p:spPr>
          <a:xfrm>
            <a:off x="4572000" y="2423160"/>
            <a:ext cx="3154680" cy="32004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HOMETEST  ·  THE KIT</a:t>
            </a:r>
            <a:endParaRPr lang="en-US" sz="1000" dirty="0"/>
          </a:p>
        </p:txBody>
      </p:sp>
      <p:sp>
        <p:nvSpPr>
          <p:cNvPr id="12" name="Text 10"/>
          <p:cNvSpPr/>
          <p:nvPr/>
        </p:nvSpPr>
        <p:spPr>
          <a:xfrm>
            <a:off x="4572000" y="2788920"/>
            <a:ext cx="3154680" cy="822960"/>
          </a:xfrm>
          <a:prstGeom prst="rect">
            <a:avLst/>
          </a:prstGeom>
          <a:noFill/>
          <a:ln/>
        </p:spPr>
        <p:txBody>
          <a:bodyPr wrap="square" rtlCol="0" anchor="t"/>
          <a:lstStyle/>
          <a:p>
            <a:pPr indent="0" marL="0">
              <a:buNone/>
            </a:pPr>
            <a:r>
              <a:rPr lang="en-US" sz="1600" b="1" dirty="0">
                <a:solidFill>
                  <a:srgbClr val="001A4D"/>
                </a:solidFill>
                <a:latin typeface="Abadi" pitchFamily="34" charset="0"/>
                <a:ea typeface="Abadi" pitchFamily="34" charset="-122"/>
                <a:cs typeface="Abadi" pitchFamily="34" charset="-120"/>
              </a:rPr>
              <a:t>Bloods at home, fast turnaround</a:t>
            </a:r>
            <a:endParaRPr lang="en-US" sz="1600" dirty="0"/>
          </a:p>
        </p:txBody>
      </p:sp>
      <p:sp>
        <p:nvSpPr>
          <p:cNvPr id="13" name="Text 11"/>
          <p:cNvSpPr/>
          <p:nvPr/>
        </p:nvSpPr>
        <p:spPr>
          <a:xfrm>
            <a:off x="4572000" y="3703320"/>
            <a:ext cx="3154680" cy="1965960"/>
          </a:xfrm>
          <a:prstGeom prst="rect">
            <a:avLst/>
          </a:prstGeom>
          <a:noFill/>
          <a:ln/>
        </p:spPr>
        <p:txBody>
          <a:bodyPr wrap="square" rtlCol="0" anchor="t"/>
          <a:lstStyle/>
          <a:p>
            <a:pPr indent="0" marL="0">
              <a:lnSpc>
                <a:spcPct val="130000"/>
              </a:lnSpc>
              <a:buNone/>
            </a:pPr>
            <a:r>
              <a:rPr lang="en-US" sz="1100" dirty="0">
                <a:solidFill>
                  <a:srgbClr val="231F20"/>
                </a:solidFill>
                <a:latin typeface="Abadi" pitchFamily="34" charset="0"/>
                <a:ea typeface="Abadi" pitchFamily="34" charset="-122"/>
                <a:cs typeface="Abadi" pitchFamily="34" charset="-120"/>
              </a:rPr>
              <a:t>A test kit on the doorstep two days later. Kidney function, lipids, HbA1c. Result in the record. No surgery visit needed to confirm what the data already suggested.</a:t>
            </a:r>
            <a:endParaRPr lang="en-US" sz="1100" dirty="0"/>
          </a:p>
        </p:txBody>
      </p:sp>
      <p:sp>
        <p:nvSpPr>
          <p:cNvPr id="14" name="Shape 12"/>
          <p:cNvSpPr/>
          <p:nvPr/>
        </p:nvSpPr>
        <p:spPr>
          <a:xfrm>
            <a:off x="8138160" y="2194560"/>
            <a:ext cx="3611880" cy="3657600"/>
          </a:xfrm>
          <a:prstGeom prst="rect">
            <a:avLst/>
          </a:prstGeom>
          <a:solidFill>
            <a:srgbClr val="F4F8FC"/>
          </a:solidFill>
          <a:ln w="6350">
            <a:solidFill>
              <a:srgbClr val="003087"/>
            </a:solidFill>
            <a:prstDash val="solid"/>
          </a:ln>
        </p:spPr>
      </p:sp>
      <p:sp>
        <p:nvSpPr>
          <p:cNvPr id="15" name="Text 13"/>
          <p:cNvSpPr/>
          <p:nvPr/>
        </p:nvSpPr>
        <p:spPr>
          <a:xfrm>
            <a:off x="8366760" y="2423160"/>
            <a:ext cx="3154680" cy="32004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HEALTHSTORE  ·  THE SUPPORT</a:t>
            </a:r>
            <a:endParaRPr lang="en-US" sz="1000" dirty="0"/>
          </a:p>
        </p:txBody>
      </p:sp>
      <p:sp>
        <p:nvSpPr>
          <p:cNvPr id="16" name="Text 14"/>
          <p:cNvSpPr/>
          <p:nvPr/>
        </p:nvSpPr>
        <p:spPr>
          <a:xfrm>
            <a:off x="8366760" y="2788920"/>
            <a:ext cx="3154680" cy="822960"/>
          </a:xfrm>
          <a:prstGeom prst="rect">
            <a:avLst/>
          </a:prstGeom>
          <a:noFill/>
          <a:ln/>
        </p:spPr>
        <p:txBody>
          <a:bodyPr wrap="square" rtlCol="0" anchor="t"/>
          <a:lstStyle/>
          <a:p>
            <a:pPr indent="0" marL="0">
              <a:buNone/>
            </a:pPr>
            <a:r>
              <a:rPr lang="en-US" sz="1600" b="1" dirty="0">
                <a:solidFill>
                  <a:srgbClr val="001A4D"/>
                </a:solidFill>
                <a:latin typeface="Abadi" pitchFamily="34" charset="0"/>
                <a:ea typeface="Abadi" pitchFamily="34" charset="-122"/>
                <a:cs typeface="Abadi" pitchFamily="34" charset="-120"/>
              </a:rPr>
              <a:t>A digital therapeutic alongside the medication</a:t>
            </a:r>
            <a:endParaRPr lang="en-US" sz="1600" dirty="0"/>
          </a:p>
        </p:txBody>
      </p:sp>
      <p:sp>
        <p:nvSpPr>
          <p:cNvPr id="17" name="Text 15"/>
          <p:cNvSpPr/>
          <p:nvPr/>
        </p:nvSpPr>
        <p:spPr>
          <a:xfrm>
            <a:off x="8366760" y="3703320"/>
            <a:ext cx="3154680" cy="1965960"/>
          </a:xfrm>
          <a:prstGeom prst="rect">
            <a:avLst/>
          </a:prstGeom>
          <a:noFill/>
          <a:ln/>
        </p:spPr>
        <p:txBody>
          <a:bodyPr wrap="square" rtlCol="0" anchor="t"/>
          <a:lstStyle/>
          <a:p>
            <a:pPr indent="0" marL="0">
              <a:lnSpc>
                <a:spcPct val="130000"/>
              </a:lnSpc>
              <a:buNone/>
            </a:pPr>
            <a:r>
              <a:rPr lang="en-US" sz="1100" dirty="0">
                <a:solidFill>
                  <a:srgbClr val="231F20"/>
                </a:solidFill>
                <a:latin typeface="Abadi" pitchFamily="34" charset="0"/>
                <a:ea typeface="Abadi" pitchFamily="34" charset="-122"/>
                <a:cs typeface="Abadi" pitchFamily="34" charset="-120"/>
              </a:rPr>
              <a:t>Reminders, breathing exercises, the supported behaviour change that makes the medication land. Prescribed normally, accessed through the NHS App he was already using.</a:t>
            </a:r>
            <a:endParaRPr lang="en-US" sz="1100" dirty="0"/>
          </a:p>
        </p:txBody>
      </p:sp>
      <p:sp>
        <p:nvSpPr>
          <p:cNvPr id="18" name="Text 16"/>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Patient group</a:t>
            </a:r>
            <a:endParaRPr lang="en-US" sz="900" dirty="0"/>
          </a:p>
        </p:txBody>
      </p:sp>
      <p:sp>
        <p:nvSpPr>
          <p:cNvPr id="19" name="Text 17"/>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4 of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3087"/>
          </a:solidFill>
          <a:ln w="12700">
            <a:solidFill>
              <a:srgbClr val="003087"/>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WHAT CHANGED FOR ERROL</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6858000" cy="1371600"/>
          </a:xfrm>
          <a:prstGeom prst="rect">
            <a:avLst/>
          </a:prstGeom>
          <a:noFill/>
          <a:ln/>
        </p:spPr>
        <p:txBody>
          <a:bodyPr wrap="square" rtlCol="0" anchor="t"/>
          <a:lstStyle/>
          <a:p>
            <a:pPr indent="0" marL="0">
              <a:buNone/>
            </a:pPr>
            <a:r>
              <a:rPr lang="en-US" sz="3000" b="1" dirty="0">
                <a:solidFill>
                  <a:srgbClr val="001A4D"/>
                </a:solidFill>
                <a:latin typeface="Abadi" pitchFamily="34" charset="0"/>
                <a:ea typeface="Abadi" pitchFamily="34" charset="-122"/>
                <a:cs typeface="Abadi" pitchFamily="34" charset="-120"/>
              </a:rPr>
              <a:t>One onboarding. One consent. One record. Three workstreams.</a:t>
            </a:r>
            <a:endParaRPr lang="en-US" sz="3000" dirty="0"/>
          </a:p>
        </p:txBody>
      </p:sp>
      <p:sp>
        <p:nvSpPr>
          <p:cNvPr id="6" name="Text 4"/>
          <p:cNvSpPr/>
          <p:nvPr/>
        </p:nvSpPr>
        <p:spPr>
          <a:xfrm>
            <a:off x="548640" y="2468880"/>
            <a:ext cx="6858000" cy="3657600"/>
          </a:xfrm>
          <a:prstGeom prst="rect">
            <a:avLst/>
          </a:prstGeom>
          <a:noFill/>
          <a:ln/>
        </p:spPr>
        <p:txBody>
          <a:bodyPr wrap="square" rtlCol="0" anchor="t"/>
          <a:lstStyle/>
          <a:p>
            <a:pPr indent="0" marL="0">
              <a:lnSpc>
                <a:spcPct val="130000"/>
              </a:lnSpc>
              <a:spcAft>
                <a:spcPts val="1200"/>
              </a:spcAft>
              <a:buNone/>
            </a:pPr>
            <a:r>
              <a:rPr lang="en-US" sz="1400" dirty="0">
                <a:solidFill>
                  <a:srgbClr val="231F20"/>
                </a:solidFill>
                <a:latin typeface="Abadi" pitchFamily="34" charset="0"/>
                <a:ea typeface="Abadi" pitchFamily="34" charset="-122"/>
                <a:cs typeface="Abadi" pitchFamily="34" charset="-120"/>
              </a:rPr>
              <a:t>Errol onboarded once, to the NHS App. NHS Login carries his identity into every part of the model. He never created three accounts.</a:t>
            </a:r>
            <a:pPr indent="0" marL="0">
              <a:lnSpc>
                <a:spcPct val="130000"/>
              </a:lnSpc>
              <a:spcAft>
                <a:spcPts val="1200"/>
              </a:spcAft>
              <a:buNone/>
            </a:pPr>
            <a:r>
              <a:rPr lang="en-US" sz="1400" dirty="0">
                <a:solidFill>
                  <a:srgbClr val="231F20"/>
                </a:solidFill>
                <a:latin typeface="Abadi" pitchFamily="34" charset="0"/>
                <a:ea typeface="Abadi" pitchFamily="34" charset="-122"/>
                <a:cs typeface="Abadi" pitchFamily="34" charset="-120"/>
              </a:rPr>
              <a:t>He gave consent once, for the use of his data across the integrated record. He never re-consented to three suppliers.</a:t>
            </a:r>
            <a:pPr indent="0" marL="0">
              <a:lnSpc>
                <a:spcPct val="130000"/>
              </a:lnSpc>
              <a:spcAft>
                <a:spcPts val="1200"/>
              </a:spcAft>
              <a:buNone/>
            </a:pPr>
            <a:r>
              <a:rPr lang="en-US" sz="1400" dirty="0">
                <a:solidFill>
                  <a:srgbClr val="231F20"/>
                </a:solidFill>
                <a:latin typeface="Abadi" pitchFamily="34" charset="0"/>
                <a:ea typeface="Abadi" pitchFamily="34" charset="-122"/>
                <a:cs typeface="Abadi" pitchFamily="34" charset="-120"/>
              </a:rPr>
              <a:t>His record is one record. His care team sees one person, not three views of him.</a:t>
            </a:r>
            <a:pPr indent="0" marL="0">
              <a:lnSpc>
                <a:spcPct val="130000"/>
              </a:lnSpc>
              <a:spcAft>
                <a:spcPts val="800"/>
              </a:spcAft>
              <a:buNone/>
            </a:pPr>
            <a:r>
              <a:rPr lang="en-US" sz="1400" b="1" dirty="0">
                <a:solidFill>
                  <a:srgbClr val="001A4D"/>
                </a:solidFill>
                <a:latin typeface="Abadi" pitchFamily="34" charset="0"/>
                <a:ea typeface="Abadi" pitchFamily="34" charset="-122"/>
                <a:cs typeface="Abadi" pitchFamily="34" charset="-120"/>
              </a:rPr>
              <a:t>The patient experiences one service. The architecture underneath does the joining-up work he was never asked to do.</a:t>
            </a:r>
            <a:endParaRPr lang="en-US" sz="1400" dirty="0"/>
          </a:p>
        </p:txBody>
      </p:sp>
      <p:sp>
        <p:nvSpPr>
          <p:cNvPr id="7" name="Text 5"/>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Patient group</a:t>
            </a:r>
            <a:endParaRPr lang="en-US" sz="900" dirty="0"/>
          </a:p>
        </p:txBody>
      </p:sp>
      <p:sp>
        <p:nvSpPr>
          <p:cNvPr id="8" name="Text 6"/>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5 of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1A4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FFD66B"/>
                </a:solidFill>
                <a:latin typeface="Abadi" pitchFamily="34" charset="0"/>
                <a:ea typeface="Abadi" pitchFamily="34" charset="-122"/>
                <a:cs typeface="Abadi" pitchFamily="34" charset="-120"/>
              </a:rPr>
              <a:t>WHY THIS TOOK SOMEONE TO FIGHT FOR IT</a:t>
            </a:r>
            <a:endParaRPr lang="en-US" sz="1000" dirty="0"/>
          </a:p>
        </p:txBody>
      </p:sp>
      <p:sp>
        <p:nvSpPr>
          <p:cNvPr id="4" name="Text 2"/>
          <p:cNvSpPr/>
          <p:nvPr/>
        </p:nvSpPr>
        <p:spPr>
          <a:xfrm>
            <a:off x="548640" y="777240"/>
            <a:ext cx="7772400" cy="731520"/>
          </a:xfrm>
          <a:prstGeom prst="rect">
            <a:avLst/>
          </a:prstGeom>
          <a:noFill/>
          <a:ln/>
        </p:spPr>
        <p:txBody>
          <a:bodyPr wrap="square" rtlCol="0" anchor="t"/>
          <a:lstStyle/>
          <a:p>
            <a:pPr indent="0" marL="0">
              <a:buNone/>
            </a:pPr>
            <a:r>
              <a:rPr lang="en-US" sz="2000" b="1" dirty="0">
                <a:solidFill>
                  <a:srgbClr val="FFFFFF"/>
                </a:solidFill>
                <a:latin typeface="Abadi" pitchFamily="34" charset="0"/>
                <a:ea typeface="Abadi" pitchFamily="34" charset="-122"/>
                <a:cs typeface="Abadi" pitchFamily="34" charset="-120"/>
              </a:rPr>
              <a:t>A commissioner like Sarah ran one procurement instead of three, so the patients in her population got this within the year.</a:t>
            </a:r>
            <a:endParaRPr lang="en-US" sz="2000" dirty="0"/>
          </a:p>
        </p:txBody>
      </p:sp>
      <p:pic>
        <p:nvPicPr>
          <p:cNvPr id="5" name="Image 0" descr="/tmp/ppt-build/sarah.png">    </p:cNvPr>
          <p:cNvPicPr>
            <a:picLocks noChangeAspect="1"/>
          </p:cNvPicPr>
          <p:nvPr/>
        </p:nvPicPr>
        <p:blipFill>
          <a:blip r:embed="rId1"/>
          <a:stretch>
            <a:fillRect/>
          </a:stretch>
        </p:blipFill>
        <p:spPr>
          <a:xfrm>
            <a:off x="640080" y="1828800"/>
            <a:ext cx="3017520" cy="3017520"/>
          </a:xfrm>
          <a:prstGeom prst="rect">
            <a:avLst/>
          </a:prstGeom>
        </p:spPr>
      </p:pic>
      <p:sp>
        <p:nvSpPr>
          <p:cNvPr id="6" name="Shape 3"/>
          <p:cNvSpPr/>
          <p:nvPr/>
        </p:nvSpPr>
        <p:spPr>
          <a:xfrm>
            <a:off x="640080" y="4937760"/>
            <a:ext cx="1097280" cy="54864"/>
          </a:xfrm>
          <a:prstGeom prst="rect">
            <a:avLst/>
          </a:prstGeom>
          <a:solidFill>
            <a:srgbClr val="FFD66B"/>
          </a:solidFill>
          <a:ln w="12700">
            <a:solidFill>
              <a:srgbClr val="FFD66B"/>
            </a:solidFill>
            <a:prstDash val="solid"/>
          </a:ln>
        </p:spPr>
      </p:sp>
      <p:sp>
        <p:nvSpPr>
          <p:cNvPr id="7" name="Text 4"/>
          <p:cNvSpPr/>
          <p:nvPr/>
        </p:nvSpPr>
        <p:spPr>
          <a:xfrm>
            <a:off x="4114800" y="1737360"/>
            <a:ext cx="7498080" cy="4114800"/>
          </a:xfrm>
          <a:prstGeom prst="rect">
            <a:avLst/>
          </a:prstGeom>
          <a:noFill/>
          <a:ln/>
        </p:spPr>
        <p:txBody>
          <a:bodyPr wrap="square" rtlCol="0" anchor="t"/>
          <a:lstStyle/>
          <a:p>
            <a:pPr indent="0" marL="0">
              <a:lnSpc>
                <a:spcPct val="125000"/>
              </a:lnSpc>
              <a:buNone/>
            </a:pPr>
            <a:r>
              <a:rPr lang="en-US" sz="2200" i="1" dirty="0">
                <a:solidFill>
                  <a:srgbClr val="FFFFFF"/>
                </a:solidFill>
                <a:latin typeface="Abadi" pitchFamily="34" charset="0"/>
                <a:ea typeface="Abadi" pitchFamily="34" charset="-122"/>
                <a:cs typeface="Abadi" pitchFamily="34" charset="-120"/>
              </a:rPr>
              <a:t>“The old way would have been three procurements, three IG assessments, three integration projects, three sets of MI. Eighteen months minimum. The framework let me sign once and call off three workstreams together. The year I got back is the year my patients got this in.”</a:t>
            </a:r>
            <a:endParaRPr lang="en-US" sz="2200" dirty="0"/>
          </a:p>
        </p:txBody>
      </p:sp>
      <p:sp>
        <p:nvSpPr>
          <p:cNvPr id="8" name="Text 5"/>
          <p:cNvSpPr/>
          <p:nvPr/>
        </p:nvSpPr>
        <p:spPr>
          <a:xfrm>
            <a:off x="4114800" y="5212080"/>
            <a:ext cx="7498080" cy="36576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SARAH  ·  ICB COMMISSIONER</a:t>
            </a:r>
            <a:endParaRPr lang="en-US" sz="1100" dirty="0"/>
          </a:p>
        </p:txBody>
      </p:sp>
      <p:sp>
        <p:nvSpPr>
          <p:cNvPr id="9" name="Text 6"/>
          <p:cNvSpPr/>
          <p:nvPr/>
        </p:nvSpPr>
        <p:spPr>
          <a:xfrm>
            <a:off x="548640" y="6355080"/>
            <a:ext cx="7315200" cy="274320"/>
          </a:xfrm>
          <a:prstGeom prst="rect">
            <a:avLst/>
          </a:prstGeom>
          <a:noFill/>
          <a:ln/>
        </p:spPr>
        <p:txBody>
          <a:bodyPr wrap="square" rtlCol="0" anchor="ctr"/>
          <a:lstStyle/>
          <a:p>
            <a:pPr indent="0" marL="0">
              <a:buNone/>
            </a:pPr>
            <a:r>
              <a:rPr lang="en-US" sz="900" i="1" dirty="0">
                <a:solidFill>
                  <a:srgbClr val="AABBD0"/>
                </a:solidFill>
                <a:latin typeface="Abadi" pitchFamily="34" charset="0"/>
                <a:ea typeface="Abadi" pitchFamily="34" charset="-122"/>
                <a:cs typeface="Abadi" pitchFamily="34" charset="-120"/>
              </a:rPr>
              <a:t>DTx Operating Model · Sales pack · Patient group</a:t>
            </a:r>
            <a:endParaRPr lang="en-US" sz="900" dirty="0"/>
          </a:p>
        </p:txBody>
      </p:sp>
      <p:sp>
        <p:nvSpPr>
          <p:cNvPr id="10" name="Text 7"/>
          <p:cNvSpPr/>
          <p:nvPr/>
        </p:nvSpPr>
        <p:spPr>
          <a:xfrm>
            <a:off x="11002975" y="6355080"/>
            <a:ext cx="914400" cy="274320"/>
          </a:xfrm>
          <a:prstGeom prst="rect">
            <a:avLst/>
          </a:prstGeom>
          <a:noFill/>
          <a:ln/>
        </p:spPr>
        <p:txBody>
          <a:bodyPr wrap="square" rtlCol="0" anchor="ctr"/>
          <a:lstStyle/>
          <a:p>
            <a:pPr algn="r" indent="0" marL="0">
              <a:buNone/>
            </a:pPr>
            <a:r>
              <a:rPr lang="en-US" sz="900" dirty="0">
                <a:solidFill>
                  <a:srgbClr val="AABBD0"/>
                </a:solidFill>
                <a:latin typeface="Abadi" pitchFamily="34" charset="0"/>
                <a:ea typeface="Abadi" pitchFamily="34" charset="-122"/>
                <a:cs typeface="Abadi" pitchFamily="34" charset="-120"/>
              </a:rPr>
              <a:t>6 of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1A4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FFD66B"/>
                </a:solidFill>
                <a:latin typeface="Abadi" pitchFamily="34" charset="0"/>
                <a:ea typeface="Abadi" pitchFamily="34" charset="-122"/>
                <a:cs typeface="Abadi" pitchFamily="34" charset="-120"/>
              </a:rPr>
              <a:t>WHY THIS TOOK SOMEONE TO BE WILLING</a:t>
            </a:r>
            <a:endParaRPr lang="en-US" sz="1000" dirty="0"/>
          </a:p>
        </p:txBody>
      </p:sp>
      <p:sp>
        <p:nvSpPr>
          <p:cNvPr id="4" name="Text 2"/>
          <p:cNvSpPr/>
          <p:nvPr/>
        </p:nvSpPr>
        <p:spPr>
          <a:xfrm>
            <a:off x="548640" y="777240"/>
            <a:ext cx="7772400" cy="731520"/>
          </a:xfrm>
          <a:prstGeom prst="rect">
            <a:avLst/>
          </a:prstGeom>
          <a:noFill/>
          <a:ln/>
        </p:spPr>
        <p:txBody>
          <a:bodyPr wrap="square" rtlCol="0" anchor="t"/>
          <a:lstStyle/>
          <a:p>
            <a:pPr indent="0" marL="0">
              <a:buNone/>
            </a:pPr>
            <a:r>
              <a:rPr lang="en-US" sz="2000" b="1" dirty="0">
                <a:solidFill>
                  <a:srgbClr val="FFFFFF"/>
                </a:solidFill>
                <a:latin typeface="Abadi" pitchFamily="34" charset="0"/>
                <a:ea typeface="Abadi" pitchFamily="34" charset="-122"/>
                <a:cs typeface="Abadi" pitchFamily="34" charset="-120"/>
              </a:rPr>
              <a:t>A clinician like Ravi has to be able to defend the digital therapeutic in front of a medical team, the way he would any other clinical decision.</a:t>
            </a:r>
            <a:endParaRPr lang="en-US" sz="2000" dirty="0"/>
          </a:p>
        </p:txBody>
      </p:sp>
      <p:pic>
        <p:nvPicPr>
          <p:cNvPr id="5" name="Image 0" descr="/tmp/ppt-build/ravi.png">    </p:cNvPr>
          <p:cNvPicPr>
            <a:picLocks noChangeAspect="1"/>
          </p:cNvPicPr>
          <p:nvPr/>
        </p:nvPicPr>
        <p:blipFill>
          <a:blip r:embed="rId1"/>
          <a:stretch>
            <a:fillRect/>
          </a:stretch>
        </p:blipFill>
        <p:spPr>
          <a:xfrm>
            <a:off x="640080" y="1828800"/>
            <a:ext cx="3017520" cy="3017520"/>
          </a:xfrm>
          <a:prstGeom prst="rect">
            <a:avLst/>
          </a:prstGeom>
        </p:spPr>
      </p:pic>
      <p:sp>
        <p:nvSpPr>
          <p:cNvPr id="6" name="Shape 3"/>
          <p:cNvSpPr/>
          <p:nvPr/>
        </p:nvSpPr>
        <p:spPr>
          <a:xfrm>
            <a:off x="640080" y="4937760"/>
            <a:ext cx="1097280" cy="54864"/>
          </a:xfrm>
          <a:prstGeom prst="rect">
            <a:avLst/>
          </a:prstGeom>
          <a:solidFill>
            <a:srgbClr val="FFD66B"/>
          </a:solidFill>
          <a:ln w="12700">
            <a:solidFill>
              <a:srgbClr val="FFD66B"/>
            </a:solidFill>
            <a:prstDash val="solid"/>
          </a:ln>
        </p:spPr>
      </p:sp>
      <p:sp>
        <p:nvSpPr>
          <p:cNvPr id="7" name="Text 4"/>
          <p:cNvSpPr/>
          <p:nvPr/>
        </p:nvSpPr>
        <p:spPr>
          <a:xfrm>
            <a:off x="4114800" y="1737360"/>
            <a:ext cx="7498080" cy="4114800"/>
          </a:xfrm>
          <a:prstGeom prst="rect">
            <a:avLst/>
          </a:prstGeom>
          <a:noFill/>
          <a:ln/>
        </p:spPr>
        <p:txBody>
          <a:bodyPr wrap="square" rtlCol="0" anchor="t"/>
          <a:lstStyle/>
          <a:p>
            <a:pPr indent="0" marL="0">
              <a:lnSpc>
                <a:spcPct val="125000"/>
              </a:lnSpc>
              <a:buNone/>
            </a:pPr>
            <a:r>
              <a:rPr lang="en-US" sz="2200" i="1" dirty="0">
                <a:solidFill>
                  <a:srgbClr val="FFFFFF"/>
                </a:solidFill>
                <a:latin typeface="Abadi" pitchFamily="34" charset="0"/>
                <a:ea typeface="Abadi" pitchFamily="34" charset="-122"/>
                <a:cs typeface="Abadi" pitchFamily="34" charset="-120"/>
              </a:rPr>
              <a:t>“The assurance work that lets me prescribe a digital therapeutic was done once at the centre. NICE EVA conditional admission, the clinical-safety case, the named accountability if something goes wrong. That cover is what stopped me being a sceptic.”</a:t>
            </a:r>
            <a:endParaRPr lang="en-US" sz="2200" dirty="0"/>
          </a:p>
        </p:txBody>
      </p:sp>
      <p:sp>
        <p:nvSpPr>
          <p:cNvPr id="8" name="Text 5"/>
          <p:cNvSpPr/>
          <p:nvPr/>
        </p:nvSpPr>
        <p:spPr>
          <a:xfrm>
            <a:off x="4114800" y="5212080"/>
            <a:ext cx="7498080" cy="36576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RAVI  ·  CONSULTANT RESPIRATORY PHYSICIAN</a:t>
            </a:r>
            <a:endParaRPr lang="en-US" sz="1100" dirty="0"/>
          </a:p>
        </p:txBody>
      </p:sp>
      <p:sp>
        <p:nvSpPr>
          <p:cNvPr id="9" name="Text 6"/>
          <p:cNvSpPr/>
          <p:nvPr/>
        </p:nvSpPr>
        <p:spPr>
          <a:xfrm>
            <a:off x="548640" y="6355080"/>
            <a:ext cx="7315200" cy="274320"/>
          </a:xfrm>
          <a:prstGeom prst="rect">
            <a:avLst/>
          </a:prstGeom>
          <a:noFill/>
          <a:ln/>
        </p:spPr>
        <p:txBody>
          <a:bodyPr wrap="square" rtlCol="0" anchor="ctr"/>
          <a:lstStyle/>
          <a:p>
            <a:pPr indent="0" marL="0">
              <a:buNone/>
            </a:pPr>
            <a:r>
              <a:rPr lang="en-US" sz="900" i="1" dirty="0">
                <a:solidFill>
                  <a:srgbClr val="AABBD0"/>
                </a:solidFill>
                <a:latin typeface="Abadi" pitchFamily="34" charset="0"/>
                <a:ea typeface="Abadi" pitchFamily="34" charset="-122"/>
                <a:cs typeface="Abadi" pitchFamily="34" charset="-120"/>
              </a:rPr>
              <a:t>DTx Operating Model · Sales pack · Patient group</a:t>
            </a:r>
            <a:endParaRPr lang="en-US" sz="900" dirty="0"/>
          </a:p>
        </p:txBody>
      </p:sp>
      <p:sp>
        <p:nvSpPr>
          <p:cNvPr id="10" name="Text 7"/>
          <p:cNvSpPr/>
          <p:nvPr/>
        </p:nvSpPr>
        <p:spPr>
          <a:xfrm>
            <a:off x="11002975" y="6355080"/>
            <a:ext cx="914400" cy="274320"/>
          </a:xfrm>
          <a:prstGeom prst="rect">
            <a:avLst/>
          </a:prstGeom>
          <a:noFill/>
          <a:ln/>
        </p:spPr>
        <p:txBody>
          <a:bodyPr wrap="square" rtlCol="0" anchor="ctr"/>
          <a:lstStyle/>
          <a:p>
            <a:pPr algn="r" indent="0" marL="0">
              <a:buNone/>
            </a:pPr>
            <a:r>
              <a:rPr lang="en-US" sz="900" dirty="0">
                <a:solidFill>
                  <a:srgbClr val="AABBD0"/>
                </a:solidFill>
                <a:latin typeface="Abadi" pitchFamily="34" charset="0"/>
                <a:ea typeface="Abadi" pitchFamily="34" charset="-122"/>
                <a:cs typeface="Abadi" pitchFamily="34" charset="-120"/>
              </a:rPr>
              <a:t>7 of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3087"/>
          </a:solidFill>
          <a:ln w="12700">
            <a:solidFill>
              <a:srgbClr val="003087"/>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THE MODEL IN ONE SLIDE</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10972800" cy="914400"/>
          </a:xfrm>
          <a:prstGeom prst="rect">
            <a:avLst/>
          </a:prstGeom>
          <a:noFill/>
          <a:ln/>
        </p:spPr>
        <p:txBody>
          <a:bodyPr wrap="square" rtlCol="0" anchor="ctr"/>
          <a:lstStyle/>
          <a:p>
            <a:pPr indent="0" marL="0">
              <a:buNone/>
            </a:pPr>
            <a:r>
              <a:rPr lang="en-US" sz="2600" b="1" dirty="0">
                <a:solidFill>
                  <a:srgbClr val="001A4D"/>
                </a:solidFill>
                <a:latin typeface="Abadi" pitchFamily="34" charset="0"/>
                <a:ea typeface="Abadi" pitchFamily="34" charset="-122"/>
                <a:cs typeface="Abadi" pitchFamily="34" charset="-120"/>
              </a:rPr>
              <a:t>What patients should never have to see, and what should always feel like one NHS.</a:t>
            </a:r>
            <a:endParaRPr lang="en-US" sz="2600" dirty="0"/>
          </a:p>
        </p:txBody>
      </p:sp>
      <p:sp>
        <p:nvSpPr>
          <p:cNvPr id="6" name="Shape 4"/>
          <p:cNvSpPr/>
          <p:nvPr/>
        </p:nvSpPr>
        <p:spPr>
          <a:xfrm>
            <a:off x="548640" y="2194560"/>
            <a:ext cx="5029200" cy="777240"/>
          </a:xfrm>
          <a:prstGeom prst="rect">
            <a:avLst/>
          </a:prstGeom>
          <a:solidFill>
            <a:srgbClr val="003087"/>
          </a:solidFill>
          <a:ln w="12700">
            <a:solidFill>
              <a:srgbClr val="FFFFFF"/>
            </a:solidFill>
            <a:prstDash val="solid"/>
          </a:ln>
        </p:spPr>
      </p:sp>
      <p:sp>
        <p:nvSpPr>
          <p:cNvPr id="7" name="Text 5"/>
          <p:cNvSpPr/>
          <p:nvPr/>
        </p:nvSpPr>
        <p:spPr>
          <a:xfrm>
            <a:off x="713232" y="2286000"/>
            <a:ext cx="1645920" cy="274320"/>
          </a:xfrm>
          <a:prstGeom prst="rect">
            <a:avLst/>
          </a:prstGeom>
          <a:noFill/>
          <a:ln/>
        </p:spPr>
        <p:txBody>
          <a:bodyPr wrap="square" rtlCol="0" anchor="ctr"/>
          <a:lstStyle/>
          <a:p>
            <a:pPr indent="0" marL="0">
              <a:buNone/>
            </a:pPr>
            <a:r>
              <a:rPr lang="en-US" sz="1200" b="1" spc="100" kern="0" dirty="0">
                <a:solidFill>
                  <a:srgbClr val="FFFFFF"/>
                </a:solidFill>
                <a:latin typeface="Abadi" pitchFamily="34" charset="0"/>
                <a:ea typeface="Abadi" pitchFamily="34" charset="-122"/>
                <a:cs typeface="Abadi" pitchFamily="34" charset="-120"/>
              </a:rPr>
              <a:t>Foundation</a:t>
            </a:r>
            <a:endParaRPr lang="en-US" sz="1200" dirty="0"/>
          </a:p>
        </p:txBody>
      </p:sp>
      <p:sp>
        <p:nvSpPr>
          <p:cNvPr id="8" name="Text 6"/>
          <p:cNvSpPr/>
          <p:nvPr/>
        </p:nvSpPr>
        <p:spPr>
          <a:xfrm>
            <a:off x="2377440" y="2359152"/>
            <a:ext cx="3017520" cy="502920"/>
          </a:xfrm>
          <a:prstGeom prst="rect">
            <a:avLst/>
          </a:prstGeom>
          <a:noFill/>
          <a:ln/>
        </p:spPr>
        <p:txBody>
          <a:bodyPr wrap="square" rtlCol="0" anchor="ctr"/>
          <a:lstStyle/>
          <a:p>
            <a:pPr indent="0" marL="0">
              <a:buNone/>
            </a:pPr>
            <a:r>
              <a:rPr lang="en-US" sz="1000" dirty="0">
                <a:solidFill>
                  <a:srgbClr val="FFFFFF"/>
                </a:solidFill>
                <a:latin typeface="Abadi" pitchFamily="34" charset="0"/>
                <a:ea typeface="Abadi" pitchFamily="34" charset="-122"/>
                <a:cs typeface="Abadi" pitchFamily="34" charset="-120"/>
              </a:rPr>
              <a:t>One framework, one assurance bar, one contract architecture, one MI feed</a:t>
            </a:r>
            <a:endParaRPr lang="en-US" sz="1000" dirty="0"/>
          </a:p>
        </p:txBody>
      </p:sp>
      <p:sp>
        <p:nvSpPr>
          <p:cNvPr id="9" name="Shape 7"/>
          <p:cNvSpPr/>
          <p:nvPr/>
        </p:nvSpPr>
        <p:spPr>
          <a:xfrm>
            <a:off x="548640" y="3081528"/>
            <a:ext cx="5029200" cy="777240"/>
          </a:xfrm>
          <a:prstGeom prst="rect">
            <a:avLst/>
          </a:prstGeom>
          <a:solidFill>
            <a:srgbClr val="005EB8"/>
          </a:solidFill>
          <a:ln w="12700">
            <a:solidFill>
              <a:srgbClr val="FFFFFF"/>
            </a:solidFill>
            <a:prstDash val="solid"/>
          </a:ln>
        </p:spPr>
      </p:sp>
      <p:sp>
        <p:nvSpPr>
          <p:cNvPr id="10" name="Text 8"/>
          <p:cNvSpPr/>
          <p:nvPr/>
        </p:nvSpPr>
        <p:spPr>
          <a:xfrm>
            <a:off x="713232" y="3172968"/>
            <a:ext cx="1645920" cy="274320"/>
          </a:xfrm>
          <a:prstGeom prst="rect">
            <a:avLst/>
          </a:prstGeom>
          <a:noFill/>
          <a:ln/>
        </p:spPr>
        <p:txBody>
          <a:bodyPr wrap="square" rtlCol="0" anchor="ctr"/>
          <a:lstStyle/>
          <a:p>
            <a:pPr indent="0" marL="0">
              <a:buNone/>
            </a:pPr>
            <a:r>
              <a:rPr lang="en-US" sz="1200" b="1" spc="100" kern="0" dirty="0">
                <a:solidFill>
                  <a:srgbClr val="FFFFFF"/>
                </a:solidFill>
                <a:latin typeface="Abadi" pitchFamily="34" charset="0"/>
                <a:ea typeface="Abadi" pitchFamily="34" charset="-122"/>
                <a:cs typeface="Abadi" pitchFamily="34" charset="-120"/>
              </a:rPr>
              <a:t>Overlay</a:t>
            </a:r>
            <a:endParaRPr lang="en-US" sz="1200" dirty="0"/>
          </a:p>
        </p:txBody>
      </p:sp>
      <p:sp>
        <p:nvSpPr>
          <p:cNvPr id="11" name="Text 9"/>
          <p:cNvSpPr/>
          <p:nvPr/>
        </p:nvSpPr>
        <p:spPr>
          <a:xfrm>
            <a:off x="2377440" y="3246120"/>
            <a:ext cx="3017520" cy="502920"/>
          </a:xfrm>
          <a:prstGeom prst="rect">
            <a:avLst/>
          </a:prstGeom>
          <a:noFill/>
          <a:ln/>
        </p:spPr>
        <p:txBody>
          <a:bodyPr wrap="square" rtlCol="0" anchor="ctr"/>
          <a:lstStyle/>
          <a:p>
            <a:pPr indent="0" marL="0">
              <a:buNone/>
            </a:pPr>
            <a:r>
              <a:rPr lang="en-US" sz="1000" dirty="0">
                <a:solidFill>
                  <a:srgbClr val="FFFFFF"/>
                </a:solidFill>
                <a:latin typeface="Abadi" pitchFamily="34" charset="0"/>
                <a:ea typeface="Abadi" pitchFamily="34" charset="-122"/>
                <a:cs typeface="Abadi" pitchFamily="34" charset="-120"/>
              </a:rPr>
              <a:t>Per-product configuration: HomeTest, HealthStore, HealthSync</a:t>
            </a:r>
            <a:endParaRPr lang="en-US" sz="1000" dirty="0"/>
          </a:p>
        </p:txBody>
      </p:sp>
      <p:sp>
        <p:nvSpPr>
          <p:cNvPr id="12" name="Shape 10"/>
          <p:cNvSpPr/>
          <p:nvPr/>
        </p:nvSpPr>
        <p:spPr>
          <a:xfrm>
            <a:off x="548640" y="3968496"/>
            <a:ext cx="5029200" cy="777240"/>
          </a:xfrm>
          <a:prstGeom prst="rect">
            <a:avLst/>
          </a:prstGeom>
          <a:solidFill>
            <a:srgbClr val="C4D3E6"/>
          </a:solidFill>
          <a:ln w="12700">
            <a:solidFill>
              <a:srgbClr val="FFFFFF"/>
            </a:solidFill>
            <a:prstDash val="solid"/>
          </a:ln>
        </p:spPr>
      </p:sp>
      <p:sp>
        <p:nvSpPr>
          <p:cNvPr id="13" name="Text 11"/>
          <p:cNvSpPr/>
          <p:nvPr/>
        </p:nvSpPr>
        <p:spPr>
          <a:xfrm>
            <a:off x="713232" y="4059936"/>
            <a:ext cx="1645920" cy="274320"/>
          </a:xfrm>
          <a:prstGeom prst="rect">
            <a:avLst/>
          </a:prstGeom>
          <a:noFill/>
          <a:ln/>
        </p:spPr>
        <p:txBody>
          <a:bodyPr wrap="square" rtlCol="0" anchor="ctr"/>
          <a:lstStyle/>
          <a:p>
            <a:pPr indent="0" marL="0">
              <a:buNone/>
            </a:pPr>
            <a:r>
              <a:rPr lang="en-US" sz="1200" b="1" spc="100" kern="0" dirty="0">
                <a:solidFill>
                  <a:srgbClr val="231F20"/>
                </a:solidFill>
                <a:latin typeface="Abadi" pitchFamily="34" charset="0"/>
                <a:ea typeface="Abadi" pitchFamily="34" charset="-122"/>
                <a:cs typeface="Abadi" pitchFamily="34" charset="-120"/>
              </a:rPr>
              <a:t>Pattern</a:t>
            </a:r>
            <a:endParaRPr lang="en-US" sz="1200" dirty="0"/>
          </a:p>
        </p:txBody>
      </p:sp>
      <p:sp>
        <p:nvSpPr>
          <p:cNvPr id="14" name="Text 12"/>
          <p:cNvSpPr/>
          <p:nvPr/>
        </p:nvSpPr>
        <p:spPr>
          <a:xfrm>
            <a:off x="2377440" y="4133088"/>
            <a:ext cx="3017520" cy="502920"/>
          </a:xfrm>
          <a:prstGeom prst="rect">
            <a:avLst/>
          </a:prstGeom>
          <a:noFill/>
          <a:ln/>
        </p:spPr>
        <p:txBody>
          <a:bodyPr wrap="square" rtlCol="0" anchor="ctr"/>
          <a:lstStyle/>
          <a:p>
            <a:pPr indent="0" marL="0">
              <a:buNone/>
            </a:pPr>
            <a:r>
              <a:rPr lang="en-US" sz="1000" dirty="0">
                <a:solidFill>
                  <a:srgbClr val="231F20"/>
                </a:solidFill>
                <a:latin typeface="Abadi" pitchFamily="34" charset="0"/>
                <a:ea typeface="Abadi" pitchFamily="34" charset="-122"/>
                <a:cs typeface="Abadi" pitchFamily="34" charset="-120"/>
              </a:rPr>
              <a:t>Deployment shapes admitted under the framework</a:t>
            </a:r>
            <a:endParaRPr lang="en-US" sz="1000" dirty="0"/>
          </a:p>
        </p:txBody>
      </p:sp>
      <p:sp>
        <p:nvSpPr>
          <p:cNvPr id="15" name="Shape 13"/>
          <p:cNvSpPr/>
          <p:nvPr/>
        </p:nvSpPr>
        <p:spPr>
          <a:xfrm>
            <a:off x="548640" y="4855464"/>
            <a:ext cx="5029200" cy="777240"/>
          </a:xfrm>
          <a:prstGeom prst="rect">
            <a:avLst/>
          </a:prstGeom>
          <a:solidFill>
            <a:srgbClr val="EAF0F7"/>
          </a:solidFill>
          <a:ln w="12700">
            <a:solidFill>
              <a:srgbClr val="FFFFFF"/>
            </a:solidFill>
            <a:prstDash val="solid"/>
          </a:ln>
        </p:spPr>
      </p:sp>
      <p:sp>
        <p:nvSpPr>
          <p:cNvPr id="16" name="Text 14"/>
          <p:cNvSpPr/>
          <p:nvPr/>
        </p:nvSpPr>
        <p:spPr>
          <a:xfrm>
            <a:off x="713232" y="4946904"/>
            <a:ext cx="1645920" cy="274320"/>
          </a:xfrm>
          <a:prstGeom prst="rect">
            <a:avLst/>
          </a:prstGeom>
          <a:noFill/>
          <a:ln/>
        </p:spPr>
        <p:txBody>
          <a:bodyPr wrap="square" rtlCol="0" anchor="ctr"/>
          <a:lstStyle/>
          <a:p>
            <a:pPr indent="0" marL="0">
              <a:buNone/>
            </a:pPr>
            <a:r>
              <a:rPr lang="en-US" sz="1200" b="1" spc="100" kern="0" dirty="0">
                <a:solidFill>
                  <a:srgbClr val="231F20"/>
                </a:solidFill>
                <a:latin typeface="Abadi" pitchFamily="34" charset="0"/>
                <a:ea typeface="Abadi" pitchFamily="34" charset="-122"/>
                <a:cs typeface="Abadi" pitchFamily="34" charset="-120"/>
              </a:rPr>
              <a:t>Configuration</a:t>
            </a:r>
            <a:endParaRPr lang="en-US" sz="1200" dirty="0"/>
          </a:p>
        </p:txBody>
      </p:sp>
      <p:sp>
        <p:nvSpPr>
          <p:cNvPr id="17" name="Text 15"/>
          <p:cNvSpPr/>
          <p:nvPr/>
        </p:nvSpPr>
        <p:spPr>
          <a:xfrm>
            <a:off x="2377440" y="5020056"/>
            <a:ext cx="3017520" cy="502920"/>
          </a:xfrm>
          <a:prstGeom prst="rect">
            <a:avLst/>
          </a:prstGeom>
          <a:noFill/>
          <a:ln/>
        </p:spPr>
        <p:txBody>
          <a:bodyPr wrap="square" rtlCol="0" anchor="ctr"/>
          <a:lstStyle/>
          <a:p>
            <a:pPr indent="0" marL="0">
              <a:buNone/>
            </a:pPr>
            <a:r>
              <a:rPr lang="en-US" sz="1000" dirty="0">
                <a:solidFill>
                  <a:srgbClr val="231F20"/>
                </a:solidFill>
                <a:latin typeface="Abadi" pitchFamily="34" charset="0"/>
                <a:ea typeface="Abadi" pitchFamily="34" charset="-122"/>
                <a:cs typeface="Abadi" pitchFamily="34" charset="-120"/>
              </a:rPr>
              <a:t>The product-specific operating shape for each pathway</a:t>
            </a:r>
            <a:endParaRPr lang="en-US" sz="1000" dirty="0"/>
          </a:p>
        </p:txBody>
      </p:sp>
      <p:sp>
        <p:nvSpPr>
          <p:cNvPr id="18" name="Text 16"/>
          <p:cNvSpPr/>
          <p:nvPr/>
        </p:nvSpPr>
        <p:spPr>
          <a:xfrm>
            <a:off x="6126480" y="2194560"/>
            <a:ext cx="5486400" cy="27432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WHAT THIS MEANS FOR YOU</a:t>
            </a:r>
            <a:endParaRPr lang="en-US" sz="1000" dirty="0"/>
          </a:p>
        </p:txBody>
      </p:sp>
      <p:sp>
        <p:nvSpPr>
          <p:cNvPr id="19" name="Text 17"/>
          <p:cNvSpPr/>
          <p:nvPr/>
        </p:nvSpPr>
        <p:spPr>
          <a:xfrm>
            <a:off x="6126480" y="2606040"/>
            <a:ext cx="5486400" cy="3657600"/>
          </a:xfrm>
          <a:prstGeom prst="rect">
            <a:avLst/>
          </a:prstGeom>
          <a:noFill/>
          <a:ln/>
        </p:spPr>
        <p:txBody>
          <a:bodyPr wrap="square" rtlCol="0" anchor="ctr"/>
          <a:lstStyle/>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You onboard to one NHS App. NHS Login carries your identity across everything.</a:t>
            </a:r>
            <a:endParaRPr lang="en-US" sz="1300" dirty="0"/>
          </a:p>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You give consent once for the integrated record. You never re-consent for each supplier.</a:t>
            </a:r>
            <a:endParaRPr lang="en-US" sz="1300" dirty="0"/>
          </a:p>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Your care team sees one person, not three views of you.</a:t>
            </a:r>
            <a:endParaRPr lang="en-US" sz="1300" dirty="0"/>
          </a:p>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The clinical assurance, the contracting, and the data integration are done once at the centre. None of it lands on your kitchen table.</a:t>
            </a:r>
            <a:endParaRPr lang="en-US" sz="1300" dirty="0"/>
          </a:p>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When something goes wrong, the named accountability is clear. There is one named clinical-safety contact, not three.</a:t>
            </a:r>
            <a:endParaRPr lang="en-US" sz="1300" dirty="0"/>
          </a:p>
        </p:txBody>
      </p:sp>
      <p:sp>
        <p:nvSpPr>
          <p:cNvPr id="20" name="Text 18"/>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Patient group</a:t>
            </a:r>
            <a:endParaRPr lang="en-US" sz="900" dirty="0"/>
          </a:p>
        </p:txBody>
      </p:sp>
      <p:sp>
        <p:nvSpPr>
          <p:cNvPr id="21" name="Text 19"/>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8 of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3087"/>
          </a:solidFill>
          <a:ln w="12700">
            <a:solidFill>
              <a:srgbClr val="003087"/>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3087"/>
                </a:solidFill>
                <a:latin typeface="Abadi" pitchFamily="34" charset="0"/>
                <a:ea typeface="Abadi" pitchFamily="34" charset="-122"/>
                <a:cs typeface="Abadi" pitchFamily="34" charset="-120"/>
              </a:rPr>
              <a:t>THE ASK</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10972800" cy="1005840"/>
          </a:xfrm>
          <a:prstGeom prst="rect">
            <a:avLst/>
          </a:prstGeom>
          <a:noFill/>
          <a:ln/>
        </p:spPr>
        <p:txBody>
          <a:bodyPr wrap="square" rtlCol="0" anchor="ctr"/>
          <a:lstStyle/>
          <a:p>
            <a:pPr indent="0" marL="0">
              <a:buNone/>
            </a:pPr>
            <a:r>
              <a:rPr lang="en-US" sz="3000" b="1" dirty="0">
                <a:solidFill>
                  <a:srgbClr val="001A4D"/>
                </a:solidFill>
                <a:latin typeface="Abadi" pitchFamily="34" charset="0"/>
                <a:ea typeface="Abadi" pitchFamily="34" charset="-122"/>
                <a:cs typeface="Abadi" pitchFamily="34" charset="-120"/>
              </a:rPr>
              <a:t>Tell us where the model still does not fit the lives of the people you represent.</a:t>
            </a:r>
            <a:endParaRPr lang="en-US" sz="3000" dirty="0"/>
          </a:p>
        </p:txBody>
      </p:sp>
      <p:sp>
        <p:nvSpPr>
          <p:cNvPr id="6" name="Shape 4"/>
          <p:cNvSpPr/>
          <p:nvPr/>
        </p:nvSpPr>
        <p:spPr>
          <a:xfrm>
            <a:off x="548640" y="2194560"/>
            <a:ext cx="3611880" cy="3931920"/>
          </a:xfrm>
          <a:prstGeom prst="rect">
            <a:avLst/>
          </a:prstGeom>
          <a:solidFill>
            <a:srgbClr val="003087"/>
          </a:solidFill>
          <a:ln w="12700">
            <a:solidFill>
              <a:srgbClr val="003087"/>
            </a:solidFill>
            <a:prstDash val="solid"/>
          </a:ln>
        </p:spPr>
      </p:sp>
      <p:sp>
        <p:nvSpPr>
          <p:cNvPr id="7" name="Shape 5"/>
          <p:cNvSpPr/>
          <p:nvPr/>
        </p:nvSpPr>
        <p:spPr>
          <a:xfrm>
            <a:off x="822960" y="2468880"/>
            <a:ext cx="640080" cy="640080"/>
          </a:xfrm>
          <a:prstGeom prst="ellipse">
            <a:avLst/>
          </a:prstGeom>
          <a:solidFill>
            <a:srgbClr val="FFD66B"/>
          </a:solidFill>
          <a:ln w="12700">
            <a:solidFill>
              <a:srgbClr val="FFD66B"/>
            </a:solidFill>
            <a:prstDash val="solid"/>
          </a:ln>
        </p:spPr>
      </p:sp>
      <p:sp>
        <p:nvSpPr>
          <p:cNvPr id="8" name="Text 6"/>
          <p:cNvSpPr/>
          <p:nvPr/>
        </p:nvSpPr>
        <p:spPr>
          <a:xfrm>
            <a:off x="822960" y="2468880"/>
            <a:ext cx="640080" cy="640080"/>
          </a:xfrm>
          <a:prstGeom prst="rect">
            <a:avLst/>
          </a:prstGeom>
          <a:noFill/>
          <a:ln/>
        </p:spPr>
        <p:txBody>
          <a:bodyPr wrap="square" rtlCol="0" anchor="ctr"/>
          <a:lstStyle/>
          <a:p>
            <a:pPr algn="ctr" indent="0" marL="0">
              <a:buNone/>
            </a:pPr>
            <a:r>
              <a:rPr lang="en-US" sz="2200" b="1" dirty="0">
                <a:solidFill>
                  <a:srgbClr val="001A4D"/>
                </a:solidFill>
                <a:latin typeface="Abadi" pitchFamily="34" charset="0"/>
                <a:ea typeface="Abadi" pitchFamily="34" charset="-122"/>
                <a:cs typeface="Abadi" pitchFamily="34" charset="-120"/>
              </a:rPr>
              <a:t>1</a:t>
            </a:r>
            <a:endParaRPr lang="en-US" sz="2200" dirty="0"/>
          </a:p>
        </p:txBody>
      </p:sp>
      <p:sp>
        <p:nvSpPr>
          <p:cNvPr id="9" name="Text 7"/>
          <p:cNvSpPr/>
          <p:nvPr/>
        </p:nvSpPr>
        <p:spPr>
          <a:xfrm>
            <a:off x="822960" y="3291840"/>
            <a:ext cx="3063240" cy="1097280"/>
          </a:xfrm>
          <a:prstGeom prst="rect">
            <a:avLst/>
          </a:prstGeom>
          <a:noFill/>
          <a:ln/>
        </p:spPr>
        <p:txBody>
          <a:bodyPr wrap="square" rtlCol="0" anchor="t"/>
          <a:lstStyle/>
          <a:p>
            <a:pPr indent="0" marL="0">
              <a:buNone/>
            </a:pPr>
            <a:r>
              <a:rPr lang="en-US" sz="1800" b="1" dirty="0">
                <a:solidFill>
                  <a:srgbClr val="FFFFFF"/>
                </a:solidFill>
                <a:latin typeface="Abadi" pitchFamily="34" charset="0"/>
                <a:ea typeface="Abadi" pitchFamily="34" charset="-122"/>
                <a:cs typeface="Abadi" pitchFamily="34" charset="-120"/>
              </a:rPr>
              <a:t>Name what is still missing</a:t>
            </a:r>
            <a:endParaRPr lang="en-US" sz="1800" dirty="0"/>
          </a:p>
        </p:txBody>
      </p:sp>
      <p:sp>
        <p:nvSpPr>
          <p:cNvPr id="10" name="Text 8"/>
          <p:cNvSpPr/>
          <p:nvPr/>
        </p:nvSpPr>
        <p:spPr>
          <a:xfrm>
            <a:off x="822960" y="4480560"/>
            <a:ext cx="3063240" cy="1463040"/>
          </a:xfrm>
          <a:prstGeom prst="rect">
            <a:avLst/>
          </a:prstGeom>
          <a:noFill/>
          <a:ln/>
        </p:spPr>
        <p:txBody>
          <a:bodyPr wrap="square" rtlCol="0" anchor="t"/>
          <a:lstStyle/>
          <a:p>
            <a:pPr indent="0" marL="0">
              <a:lnSpc>
                <a:spcPct val="130000"/>
              </a:lnSpc>
              <a:buNone/>
            </a:pPr>
            <a:r>
              <a:rPr lang="en-US" sz="1200" dirty="0">
                <a:solidFill>
                  <a:srgbClr val="FFFFFF"/>
                </a:solidFill>
                <a:latin typeface="Abadi" pitchFamily="34" charset="0"/>
                <a:ea typeface="Abadi" pitchFamily="34" charset="-122"/>
                <a:cs typeface="Abadi" pitchFamily="34" charset="-120"/>
              </a:rPr>
              <a:t>Patient groups know the edges of the service better than any commissioner. Tell us where Errol’s story still does not hold for your members.</a:t>
            </a:r>
            <a:endParaRPr lang="en-US" sz="1200" dirty="0"/>
          </a:p>
        </p:txBody>
      </p:sp>
      <p:sp>
        <p:nvSpPr>
          <p:cNvPr id="11" name="Shape 9"/>
          <p:cNvSpPr/>
          <p:nvPr/>
        </p:nvSpPr>
        <p:spPr>
          <a:xfrm>
            <a:off x="4343400" y="2194560"/>
            <a:ext cx="3611880" cy="3931920"/>
          </a:xfrm>
          <a:prstGeom prst="rect">
            <a:avLst/>
          </a:prstGeom>
          <a:solidFill>
            <a:srgbClr val="003087"/>
          </a:solidFill>
          <a:ln w="12700">
            <a:solidFill>
              <a:srgbClr val="003087"/>
            </a:solidFill>
            <a:prstDash val="solid"/>
          </a:ln>
        </p:spPr>
      </p:sp>
      <p:sp>
        <p:nvSpPr>
          <p:cNvPr id="12" name="Shape 10"/>
          <p:cNvSpPr/>
          <p:nvPr/>
        </p:nvSpPr>
        <p:spPr>
          <a:xfrm>
            <a:off x="4617720" y="2468880"/>
            <a:ext cx="640080" cy="640080"/>
          </a:xfrm>
          <a:prstGeom prst="ellipse">
            <a:avLst/>
          </a:prstGeom>
          <a:solidFill>
            <a:srgbClr val="FFD66B"/>
          </a:solidFill>
          <a:ln w="12700">
            <a:solidFill>
              <a:srgbClr val="FFD66B"/>
            </a:solidFill>
            <a:prstDash val="solid"/>
          </a:ln>
        </p:spPr>
      </p:sp>
      <p:sp>
        <p:nvSpPr>
          <p:cNvPr id="13" name="Text 11"/>
          <p:cNvSpPr/>
          <p:nvPr/>
        </p:nvSpPr>
        <p:spPr>
          <a:xfrm>
            <a:off x="4617720" y="2468880"/>
            <a:ext cx="640080" cy="640080"/>
          </a:xfrm>
          <a:prstGeom prst="rect">
            <a:avLst/>
          </a:prstGeom>
          <a:noFill/>
          <a:ln/>
        </p:spPr>
        <p:txBody>
          <a:bodyPr wrap="square" rtlCol="0" anchor="ctr"/>
          <a:lstStyle/>
          <a:p>
            <a:pPr algn="ctr" indent="0" marL="0">
              <a:buNone/>
            </a:pPr>
            <a:r>
              <a:rPr lang="en-US" sz="2200" b="1" dirty="0">
                <a:solidFill>
                  <a:srgbClr val="001A4D"/>
                </a:solidFill>
                <a:latin typeface="Abadi" pitchFamily="34" charset="0"/>
                <a:ea typeface="Abadi" pitchFamily="34" charset="-122"/>
                <a:cs typeface="Abadi" pitchFamily="34" charset="-120"/>
              </a:rPr>
              <a:t>2</a:t>
            </a:r>
            <a:endParaRPr lang="en-US" sz="2200" dirty="0"/>
          </a:p>
        </p:txBody>
      </p:sp>
      <p:sp>
        <p:nvSpPr>
          <p:cNvPr id="14" name="Text 12"/>
          <p:cNvSpPr/>
          <p:nvPr/>
        </p:nvSpPr>
        <p:spPr>
          <a:xfrm>
            <a:off x="4617720" y="3291840"/>
            <a:ext cx="3063240" cy="1097280"/>
          </a:xfrm>
          <a:prstGeom prst="rect">
            <a:avLst/>
          </a:prstGeom>
          <a:noFill/>
          <a:ln/>
        </p:spPr>
        <p:txBody>
          <a:bodyPr wrap="square" rtlCol="0" anchor="t"/>
          <a:lstStyle/>
          <a:p>
            <a:pPr indent="0" marL="0">
              <a:buNone/>
            </a:pPr>
            <a:r>
              <a:rPr lang="en-US" sz="1800" b="1" dirty="0">
                <a:solidFill>
                  <a:srgbClr val="FFFFFF"/>
                </a:solidFill>
                <a:latin typeface="Abadi" pitchFamily="34" charset="0"/>
                <a:ea typeface="Abadi" pitchFamily="34" charset="-122"/>
                <a:cs typeface="Abadi" pitchFamily="34" charset="-120"/>
              </a:rPr>
              <a:t>Sit on the clinical reference group</a:t>
            </a:r>
            <a:endParaRPr lang="en-US" sz="1800" dirty="0"/>
          </a:p>
        </p:txBody>
      </p:sp>
      <p:sp>
        <p:nvSpPr>
          <p:cNvPr id="15" name="Text 13"/>
          <p:cNvSpPr/>
          <p:nvPr/>
        </p:nvSpPr>
        <p:spPr>
          <a:xfrm>
            <a:off x="4617720" y="4480560"/>
            <a:ext cx="3063240" cy="1463040"/>
          </a:xfrm>
          <a:prstGeom prst="rect">
            <a:avLst/>
          </a:prstGeom>
          <a:noFill/>
          <a:ln/>
        </p:spPr>
        <p:txBody>
          <a:bodyPr wrap="square" rtlCol="0" anchor="t"/>
          <a:lstStyle/>
          <a:p>
            <a:pPr indent="0" marL="0">
              <a:lnSpc>
                <a:spcPct val="130000"/>
              </a:lnSpc>
              <a:buNone/>
            </a:pPr>
            <a:r>
              <a:rPr lang="en-US" sz="1200" dirty="0">
                <a:solidFill>
                  <a:srgbClr val="FFFFFF"/>
                </a:solidFill>
                <a:latin typeface="Abadi" pitchFamily="34" charset="0"/>
                <a:ea typeface="Abadi" pitchFamily="34" charset="-122"/>
                <a:cs typeface="Abadi" pitchFamily="34" charset="-120"/>
              </a:rPr>
              <a:t>A patient or lay representative sits on the regional clinical reference group that decides which configurations are admitted next. We want that voice to be yours.</a:t>
            </a:r>
            <a:endParaRPr lang="en-US" sz="1200" dirty="0"/>
          </a:p>
        </p:txBody>
      </p:sp>
      <p:sp>
        <p:nvSpPr>
          <p:cNvPr id="16" name="Shape 14"/>
          <p:cNvSpPr/>
          <p:nvPr/>
        </p:nvSpPr>
        <p:spPr>
          <a:xfrm>
            <a:off x="8138160" y="2194560"/>
            <a:ext cx="3611880" cy="3931920"/>
          </a:xfrm>
          <a:prstGeom prst="rect">
            <a:avLst/>
          </a:prstGeom>
          <a:solidFill>
            <a:srgbClr val="003087"/>
          </a:solidFill>
          <a:ln w="12700">
            <a:solidFill>
              <a:srgbClr val="003087"/>
            </a:solidFill>
            <a:prstDash val="solid"/>
          </a:ln>
        </p:spPr>
      </p:sp>
      <p:sp>
        <p:nvSpPr>
          <p:cNvPr id="17" name="Shape 15"/>
          <p:cNvSpPr/>
          <p:nvPr/>
        </p:nvSpPr>
        <p:spPr>
          <a:xfrm>
            <a:off x="8412480" y="2468880"/>
            <a:ext cx="640080" cy="640080"/>
          </a:xfrm>
          <a:prstGeom prst="ellipse">
            <a:avLst/>
          </a:prstGeom>
          <a:solidFill>
            <a:srgbClr val="FFD66B"/>
          </a:solidFill>
          <a:ln w="12700">
            <a:solidFill>
              <a:srgbClr val="FFD66B"/>
            </a:solidFill>
            <a:prstDash val="solid"/>
          </a:ln>
        </p:spPr>
      </p:sp>
      <p:sp>
        <p:nvSpPr>
          <p:cNvPr id="18" name="Text 16"/>
          <p:cNvSpPr/>
          <p:nvPr/>
        </p:nvSpPr>
        <p:spPr>
          <a:xfrm>
            <a:off x="8412480" y="2468880"/>
            <a:ext cx="640080" cy="640080"/>
          </a:xfrm>
          <a:prstGeom prst="rect">
            <a:avLst/>
          </a:prstGeom>
          <a:noFill/>
          <a:ln/>
        </p:spPr>
        <p:txBody>
          <a:bodyPr wrap="square" rtlCol="0" anchor="ctr"/>
          <a:lstStyle/>
          <a:p>
            <a:pPr algn="ctr" indent="0" marL="0">
              <a:buNone/>
            </a:pPr>
            <a:r>
              <a:rPr lang="en-US" sz="2200" b="1" dirty="0">
                <a:solidFill>
                  <a:srgbClr val="001A4D"/>
                </a:solidFill>
                <a:latin typeface="Abadi" pitchFamily="34" charset="0"/>
                <a:ea typeface="Abadi" pitchFamily="34" charset="-122"/>
                <a:cs typeface="Abadi" pitchFamily="34" charset="-120"/>
              </a:rPr>
              <a:t>3</a:t>
            </a:r>
            <a:endParaRPr lang="en-US" sz="2200" dirty="0"/>
          </a:p>
        </p:txBody>
      </p:sp>
      <p:sp>
        <p:nvSpPr>
          <p:cNvPr id="19" name="Text 17"/>
          <p:cNvSpPr/>
          <p:nvPr/>
        </p:nvSpPr>
        <p:spPr>
          <a:xfrm>
            <a:off x="8412480" y="3291840"/>
            <a:ext cx="3063240" cy="1097280"/>
          </a:xfrm>
          <a:prstGeom prst="rect">
            <a:avLst/>
          </a:prstGeom>
          <a:noFill/>
          <a:ln/>
        </p:spPr>
        <p:txBody>
          <a:bodyPr wrap="square" rtlCol="0" anchor="t"/>
          <a:lstStyle/>
          <a:p>
            <a:pPr indent="0" marL="0">
              <a:buNone/>
            </a:pPr>
            <a:r>
              <a:rPr lang="en-US" sz="1800" b="1" dirty="0">
                <a:solidFill>
                  <a:srgbClr val="FFFFFF"/>
                </a:solidFill>
                <a:latin typeface="Abadi" pitchFamily="34" charset="0"/>
                <a:ea typeface="Abadi" pitchFamily="34" charset="-122"/>
                <a:cs typeface="Abadi" pitchFamily="34" charset="-120"/>
              </a:rPr>
              <a:t>Help us test the next wave</a:t>
            </a:r>
            <a:endParaRPr lang="en-US" sz="1800" dirty="0"/>
          </a:p>
        </p:txBody>
      </p:sp>
      <p:sp>
        <p:nvSpPr>
          <p:cNvPr id="20" name="Text 18"/>
          <p:cNvSpPr/>
          <p:nvPr/>
        </p:nvSpPr>
        <p:spPr>
          <a:xfrm>
            <a:off x="8412480" y="4480560"/>
            <a:ext cx="3063240" cy="1463040"/>
          </a:xfrm>
          <a:prstGeom prst="rect">
            <a:avLst/>
          </a:prstGeom>
          <a:noFill/>
          <a:ln/>
        </p:spPr>
        <p:txBody>
          <a:bodyPr wrap="square" rtlCol="0" anchor="t"/>
          <a:lstStyle/>
          <a:p>
            <a:pPr indent="0" marL="0">
              <a:lnSpc>
                <a:spcPct val="130000"/>
              </a:lnSpc>
              <a:buNone/>
            </a:pPr>
            <a:r>
              <a:rPr lang="en-US" sz="1200" dirty="0">
                <a:solidFill>
                  <a:srgbClr val="FFFFFF"/>
                </a:solidFill>
                <a:latin typeface="Abadi" pitchFamily="34" charset="0"/>
                <a:ea typeface="Abadi" pitchFamily="34" charset="-122"/>
                <a:cs typeface="Abadi" pitchFamily="34" charset="-120"/>
              </a:rPr>
              <a:t>The model extends to new conditions and pathways over time. Patient groups help us decide which to admit first, on what terms, and for whom.</a:t>
            </a:r>
            <a:endParaRPr lang="en-US" sz="1200" dirty="0"/>
          </a:p>
        </p:txBody>
      </p:sp>
      <p:sp>
        <p:nvSpPr>
          <p:cNvPr id="21" name="Text 19"/>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Patient group</a:t>
            </a:r>
            <a:endParaRPr lang="en-US" sz="900" dirty="0"/>
          </a:p>
        </p:txBody>
      </p:sp>
      <p:sp>
        <p:nvSpPr>
          <p:cNvPr id="22" name="Text 20"/>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9 of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A4D"/>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03087"/>
          </a:solidFill>
          <a:ln w="12700">
            <a:solidFill>
              <a:srgbClr val="003087"/>
            </a:solidFill>
            <a:prstDash val="solid"/>
          </a:ln>
        </p:spPr>
      </p:sp>
      <p:sp>
        <p:nvSpPr>
          <p:cNvPr id="3" name="Shape 1"/>
          <p:cNvSpPr/>
          <p:nvPr/>
        </p:nvSpPr>
        <p:spPr>
          <a:xfrm>
            <a:off x="548640" y="1280160"/>
            <a:ext cx="1097280" cy="54864"/>
          </a:xfrm>
          <a:prstGeom prst="rect">
            <a:avLst/>
          </a:prstGeom>
          <a:solidFill>
            <a:srgbClr val="FFD66B"/>
          </a:solidFill>
          <a:ln w="12700">
            <a:solidFill>
              <a:srgbClr val="FFD66B"/>
            </a:solidFill>
            <a:prstDash val="solid"/>
          </a:ln>
        </p:spPr>
      </p:sp>
      <p:sp>
        <p:nvSpPr>
          <p:cNvPr id="4" name="Text 2"/>
          <p:cNvSpPr/>
          <p:nvPr/>
        </p:nvSpPr>
        <p:spPr>
          <a:xfrm>
            <a:off x="548640" y="1463040"/>
            <a:ext cx="7315200" cy="32004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CLOSING</a:t>
            </a:r>
            <a:endParaRPr lang="en-US" sz="1100" dirty="0"/>
          </a:p>
        </p:txBody>
      </p:sp>
      <p:sp>
        <p:nvSpPr>
          <p:cNvPr id="5" name="Text 3"/>
          <p:cNvSpPr/>
          <p:nvPr/>
        </p:nvSpPr>
        <p:spPr>
          <a:xfrm>
            <a:off x="548640" y="2011680"/>
            <a:ext cx="10972800" cy="2560320"/>
          </a:xfrm>
          <a:prstGeom prst="rect">
            <a:avLst/>
          </a:prstGeom>
          <a:noFill/>
          <a:ln/>
        </p:spPr>
        <p:txBody>
          <a:bodyPr wrap="square" rtlCol="0" anchor="t"/>
          <a:lstStyle/>
          <a:p>
            <a:pPr indent="0" marL="0">
              <a:buNone/>
            </a:pPr>
            <a:r>
              <a:rPr lang="en-US" sz="4200" b="1" dirty="0">
                <a:solidFill>
                  <a:srgbClr val="FFFFFF"/>
                </a:solidFill>
                <a:latin typeface="Abadi" pitchFamily="34" charset="0"/>
                <a:ea typeface="Abadi" pitchFamily="34" charset="-122"/>
                <a:cs typeface="Abadi" pitchFamily="34" charset="-120"/>
              </a:rPr>
              <a:t>Errol’s mornings are everyone’s mornings.</a:t>
            </a:r>
            <a:endParaRPr lang="en-US" sz="4200" dirty="0"/>
          </a:p>
        </p:txBody>
      </p:sp>
      <p:sp>
        <p:nvSpPr>
          <p:cNvPr id="6" name="Text 4"/>
          <p:cNvSpPr/>
          <p:nvPr/>
        </p:nvSpPr>
        <p:spPr>
          <a:xfrm>
            <a:off x="548640" y="4663440"/>
            <a:ext cx="10058400" cy="1463040"/>
          </a:xfrm>
          <a:prstGeom prst="rect">
            <a:avLst/>
          </a:prstGeom>
          <a:noFill/>
          <a:ln/>
        </p:spPr>
        <p:txBody>
          <a:bodyPr wrap="square" rtlCol="0" anchor="t"/>
          <a:lstStyle/>
          <a:p>
            <a:pPr indent="0" marL="0">
              <a:buNone/>
            </a:pPr>
            <a:r>
              <a:rPr lang="en-US" sz="1700" dirty="0">
                <a:solidFill>
                  <a:srgbClr val="7EC8E3"/>
                </a:solidFill>
                <a:latin typeface="Abadi" pitchFamily="34" charset="0"/>
                <a:ea typeface="Abadi" pitchFamily="34" charset="-122"/>
                <a:cs typeface="Abadi" pitchFamily="34" charset="-120"/>
              </a:rPr>
              <a:t>The operating model exists so that the joining-up work, the procurement work, the assurance work, the integration work, the clinical-safety work, the contracting work, is done once at the centre. The patient experiences one service. That is the whole point.</a:t>
            </a:r>
            <a:endParaRPr lang="en-US" sz="1700" dirty="0"/>
          </a:p>
        </p:txBody>
      </p:sp>
      <p:pic>
        <p:nvPicPr>
          <p:cNvPr id="7" name="Image 0" descr="/tmp/ppt-build/nhs-logo.jpg">    </p:cNvPr>
          <p:cNvPicPr>
            <a:picLocks noChangeAspect="1"/>
          </p:cNvPicPr>
          <p:nvPr/>
        </p:nvPicPr>
        <p:blipFill>
          <a:blip r:embed="rId1"/>
          <a:stretch>
            <a:fillRect/>
          </a:stretch>
        </p:blipFill>
        <p:spPr>
          <a:xfrm>
            <a:off x="10728655" y="5669280"/>
            <a:ext cx="1005840" cy="7863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3087"/>
          </a:solidFill>
          <a:ln w="12700">
            <a:solidFill>
              <a:srgbClr val="003087"/>
            </a:solidFill>
            <a:prstDash val="solid"/>
          </a:ln>
        </p:spPr>
      </p:sp>
      <p:sp>
        <p:nvSpPr>
          <p:cNvPr id="3" name="Shape 1"/>
          <p:cNvSpPr/>
          <p:nvPr/>
        </p:nvSpPr>
        <p:spPr>
          <a:xfrm>
            <a:off x="548640" y="914400"/>
            <a:ext cx="822960" cy="54864"/>
          </a:xfrm>
          <a:prstGeom prst="rect">
            <a:avLst/>
          </a:prstGeom>
          <a:solidFill>
            <a:srgbClr val="FFD66B"/>
          </a:solidFill>
          <a:ln w="12700">
            <a:solidFill>
              <a:srgbClr val="FFD66B"/>
            </a:solidFill>
            <a:prstDash val="solid"/>
          </a:ln>
        </p:spPr>
      </p:sp>
      <p:sp>
        <p:nvSpPr>
          <p:cNvPr id="4" name="Text 2"/>
          <p:cNvSpPr/>
          <p:nvPr/>
        </p:nvSpPr>
        <p:spPr>
          <a:xfrm>
            <a:off x="548640" y="1097280"/>
            <a:ext cx="10972800" cy="1097280"/>
          </a:xfrm>
          <a:prstGeom prst="rect">
            <a:avLst/>
          </a:prstGeom>
          <a:noFill/>
          <a:ln/>
        </p:spPr>
        <p:txBody>
          <a:bodyPr wrap="square" rtlCol="0" anchor="ctr"/>
          <a:lstStyle/>
          <a:p>
            <a:pPr indent="0" marL="0">
              <a:buNone/>
            </a:pPr>
            <a:r>
              <a:rPr lang="en-US" sz="4400" b="1" dirty="0">
                <a:solidFill>
                  <a:srgbClr val="001A4D"/>
                </a:solidFill>
                <a:latin typeface="Abadi" pitchFamily="34" charset="0"/>
                <a:ea typeface="Abadi" pitchFamily="34" charset="-122"/>
                <a:cs typeface="Abadi" pitchFamily="34" charset="-120"/>
              </a:rPr>
              <a:t>Thank you</a:t>
            </a:r>
            <a:endParaRPr lang="en-US" sz="4400" dirty="0"/>
          </a:p>
        </p:txBody>
      </p:sp>
      <p:sp>
        <p:nvSpPr>
          <p:cNvPr id="5" name="Text 3"/>
          <p:cNvSpPr/>
          <p:nvPr/>
        </p:nvSpPr>
        <p:spPr>
          <a:xfrm>
            <a:off x="548640" y="2468880"/>
            <a:ext cx="10972800" cy="548640"/>
          </a:xfrm>
          <a:prstGeom prst="rect">
            <a:avLst/>
          </a:prstGeom>
          <a:noFill/>
          <a:ln/>
        </p:spPr>
        <p:txBody>
          <a:bodyPr wrap="square" rtlCol="0" anchor="ctr"/>
          <a:lstStyle/>
          <a:p>
            <a:pPr indent="0" marL="0">
              <a:buNone/>
            </a:pPr>
            <a:r>
              <a:rPr lang="en-US" sz="1700" dirty="0">
                <a:solidFill>
                  <a:srgbClr val="4C6272"/>
                </a:solidFill>
                <a:latin typeface="Abadi" pitchFamily="34" charset="0"/>
                <a:ea typeface="Abadi" pitchFamily="34" charset="-122"/>
                <a:cs typeface="Abadi" pitchFamily="34" charset="-120"/>
              </a:rPr>
              <a:t>Questions, challenges and corrections welcome.</a:t>
            </a:r>
            <a:endParaRPr lang="en-US" sz="1700" dirty="0"/>
          </a:p>
        </p:txBody>
      </p:sp>
      <p:pic>
        <p:nvPicPr>
          <p:cNvPr id="6" name="Image 0" descr="/tmp/ppt-build/nhs-logo.jpg">    </p:cNvPr>
          <p:cNvPicPr>
            <a:picLocks noChangeAspect="1"/>
          </p:cNvPicPr>
          <p:nvPr/>
        </p:nvPicPr>
        <p:blipFill>
          <a:blip r:embed="rId1"/>
          <a:stretch>
            <a:fillRect/>
          </a:stretch>
        </p:blipFill>
        <p:spPr>
          <a:xfrm>
            <a:off x="10545775" y="5669280"/>
            <a:ext cx="1188720" cy="932688"/>
          </a:xfrm>
          <a:prstGeom prst="rect">
            <a:avLst/>
          </a:prstGeom>
        </p:spPr>
      </p:pic>
      <p:sp>
        <p:nvSpPr>
          <p:cNvPr id="7" name="Text 4"/>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11 of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 that meets you where you are.</dc:title>
  <dc:subject>PptxGenJS Presentation</dc:subject>
  <dc:creator>NHS England DTx Programme</dc:creator>
  <cp:lastModifiedBy>NHS England DTx Programme</cp:lastModifiedBy>
  <cp:revision>1</cp:revision>
  <dcterms:created xsi:type="dcterms:W3CDTF">2026-05-26T10:49:43Z</dcterms:created>
  <dcterms:modified xsi:type="dcterms:W3CDTF">2026-05-26T10:49:43Z</dcterms:modified>
</cp:coreProperties>
</file>