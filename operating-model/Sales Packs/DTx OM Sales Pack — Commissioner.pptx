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3087"/>
        </a:solidFill>
      </p:bgPr>
    </p:bg>
    <p:spTree>
      <p:nvGrpSpPr>
        <p:cNvPr id="1" name=""/>
        <p:cNvGrpSpPr/>
        <p:nvPr/>
      </p:nvGrpSpPr>
      <p:grpSpPr>
        <a:xfrm>
          <a:off x="0" y="0"/>
          <a:ext cx="0" cy="0"/>
          <a:chOff x="0" y="0"/>
          <a:chExt cx="0" cy="0"/>
        </a:xfrm>
      </p:grpSpPr>
      <p:sp>
        <p:nvSpPr>
          <p:cNvPr id="2" name="Shape 0"/>
          <p:cNvSpPr/>
          <p:nvPr/>
        </p:nvSpPr>
        <p:spPr>
          <a:xfrm>
            <a:off x="8076895" y="0"/>
            <a:ext cx="4114800" cy="6858000"/>
          </a:xfrm>
          <a:prstGeom prst="rect">
            <a:avLst/>
          </a:prstGeom>
          <a:solidFill>
            <a:srgbClr val="005EB8"/>
          </a:solidFill>
          <a:ln w="12700">
            <a:solidFill>
              <a:srgbClr val="005EB8"/>
            </a:solidFill>
            <a:prstDash val="solid"/>
          </a:ln>
        </p:spPr>
      </p:sp>
      <p:pic>
        <p:nvPicPr>
          <p:cNvPr id="3" name="Image 0" descr="/tmp/ppt-build/nhs-logo.jpg">    </p:cNvPr>
          <p:cNvPicPr>
            <a:picLocks noChangeAspect="1"/>
          </p:cNvPicPr>
          <p:nvPr/>
        </p:nvPicPr>
        <p:blipFill>
          <a:blip r:embed="rId1"/>
          <a:stretch>
            <a:fillRect/>
          </a:stretch>
        </p:blipFill>
        <p:spPr>
          <a:xfrm>
            <a:off x="10545775" y="457200"/>
            <a:ext cx="1188720" cy="932688"/>
          </a:xfrm>
          <a:prstGeom prst="rect">
            <a:avLst/>
          </a:prstGeom>
        </p:spPr>
      </p:pic>
      <p:sp>
        <p:nvSpPr>
          <p:cNvPr id="4" name="Shape 1"/>
          <p:cNvSpPr/>
          <p:nvPr/>
        </p:nvSpPr>
        <p:spPr>
          <a:xfrm>
            <a:off x="548640" y="1097280"/>
            <a:ext cx="822960" cy="54864"/>
          </a:xfrm>
          <a:prstGeom prst="rect">
            <a:avLst/>
          </a:prstGeom>
          <a:solidFill>
            <a:srgbClr val="FFD66B"/>
          </a:solidFill>
          <a:ln w="12700">
            <a:solidFill>
              <a:srgbClr val="FFD66B"/>
            </a:solidFill>
            <a:prstDash val="solid"/>
          </a:ln>
        </p:spPr>
      </p:sp>
      <p:sp>
        <p:nvSpPr>
          <p:cNvPr id="5" name="Text 2"/>
          <p:cNvSpPr/>
          <p:nvPr/>
        </p:nvSpPr>
        <p:spPr>
          <a:xfrm>
            <a:off x="548640" y="1325880"/>
            <a:ext cx="7315200" cy="320040"/>
          </a:xfrm>
          <a:prstGeom prst="rect">
            <a:avLst/>
          </a:prstGeom>
          <a:noFill/>
          <a:ln/>
        </p:spPr>
        <p:txBody>
          <a:bodyPr wrap="square" rtlCol="0" anchor="ctr"/>
          <a:lstStyle/>
          <a:p>
            <a:pPr indent="0" marL="0">
              <a:buNone/>
            </a:pPr>
            <a:r>
              <a:rPr lang="en-US" sz="1100" b="1" spc="100" kern="0" dirty="0">
                <a:solidFill>
                  <a:srgbClr val="FFD66B"/>
                </a:solidFill>
                <a:latin typeface="Abadi" pitchFamily="34" charset="0"/>
                <a:ea typeface="Abadi" pitchFamily="34" charset="-122"/>
                <a:cs typeface="Abadi" pitchFamily="34" charset="-120"/>
              </a:rPr>
              <a:t>DTX OPERATING MODEL  ·  SALES PACK</a:t>
            </a:r>
            <a:endParaRPr lang="en-US" sz="1100" dirty="0"/>
          </a:p>
        </p:txBody>
      </p:sp>
      <p:sp>
        <p:nvSpPr>
          <p:cNvPr id="6" name="Text 3"/>
          <p:cNvSpPr/>
          <p:nvPr/>
        </p:nvSpPr>
        <p:spPr>
          <a:xfrm>
            <a:off x="548640" y="1691640"/>
            <a:ext cx="7315200" cy="320040"/>
          </a:xfrm>
          <a:prstGeom prst="rect">
            <a:avLst/>
          </a:prstGeom>
          <a:noFill/>
          <a:ln/>
        </p:spPr>
        <p:txBody>
          <a:bodyPr wrap="square" rtlCol="0" anchor="ctr"/>
          <a:lstStyle/>
          <a:p>
            <a:pPr indent="0" marL="0">
              <a:buNone/>
            </a:pPr>
            <a:r>
              <a:rPr lang="en-US" sz="1000" b="1" spc="100" kern="0" dirty="0">
                <a:solidFill>
                  <a:srgbClr val="FFFFFF"/>
                </a:solidFill>
                <a:latin typeface="Abadi" pitchFamily="34" charset="0"/>
                <a:ea typeface="Abadi" pitchFamily="34" charset="-122"/>
                <a:cs typeface="Abadi" pitchFamily="34" charset="-120"/>
              </a:rPr>
              <a:t>ICB COMMISSIONERS</a:t>
            </a:r>
            <a:endParaRPr lang="en-US" sz="1000" dirty="0"/>
          </a:p>
        </p:txBody>
      </p:sp>
      <p:sp>
        <p:nvSpPr>
          <p:cNvPr id="7" name="Text 4"/>
          <p:cNvSpPr/>
          <p:nvPr/>
        </p:nvSpPr>
        <p:spPr>
          <a:xfrm>
            <a:off x="548640" y="2286000"/>
            <a:ext cx="7772400" cy="2011680"/>
          </a:xfrm>
          <a:prstGeom prst="rect">
            <a:avLst/>
          </a:prstGeom>
          <a:noFill/>
          <a:ln/>
        </p:spPr>
        <p:txBody>
          <a:bodyPr wrap="square" rtlCol="0" anchor="t"/>
          <a:lstStyle/>
          <a:p>
            <a:pPr indent="0" marL="0">
              <a:buNone/>
            </a:pPr>
            <a:r>
              <a:rPr lang="en-US" sz="4400" b="1" dirty="0">
                <a:solidFill>
                  <a:srgbClr val="FFFFFF"/>
                </a:solidFill>
                <a:latin typeface="Abadi" pitchFamily="34" charset="0"/>
                <a:ea typeface="Abadi" pitchFamily="34" charset="-122"/>
                <a:cs typeface="Abadi" pitchFamily="34" charset="-120"/>
              </a:rPr>
              <a:t>Easy buying as the North Star.</a:t>
            </a:r>
            <a:endParaRPr lang="en-US" sz="4400" dirty="0"/>
          </a:p>
        </p:txBody>
      </p:sp>
      <p:sp>
        <p:nvSpPr>
          <p:cNvPr id="8" name="Text 5"/>
          <p:cNvSpPr/>
          <p:nvPr/>
        </p:nvSpPr>
        <p:spPr>
          <a:xfrm>
            <a:off x="548640" y="4572000"/>
            <a:ext cx="7772400" cy="1463040"/>
          </a:xfrm>
          <a:prstGeom prst="rect">
            <a:avLst/>
          </a:prstGeom>
          <a:noFill/>
          <a:ln/>
        </p:spPr>
        <p:txBody>
          <a:bodyPr wrap="square" rtlCol="0" anchor="t"/>
          <a:lstStyle/>
          <a:p>
            <a:pPr indent="0" marL="0">
              <a:buNone/>
            </a:pPr>
            <a:r>
              <a:rPr lang="en-US" sz="1700" dirty="0">
                <a:solidFill>
                  <a:srgbClr val="7EC8E3"/>
                </a:solidFill>
                <a:latin typeface="Abadi" pitchFamily="34" charset="0"/>
                <a:ea typeface="Abadi" pitchFamily="34" charset="-122"/>
                <a:cs typeface="Abadi" pitchFamily="34" charset="-120"/>
              </a:rPr>
              <a:t>A portfolio operating model that means three workstreams under one framework, six weeks from brief to call-off instead of eighteen months, and the year you do not lose to procurement attrition.</a:t>
            </a:r>
            <a:endParaRPr lang="en-US" sz="1700" dirty="0"/>
          </a:p>
        </p:txBody>
      </p:sp>
      <p:sp>
        <p:nvSpPr>
          <p:cNvPr id="9" name="Text 6"/>
          <p:cNvSpPr/>
          <p:nvPr/>
        </p:nvSpPr>
        <p:spPr>
          <a:xfrm>
            <a:off x="548640" y="6217920"/>
            <a:ext cx="8229600" cy="274320"/>
          </a:xfrm>
          <a:prstGeom prst="rect">
            <a:avLst/>
          </a:prstGeom>
          <a:noFill/>
          <a:ln/>
        </p:spPr>
        <p:txBody>
          <a:bodyPr wrap="square" rtlCol="0" anchor="ctr"/>
          <a:lstStyle/>
          <a:p>
            <a:pPr indent="0" marL="0">
              <a:buNone/>
            </a:pPr>
            <a:r>
              <a:rPr lang="en-US" sz="900" i="1" spc="100" kern="0" dirty="0">
                <a:solidFill>
                  <a:srgbClr val="AABBD0"/>
                </a:solidFill>
                <a:latin typeface="Abadi" pitchFamily="34" charset="0"/>
                <a:ea typeface="Abadi" pitchFamily="34" charset="-122"/>
                <a:cs typeface="Abadi" pitchFamily="34" charset="-120"/>
              </a:rPr>
              <a:t>Digital Therapeutics  ·  HomeTest  ·  HealthStore  ·  HealthSync</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5EB8"/>
          </a:solidFill>
          <a:ln w="12700">
            <a:solidFill>
              <a:srgbClr val="005EB8"/>
            </a:solidFill>
            <a:prstDash val="solid"/>
          </a:ln>
        </p:spPr>
      </p:sp>
      <p:sp>
        <p:nvSpPr>
          <p:cNvPr id="3" name="Text 1"/>
          <p:cNvSpPr/>
          <p:nvPr/>
        </p:nvSpPr>
        <p:spPr>
          <a:xfrm>
            <a:off x="548640" y="457200"/>
            <a:ext cx="7315200" cy="274320"/>
          </a:xfrm>
          <a:prstGeom prst="rect">
            <a:avLst/>
          </a:prstGeom>
          <a:noFill/>
          <a:ln/>
        </p:spPr>
        <p:txBody>
          <a:bodyPr wrap="square" rtlCol="0" anchor="ctr"/>
          <a:lstStyle/>
          <a:p>
            <a:pPr indent="0" marL="0">
              <a:buNone/>
            </a:pPr>
            <a:r>
              <a:rPr lang="en-US" sz="1000" b="1" spc="100" kern="0" dirty="0">
                <a:solidFill>
                  <a:srgbClr val="005EB8"/>
                </a:solidFill>
                <a:latin typeface="Abadi" pitchFamily="34" charset="0"/>
                <a:ea typeface="Abadi" pitchFamily="34" charset="-122"/>
                <a:cs typeface="Abadi" pitchFamily="34" charset="-120"/>
              </a:rPr>
              <a:t>THE REALITY</a:t>
            </a:r>
            <a:endParaRPr lang="en-US" sz="1000" dirty="0"/>
          </a:p>
        </p:txBody>
      </p:sp>
      <p:sp>
        <p:nvSpPr>
          <p:cNvPr id="4" name="Shape 2"/>
          <p:cNvSpPr/>
          <p:nvPr/>
        </p:nvSpPr>
        <p:spPr>
          <a:xfrm>
            <a:off x="548640" y="777240"/>
            <a:ext cx="548640" cy="54864"/>
          </a:xfrm>
          <a:prstGeom prst="rect">
            <a:avLst/>
          </a:prstGeom>
          <a:solidFill>
            <a:srgbClr val="FFD66B"/>
          </a:solidFill>
          <a:ln w="12700">
            <a:solidFill>
              <a:srgbClr val="FFD66B"/>
            </a:solidFill>
            <a:prstDash val="solid"/>
          </a:ln>
        </p:spPr>
      </p:sp>
      <p:sp>
        <p:nvSpPr>
          <p:cNvPr id="5" name="Text 3"/>
          <p:cNvSpPr/>
          <p:nvPr/>
        </p:nvSpPr>
        <p:spPr>
          <a:xfrm>
            <a:off x="548640" y="914400"/>
            <a:ext cx="6858000" cy="1371600"/>
          </a:xfrm>
          <a:prstGeom prst="rect">
            <a:avLst/>
          </a:prstGeom>
          <a:noFill/>
          <a:ln/>
        </p:spPr>
        <p:txBody>
          <a:bodyPr wrap="square" rtlCol="0" anchor="t"/>
          <a:lstStyle/>
          <a:p>
            <a:pPr indent="0" marL="0">
              <a:buNone/>
            </a:pPr>
            <a:r>
              <a:rPr lang="en-US" sz="3000" b="1" dirty="0">
                <a:solidFill>
                  <a:srgbClr val="003087"/>
                </a:solidFill>
                <a:latin typeface="Abadi" pitchFamily="34" charset="0"/>
                <a:ea typeface="Abadi" pitchFamily="34" charset="-122"/>
                <a:cs typeface="Abadi" pitchFamily="34" charset="-120"/>
              </a:rPr>
              <a:t>A year you do not have. A detection gap and an admissions curve you do.</a:t>
            </a:r>
            <a:endParaRPr lang="en-US" sz="3000" dirty="0"/>
          </a:p>
        </p:txBody>
      </p:sp>
      <p:sp>
        <p:nvSpPr>
          <p:cNvPr id="6" name="Text 4"/>
          <p:cNvSpPr/>
          <p:nvPr/>
        </p:nvSpPr>
        <p:spPr>
          <a:xfrm>
            <a:off x="548640" y="2468880"/>
            <a:ext cx="6858000" cy="3657600"/>
          </a:xfrm>
          <a:prstGeom prst="rect">
            <a:avLst/>
          </a:prstGeom>
          <a:noFill/>
          <a:ln/>
        </p:spPr>
        <p:txBody>
          <a:bodyPr wrap="square" rtlCol="0" anchor="t"/>
          <a:lstStyle/>
          <a:p>
            <a:pPr indent="0" marL="0">
              <a:lnSpc>
                <a:spcPct val="130000"/>
              </a:lnSpc>
              <a:spcAft>
                <a:spcPts val="1000"/>
              </a:spcAft>
              <a:buNone/>
            </a:pPr>
            <a:r>
              <a:rPr lang="en-US" sz="1400" dirty="0">
                <a:solidFill>
                  <a:srgbClr val="231F20"/>
                </a:solidFill>
                <a:latin typeface="Abadi" pitchFamily="34" charset="0"/>
                <a:ea typeface="Abadi" pitchFamily="34" charset="-122"/>
                <a:cs typeface="Abadi" pitchFamily="34" charset="-120"/>
              </a:rPr>
              <a:t>A typical ICB commissioning brief in 2026 has a cardiovascular detection gap, rising COPD admissions, and a high-risk monitoring cohort that needs something better than the current annual review.</a:t>
            </a:r>
            <a:pPr indent="0" marL="0">
              <a:lnSpc>
                <a:spcPct val="130000"/>
              </a:lnSpc>
              <a:spcAft>
                <a:spcPts val="1000"/>
              </a:spcAft>
              <a:buNone/>
            </a:pPr>
            <a:r>
              <a:rPr lang="en-US" sz="1400" dirty="0">
                <a:solidFill>
                  <a:srgbClr val="231F20"/>
                </a:solidFill>
                <a:latin typeface="Abadi" pitchFamily="34" charset="0"/>
                <a:ea typeface="Abadi" pitchFamily="34" charset="-122"/>
                <a:cs typeface="Abadi" pitchFamily="34" charset="-120"/>
              </a:rPr>
              <a:t>The clinical case is settled. What is missing is the time, the headcount, and the procurement architecture to stand up three separate digital workstreams against three separate timelines.</a:t>
            </a:r>
            <a:pPr indent="0" marL="0">
              <a:lnSpc>
                <a:spcPct val="130000"/>
              </a:lnSpc>
              <a:spcAft>
                <a:spcPts val="1000"/>
              </a:spcAft>
              <a:buNone/>
            </a:pPr>
            <a:r>
              <a:rPr lang="en-US" sz="1400" dirty="0">
                <a:solidFill>
                  <a:srgbClr val="231F20"/>
                </a:solidFill>
                <a:latin typeface="Abadi" pitchFamily="34" charset="0"/>
                <a:ea typeface="Abadi" pitchFamily="34" charset="-122"/>
                <a:cs typeface="Abadi" pitchFamily="34" charset="-120"/>
              </a:rPr>
              <a:t>The old way is three procurements, three IG assessments, three sets of MI. Eighteen to twenty-two months minimum.</a:t>
            </a:r>
            <a:pPr indent="0" marL="0">
              <a:lnSpc>
                <a:spcPct val="130000"/>
              </a:lnSpc>
              <a:spcAft>
                <a:spcPts val="800"/>
              </a:spcAft>
              <a:buNone/>
            </a:pPr>
            <a:r>
              <a:rPr lang="en-US" sz="1400" b="1" dirty="0">
                <a:solidFill>
                  <a:srgbClr val="003087"/>
                </a:solidFill>
                <a:latin typeface="Abadi" pitchFamily="34" charset="0"/>
                <a:ea typeface="Abadi" pitchFamily="34" charset="-122"/>
                <a:cs typeface="Abadi" pitchFamily="34" charset="-120"/>
              </a:rPr>
              <a:t>The operating model is the answer to that maths.</a:t>
            </a:r>
            <a:endParaRPr lang="en-US" sz="1400" dirty="0"/>
          </a:p>
        </p:txBody>
      </p:sp>
      <p:sp>
        <p:nvSpPr>
          <p:cNvPr id="7" name="Text 5"/>
          <p:cNvSpPr/>
          <p:nvPr/>
        </p:nvSpPr>
        <p:spPr>
          <a:xfrm>
            <a:off x="548640" y="6400800"/>
            <a:ext cx="7315200" cy="274320"/>
          </a:xfrm>
          <a:prstGeom prst="rect">
            <a:avLst/>
          </a:prstGeom>
          <a:noFill/>
          <a:ln/>
        </p:spPr>
        <p:txBody>
          <a:bodyPr wrap="square" rtlCol="0" anchor="ctr"/>
          <a:lstStyle/>
          <a:p>
            <a:pPr indent="0" marL="0">
              <a:buNone/>
            </a:pPr>
            <a:r>
              <a:rPr lang="en-US" sz="900" i="1" dirty="0">
                <a:solidFill>
                  <a:srgbClr val="7E8B97"/>
                </a:solidFill>
                <a:latin typeface="Abadi" pitchFamily="34" charset="0"/>
                <a:ea typeface="Abadi" pitchFamily="34" charset="-122"/>
                <a:cs typeface="Abadi" pitchFamily="34" charset="-120"/>
              </a:rPr>
              <a:t>DTx Operating Model · Sales pack · Commissioner</a:t>
            </a:r>
            <a:endParaRPr lang="en-US" sz="900" dirty="0"/>
          </a:p>
        </p:txBody>
      </p:sp>
      <p:sp>
        <p:nvSpPr>
          <p:cNvPr id="8" name="Text 6"/>
          <p:cNvSpPr/>
          <p:nvPr/>
        </p:nvSpPr>
        <p:spPr>
          <a:xfrm>
            <a:off x="11002975" y="6400800"/>
            <a:ext cx="914400" cy="274320"/>
          </a:xfrm>
          <a:prstGeom prst="rect">
            <a:avLst/>
          </a:prstGeom>
          <a:noFill/>
          <a:ln/>
        </p:spPr>
        <p:txBody>
          <a:bodyPr wrap="square" rtlCol="0" anchor="ctr"/>
          <a:lstStyle/>
          <a:p>
            <a:pPr algn="r" indent="0" marL="0">
              <a:buNone/>
            </a:pPr>
            <a:r>
              <a:rPr lang="en-US" sz="900" dirty="0">
                <a:solidFill>
                  <a:srgbClr val="7E8B97"/>
                </a:solidFill>
                <a:latin typeface="Abadi" pitchFamily="34" charset="0"/>
                <a:ea typeface="Abadi" pitchFamily="34" charset="-122"/>
                <a:cs typeface="Abadi" pitchFamily="34" charset="-120"/>
              </a:rPr>
              <a:t>2 of 12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03087"/>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FFD66B"/>
          </a:solidFill>
          <a:ln w="12700">
            <a:solidFill>
              <a:srgbClr val="FFD66B"/>
            </a:solidFill>
            <a:prstDash val="solid"/>
          </a:ln>
        </p:spPr>
      </p:sp>
      <p:sp>
        <p:nvSpPr>
          <p:cNvPr id="3" name="Text 1"/>
          <p:cNvSpPr/>
          <p:nvPr/>
        </p:nvSpPr>
        <p:spPr>
          <a:xfrm>
            <a:off x="548640" y="457200"/>
            <a:ext cx="7315200" cy="274320"/>
          </a:xfrm>
          <a:prstGeom prst="rect">
            <a:avLst/>
          </a:prstGeom>
          <a:noFill/>
          <a:ln/>
        </p:spPr>
        <p:txBody>
          <a:bodyPr wrap="square" rtlCol="0" anchor="ctr"/>
          <a:lstStyle/>
          <a:p>
            <a:pPr indent="0" marL="0">
              <a:buNone/>
            </a:pPr>
            <a:r>
              <a:rPr lang="en-US" sz="1000" b="1" spc="100" kern="0" dirty="0">
                <a:solidFill>
                  <a:srgbClr val="FFD66B"/>
                </a:solidFill>
                <a:latin typeface="Abadi" pitchFamily="34" charset="0"/>
                <a:ea typeface="Abadi" pitchFamily="34" charset="-122"/>
                <a:cs typeface="Abadi" pitchFamily="34" charset="-120"/>
              </a:rPr>
              <a:t>MEET SARAH</a:t>
            </a:r>
            <a:endParaRPr lang="en-US" sz="1000" dirty="0"/>
          </a:p>
        </p:txBody>
      </p:sp>
      <p:sp>
        <p:nvSpPr>
          <p:cNvPr id="4" name="Text 2"/>
          <p:cNvSpPr/>
          <p:nvPr/>
        </p:nvSpPr>
        <p:spPr>
          <a:xfrm>
            <a:off x="548640" y="777240"/>
            <a:ext cx="7772400" cy="731520"/>
          </a:xfrm>
          <a:prstGeom prst="rect">
            <a:avLst/>
          </a:prstGeom>
          <a:noFill/>
          <a:ln/>
        </p:spPr>
        <p:txBody>
          <a:bodyPr wrap="square" rtlCol="0" anchor="t"/>
          <a:lstStyle/>
          <a:p>
            <a:pPr indent="0" marL="0">
              <a:buNone/>
            </a:pPr>
            <a:r>
              <a:rPr lang="en-US" sz="2000" b="1" dirty="0">
                <a:solidFill>
                  <a:srgbClr val="FFFFFF"/>
                </a:solidFill>
                <a:latin typeface="Abadi" pitchFamily="34" charset="0"/>
                <a:ea typeface="Abadi" pitchFamily="34" charset="-122"/>
                <a:cs typeface="Abadi" pitchFamily="34" charset="-120"/>
              </a:rPr>
              <a:t>Population of three hundred thousand. Cardiovascular detection gap, COPD admissions rising, high-risk cohort needing closer monitoring.</a:t>
            </a:r>
            <a:endParaRPr lang="en-US" sz="2000" dirty="0"/>
          </a:p>
        </p:txBody>
      </p:sp>
      <p:pic>
        <p:nvPicPr>
          <p:cNvPr id="5" name="Image 0" descr="/tmp/ppt-build/sarah.png">    </p:cNvPr>
          <p:cNvPicPr>
            <a:picLocks noChangeAspect="1"/>
          </p:cNvPicPr>
          <p:nvPr/>
        </p:nvPicPr>
        <p:blipFill>
          <a:blip r:embed="rId1"/>
          <a:stretch>
            <a:fillRect/>
          </a:stretch>
        </p:blipFill>
        <p:spPr>
          <a:xfrm>
            <a:off x="640080" y="1828800"/>
            <a:ext cx="3017520" cy="3017520"/>
          </a:xfrm>
          <a:prstGeom prst="rect">
            <a:avLst/>
          </a:prstGeom>
        </p:spPr>
      </p:pic>
      <p:sp>
        <p:nvSpPr>
          <p:cNvPr id="6" name="Shape 3"/>
          <p:cNvSpPr/>
          <p:nvPr/>
        </p:nvSpPr>
        <p:spPr>
          <a:xfrm>
            <a:off x="640080" y="4937760"/>
            <a:ext cx="1097280" cy="54864"/>
          </a:xfrm>
          <a:prstGeom prst="rect">
            <a:avLst/>
          </a:prstGeom>
          <a:solidFill>
            <a:srgbClr val="FFD66B"/>
          </a:solidFill>
          <a:ln w="12700">
            <a:solidFill>
              <a:srgbClr val="FFD66B"/>
            </a:solidFill>
            <a:prstDash val="solid"/>
          </a:ln>
        </p:spPr>
      </p:sp>
      <p:sp>
        <p:nvSpPr>
          <p:cNvPr id="7" name="Text 4"/>
          <p:cNvSpPr/>
          <p:nvPr/>
        </p:nvSpPr>
        <p:spPr>
          <a:xfrm>
            <a:off x="4114800" y="1737360"/>
            <a:ext cx="7498080" cy="4114800"/>
          </a:xfrm>
          <a:prstGeom prst="rect">
            <a:avLst/>
          </a:prstGeom>
          <a:noFill/>
          <a:ln/>
        </p:spPr>
        <p:txBody>
          <a:bodyPr wrap="square" rtlCol="0" anchor="t"/>
          <a:lstStyle/>
          <a:p>
            <a:pPr indent="0" marL="0">
              <a:lnSpc>
                <a:spcPct val="125000"/>
              </a:lnSpc>
              <a:buNone/>
            </a:pPr>
            <a:r>
              <a:rPr lang="en-US" sz="2200" i="1" dirty="0">
                <a:solidFill>
                  <a:srgbClr val="FFFFFF"/>
                </a:solidFill>
                <a:latin typeface="Abadi" pitchFamily="34" charset="0"/>
                <a:ea typeface="Abadi" pitchFamily="34" charset="-122"/>
                <a:cs typeface="Abadi" pitchFamily="34" charset="-120"/>
              </a:rPr>
              <a:t>“I have got a gap I can see on the dashboard, money on the table and twelve months to show movement. What I have not got is the headcount to run three separate procurements end to end.”</a:t>
            </a:r>
            <a:endParaRPr lang="en-US" sz="2200" dirty="0"/>
          </a:p>
        </p:txBody>
      </p:sp>
      <p:sp>
        <p:nvSpPr>
          <p:cNvPr id="8" name="Text 5"/>
          <p:cNvSpPr/>
          <p:nvPr/>
        </p:nvSpPr>
        <p:spPr>
          <a:xfrm>
            <a:off x="4114800" y="5212080"/>
            <a:ext cx="7498080" cy="365760"/>
          </a:xfrm>
          <a:prstGeom prst="rect">
            <a:avLst/>
          </a:prstGeom>
          <a:noFill/>
          <a:ln/>
        </p:spPr>
        <p:txBody>
          <a:bodyPr wrap="square" rtlCol="0" anchor="ctr"/>
          <a:lstStyle/>
          <a:p>
            <a:pPr indent="0" marL="0">
              <a:buNone/>
            </a:pPr>
            <a:r>
              <a:rPr lang="en-US" sz="1100" b="1" spc="100" kern="0" dirty="0">
                <a:solidFill>
                  <a:srgbClr val="FFD66B"/>
                </a:solidFill>
                <a:latin typeface="Abadi" pitchFamily="34" charset="0"/>
                <a:ea typeface="Abadi" pitchFamily="34" charset="-122"/>
                <a:cs typeface="Abadi" pitchFamily="34" charset="-120"/>
              </a:rPr>
              <a:t>SARAH  ·  ICB COMMISSIONER, POPULATION HEALTH</a:t>
            </a:r>
            <a:endParaRPr lang="en-US" sz="1100" dirty="0"/>
          </a:p>
        </p:txBody>
      </p:sp>
      <p:sp>
        <p:nvSpPr>
          <p:cNvPr id="9" name="Text 6"/>
          <p:cNvSpPr/>
          <p:nvPr/>
        </p:nvSpPr>
        <p:spPr>
          <a:xfrm>
            <a:off x="548640" y="6355080"/>
            <a:ext cx="7315200" cy="274320"/>
          </a:xfrm>
          <a:prstGeom prst="rect">
            <a:avLst/>
          </a:prstGeom>
          <a:noFill/>
          <a:ln/>
        </p:spPr>
        <p:txBody>
          <a:bodyPr wrap="square" rtlCol="0" anchor="ctr"/>
          <a:lstStyle/>
          <a:p>
            <a:pPr indent="0" marL="0">
              <a:buNone/>
            </a:pPr>
            <a:r>
              <a:rPr lang="en-US" sz="900" i="1" dirty="0">
                <a:solidFill>
                  <a:srgbClr val="AABBD0"/>
                </a:solidFill>
                <a:latin typeface="Abadi" pitchFamily="34" charset="0"/>
                <a:ea typeface="Abadi" pitchFamily="34" charset="-122"/>
                <a:cs typeface="Abadi" pitchFamily="34" charset="-120"/>
              </a:rPr>
              <a:t>DTx Operating Model · Sales pack · Commissioner</a:t>
            </a:r>
            <a:endParaRPr lang="en-US" sz="900" dirty="0"/>
          </a:p>
        </p:txBody>
      </p:sp>
      <p:sp>
        <p:nvSpPr>
          <p:cNvPr id="10" name="Text 7"/>
          <p:cNvSpPr/>
          <p:nvPr/>
        </p:nvSpPr>
        <p:spPr>
          <a:xfrm>
            <a:off x="11002975" y="6355080"/>
            <a:ext cx="914400" cy="274320"/>
          </a:xfrm>
          <a:prstGeom prst="rect">
            <a:avLst/>
          </a:prstGeom>
          <a:noFill/>
          <a:ln/>
        </p:spPr>
        <p:txBody>
          <a:bodyPr wrap="square" rtlCol="0" anchor="ctr"/>
          <a:lstStyle/>
          <a:p>
            <a:pPr algn="r" indent="0" marL="0">
              <a:buNone/>
            </a:pPr>
            <a:r>
              <a:rPr lang="en-US" sz="900" dirty="0">
                <a:solidFill>
                  <a:srgbClr val="AABBD0"/>
                </a:solidFill>
                <a:latin typeface="Abadi" pitchFamily="34" charset="0"/>
                <a:ea typeface="Abadi" pitchFamily="34" charset="-122"/>
                <a:cs typeface="Abadi" pitchFamily="34" charset="-120"/>
              </a:rPr>
              <a:t>3 of 12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5EB8"/>
          </a:solidFill>
          <a:ln w="12700">
            <a:solidFill>
              <a:srgbClr val="005EB8"/>
            </a:solidFill>
            <a:prstDash val="solid"/>
          </a:ln>
        </p:spPr>
      </p:sp>
      <p:sp>
        <p:nvSpPr>
          <p:cNvPr id="3" name="Text 1"/>
          <p:cNvSpPr/>
          <p:nvPr/>
        </p:nvSpPr>
        <p:spPr>
          <a:xfrm>
            <a:off x="548640" y="457200"/>
            <a:ext cx="7315200" cy="274320"/>
          </a:xfrm>
          <a:prstGeom prst="rect">
            <a:avLst/>
          </a:prstGeom>
          <a:noFill/>
          <a:ln/>
        </p:spPr>
        <p:txBody>
          <a:bodyPr wrap="square" rtlCol="0" anchor="ctr"/>
          <a:lstStyle/>
          <a:p>
            <a:pPr indent="0" marL="0">
              <a:buNone/>
            </a:pPr>
            <a:r>
              <a:rPr lang="en-US" sz="1000" b="1" spc="100" kern="0" dirty="0">
                <a:solidFill>
                  <a:srgbClr val="005EB8"/>
                </a:solidFill>
                <a:latin typeface="Abadi" pitchFamily="34" charset="0"/>
                <a:ea typeface="Abadi" pitchFamily="34" charset="-122"/>
                <a:cs typeface="Abadi" pitchFamily="34" charset="-120"/>
              </a:rPr>
              <a:t>ONE FRONT DOOR</a:t>
            </a:r>
            <a:endParaRPr lang="en-US" sz="1000" dirty="0"/>
          </a:p>
        </p:txBody>
      </p:sp>
      <p:sp>
        <p:nvSpPr>
          <p:cNvPr id="4" name="Shape 2"/>
          <p:cNvSpPr/>
          <p:nvPr/>
        </p:nvSpPr>
        <p:spPr>
          <a:xfrm>
            <a:off x="548640" y="777240"/>
            <a:ext cx="548640" cy="54864"/>
          </a:xfrm>
          <a:prstGeom prst="rect">
            <a:avLst/>
          </a:prstGeom>
          <a:solidFill>
            <a:srgbClr val="FFD66B"/>
          </a:solidFill>
          <a:ln w="12700">
            <a:solidFill>
              <a:srgbClr val="FFD66B"/>
            </a:solidFill>
            <a:prstDash val="solid"/>
          </a:ln>
        </p:spPr>
      </p:sp>
      <p:sp>
        <p:nvSpPr>
          <p:cNvPr id="5" name="Text 3"/>
          <p:cNvSpPr/>
          <p:nvPr/>
        </p:nvSpPr>
        <p:spPr>
          <a:xfrm>
            <a:off x="548640" y="914400"/>
            <a:ext cx="10972800" cy="914400"/>
          </a:xfrm>
          <a:prstGeom prst="rect">
            <a:avLst/>
          </a:prstGeom>
          <a:noFill/>
          <a:ln/>
        </p:spPr>
        <p:txBody>
          <a:bodyPr wrap="square" rtlCol="0" anchor="t"/>
          <a:lstStyle/>
          <a:p>
            <a:pPr indent="0" marL="0">
              <a:buNone/>
            </a:pPr>
            <a:r>
              <a:rPr lang="en-US" sz="2600" b="1" dirty="0">
                <a:solidFill>
                  <a:srgbClr val="003087"/>
                </a:solidFill>
                <a:latin typeface="Abadi" pitchFamily="34" charset="0"/>
                <a:ea typeface="Abadi" pitchFamily="34" charset="-122"/>
                <a:cs typeface="Abadi" pitchFamily="34" charset="-120"/>
              </a:rPr>
              <a:t>Three product overlays. One national framework. Suppliers already admitted, prices already capped, terms already negotiated.</a:t>
            </a:r>
            <a:endParaRPr lang="en-US" sz="2600" dirty="0"/>
          </a:p>
        </p:txBody>
      </p:sp>
      <p:sp>
        <p:nvSpPr>
          <p:cNvPr id="6" name="Shape 4"/>
          <p:cNvSpPr/>
          <p:nvPr/>
        </p:nvSpPr>
        <p:spPr>
          <a:xfrm>
            <a:off x="548640" y="2194560"/>
            <a:ext cx="3611880" cy="3657600"/>
          </a:xfrm>
          <a:prstGeom prst="rect">
            <a:avLst/>
          </a:prstGeom>
          <a:solidFill>
            <a:srgbClr val="F4F8FC"/>
          </a:solidFill>
          <a:ln w="6350">
            <a:solidFill>
              <a:srgbClr val="005EB8"/>
            </a:solidFill>
            <a:prstDash val="solid"/>
          </a:ln>
        </p:spPr>
      </p:sp>
      <p:sp>
        <p:nvSpPr>
          <p:cNvPr id="7" name="Text 5"/>
          <p:cNvSpPr/>
          <p:nvPr/>
        </p:nvSpPr>
        <p:spPr>
          <a:xfrm>
            <a:off x="777240" y="2423160"/>
            <a:ext cx="3154680" cy="320040"/>
          </a:xfrm>
          <a:prstGeom prst="rect">
            <a:avLst/>
          </a:prstGeom>
          <a:noFill/>
          <a:ln/>
        </p:spPr>
        <p:txBody>
          <a:bodyPr wrap="square" rtlCol="0" anchor="ctr"/>
          <a:lstStyle/>
          <a:p>
            <a:pPr indent="0" marL="0">
              <a:buNone/>
            </a:pPr>
            <a:r>
              <a:rPr lang="en-US" sz="1000" b="1" spc="100" kern="0" dirty="0">
                <a:solidFill>
                  <a:srgbClr val="005EB8"/>
                </a:solidFill>
                <a:latin typeface="Abadi" pitchFamily="34" charset="0"/>
                <a:ea typeface="Abadi" pitchFamily="34" charset="-122"/>
                <a:cs typeface="Abadi" pitchFamily="34" charset="-120"/>
              </a:rPr>
              <a:t>HOMETEST</a:t>
            </a:r>
            <a:endParaRPr lang="en-US" sz="1000" dirty="0"/>
          </a:p>
        </p:txBody>
      </p:sp>
      <p:sp>
        <p:nvSpPr>
          <p:cNvPr id="8" name="Text 6"/>
          <p:cNvSpPr/>
          <p:nvPr/>
        </p:nvSpPr>
        <p:spPr>
          <a:xfrm>
            <a:off x="777240" y="2788920"/>
            <a:ext cx="3154680" cy="822960"/>
          </a:xfrm>
          <a:prstGeom prst="rect">
            <a:avLst/>
          </a:prstGeom>
          <a:noFill/>
          <a:ln/>
        </p:spPr>
        <p:txBody>
          <a:bodyPr wrap="square" rtlCol="0" anchor="t"/>
          <a:lstStyle/>
          <a:p>
            <a:pPr indent="0" marL="0">
              <a:buNone/>
            </a:pPr>
            <a:r>
              <a:rPr lang="en-US" sz="1600" b="1" dirty="0">
                <a:solidFill>
                  <a:srgbClr val="003087"/>
                </a:solidFill>
                <a:latin typeface="Abadi" pitchFamily="34" charset="0"/>
                <a:ea typeface="Abadi" pitchFamily="34" charset="-122"/>
                <a:cs typeface="Abadi" pitchFamily="34" charset="-120"/>
              </a:rPr>
              <a:t>Testing at home, with a clear result</a:t>
            </a:r>
            <a:endParaRPr lang="en-US" sz="1600" dirty="0"/>
          </a:p>
        </p:txBody>
      </p:sp>
      <p:sp>
        <p:nvSpPr>
          <p:cNvPr id="9" name="Text 7"/>
          <p:cNvSpPr/>
          <p:nvPr/>
        </p:nvSpPr>
        <p:spPr>
          <a:xfrm>
            <a:off x="777240" y="3703320"/>
            <a:ext cx="3154680" cy="1965960"/>
          </a:xfrm>
          <a:prstGeom prst="rect">
            <a:avLst/>
          </a:prstGeom>
          <a:noFill/>
          <a:ln/>
        </p:spPr>
        <p:txBody>
          <a:bodyPr wrap="square" rtlCol="0" anchor="t"/>
          <a:lstStyle/>
          <a:p>
            <a:pPr indent="0" marL="0">
              <a:lnSpc>
                <a:spcPct val="130000"/>
              </a:lnSpc>
              <a:buNone/>
            </a:pPr>
            <a:r>
              <a:rPr lang="en-US" sz="1100" dirty="0">
                <a:solidFill>
                  <a:srgbClr val="231F20"/>
                </a:solidFill>
                <a:latin typeface="Abadi" pitchFamily="34" charset="0"/>
                <a:ea typeface="Abadi" pitchFamily="34" charset="-122"/>
                <a:cs typeface="Abadi" pitchFamily="34" charset="-120"/>
              </a:rPr>
              <a:t>Multiple admitted suppliers under one framework. UKAS/ISO accreditation, DTAC, IG already covered. Maximum pricing locked. Configurations admitted per condition and per pathway.</a:t>
            </a:r>
            <a:endParaRPr lang="en-US" sz="1100" dirty="0"/>
          </a:p>
        </p:txBody>
      </p:sp>
      <p:sp>
        <p:nvSpPr>
          <p:cNvPr id="10" name="Shape 8"/>
          <p:cNvSpPr/>
          <p:nvPr/>
        </p:nvSpPr>
        <p:spPr>
          <a:xfrm>
            <a:off x="4343400" y="2194560"/>
            <a:ext cx="3611880" cy="3657600"/>
          </a:xfrm>
          <a:prstGeom prst="rect">
            <a:avLst/>
          </a:prstGeom>
          <a:solidFill>
            <a:srgbClr val="F4F8FC"/>
          </a:solidFill>
          <a:ln w="6350">
            <a:solidFill>
              <a:srgbClr val="005EB8"/>
            </a:solidFill>
            <a:prstDash val="solid"/>
          </a:ln>
        </p:spPr>
      </p:sp>
      <p:sp>
        <p:nvSpPr>
          <p:cNvPr id="11" name="Text 9"/>
          <p:cNvSpPr/>
          <p:nvPr/>
        </p:nvSpPr>
        <p:spPr>
          <a:xfrm>
            <a:off x="4572000" y="2423160"/>
            <a:ext cx="3154680" cy="320040"/>
          </a:xfrm>
          <a:prstGeom prst="rect">
            <a:avLst/>
          </a:prstGeom>
          <a:noFill/>
          <a:ln/>
        </p:spPr>
        <p:txBody>
          <a:bodyPr wrap="square" rtlCol="0" anchor="ctr"/>
          <a:lstStyle/>
          <a:p>
            <a:pPr indent="0" marL="0">
              <a:buNone/>
            </a:pPr>
            <a:r>
              <a:rPr lang="en-US" sz="1000" b="1" spc="100" kern="0" dirty="0">
                <a:solidFill>
                  <a:srgbClr val="005EB8"/>
                </a:solidFill>
                <a:latin typeface="Abadi" pitchFamily="34" charset="0"/>
                <a:ea typeface="Abadi" pitchFamily="34" charset="-122"/>
                <a:cs typeface="Abadi" pitchFamily="34" charset="-120"/>
              </a:rPr>
              <a:t>HEALTHSTORE</a:t>
            </a:r>
            <a:endParaRPr lang="en-US" sz="1000" dirty="0"/>
          </a:p>
        </p:txBody>
      </p:sp>
      <p:sp>
        <p:nvSpPr>
          <p:cNvPr id="12" name="Text 10"/>
          <p:cNvSpPr/>
          <p:nvPr/>
        </p:nvSpPr>
        <p:spPr>
          <a:xfrm>
            <a:off x="4572000" y="2788920"/>
            <a:ext cx="3154680" cy="822960"/>
          </a:xfrm>
          <a:prstGeom prst="rect">
            <a:avLst/>
          </a:prstGeom>
          <a:noFill/>
          <a:ln/>
        </p:spPr>
        <p:txBody>
          <a:bodyPr wrap="square" rtlCol="0" anchor="t"/>
          <a:lstStyle/>
          <a:p>
            <a:pPr indent="0" marL="0">
              <a:buNone/>
            </a:pPr>
            <a:r>
              <a:rPr lang="en-US" sz="1600" b="1" dirty="0">
                <a:solidFill>
                  <a:srgbClr val="003087"/>
                </a:solidFill>
                <a:latin typeface="Abadi" pitchFamily="34" charset="0"/>
                <a:ea typeface="Abadi" pitchFamily="34" charset="-122"/>
                <a:cs typeface="Abadi" pitchFamily="34" charset="-120"/>
              </a:rPr>
              <a:t>Prescribed digital therapeutics</a:t>
            </a:r>
            <a:endParaRPr lang="en-US" sz="1600" dirty="0"/>
          </a:p>
        </p:txBody>
      </p:sp>
      <p:sp>
        <p:nvSpPr>
          <p:cNvPr id="13" name="Text 11"/>
          <p:cNvSpPr/>
          <p:nvPr/>
        </p:nvSpPr>
        <p:spPr>
          <a:xfrm>
            <a:off x="4572000" y="3703320"/>
            <a:ext cx="3154680" cy="1965960"/>
          </a:xfrm>
          <a:prstGeom prst="rect">
            <a:avLst/>
          </a:prstGeom>
          <a:noFill/>
          <a:ln/>
        </p:spPr>
        <p:txBody>
          <a:bodyPr wrap="square" rtlCol="0" anchor="t"/>
          <a:lstStyle/>
          <a:p>
            <a:pPr indent="0" marL="0">
              <a:lnSpc>
                <a:spcPct val="130000"/>
              </a:lnSpc>
              <a:buNone/>
            </a:pPr>
            <a:r>
              <a:rPr lang="en-US" sz="1100" dirty="0">
                <a:solidFill>
                  <a:srgbClr val="231F20"/>
                </a:solidFill>
                <a:latin typeface="Abadi" pitchFamily="34" charset="0"/>
                <a:ea typeface="Abadi" pitchFamily="34" charset="-122"/>
                <a:cs typeface="Abadi" pitchFamily="34" charset="-120"/>
              </a:rPr>
              <a:t>Products admitted via NICE EVA conditional recommendation onto the National App Formulary. Clinical-safety case complete. Real-world evidence generation baked into admission.</a:t>
            </a:r>
            <a:endParaRPr lang="en-US" sz="1100" dirty="0"/>
          </a:p>
        </p:txBody>
      </p:sp>
      <p:sp>
        <p:nvSpPr>
          <p:cNvPr id="14" name="Shape 12"/>
          <p:cNvSpPr/>
          <p:nvPr/>
        </p:nvSpPr>
        <p:spPr>
          <a:xfrm>
            <a:off x="8138160" y="2194560"/>
            <a:ext cx="3611880" cy="3657600"/>
          </a:xfrm>
          <a:prstGeom prst="rect">
            <a:avLst/>
          </a:prstGeom>
          <a:solidFill>
            <a:srgbClr val="F4F8FC"/>
          </a:solidFill>
          <a:ln w="6350">
            <a:solidFill>
              <a:srgbClr val="005EB8"/>
            </a:solidFill>
            <a:prstDash val="solid"/>
          </a:ln>
        </p:spPr>
      </p:sp>
      <p:sp>
        <p:nvSpPr>
          <p:cNvPr id="15" name="Text 13"/>
          <p:cNvSpPr/>
          <p:nvPr/>
        </p:nvSpPr>
        <p:spPr>
          <a:xfrm>
            <a:off x="8366760" y="2423160"/>
            <a:ext cx="3154680" cy="320040"/>
          </a:xfrm>
          <a:prstGeom prst="rect">
            <a:avLst/>
          </a:prstGeom>
          <a:noFill/>
          <a:ln/>
        </p:spPr>
        <p:txBody>
          <a:bodyPr wrap="square" rtlCol="0" anchor="ctr"/>
          <a:lstStyle/>
          <a:p>
            <a:pPr indent="0" marL="0">
              <a:buNone/>
            </a:pPr>
            <a:r>
              <a:rPr lang="en-US" sz="1000" b="1" spc="100" kern="0" dirty="0">
                <a:solidFill>
                  <a:srgbClr val="005EB8"/>
                </a:solidFill>
                <a:latin typeface="Abadi" pitchFamily="34" charset="0"/>
                <a:ea typeface="Abadi" pitchFamily="34" charset="-122"/>
                <a:cs typeface="Abadi" pitchFamily="34" charset="-120"/>
              </a:rPr>
              <a:t>HEALTHSYNC</a:t>
            </a:r>
            <a:endParaRPr lang="en-US" sz="1000" dirty="0"/>
          </a:p>
        </p:txBody>
      </p:sp>
      <p:sp>
        <p:nvSpPr>
          <p:cNvPr id="16" name="Text 14"/>
          <p:cNvSpPr/>
          <p:nvPr/>
        </p:nvSpPr>
        <p:spPr>
          <a:xfrm>
            <a:off x="8366760" y="2788920"/>
            <a:ext cx="3154680" cy="822960"/>
          </a:xfrm>
          <a:prstGeom prst="rect">
            <a:avLst/>
          </a:prstGeom>
          <a:noFill/>
          <a:ln/>
        </p:spPr>
        <p:txBody>
          <a:bodyPr wrap="square" rtlCol="0" anchor="t"/>
          <a:lstStyle/>
          <a:p>
            <a:pPr indent="0" marL="0">
              <a:buNone/>
            </a:pPr>
            <a:r>
              <a:rPr lang="en-US" sz="1600" b="1" dirty="0">
                <a:solidFill>
                  <a:srgbClr val="003087"/>
                </a:solidFill>
                <a:latin typeface="Abadi" pitchFamily="34" charset="0"/>
                <a:ea typeface="Abadi" pitchFamily="34" charset="-122"/>
                <a:cs typeface="Abadi" pitchFamily="34" charset="-120"/>
              </a:rPr>
              <a:t>Consumer-platform integration</a:t>
            </a:r>
            <a:endParaRPr lang="en-US" sz="1600" dirty="0"/>
          </a:p>
        </p:txBody>
      </p:sp>
      <p:sp>
        <p:nvSpPr>
          <p:cNvPr id="17" name="Text 15"/>
          <p:cNvSpPr/>
          <p:nvPr/>
        </p:nvSpPr>
        <p:spPr>
          <a:xfrm>
            <a:off x="8366760" y="3703320"/>
            <a:ext cx="3154680" cy="1965960"/>
          </a:xfrm>
          <a:prstGeom prst="rect">
            <a:avLst/>
          </a:prstGeom>
          <a:noFill/>
          <a:ln/>
        </p:spPr>
        <p:txBody>
          <a:bodyPr wrap="square" rtlCol="0" anchor="t"/>
          <a:lstStyle/>
          <a:p>
            <a:pPr indent="0" marL="0">
              <a:lnSpc>
                <a:spcPct val="130000"/>
              </a:lnSpc>
              <a:buNone/>
            </a:pPr>
            <a:r>
              <a:rPr lang="en-US" sz="1100" dirty="0">
                <a:solidFill>
                  <a:srgbClr val="231F20"/>
                </a:solidFill>
                <a:latin typeface="Abadi" pitchFamily="34" charset="0"/>
                <a:ea typeface="Abadi" pitchFamily="34" charset="-122"/>
                <a:cs typeface="Abadi" pitchFamily="34" charset="-120"/>
              </a:rPr>
              <a:t>Apple HealthKit and Google Health Connect data flowing through the NHS App as the PHR layer. Federated controller model. Wearable-pathway integration ready to call off.</a:t>
            </a:r>
            <a:endParaRPr lang="en-US" sz="1100" dirty="0"/>
          </a:p>
        </p:txBody>
      </p:sp>
      <p:sp>
        <p:nvSpPr>
          <p:cNvPr id="18" name="Text 16"/>
          <p:cNvSpPr/>
          <p:nvPr/>
        </p:nvSpPr>
        <p:spPr>
          <a:xfrm>
            <a:off x="548640" y="6400800"/>
            <a:ext cx="7315200" cy="274320"/>
          </a:xfrm>
          <a:prstGeom prst="rect">
            <a:avLst/>
          </a:prstGeom>
          <a:noFill/>
          <a:ln/>
        </p:spPr>
        <p:txBody>
          <a:bodyPr wrap="square" rtlCol="0" anchor="ctr"/>
          <a:lstStyle/>
          <a:p>
            <a:pPr indent="0" marL="0">
              <a:buNone/>
            </a:pPr>
            <a:r>
              <a:rPr lang="en-US" sz="900" i="1" dirty="0">
                <a:solidFill>
                  <a:srgbClr val="7E8B97"/>
                </a:solidFill>
                <a:latin typeface="Abadi" pitchFamily="34" charset="0"/>
                <a:ea typeface="Abadi" pitchFamily="34" charset="-122"/>
                <a:cs typeface="Abadi" pitchFamily="34" charset="-120"/>
              </a:rPr>
              <a:t>DTx Operating Model · Sales pack · Commissioner</a:t>
            </a:r>
            <a:endParaRPr lang="en-US" sz="900" dirty="0"/>
          </a:p>
        </p:txBody>
      </p:sp>
      <p:sp>
        <p:nvSpPr>
          <p:cNvPr id="19" name="Text 17"/>
          <p:cNvSpPr/>
          <p:nvPr/>
        </p:nvSpPr>
        <p:spPr>
          <a:xfrm>
            <a:off x="11002975" y="6400800"/>
            <a:ext cx="914400" cy="274320"/>
          </a:xfrm>
          <a:prstGeom prst="rect">
            <a:avLst/>
          </a:prstGeom>
          <a:noFill/>
          <a:ln/>
        </p:spPr>
        <p:txBody>
          <a:bodyPr wrap="square" rtlCol="0" anchor="ctr"/>
          <a:lstStyle/>
          <a:p>
            <a:pPr algn="r" indent="0" marL="0">
              <a:buNone/>
            </a:pPr>
            <a:r>
              <a:rPr lang="en-US" sz="900" dirty="0">
                <a:solidFill>
                  <a:srgbClr val="7E8B97"/>
                </a:solidFill>
                <a:latin typeface="Abadi" pitchFamily="34" charset="0"/>
                <a:ea typeface="Abadi" pitchFamily="34" charset="-122"/>
                <a:cs typeface="Abadi" pitchFamily="34" charset="-120"/>
              </a:rPr>
              <a:t>4 of 12</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5EB8"/>
          </a:solidFill>
          <a:ln w="12700">
            <a:solidFill>
              <a:srgbClr val="005EB8"/>
            </a:solidFill>
            <a:prstDash val="solid"/>
          </a:ln>
        </p:spPr>
      </p:sp>
      <p:sp>
        <p:nvSpPr>
          <p:cNvPr id="3" name="Text 1"/>
          <p:cNvSpPr/>
          <p:nvPr/>
        </p:nvSpPr>
        <p:spPr>
          <a:xfrm>
            <a:off x="548640" y="457200"/>
            <a:ext cx="7315200" cy="274320"/>
          </a:xfrm>
          <a:prstGeom prst="rect">
            <a:avLst/>
          </a:prstGeom>
          <a:noFill/>
          <a:ln/>
        </p:spPr>
        <p:txBody>
          <a:bodyPr wrap="square" rtlCol="0" anchor="ctr"/>
          <a:lstStyle/>
          <a:p>
            <a:pPr indent="0" marL="0">
              <a:buNone/>
            </a:pPr>
            <a:r>
              <a:rPr lang="en-US" sz="1000" b="1" spc="100" kern="0" dirty="0">
                <a:solidFill>
                  <a:srgbClr val="005EB8"/>
                </a:solidFill>
                <a:latin typeface="Abadi" pitchFamily="34" charset="0"/>
                <a:ea typeface="Abadi" pitchFamily="34" charset="-122"/>
                <a:cs typeface="Abadi" pitchFamily="34" charset="-120"/>
              </a:rPr>
              <a:t>THE FIRST CALL-OFF</a:t>
            </a:r>
            <a:endParaRPr lang="en-US" sz="1000" dirty="0"/>
          </a:p>
        </p:txBody>
      </p:sp>
      <p:sp>
        <p:nvSpPr>
          <p:cNvPr id="4" name="Shape 2"/>
          <p:cNvSpPr/>
          <p:nvPr/>
        </p:nvSpPr>
        <p:spPr>
          <a:xfrm>
            <a:off x="548640" y="777240"/>
            <a:ext cx="548640" cy="54864"/>
          </a:xfrm>
          <a:prstGeom prst="rect">
            <a:avLst/>
          </a:prstGeom>
          <a:solidFill>
            <a:srgbClr val="FFD66B"/>
          </a:solidFill>
          <a:ln w="12700">
            <a:solidFill>
              <a:srgbClr val="FFD66B"/>
            </a:solidFill>
            <a:prstDash val="solid"/>
          </a:ln>
        </p:spPr>
      </p:sp>
      <p:sp>
        <p:nvSpPr>
          <p:cNvPr id="5" name="Text 3"/>
          <p:cNvSpPr/>
          <p:nvPr/>
        </p:nvSpPr>
        <p:spPr>
          <a:xfrm>
            <a:off x="548640" y="914400"/>
            <a:ext cx="6858000" cy="1371600"/>
          </a:xfrm>
          <a:prstGeom prst="rect">
            <a:avLst/>
          </a:prstGeom>
          <a:noFill/>
          <a:ln/>
        </p:spPr>
        <p:txBody>
          <a:bodyPr wrap="square" rtlCol="0" anchor="t"/>
          <a:lstStyle/>
          <a:p>
            <a:pPr indent="0" marL="0">
              <a:buNone/>
            </a:pPr>
            <a:r>
              <a:rPr lang="en-US" sz="3000" b="1" dirty="0">
                <a:solidFill>
                  <a:srgbClr val="003087"/>
                </a:solidFill>
                <a:latin typeface="Abadi" pitchFamily="34" charset="0"/>
                <a:ea typeface="Abadi" pitchFamily="34" charset="-122"/>
                <a:cs typeface="Abadi" pitchFamily="34" charset="-120"/>
              </a:rPr>
              <a:t>One signature. Same legal instrument. Same milestone structure across all three workstreams.</a:t>
            </a:r>
            <a:endParaRPr lang="en-US" sz="3000" dirty="0"/>
          </a:p>
        </p:txBody>
      </p:sp>
      <p:sp>
        <p:nvSpPr>
          <p:cNvPr id="6" name="Text 4"/>
          <p:cNvSpPr/>
          <p:nvPr/>
        </p:nvSpPr>
        <p:spPr>
          <a:xfrm>
            <a:off x="548640" y="2468880"/>
            <a:ext cx="6858000" cy="3657600"/>
          </a:xfrm>
          <a:prstGeom prst="rect">
            <a:avLst/>
          </a:prstGeom>
          <a:noFill/>
          <a:ln/>
        </p:spPr>
        <p:txBody>
          <a:bodyPr wrap="square" rtlCol="0" anchor="t"/>
          <a:lstStyle/>
          <a:p>
            <a:pPr indent="0" marL="0">
              <a:lnSpc>
                <a:spcPct val="130000"/>
              </a:lnSpc>
              <a:spcAft>
                <a:spcPts val="1000"/>
              </a:spcAft>
              <a:buNone/>
            </a:pPr>
            <a:r>
              <a:rPr lang="en-US" sz="1400" dirty="0">
                <a:solidFill>
                  <a:srgbClr val="231F20"/>
                </a:solidFill>
                <a:latin typeface="Abadi" pitchFamily="34" charset="0"/>
                <a:ea typeface="Abadi" pitchFamily="34" charset="-122"/>
                <a:cs typeface="Abadi" pitchFamily="34" charset="-120"/>
              </a:rPr>
              <a:t>Call-off under the NHS Standard Contract with SaaS and data schedules. The same legal instrument carries the HomeTest CVKM configuration, the HealthStore COPD therapeutic and the HealthSync wearable cohort.</a:t>
            </a:r>
            <a:pPr indent="0" marL="0">
              <a:lnSpc>
                <a:spcPct val="130000"/>
              </a:lnSpc>
              <a:spcAft>
                <a:spcPts val="1000"/>
              </a:spcAft>
              <a:buNone/>
            </a:pPr>
            <a:r>
              <a:rPr lang="en-US" sz="1400" dirty="0">
                <a:solidFill>
                  <a:srgbClr val="231F20"/>
                </a:solidFill>
                <a:latin typeface="Abadi" pitchFamily="34" charset="0"/>
                <a:ea typeface="Abadi" pitchFamily="34" charset="-122"/>
                <a:cs typeface="Abadi" pitchFamily="34" charset="-120"/>
              </a:rPr>
              <a:t>National terms, maximum pricing and supplier admission rules are baked into the framework agreement above your call-off. NHS Commercial sits behind the contract architecture as part of the platform.</a:t>
            </a:r>
            <a:pPr indent="0" marL="0">
              <a:lnSpc>
                <a:spcPct val="130000"/>
              </a:lnSpc>
              <a:spcAft>
                <a:spcPts val="1000"/>
              </a:spcAft>
              <a:buNone/>
            </a:pPr>
            <a:r>
              <a:rPr lang="en-US" sz="1400" dirty="0">
                <a:solidFill>
                  <a:srgbClr val="231F20"/>
                </a:solidFill>
                <a:latin typeface="Abadi" pitchFamily="34" charset="0"/>
                <a:ea typeface="Abadi" pitchFamily="34" charset="-122"/>
                <a:cs typeface="Abadi" pitchFamily="34" charset="-120"/>
              </a:rPr>
              <a:t>Payment milestone structure is shared across all three workstreams. The MI feed begins pre-populating on the day you sign.</a:t>
            </a:r>
            <a:pPr indent="0" marL="0">
              <a:lnSpc>
                <a:spcPct val="130000"/>
              </a:lnSpc>
              <a:spcAft>
                <a:spcPts val="800"/>
              </a:spcAft>
              <a:buNone/>
            </a:pPr>
            <a:r>
              <a:rPr lang="en-US" sz="1400" b="1" dirty="0">
                <a:solidFill>
                  <a:srgbClr val="003087"/>
                </a:solidFill>
                <a:latin typeface="Abadi" pitchFamily="34" charset="0"/>
                <a:ea typeface="Abadi" pitchFamily="34" charset="-122"/>
                <a:cs typeface="Abadi" pitchFamily="34" charset="-120"/>
              </a:rPr>
              <a:t>Six weeks from brief to call-off. Twelve months earlier than the old way would have delivered.</a:t>
            </a:r>
            <a:endParaRPr lang="en-US" sz="1400" dirty="0"/>
          </a:p>
        </p:txBody>
      </p:sp>
      <p:sp>
        <p:nvSpPr>
          <p:cNvPr id="7" name="Text 5"/>
          <p:cNvSpPr/>
          <p:nvPr/>
        </p:nvSpPr>
        <p:spPr>
          <a:xfrm>
            <a:off x="548640" y="6400800"/>
            <a:ext cx="7315200" cy="274320"/>
          </a:xfrm>
          <a:prstGeom prst="rect">
            <a:avLst/>
          </a:prstGeom>
          <a:noFill/>
          <a:ln/>
        </p:spPr>
        <p:txBody>
          <a:bodyPr wrap="square" rtlCol="0" anchor="ctr"/>
          <a:lstStyle/>
          <a:p>
            <a:pPr indent="0" marL="0">
              <a:buNone/>
            </a:pPr>
            <a:r>
              <a:rPr lang="en-US" sz="900" i="1" dirty="0">
                <a:solidFill>
                  <a:srgbClr val="7E8B97"/>
                </a:solidFill>
                <a:latin typeface="Abadi" pitchFamily="34" charset="0"/>
                <a:ea typeface="Abadi" pitchFamily="34" charset="-122"/>
                <a:cs typeface="Abadi" pitchFamily="34" charset="-120"/>
              </a:rPr>
              <a:t>DTx Operating Model · Sales pack · Commissioner</a:t>
            </a:r>
            <a:endParaRPr lang="en-US" sz="900" dirty="0"/>
          </a:p>
        </p:txBody>
      </p:sp>
      <p:sp>
        <p:nvSpPr>
          <p:cNvPr id="8" name="Text 6"/>
          <p:cNvSpPr/>
          <p:nvPr/>
        </p:nvSpPr>
        <p:spPr>
          <a:xfrm>
            <a:off x="11002975" y="6400800"/>
            <a:ext cx="914400" cy="274320"/>
          </a:xfrm>
          <a:prstGeom prst="rect">
            <a:avLst/>
          </a:prstGeom>
          <a:noFill/>
          <a:ln/>
        </p:spPr>
        <p:txBody>
          <a:bodyPr wrap="square" rtlCol="0" anchor="ctr"/>
          <a:lstStyle/>
          <a:p>
            <a:pPr algn="r" indent="0" marL="0">
              <a:buNone/>
            </a:pPr>
            <a:r>
              <a:rPr lang="en-US" sz="900" dirty="0">
                <a:solidFill>
                  <a:srgbClr val="7E8B97"/>
                </a:solidFill>
                <a:latin typeface="Abadi" pitchFamily="34" charset="0"/>
                <a:ea typeface="Abadi" pitchFamily="34" charset="-122"/>
                <a:cs typeface="Abadi" pitchFamily="34" charset="-120"/>
              </a:rPr>
              <a:t>5 of 12</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03087"/>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FFD66B"/>
          </a:solidFill>
          <a:ln w="12700">
            <a:solidFill>
              <a:srgbClr val="FFD66B"/>
            </a:solidFill>
            <a:prstDash val="solid"/>
          </a:ln>
        </p:spPr>
      </p:sp>
      <p:sp>
        <p:nvSpPr>
          <p:cNvPr id="3" name="Text 1"/>
          <p:cNvSpPr/>
          <p:nvPr/>
        </p:nvSpPr>
        <p:spPr>
          <a:xfrm>
            <a:off x="548640" y="457200"/>
            <a:ext cx="7315200" cy="274320"/>
          </a:xfrm>
          <a:prstGeom prst="rect">
            <a:avLst/>
          </a:prstGeom>
          <a:noFill/>
          <a:ln/>
        </p:spPr>
        <p:txBody>
          <a:bodyPr wrap="square" rtlCol="0" anchor="ctr"/>
          <a:lstStyle/>
          <a:p>
            <a:pPr indent="0" marL="0">
              <a:buNone/>
            </a:pPr>
            <a:r>
              <a:rPr lang="en-US" sz="1000" b="1" spc="100" kern="0" dirty="0">
                <a:solidFill>
                  <a:srgbClr val="FFD66B"/>
                </a:solidFill>
                <a:latin typeface="Abadi" pitchFamily="34" charset="0"/>
                <a:ea typeface="Abadi" pitchFamily="34" charset="-122"/>
                <a:cs typeface="Abadi" pitchFamily="34" charset="-120"/>
              </a:rPr>
              <a:t>WHY THIS MATTERS FOR YOUR POPULATION</a:t>
            </a:r>
            <a:endParaRPr lang="en-US" sz="1000" dirty="0"/>
          </a:p>
        </p:txBody>
      </p:sp>
      <p:sp>
        <p:nvSpPr>
          <p:cNvPr id="4" name="Text 2"/>
          <p:cNvSpPr/>
          <p:nvPr/>
        </p:nvSpPr>
        <p:spPr>
          <a:xfrm>
            <a:off x="548640" y="777240"/>
            <a:ext cx="7772400" cy="731520"/>
          </a:xfrm>
          <a:prstGeom prst="rect">
            <a:avLst/>
          </a:prstGeom>
          <a:noFill/>
          <a:ln/>
        </p:spPr>
        <p:txBody>
          <a:bodyPr wrap="square" rtlCol="0" anchor="t"/>
          <a:lstStyle/>
          <a:p>
            <a:pPr indent="0" marL="0">
              <a:buNone/>
            </a:pPr>
            <a:r>
              <a:rPr lang="en-US" sz="2000" b="1" dirty="0">
                <a:solidFill>
                  <a:srgbClr val="FFFFFF"/>
                </a:solidFill>
                <a:latin typeface="Abadi" pitchFamily="34" charset="0"/>
                <a:ea typeface="Abadi" pitchFamily="34" charset="-122"/>
                <a:cs typeface="Abadi" pitchFamily="34" charset="-120"/>
              </a:rPr>
              <a:t>Errol is one of the patients in Sarah’s cohort. He never knew there was a procurement story behind his morning.</a:t>
            </a:r>
            <a:endParaRPr lang="en-US" sz="2000" dirty="0"/>
          </a:p>
        </p:txBody>
      </p:sp>
      <p:pic>
        <p:nvPicPr>
          <p:cNvPr id="5" name="Image 0" descr="/tmp/ppt-build/errol.png">    </p:cNvPr>
          <p:cNvPicPr>
            <a:picLocks noChangeAspect="1"/>
          </p:cNvPicPr>
          <p:nvPr/>
        </p:nvPicPr>
        <p:blipFill>
          <a:blip r:embed="rId1"/>
          <a:stretch>
            <a:fillRect/>
          </a:stretch>
        </p:blipFill>
        <p:spPr>
          <a:xfrm>
            <a:off x="640080" y="1828800"/>
            <a:ext cx="3017520" cy="3017520"/>
          </a:xfrm>
          <a:prstGeom prst="rect">
            <a:avLst/>
          </a:prstGeom>
        </p:spPr>
      </p:pic>
      <p:sp>
        <p:nvSpPr>
          <p:cNvPr id="6" name="Shape 3"/>
          <p:cNvSpPr/>
          <p:nvPr/>
        </p:nvSpPr>
        <p:spPr>
          <a:xfrm>
            <a:off x="640080" y="4937760"/>
            <a:ext cx="1097280" cy="54864"/>
          </a:xfrm>
          <a:prstGeom prst="rect">
            <a:avLst/>
          </a:prstGeom>
          <a:solidFill>
            <a:srgbClr val="FFD66B"/>
          </a:solidFill>
          <a:ln w="12700">
            <a:solidFill>
              <a:srgbClr val="FFD66B"/>
            </a:solidFill>
            <a:prstDash val="solid"/>
          </a:ln>
        </p:spPr>
      </p:sp>
      <p:sp>
        <p:nvSpPr>
          <p:cNvPr id="7" name="Text 4"/>
          <p:cNvSpPr/>
          <p:nvPr/>
        </p:nvSpPr>
        <p:spPr>
          <a:xfrm>
            <a:off x="4114800" y="1737360"/>
            <a:ext cx="7498080" cy="4114800"/>
          </a:xfrm>
          <a:prstGeom prst="rect">
            <a:avLst/>
          </a:prstGeom>
          <a:noFill/>
          <a:ln/>
        </p:spPr>
        <p:txBody>
          <a:bodyPr wrap="square" rtlCol="0" anchor="t"/>
          <a:lstStyle/>
          <a:p>
            <a:pPr indent="0" marL="0">
              <a:lnSpc>
                <a:spcPct val="125000"/>
              </a:lnSpc>
              <a:buNone/>
            </a:pPr>
            <a:r>
              <a:rPr lang="en-US" sz="2200" i="1" dirty="0">
                <a:solidFill>
                  <a:srgbClr val="FFFFFF"/>
                </a:solidFill>
                <a:latin typeface="Abadi" pitchFamily="34" charset="0"/>
                <a:ea typeface="Abadi" pitchFamily="34" charset="-122"/>
                <a:cs typeface="Abadi" pitchFamily="34" charset="-120"/>
              </a:rPr>
              <a:t>“I felt fine. The watch caught what I could not. The blood test confirmed what the data suggested. The digital therapeutic supported the response. And a crisis that should have happened did not happen.”</a:t>
            </a:r>
            <a:endParaRPr lang="en-US" sz="2200" dirty="0"/>
          </a:p>
        </p:txBody>
      </p:sp>
      <p:sp>
        <p:nvSpPr>
          <p:cNvPr id="8" name="Text 5"/>
          <p:cNvSpPr/>
          <p:nvPr/>
        </p:nvSpPr>
        <p:spPr>
          <a:xfrm>
            <a:off x="4114800" y="5212080"/>
            <a:ext cx="7498080" cy="365760"/>
          </a:xfrm>
          <a:prstGeom prst="rect">
            <a:avLst/>
          </a:prstGeom>
          <a:noFill/>
          <a:ln/>
        </p:spPr>
        <p:txBody>
          <a:bodyPr wrap="square" rtlCol="0" anchor="ctr"/>
          <a:lstStyle/>
          <a:p>
            <a:pPr indent="0" marL="0">
              <a:buNone/>
            </a:pPr>
            <a:r>
              <a:rPr lang="en-US" sz="1100" b="1" spc="100" kern="0" dirty="0">
                <a:solidFill>
                  <a:srgbClr val="FFD66B"/>
                </a:solidFill>
                <a:latin typeface="Abadi" pitchFamily="34" charset="0"/>
                <a:ea typeface="Abadi" pitchFamily="34" charset="-122"/>
                <a:cs typeface="Abadi" pitchFamily="34" charset="-120"/>
              </a:rPr>
              <a:t>ERROL  ·  56  ·  THE PATIENT ON THE RECEIVING END OF THE FRAMEWORK</a:t>
            </a:r>
            <a:endParaRPr lang="en-US" sz="1100" dirty="0"/>
          </a:p>
        </p:txBody>
      </p:sp>
      <p:sp>
        <p:nvSpPr>
          <p:cNvPr id="9" name="Text 6"/>
          <p:cNvSpPr/>
          <p:nvPr/>
        </p:nvSpPr>
        <p:spPr>
          <a:xfrm>
            <a:off x="548640" y="6355080"/>
            <a:ext cx="7315200" cy="274320"/>
          </a:xfrm>
          <a:prstGeom prst="rect">
            <a:avLst/>
          </a:prstGeom>
          <a:noFill/>
          <a:ln/>
        </p:spPr>
        <p:txBody>
          <a:bodyPr wrap="square" rtlCol="0" anchor="ctr"/>
          <a:lstStyle/>
          <a:p>
            <a:pPr indent="0" marL="0">
              <a:buNone/>
            </a:pPr>
            <a:r>
              <a:rPr lang="en-US" sz="900" i="1" dirty="0">
                <a:solidFill>
                  <a:srgbClr val="AABBD0"/>
                </a:solidFill>
                <a:latin typeface="Abadi" pitchFamily="34" charset="0"/>
                <a:ea typeface="Abadi" pitchFamily="34" charset="-122"/>
                <a:cs typeface="Abadi" pitchFamily="34" charset="-120"/>
              </a:rPr>
              <a:t>DTx Operating Model · Sales pack · Commissioner</a:t>
            </a:r>
            <a:endParaRPr lang="en-US" sz="900" dirty="0"/>
          </a:p>
        </p:txBody>
      </p:sp>
      <p:sp>
        <p:nvSpPr>
          <p:cNvPr id="10" name="Text 7"/>
          <p:cNvSpPr/>
          <p:nvPr/>
        </p:nvSpPr>
        <p:spPr>
          <a:xfrm>
            <a:off x="11002975" y="6355080"/>
            <a:ext cx="914400" cy="274320"/>
          </a:xfrm>
          <a:prstGeom prst="rect">
            <a:avLst/>
          </a:prstGeom>
          <a:noFill/>
          <a:ln/>
        </p:spPr>
        <p:txBody>
          <a:bodyPr wrap="square" rtlCol="0" anchor="ctr"/>
          <a:lstStyle/>
          <a:p>
            <a:pPr algn="r" indent="0" marL="0">
              <a:buNone/>
            </a:pPr>
            <a:r>
              <a:rPr lang="en-US" sz="900" dirty="0">
                <a:solidFill>
                  <a:srgbClr val="AABBD0"/>
                </a:solidFill>
                <a:latin typeface="Abadi" pitchFamily="34" charset="0"/>
                <a:ea typeface="Abadi" pitchFamily="34" charset="-122"/>
                <a:cs typeface="Abadi" pitchFamily="34" charset="-120"/>
              </a:rPr>
              <a:t>6 of 12</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03087"/>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FFD66B"/>
          </a:solidFill>
          <a:ln w="12700">
            <a:solidFill>
              <a:srgbClr val="FFD66B"/>
            </a:solidFill>
            <a:prstDash val="solid"/>
          </a:ln>
        </p:spPr>
      </p:sp>
      <p:sp>
        <p:nvSpPr>
          <p:cNvPr id="3" name="Text 1"/>
          <p:cNvSpPr/>
          <p:nvPr/>
        </p:nvSpPr>
        <p:spPr>
          <a:xfrm>
            <a:off x="548640" y="457200"/>
            <a:ext cx="7315200" cy="274320"/>
          </a:xfrm>
          <a:prstGeom prst="rect">
            <a:avLst/>
          </a:prstGeom>
          <a:noFill/>
          <a:ln/>
        </p:spPr>
        <p:txBody>
          <a:bodyPr wrap="square" rtlCol="0" anchor="ctr"/>
          <a:lstStyle/>
          <a:p>
            <a:pPr indent="0" marL="0">
              <a:buNone/>
            </a:pPr>
            <a:r>
              <a:rPr lang="en-US" sz="1000" b="1" spc="100" kern="0" dirty="0">
                <a:solidFill>
                  <a:srgbClr val="FFD66B"/>
                </a:solidFill>
                <a:latin typeface="Abadi" pitchFamily="34" charset="0"/>
                <a:ea typeface="Abadi" pitchFamily="34" charset="-122"/>
                <a:cs typeface="Abadi" pitchFamily="34" charset="-120"/>
              </a:rPr>
              <a:t>WHY YOUR SUPPLIER BASE WILL ACTUALLY EXIST</a:t>
            </a:r>
            <a:endParaRPr lang="en-US" sz="1000" dirty="0"/>
          </a:p>
        </p:txBody>
      </p:sp>
      <p:sp>
        <p:nvSpPr>
          <p:cNvPr id="4" name="Text 2"/>
          <p:cNvSpPr/>
          <p:nvPr/>
        </p:nvSpPr>
        <p:spPr>
          <a:xfrm>
            <a:off x="548640" y="777240"/>
            <a:ext cx="7772400" cy="731520"/>
          </a:xfrm>
          <a:prstGeom prst="rect">
            <a:avLst/>
          </a:prstGeom>
          <a:noFill/>
          <a:ln/>
        </p:spPr>
        <p:txBody>
          <a:bodyPr wrap="square" rtlCol="0" anchor="t"/>
          <a:lstStyle/>
          <a:p>
            <a:pPr indent="0" marL="0">
              <a:buNone/>
            </a:pPr>
            <a:r>
              <a:rPr lang="en-US" sz="2000" b="1" dirty="0">
                <a:solidFill>
                  <a:srgbClr val="FFFFFF"/>
                </a:solidFill>
                <a:latin typeface="Abadi" pitchFamily="34" charset="0"/>
                <a:ea typeface="Abadi" pitchFamily="34" charset="-122"/>
                <a:cs typeface="Abadi" pitchFamily="34" charset="-120"/>
              </a:rPr>
              <a:t>A market with a real admission route is a market that attracts the suppliers you need to keep commissioning from.</a:t>
            </a:r>
            <a:endParaRPr lang="en-US" sz="2000" dirty="0"/>
          </a:p>
        </p:txBody>
      </p:sp>
      <p:pic>
        <p:nvPicPr>
          <p:cNvPr id="5" name="Image 0" descr="/tmp/ppt-build/marcus.png">    </p:cNvPr>
          <p:cNvPicPr>
            <a:picLocks noChangeAspect="1"/>
          </p:cNvPicPr>
          <p:nvPr/>
        </p:nvPicPr>
        <p:blipFill>
          <a:blip r:embed="rId1"/>
          <a:stretch>
            <a:fillRect/>
          </a:stretch>
        </p:blipFill>
        <p:spPr>
          <a:xfrm>
            <a:off x="640080" y="1828800"/>
            <a:ext cx="3017520" cy="3017520"/>
          </a:xfrm>
          <a:prstGeom prst="rect">
            <a:avLst/>
          </a:prstGeom>
        </p:spPr>
      </p:pic>
      <p:sp>
        <p:nvSpPr>
          <p:cNvPr id="6" name="Shape 3"/>
          <p:cNvSpPr/>
          <p:nvPr/>
        </p:nvSpPr>
        <p:spPr>
          <a:xfrm>
            <a:off x="640080" y="4937760"/>
            <a:ext cx="1097280" cy="54864"/>
          </a:xfrm>
          <a:prstGeom prst="rect">
            <a:avLst/>
          </a:prstGeom>
          <a:solidFill>
            <a:srgbClr val="FFD66B"/>
          </a:solidFill>
          <a:ln w="12700">
            <a:solidFill>
              <a:srgbClr val="FFD66B"/>
            </a:solidFill>
            <a:prstDash val="solid"/>
          </a:ln>
        </p:spPr>
      </p:sp>
      <p:sp>
        <p:nvSpPr>
          <p:cNvPr id="7" name="Text 4"/>
          <p:cNvSpPr/>
          <p:nvPr/>
        </p:nvSpPr>
        <p:spPr>
          <a:xfrm>
            <a:off x="4114800" y="1737360"/>
            <a:ext cx="7498080" cy="4114800"/>
          </a:xfrm>
          <a:prstGeom prst="rect">
            <a:avLst/>
          </a:prstGeom>
          <a:noFill/>
          <a:ln/>
        </p:spPr>
        <p:txBody>
          <a:bodyPr wrap="square" rtlCol="0" anchor="t"/>
          <a:lstStyle/>
          <a:p>
            <a:pPr indent="0" marL="0">
              <a:lnSpc>
                <a:spcPct val="125000"/>
              </a:lnSpc>
              <a:buNone/>
            </a:pPr>
            <a:r>
              <a:rPr lang="en-US" sz="2200" i="1" dirty="0">
                <a:solidFill>
                  <a:srgbClr val="FFFFFF"/>
                </a:solidFill>
                <a:latin typeface="Abadi" pitchFamily="34" charset="0"/>
                <a:ea typeface="Abadi" pitchFamily="34" charset="-122"/>
                <a:cs typeface="Abadi" pitchFamily="34" charset="-120"/>
              </a:rPr>
              <a:t>“For four years we had the product, the evidence and the regulatory clearance. What we did not have was a national route in. The framework gave us one assurance pass, one contract instrument, and a national catalogue. Fourteen ICBs live in the time it used to take to negotiate one.”</a:t>
            </a:r>
            <a:endParaRPr lang="en-US" sz="2200" dirty="0"/>
          </a:p>
        </p:txBody>
      </p:sp>
      <p:sp>
        <p:nvSpPr>
          <p:cNvPr id="8" name="Text 5"/>
          <p:cNvSpPr/>
          <p:nvPr/>
        </p:nvSpPr>
        <p:spPr>
          <a:xfrm>
            <a:off x="4114800" y="5212080"/>
            <a:ext cx="7498080" cy="365760"/>
          </a:xfrm>
          <a:prstGeom prst="rect">
            <a:avLst/>
          </a:prstGeom>
          <a:noFill/>
          <a:ln/>
        </p:spPr>
        <p:txBody>
          <a:bodyPr wrap="square" rtlCol="0" anchor="ctr"/>
          <a:lstStyle/>
          <a:p>
            <a:pPr indent="0" marL="0">
              <a:buNone/>
            </a:pPr>
            <a:r>
              <a:rPr lang="en-US" sz="1100" b="1" spc="100" kern="0" dirty="0">
                <a:solidFill>
                  <a:srgbClr val="FFD66B"/>
                </a:solidFill>
                <a:latin typeface="Abadi" pitchFamily="34" charset="0"/>
                <a:ea typeface="Abadi" pitchFamily="34" charset="-122"/>
                <a:cs typeface="Abadi" pitchFamily="34" charset="-120"/>
              </a:rPr>
              <a:t>MARCUS  ·  DTX FOUNDER</a:t>
            </a:r>
            <a:endParaRPr lang="en-US" sz="1100" dirty="0"/>
          </a:p>
        </p:txBody>
      </p:sp>
      <p:sp>
        <p:nvSpPr>
          <p:cNvPr id="9" name="Text 6"/>
          <p:cNvSpPr/>
          <p:nvPr/>
        </p:nvSpPr>
        <p:spPr>
          <a:xfrm>
            <a:off x="548640" y="6355080"/>
            <a:ext cx="7315200" cy="274320"/>
          </a:xfrm>
          <a:prstGeom prst="rect">
            <a:avLst/>
          </a:prstGeom>
          <a:noFill/>
          <a:ln/>
        </p:spPr>
        <p:txBody>
          <a:bodyPr wrap="square" rtlCol="0" anchor="ctr"/>
          <a:lstStyle/>
          <a:p>
            <a:pPr indent="0" marL="0">
              <a:buNone/>
            </a:pPr>
            <a:r>
              <a:rPr lang="en-US" sz="900" i="1" dirty="0">
                <a:solidFill>
                  <a:srgbClr val="AABBD0"/>
                </a:solidFill>
                <a:latin typeface="Abadi" pitchFamily="34" charset="0"/>
                <a:ea typeface="Abadi" pitchFamily="34" charset="-122"/>
                <a:cs typeface="Abadi" pitchFamily="34" charset="-120"/>
              </a:rPr>
              <a:t>DTx Operating Model · Sales pack · Commissioner</a:t>
            </a:r>
            <a:endParaRPr lang="en-US" sz="900" dirty="0"/>
          </a:p>
        </p:txBody>
      </p:sp>
      <p:sp>
        <p:nvSpPr>
          <p:cNvPr id="10" name="Text 7"/>
          <p:cNvSpPr/>
          <p:nvPr/>
        </p:nvSpPr>
        <p:spPr>
          <a:xfrm>
            <a:off x="11002975" y="6355080"/>
            <a:ext cx="914400" cy="274320"/>
          </a:xfrm>
          <a:prstGeom prst="rect">
            <a:avLst/>
          </a:prstGeom>
          <a:noFill/>
          <a:ln/>
        </p:spPr>
        <p:txBody>
          <a:bodyPr wrap="square" rtlCol="0" anchor="ctr"/>
          <a:lstStyle/>
          <a:p>
            <a:pPr algn="r" indent="0" marL="0">
              <a:buNone/>
            </a:pPr>
            <a:r>
              <a:rPr lang="en-US" sz="900" dirty="0">
                <a:solidFill>
                  <a:srgbClr val="AABBD0"/>
                </a:solidFill>
                <a:latin typeface="Abadi" pitchFamily="34" charset="0"/>
                <a:ea typeface="Abadi" pitchFamily="34" charset="-122"/>
                <a:cs typeface="Abadi" pitchFamily="34" charset="-120"/>
              </a:rPr>
              <a:t>7 of 12</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5EB8"/>
          </a:solidFill>
          <a:ln w="12700">
            <a:solidFill>
              <a:srgbClr val="005EB8"/>
            </a:solidFill>
            <a:prstDash val="solid"/>
          </a:ln>
        </p:spPr>
      </p:sp>
      <p:sp>
        <p:nvSpPr>
          <p:cNvPr id="3" name="Text 1"/>
          <p:cNvSpPr/>
          <p:nvPr/>
        </p:nvSpPr>
        <p:spPr>
          <a:xfrm>
            <a:off x="548640" y="457200"/>
            <a:ext cx="7315200" cy="274320"/>
          </a:xfrm>
          <a:prstGeom prst="rect">
            <a:avLst/>
          </a:prstGeom>
          <a:noFill/>
          <a:ln/>
        </p:spPr>
        <p:txBody>
          <a:bodyPr wrap="square" rtlCol="0" anchor="ctr"/>
          <a:lstStyle/>
          <a:p>
            <a:pPr indent="0" marL="0">
              <a:buNone/>
            </a:pPr>
            <a:r>
              <a:rPr lang="en-US" sz="1000" b="1" spc="100" kern="0" dirty="0">
                <a:solidFill>
                  <a:srgbClr val="005EB8"/>
                </a:solidFill>
                <a:latin typeface="Abadi" pitchFamily="34" charset="0"/>
                <a:ea typeface="Abadi" pitchFamily="34" charset="-122"/>
                <a:cs typeface="Abadi" pitchFamily="34" charset="-120"/>
              </a:rPr>
              <a:t>THE MODEL IN ONE SLIDE</a:t>
            </a:r>
            <a:endParaRPr lang="en-US" sz="1000" dirty="0"/>
          </a:p>
        </p:txBody>
      </p:sp>
      <p:sp>
        <p:nvSpPr>
          <p:cNvPr id="4" name="Shape 2"/>
          <p:cNvSpPr/>
          <p:nvPr/>
        </p:nvSpPr>
        <p:spPr>
          <a:xfrm>
            <a:off x="548640" y="777240"/>
            <a:ext cx="548640" cy="54864"/>
          </a:xfrm>
          <a:prstGeom prst="rect">
            <a:avLst/>
          </a:prstGeom>
          <a:solidFill>
            <a:srgbClr val="FFD66B"/>
          </a:solidFill>
          <a:ln w="12700">
            <a:solidFill>
              <a:srgbClr val="FFD66B"/>
            </a:solidFill>
            <a:prstDash val="solid"/>
          </a:ln>
        </p:spPr>
      </p:sp>
      <p:sp>
        <p:nvSpPr>
          <p:cNvPr id="5" name="Text 3"/>
          <p:cNvSpPr/>
          <p:nvPr/>
        </p:nvSpPr>
        <p:spPr>
          <a:xfrm>
            <a:off x="548640" y="914400"/>
            <a:ext cx="10972800" cy="914400"/>
          </a:xfrm>
          <a:prstGeom prst="rect">
            <a:avLst/>
          </a:prstGeom>
          <a:noFill/>
          <a:ln/>
        </p:spPr>
        <p:txBody>
          <a:bodyPr wrap="square" rtlCol="0" anchor="ctr"/>
          <a:lstStyle/>
          <a:p>
            <a:pPr indent="0" marL="0">
              <a:buNone/>
            </a:pPr>
            <a:r>
              <a:rPr lang="en-US" sz="2600" b="1" dirty="0">
                <a:solidFill>
                  <a:srgbClr val="003087"/>
                </a:solidFill>
                <a:latin typeface="Abadi" pitchFamily="34" charset="0"/>
                <a:ea typeface="Abadi" pitchFamily="34" charset="-122"/>
                <a:cs typeface="Abadi" pitchFamily="34" charset="-120"/>
              </a:rPr>
              <a:t>What you call off against, and what you do not have to build.</a:t>
            </a:r>
            <a:endParaRPr lang="en-US" sz="2600" dirty="0"/>
          </a:p>
        </p:txBody>
      </p:sp>
      <p:sp>
        <p:nvSpPr>
          <p:cNvPr id="6" name="Shape 4"/>
          <p:cNvSpPr/>
          <p:nvPr/>
        </p:nvSpPr>
        <p:spPr>
          <a:xfrm>
            <a:off x="548640" y="2194560"/>
            <a:ext cx="5029200" cy="777240"/>
          </a:xfrm>
          <a:prstGeom prst="rect">
            <a:avLst/>
          </a:prstGeom>
          <a:solidFill>
            <a:srgbClr val="005EB8"/>
          </a:solidFill>
          <a:ln w="12700">
            <a:solidFill>
              <a:srgbClr val="FFFFFF"/>
            </a:solidFill>
            <a:prstDash val="solid"/>
          </a:ln>
        </p:spPr>
      </p:sp>
      <p:sp>
        <p:nvSpPr>
          <p:cNvPr id="7" name="Text 5"/>
          <p:cNvSpPr/>
          <p:nvPr/>
        </p:nvSpPr>
        <p:spPr>
          <a:xfrm>
            <a:off x="713232" y="2286000"/>
            <a:ext cx="1645920" cy="274320"/>
          </a:xfrm>
          <a:prstGeom prst="rect">
            <a:avLst/>
          </a:prstGeom>
          <a:noFill/>
          <a:ln/>
        </p:spPr>
        <p:txBody>
          <a:bodyPr wrap="square" rtlCol="0" anchor="ctr"/>
          <a:lstStyle/>
          <a:p>
            <a:pPr indent="0" marL="0">
              <a:buNone/>
            </a:pPr>
            <a:r>
              <a:rPr lang="en-US" sz="1200" b="1" spc="100" kern="0" dirty="0">
                <a:solidFill>
                  <a:srgbClr val="FFFFFF"/>
                </a:solidFill>
                <a:latin typeface="Abadi" pitchFamily="34" charset="0"/>
                <a:ea typeface="Abadi" pitchFamily="34" charset="-122"/>
                <a:cs typeface="Abadi" pitchFamily="34" charset="-120"/>
              </a:rPr>
              <a:t>Foundation</a:t>
            </a:r>
            <a:endParaRPr lang="en-US" sz="1200" dirty="0"/>
          </a:p>
        </p:txBody>
      </p:sp>
      <p:sp>
        <p:nvSpPr>
          <p:cNvPr id="8" name="Text 6"/>
          <p:cNvSpPr/>
          <p:nvPr/>
        </p:nvSpPr>
        <p:spPr>
          <a:xfrm>
            <a:off x="2377440" y="2359152"/>
            <a:ext cx="3017520" cy="502920"/>
          </a:xfrm>
          <a:prstGeom prst="rect">
            <a:avLst/>
          </a:prstGeom>
          <a:noFill/>
          <a:ln/>
        </p:spPr>
        <p:txBody>
          <a:bodyPr wrap="square" rtlCol="0" anchor="ctr"/>
          <a:lstStyle/>
          <a:p>
            <a:pPr indent="0" marL="0">
              <a:buNone/>
            </a:pPr>
            <a:r>
              <a:rPr lang="en-US" sz="1000" dirty="0">
                <a:solidFill>
                  <a:srgbClr val="FFFFFF"/>
                </a:solidFill>
                <a:latin typeface="Abadi" pitchFamily="34" charset="0"/>
                <a:ea typeface="Abadi" pitchFamily="34" charset="-122"/>
                <a:cs typeface="Abadi" pitchFamily="34" charset="-120"/>
              </a:rPr>
              <a:t>One framework, one assurance bar, one contract architecture, one MI feed</a:t>
            </a:r>
            <a:endParaRPr lang="en-US" sz="1000" dirty="0"/>
          </a:p>
        </p:txBody>
      </p:sp>
      <p:sp>
        <p:nvSpPr>
          <p:cNvPr id="9" name="Shape 7"/>
          <p:cNvSpPr/>
          <p:nvPr/>
        </p:nvSpPr>
        <p:spPr>
          <a:xfrm>
            <a:off x="548640" y="3081528"/>
            <a:ext cx="5029200" cy="777240"/>
          </a:xfrm>
          <a:prstGeom prst="rect">
            <a:avLst/>
          </a:prstGeom>
          <a:solidFill>
            <a:srgbClr val="FFD66B"/>
          </a:solidFill>
          <a:ln w="12700">
            <a:solidFill>
              <a:srgbClr val="FFFFFF"/>
            </a:solidFill>
            <a:prstDash val="solid"/>
          </a:ln>
        </p:spPr>
      </p:sp>
      <p:sp>
        <p:nvSpPr>
          <p:cNvPr id="10" name="Text 8"/>
          <p:cNvSpPr/>
          <p:nvPr/>
        </p:nvSpPr>
        <p:spPr>
          <a:xfrm>
            <a:off x="713232" y="3172968"/>
            <a:ext cx="1645920" cy="274320"/>
          </a:xfrm>
          <a:prstGeom prst="rect">
            <a:avLst/>
          </a:prstGeom>
          <a:noFill/>
          <a:ln/>
        </p:spPr>
        <p:txBody>
          <a:bodyPr wrap="square" rtlCol="0" anchor="ctr"/>
          <a:lstStyle/>
          <a:p>
            <a:pPr indent="0" marL="0">
              <a:buNone/>
            </a:pPr>
            <a:r>
              <a:rPr lang="en-US" sz="1200" b="1" spc="100" kern="0" dirty="0">
                <a:solidFill>
                  <a:srgbClr val="FFFFFF"/>
                </a:solidFill>
                <a:latin typeface="Abadi" pitchFamily="34" charset="0"/>
                <a:ea typeface="Abadi" pitchFamily="34" charset="-122"/>
                <a:cs typeface="Abadi" pitchFamily="34" charset="-120"/>
              </a:rPr>
              <a:t>Overlay</a:t>
            </a:r>
            <a:endParaRPr lang="en-US" sz="1200" dirty="0"/>
          </a:p>
        </p:txBody>
      </p:sp>
      <p:sp>
        <p:nvSpPr>
          <p:cNvPr id="11" name="Text 9"/>
          <p:cNvSpPr/>
          <p:nvPr/>
        </p:nvSpPr>
        <p:spPr>
          <a:xfrm>
            <a:off x="2377440" y="3246120"/>
            <a:ext cx="3017520" cy="502920"/>
          </a:xfrm>
          <a:prstGeom prst="rect">
            <a:avLst/>
          </a:prstGeom>
          <a:noFill/>
          <a:ln/>
        </p:spPr>
        <p:txBody>
          <a:bodyPr wrap="square" rtlCol="0" anchor="ctr"/>
          <a:lstStyle/>
          <a:p>
            <a:pPr indent="0" marL="0">
              <a:buNone/>
            </a:pPr>
            <a:r>
              <a:rPr lang="en-US" sz="1000" dirty="0">
                <a:solidFill>
                  <a:srgbClr val="FFFFFF"/>
                </a:solidFill>
                <a:latin typeface="Abadi" pitchFamily="34" charset="0"/>
                <a:ea typeface="Abadi" pitchFamily="34" charset="-122"/>
                <a:cs typeface="Abadi" pitchFamily="34" charset="-120"/>
              </a:rPr>
              <a:t>Per-product configuration: HomeTest, HealthStore, HealthSync</a:t>
            </a:r>
            <a:endParaRPr lang="en-US" sz="1000" dirty="0"/>
          </a:p>
        </p:txBody>
      </p:sp>
      <p:sp>
        <p:nvSpPr>
          <p:cNvPr id="12" name="Shape 10"/>
          <p:cNvSpPr/>
          <p:nvPr/>
        </p:nvSpPr>
        <p:spPr>
          <a:xfrm>
            <a:off x="548640" y="3968496"/>
            <a:ext cx="5029200" cy="777240"/>
          </a:xfrm>
          <a:prstGeom prst="rect">
            <a:avLst/>
          </a:prstGeom>
          <a:solidFill>
            <a:srgbClr val="C4D3E6"/>
          </a:solidFill>
          <a:ln w="12700">
            <a:solidFill>
              <a:srgbClr val="FFFFFF"/>
            </a:solidFill>
            <a:prstDash val="solid"/>
          </a:ln>
        </p:spPr>
      </p:sp>
      <p:sp>
        <p:nvSpPr>
          <p:cNvPr id="13" name="Text 11"/>
          <p:cNvSpPr/>
          <p:nvPr/>
        </p:nvSpPr>
        <p:spPr>
          <a:xfrm>
            <a:off x="713232" y="4059936"/>
            <a:ext cx="1645920" cy="274320"/>
          </a:xfrm>
          <a:prstGeom prst="rect">
            <a:avLst/>
          </a:prstGeom>
          <a:noFill/>
          <a:ln/>
        </p:spPr>
        <p:txBody>
          <a:bodyPr wrap="square" rtlCol="0" anchor="ctr"/>
          <a:lstStyle/>
          <a:p>
            <a:pPr indent="0" marL="0">
              <a:buNone/>
            </a:pPr>
            <a:r>
              <a:rPr lang="en-US" sz="1200" b="1" spc="100" kern="0" dirty="0">
                <a:solidFill>
                  <a:srgbClr val="231F20"/>
                </a:solidFill>
                <a:latin typeface="Abadi" pitchFamily="34" charset="0"/>
                <a:ea typeface="Abadi" pitchFamily="34" charset="-122"/>
                <a:cs typeface="Abadi" pitchFamily="34" charset="-120"/>
              </a:rPr>
              <a:t>Pattern</a:t>
            </a:r>
            <a:endParaRPr lang="en-US" sz="1200" dirty="0"/>
          </a:p>
        </p:txBody>
      </p:sp>
      <p:sp>
        <p:nvSpPr>
          <p:cNvPr id="14" name="Text 12"/>
          <p:cNvSpPr/>
          <p:nvPr/>
        </p:nvSpPr>
        <p:spPr>
          <a:xfrm>
            <a:off x="2377440" y="4133088"/>
            <a:ext cx="3017520" cy="502920"/>
          </a:xfrm>
          <a:prstGeom prst="rect">
            <a:avLst/>
          </a:prstGeom>
          <a:noFill/>
          <a:ln/>
        </p:spPr>
        <p:txBody>
          <a:bodyPr wrap="square" rtlCol="0" anchor="ctr"/>
          <a:lstStyle/>
          <a:p>
            <a:pPr indent="0" marL="0">
              <a:buNone/>
            </a:pPr>
            <a:r>
              <a:rPr lang="en-US" sz="1000" dirty="0">
                <a:solidFill>
                  <a:srgbClr val="231F20"/>
                </a:solidFill>
                <a:latin typeface="Abadi" pitchFamily="34" charset="0"/>
                <a:ea typeface="Abadi" pitchFamily="34" charset="-122"/>
                <a:cs typeface="Abadi" pitchFamily="34" charset="-120"/>
              </a:rPr>
              <a:t>Deployment shapes admitted under the framework</a:t>
            </a:r>
            <a:endParaRPr lang="en-US" sz="1000" dirty="0"/>
          </a:p>
        </p:txBody>
      </p:sp>
      <p:sp>
        <p:nvSpPr>
          <p:cNvPr id="15" name="Shape 13"/>
          <p:cNvSpPr/>
          <p:nvPr/>
        </p:nvSpPr>
        <p:spPr>
          <a:xfrm>
            <a:off x="548640" y="4855464"/>
            <a:ext cx="5029200" cy="777240"/>
          </a:xfrm>
          <a:prstGeom prst="rect">
            <a:avLst/>
          </a:prstGeom>
          <a:solidFill>
            <a:srgbClr val="EAF0F7"/>
          </a:solidFill>
          <a:ln w="12700">
            <a:solidFill>
              <a:srgbClr val="FFFFFF"/>
            </a:solidFill>
            <a:prstDash val="solid"/>
          </a:ln>
        </p:spPr>
      </p:sp>
      <p:sp>
        <p:nvSpPr>
          <p:cNvPr id="16" name="Text 14"/>
          <p:cNvSpPr/>
          <p:nvPr/>
        </p:nvSpPr>
        <p:spPr>
          <a:xfrm>
            <a:off x="713232" y="4946904"/>
            <a:ext cx="1645920" cy="274320"/>
          </a:xfrm>
          <a:prstGeom prst="rect">
            <a:avLst/>
          </a:prstGeom>
          <a:noFill/>
          <a:ln/>
        </p:spPr>
        <p:txBody>
          <a:bodyPr wrap="square" rtlCol="0" anchor="ctr"/>
          <a:lstStyle/>
          <a:p>
            <a:pPr indent="0" marL="0">
              <a:buNone/>
            </a:pPr>
            <a:r>
              <a:rPr lang="en-US" sz="1200" b="1" spc="100" kern="0" dirty="0">
                <a:solidFill>
                  <a:srgbClr val="231F20"/>
                </a:solidFill>
                <a:latin typeface="Abadi" pitchFamily="34" charset="0"/>
                <a:ea typeface="Abadi" pitchFamily="34" charset="-122"/>
                <a:cs typeface="Abadi" pitchFamily="34" charset="-120"/>
              </a:rPr>
              <a:t>Configuration</a:t>
            </a:r>
            <a:endParaRPr lang="en-US" sz="1200" dirty="0"/>
          </a:p>
        </p:txBody>
      </p:sp>
      <p:sp>
        <p:nvSpPr>
          <p:cNvPr id="17" name="Text 15"/>
          <p:cNvSpPr/>
          <p:nvPr/>
        </p:nvSpPr>
        <p:spPr>
          <a:xfrm>
            <a:off x="2377440" y="5020056"/>
            <a:ext cx="3017520" cy="502920"/>
          </a:xfrm>
          <a:prstGeom prst="rect">
            <a:avLst/>
          </a:prstGeom>
          <a:noFill/>
          <a:ln/>
        </p:spPr>
        <p:txBody>
          <a:bodyPr wrap="square" rtlCol="0" anchor="ctr"/>
          <a:lstStyle/>
          <a:p>
            <a:pPr indent="0" marL="0">
              <a:buNone/>
            </a:pPr>
            <a:r>
              <a:rPr lang="en-US" sz="1000" dirty="0">
                <a:solidFill>
                  <a:srgbClr val="231F20"/>
                </a:solidFill>
                <a:latin typeface="Abadi" pitchFamily="34" charset="0"/>
                <a:ea typeface="Abadi" pitchFamily="34" charset="-122"/>
                <a:cs typeface="Abadi" pitchFamily="34" charset="-120"/>
              </a:rPr>
              <a:t>The product-specific operating shape for each pathway</a:t>
            </a:r>
            <a:endParaRPr lang="en-US" sz="1000" dirty="0"/>
          </a:p>
        </p:txBody>
      </p:sp>
      <p:sp>
        <p:nvSpPr>
          <p:cNvPr id="18" name="Text 16"/>
          <p:cNvSpPr/>
          <p:nvPr/>
        </p:nvSpPr>
        <p:spPr>
          <a:xfrm>
            <a:off x="6126480" y="2194560"/>
            <a:ext cx="5486400" cy="274320"/>
          </a:xfrm>
          <a:prstGeom prst="rect">
            <a:avLst/>
          </a:prstGeom>
          <a:noFill/>
          <a:ln/>
        </p:spPr>
        <p:txBody>
          <a:bodyPr wrap="square" rtlCol="0" anchor="ctr"/>
          <a:lstStyle/>
          <a:p>
            <a:pPr indent="0" marL="0">
              <a:buNone/>
            </a:pPr>
            <a:r>
              <a:rPr lang="en-US" sz="1000" b="1" spc="100" kern="0" dirty="0">
                <a:solidFill>
                  <a:srgbClr val="005EB8"/>
                </a:solidFill>
                <a:latin typeface="Abadi" pitchFamily="34" charset="0"/>
                <a:ea typeface="Abadi" pitchFamily="34" charset="-122"/>
                <a:cs typeface="Abadi" pitchFamily="34" charset="-120"/>
              </a:rPr>
              <a:t>WHAT THIS MEANS FOR YOU</a:t>
            </a:r>
            <a:endParaRPr lang="en-US" sz="1000" dirty="0"/>
          </a:p>
        </p:txBody>
      </p:sp>
      <p:sp>
        <p:nvSpPr>
          <p:cNvPr id="19" name="Text 17"/>
          <p:cNvSpPr/>
          <p:nvPr/>
        </p:nvSpPr>
        <p:spPr>
          <a:xfrm>
            <a:off x="6126480" y="2606040"/>
            <a:ext cx="5486400" cy="3657600"/>
          </a:xfrm>
          <a:prstGeom prst="rect">
            <a:avLst/>
          </a:prstGeom>
          <a:noFill/>
          <a:ln/>
        </p:spPr>
        <p:txBody>
          <a:bodyPr wrap="square" rtlCol="0" anchor="ctr"/>
          <a:lstStyle/>
          <a:p>
            <a:pPr marL="342900" indent="-342900">
              <a:lnSpc>
                <a:spcPct val="130000"/>
              </a:lnSpc>
              <a:spcAft>
                <a:spcPts val="1000"/>
              </a:spcAft>
              <a:buSzPct val="100000"/>
              <a:buChar char="●"/>
            </a:pPr>
            <a:r>
              <a:rPr lang="en-US" sz="1300" dirty="0">
                <a:solidFill>
                  <a:srgbClr val="231F20"/>
                </a:solidFill>
                <a:latin typeface="Abadi" pitchFamily="34" charset="0"/>
                <a:ea typeface="Abadi" pitchFamily="34" charset="-122"/>
                <a:cs typeface="Abadi" pitchFamily="34" charset="-120"/>
              </a:rPr>
              <a:t>One national framework instrument carries three product overlays.</a:t>
            </a:r>
            <a:endParaRPr lang="en-US" sz="1300" dirty="0"/>
          </a:p>
          <a:p>
            <a:pPr marL="342900" indent="-342900">
              <a:lnSpc>
                <a:spcPct val="130000"/>
              </a:lnSpc>
              <a:spcAft>
                <a:spcPts val="1000"/>
              </a:spcAft>
              <a:buSzPct val="100000"/>
              <a:buChar char="●"/>
            </a:pPr>
            <a:r>
              <a:rPr lang="en-US" sz="1300" dirty="0">
                <a:solidFill>
                  <a:srgbClr val="231F20"/>
                </a:solidFill>
                <a:latin typeface="Abadi" pitchFamily="34" charset="0"/>
                <a:ea typeface="Abadi" pitchFamily="34" charset="-122"/>
                <a:cs typeface="Abadi" pitchFamily="34" charset="-120"/>
              </a:rPr>
              <a:t>Supplier admission, clinical safety case, IG and assurance are done once at the centre. You consume the evidence pack, you do not reproduce it.</a:t>
            </a:r>
            <a:endParaRPr lang="en-US" sz="1300" dirty="0"/>
          </a:p>
          <a:p>
            <a:pPr marL="342900" indent="-342900">
              <a:lnSpc>
                <a:spcPct val="130000"/>
              </a:lnSpc>
              <a:spcAft>
                <a:spcPts val="1000"/>
              </a:spcAft>
              <a:buSzPct val="100000"/>
              <a:buChar char="●"/>
            </a:pPr>
            <a:r>
              <a:rPr lang="en-US" sz="1300" dirty="0">
                <a:solidFill>
                  <a:srgbClr val="231F20"/>
                </a:solidFill>
                <a:latin typeface="Abadi" pitchFamily="34" charset="0"/>
                <a:ea typeface="Abadi" pitchFamily="34" charset="-122"/>
                <a:cs typeface="Abadi" pitchFamily="34" charset="-120"/>
              </a:rPr>
              <a:t>NHS Standard Contract with SaaS and data schedules carries the call-off across all three workstreams. NHS Commercial holds the framework above your contract.</a:t>
            </a:r>
            <a:endParaRPr lang="en-US" sz="1300" dirty="0"/>
          </a:p>
          <a:p>
            <a:pPr marL="342900" indent="-342900">
              <a:lnSpc>
                <a:spcPct val="130000"/>
              </a:lnSpc>
              <a:spcAft>
                <a:spcPts val="1000"/>
              </a:spcAft>
              <a:buSzPct val="100000"/>
              <a:buChar char="●"/>
            </a:pPr>
            <a:r>
              <a:rPr lang="en-US" sz="1300" dirty="0">
                <a:solidFill>
                  <a:srgbClr val="231F20"/>
                </a:solidFill>
                <a:latin typeface="Abadi" pitchFamily="34" charset="0"/>
                <a:ea typeface="Abadi" pitchFamily="34" charset="-122"/>
                <a:cs typeface="Abadi" pitchFamily="34" charset="-120"/>
              </a:rPr>
              <a:t>One MI feed for supplier performance, cohort outcomes and financial discipline. Same data spine across HomeTest, HealthStore and HealthSync.</a:t>
            </a:r>
            <a:endParaRPr lang="en-US" sz="1300" dirty="0"/>
          </a:p>
          <a:p>
            <a:pPr marL="342900" indent="-342900">
              <a:lnSpc>
                <a:spcPct val="130000"/>
              </a:lnSpc>
              <a:spcAft>
                <a:spcPts val="1000"/>
              </a:spcAft>
              <a:buSzPct val="100000"/>
              <a:buChar char="●"/>
            </a:pPr>
            <a:r>
              <a:rPr lang="en-US" sz="1300" dirty="0">
                <a:solidFill>
                  <a:srgbClr val="231F20"/>
                </a:solidFill>
                <a:latin typeface="Abadi" pitchFamily="34" charset="0"/>
                <a:ea typeface="Abadi" pitchFamily="34" charset="-122"/>
                <a:cs typeface="Abadi" pitchFamily="34" charset="-120"/>
              </a:rPr>
              <a:t>NICE EVA conditional recommendation route lets new configurations come onto the formulary against a real-world evidence generation commitment, not a five-year RCT delay.</a:t>
            </a:r>
            <a:endParaRPr lang="en-US" sz="1300" dirty="0"/>
          </a:p>
        </p:txBody>
      </p:sp>
      <p:sp>
        <p:nvSpPr>
          <p:cNvPr id="20" name="Text 18"/>
          <p:cNvSpPr/>
          <p:nvPr/>
        </p:nvSpPr>
        <p:spPr>
          <a:xfrm>
            <a:off x="548640" y="6400800"/>
            <a:ext cx="7315200" cy="274320"/>
          </a:xfrm>
          <a:prstGeom prst="rect">
            <a:avLst/>
          </a:prstGeom>
          <a:noFill/>
          <a:ln/>
        </p:spPr>
        <p:txBody>
          <a:bodyPr wrap="square" rtlCol="0" anchor="ctr"/>
          <a:lstStyle/>
          <a:p>
            <a:pPr indent="0" marL="0">
              <a:buNone/>
            </a:pPr>
            <a:r>
              <a:rPr lang="en-US" sz="900" i="1" dirty="0">
                <a:solidFill>
                  <a:srgbClr val="7E8B97"/>
                </a:solidFill>
                <a:latin typeface="Abadi" pitchFamily="34" charset="0"/>
                <a:ea typeface="Abadi" pitchFamily="34" charset="-122"/>
                <a:cs typeface="Abadi" pitchFamily="34" charset="-120"/>
              </a:rPr>
              <a:t>DTx Operating Model · Sales pack · Commissioner</a:t>
            </a:r>
            <a:endParaRPr lang="en-US" sz="900" dirty="0"/>
          </a:p>
        </p:txBody>
      </p:sp>
      <p:sp>
        <p:nvSpPr>
          <p:cNvPr id="21" name="Text 19"/>
          <p:cNvSpPr/>
          <p:nvPr/>
        </p:nvSpPr>
        <p:spPr>
          <a:xfrm>
            <a:off x="11002975" y="6400800"/>
            <a:ext cx="914400" cy="274320"/>
          </a:xfrm>
          <a:prstGeom prst="rect">
            <a:avLst/>
          </a:prstGeom>
          <a:noFill/>
          <a:ln/>
        </p:spPr>
        <p:txBody>
          <a:bodyPr wrap="square" rtlCol="0" anchor="ctr"/>
          <a:lstStyle/>
          <a:p>
            <a:pPr algn="r" indent="0" marL="0">
              <a:buNone/>
            </a:pPr>
            <a:r>
              <a:rPr lang="en-US" sz="900" dirty="0">
                <a:solidFill>
                  <a:srgbClr val="7E8B97"/>
                </a:solidFill>
                <a:latin typeface="Abadi" pitchFamily="34" charset="0"/>
                <a:ea typeface="Abadi" pitchFamily="34" charset="-122"/>
                <a:cs typeface="Abadi" pitchFamily="34" charset="-120"/>
              </a:rPr>
              <a:t>8 of 12</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5EB8"/>
          </a:solidFill>
          <a:ln w="12700">
            <a:solidFill>
              <a:srgbClr val="005EB8"/>
            </a:solidFill>
            <a:prstDash val="solid"/>
          </a:ln>
        </p:spPr>
      </p:sp>
      <p:sp>
        <p:nvSpPr>
          <p:cNvPr id="3" name="Text 1"/>
          <p:cNvSpPr/>
          <p:nvPr/>
        </p:nvSpPr>
        <p:spPr>
          <a:xfrm>
            <a:off x="548640" y="457200"/>
            <a:ext cx="7315200" cy="274320"/>
          </a:xfrm>
          <a:prstGeom prst="rect">
            <a:avLst/>
          </a:prstGeom>
          <a:noFill/>
          <a:ln/>
        </p:spPr>
        <p:txBody>
          <a:bodyPr wrap="square" rtlCol="0" anchor="ctr"/>
          <a:lstStyle/>
          <a:p>
            <a:pPr indent="0" marL="0">
              <a:buNone/>
            </a:pPr>
            <a:r>
              <a:rPr lang="en-US" sz="1000" b="1" spc="100" kern="0" dirty="0">
                <a:solidFill>
                  <a:srgbClr val="005EB8"/>
                </a:solidFill>
                <a:latin typeface="Abadi" pitchFamily="34" charset="0"/>
                <a:ea typeface="Abadi" pitchFamily="34" charset="-122"/>
                <a:cs typeface="Abadi" pitchFamily="34" charset="-120"/>
              </a:rPr>
              <a:t>TWELVE MONTHS ON</a:t>
            </a:r>
            <a:endParaRPr lang="en-US" sz="1000" dirty="0"/>
          </a:p>
        </p:txBody>
      </p:sp>
      <p:sp>
        <p:nvSpPr>
          <p:cNvPr id="4" name="Shape 2"/>
          <p:cNvSpPr/>
          <p:nvPr/>
        </p:nvSpPr>
        <p:spPr>
          <a:xfrm>
            <a:off x="548640" y="777240"/>
            <a:ext cx="548640" cy="54864"/>
          </a:xfrm>
          <a:prstGeom prst="rect">
            <a:avLst/>
          </a:prstGeom>
          <a:solidFill>
            <a:srgbClr val="FFD66B"/>
          </a:solidFill>
          <a:ln w="12700">
            <a:solidFill>
              <a:srgbClr val="FFD66B"/>
            </a:solidFill>
            <a:prstDash val="solid"/>
          </a:ln>
        </p:spPr>
      </p:sp>
      <p:sp>
        <p:nvSpPr>
          <p:cNvPr id="5" name="Text 3"/>
          <p:cNvSpPr/>
          <p:nvPr/>
        </p:nvSpPr>
        <p:spPr>
          <a:xfrm>
            <a:off x="548640" y="914400"/>
            <a:ext cx="6858000" cy="1371600"/>
          </a:xfrm>
          <a:prstGeom prst="rect">
            <a:avLst/>
          </a:prstGeom>
          <a:noFill/>
          <a:ln/>
        </p:spPr>
        <p:txBody>
          <a:bodyPr wrap="square" rtlCol="0" anchor="t"/>
          <a:lstStyle/>
          <a:p>
            <a:pPr indent="0" marL="0">
              <a:buNone/>
            </a:pPr>
            <a:r>
              <a:rPr lang="en-US" sz="3000" b="1" dirty="0">
                <a:solidFill>
                  <a:srgbClr val="003087"/>
                </a:solidFill>
                <a:latin typeface="Abadi" pitchFamily="34" charset="0"/>
                <a:ea typeface="Abadi" pitchFamily="34" charset="-122"/>
                <a:cs typeface="Abadi" pitchFamily="34" charset="-120"/>
              </a:rPr>
              <a:t>The board paper writes itself, because the framework has been generating the evidence for you.</a:t>
            </a:r>
            <a:endParaRPr lang="en-US" sz="3000" dirty="0"/>
          </a:p>
        </p:txBody>
      </p:sp>
      <p:sp>
        <p:nvSpPr>
          <p:cNvPr id="6" name="Text 4"/>
          <p:cNvSpPr/>
          <p:nvPr/>
        </p:nvSpPr>
        <p:spPr>
          <a:xfrm>
            <a:off x="548640" y="2468880"/>
            <a:ext cx="6858000" cy="3657600"/>
          </a:xfrm>
          <a:prstGeom prst="rect">
            <a:avLst/>
          </a:prstGeom>
          <a:noFill/>
          <a:ln/>
        </p:spPr>
        <p:txBody>
          <a:bodyPr wrap="square" rtlCol="0" anchor="t"/>
          <a:lstStyle/>
          <a:p>
            <a:pPr indent="0" marL="0">
              <a:lnSpc>
                <a:spcPct val="130000"/>
              </a:lnSpc>
              <a:spcAft>
                <a:spcPts val="1000"/>
              </a:spcAft>
              <a:buNone/>
            </a:pPr>
            <a:r>
              <a:rPr lang="en-US" sz="1400" dirty="0">
                <a:solidFill>
                  <a:srgbClr val="231F20"/>
                </a:solidFill>
                <a:latin typeface="Abadi" pitchFamily="34" charset="0"/>
                <a:ea typeface="Abadi" pitchFamily="34" charset="-122"/>
                <a:cs typeface="Abadi" pitchFamily="34" charset="-120"/>
              </a:rPr>
              <a:t>Detection up. Admissions down. Cohort engagement holding. Suppliers performing against the same MI feed that fed Sarah’s monthly review.</a:t>
            </a:r>
            <a:pPr indent="0" marL="0">
              <a:lnSpc>
                <a:spcPct val="130000"/>
              </a:lnSpc>
              <a:spcAft>
                <a:spcPts val="1000"/>
              </a:spcAft>
              <a:buNone/>
            </a:pPr>
            <a:r>
              <a:rPr lang="en-US" sz="1400" dirty="0">
                <a:solidFill>
                  <a:srgbClr val="231F20"/>
                </a:solidFill>
                <a:latin typeface="Abadi" pitchFamily="34" charset="0"/>
                <a:ea typeface="Abadi" pitchFamily="34" charset="-122"/>
                <a:cs typeface="Abadi" pitchFamily="34" charset="-120"/>
              </a:rPr>
              <a:t>The evidence you generate locally feeds the next NICE re-evaluation, the next best-practice tariff, the next commissioner’s confidence in the framework you leaned on.</a:t>
            </a:r>
            <a:pPr indent="0" marL="0">
              <a:lnSpc>
                <a:spcPct val="130000"/>
              </a:lnSpc>
              <a:spcAft>
                <a:spcPts val="800"/>
              </a:spcAft>
              <a:buNone/>
            </a:pPr>
            <a:r>
              <a:rPr lang="en-US" sz="1400" b="1" dirty="0">
                <a:solidFill>
                  <a:srgbClr val="003087"/>
                </a:solidFill>
                <a:latin typeface="Abadi" pitchFamily="34" charset="0"/>
                <a:ea typeface="Abadi" pitchFamily="34" charset="-122"/>
                <a:cs typeface="Abadi" pitchFamily="34" charset="-120"/>
              </a:rPr>
              <a:t>Ongoing Evidence Generation at Foundation level threads the outcomes back into the Assurance Model. The flywheel runs once.</a:t>
            </a:r>
            <a:endParaRPr lang="en-US" sz="1400" dirty="0"/>
          </a:p>
        </p:txBody>
      </p:sp>
      <p:sp>
        <p:nvSpPr>
          <p:cNvPr id="7" name="Text 5"/>
          <p:cNvSpPr/>
          <p:nvPr/>
        </p:nvSpPr>
        <p:spPr>
          <a:xfrm>
            <a:off x="548640" y="6400800"/>
            <a:ext cx="7315200" cy="274320"/>
          </a:xfrm>
          <a:prstGeom prst="rect">
            <a:avLst/>
          </a:prstGeom>
          <a:noFill/>
          <a:ln/>
        </p:spPr>
        <p:txBody>
          <a:bodyPr wrap="square" rtlCol="0" anchor="ctr"/>
          <a:lstStyle/>
          <a:p>
            <a:pPr indent="0" marL="0">
              <a:buNone/>
            </a:pPr>
            <a:r>
              <a:rPr lang="en-US" sz="900" i="1" dirty="0">
                <a:solidFill>
                  <a:srgbClr val="7E8B97"/>
                </a:solidFill>
                <a:latin typeface="Abadi" pitchFamily="34" charset="0"/>
                <a:ea typeface="Abadi" pitchFamily="34" charset="-122"/>
                <a:cs typeface="Abadi" pitchFamily="34" charset="-120"/>
              </a:rPr>
              <a:t>DTx Operating Model · Sales pack · Commissioner</a:t>
            </a:r>
            <a:endParaRPr lang="en-US" sz="900" dirty="0"/>
          </a:p>
        </p:txBody>
      </p:sp>
      <p:sp>
        <p:nvSpPr>
          <p:cNvPr id="8" name="Text 6"/>
          <p:cNvSpPr/>
          <p:nvPr/>
        </p:nvSpPr>
        <p:spPr>
          <a:xfrm>
            <a:off x="11002975" y="6400800"/>
            <a:ext cx="914400" cy="274320"/>
          </a:xfrm>
          <a:prstGeom prst="rect">
            <a:avLst/>
          </a:prstGeom>
          <a:noFill/>
          <a:ln/>
        </p:spPr>
        <p:txBody>
          <a:bodyPr wrap="square" rtlCol="0" anchor="ctr"/>
          <a:lstStyle/>
          <a:p>
            <a:pPr algn="r" indent="0" marL="0">
              <a:buNone/>
            </a:pPr>
            <a:r>
              <a:rPr lang="en-US" sz="900" dirty="0">
                <a:solidFill>
                  <a:srgbClr val="7E8B97"/>
                </a:solidFill>
                <a:latin typeface="Abadi" pitchFamily="34" charset="0"/>
                <a:ea typeface="Abadi" pitchFamily="34" charset="-122"/>
                <a:cs typeface="Abadi" pitchFamily="34" charset="-120"/>
              </a:rPr>
              <a:t>9 of 12</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5EB8"/>
          </a:solidFill>
          <a:ln w="12700">
            <a:solidFill>
              <a:srgbClr val="005EB8"/>
            </a:solidFill>
            <a:prstDash val="solid"/>
          </a:ln>
        </p:spPr>
      </p:sp>
      <p:sp>
        <p:nvSpPr>
          <p:cNvPr id="3" name="Text 1"/>
          <p:cNvSpPr/>
          <p:nvPr/>
        </p:nvSpPr>
        <p:spPr>
          <a:xfrm>
            <a:off x="548640" y="457200"/>
            <a:ext cx="7315200" cy="274320"/>
          </a:xfrm>
          <a:prstGeom prst="rect">
            <a:avLst/>
          </a:prstGeom>
          <a:noFill/>
          <a:ln/>
        </p:spPr>
        <p:txBody>
          <a:bodyPr wrap="square" rtlCol="0" anchor="ctr"/>
          <a:lstStyle/>
          <a:p>
            <a:pPr indent="0" marL="0">
              <a:buNone/>
            </a:pPr>
            <a:r>
              <a:rPr lang="en-US" sz="1000" b="1" spc="100" kern="0" dirty="0">
                <a:solidFill>
                  <a:srgbClr val="005EB8"/>
                </a:solidFill>
                <a:latin typeface="Abadi" pitchFamily="34" charset="0"/>
                <a:ea typeface="Abadi" pitchFamily="34" charset="-122"/>
                <a:cs typeface="Abadi" pitchFamily="34" charset="-120"/>
              </a:rPr>
              <a:t>THE ASK</a:t>
            </a:r>
            <a:endParaRPr lang="en-US" sz="1000" dirty="0"/>
          </a:p>
        </p:txBody>
      </p:sp>
      <p:sp>
        <p:nvSpPr>
          <p:cNvPr id="4" name="Shape 2"/>
          <p:cNvSpPr/>
          <p:nvPr/>
        </p:nvSpPr>
        <p:spPr>
          <a:xfrm>
            <a:off x="548640" y="777240"/>
            <a:ext cx="548640" cy="54864"/>
          </a:xfrm>
          <a:prstGeom prst="rect">
            <a:avLst/>
          </a:prstGeom>
          <a:solidFill>
            <a:srgbClr val="FFD66B"/>
          </a:solidFill>
          <a:ln w="12700">
            <a:solidFill>
              <a:srgbClr val="FFD66B"/>
            </a:solidFill>
            <a:prstDash val="solid"/>
          </a:ln>
        </p:spPr>
      </p:sp>
      <p:sp>
        <p:nvSpPr>
          <p:cNvPr id="5" name="Text 3"/>
          <p:cNvSpPr/>
          <p:nvPr/>
        </p:nvSpPr>
        <p:spPr>
          <a:xfrm>
            <a:off x="548640" y="914400"/>
            <a:ext cx="10972800" cy="1005840"/>
          </a:xfrm>
          <a:prstGeom prst="rect">
            <a:avLst/>
          </a:prstGeom>
          <a:noFill/>
          <a:ln/>
        </p:spPr>
        <p:txBody>
          <a:bodyPr wrap="square" rtlCol="0" anchor="ctr"/>
          <a:lstStyle/>
          <a:p>
            <a:pPr indent="0" marL="0">
              <a:buNone/>
            </a:pPr>
            <a:r>
              <a:rPr lang="en-US" sz="3000" b="1" dirty="0">
                <a:solidFill>
                  <a:srgbClr val="003087"/>
                </a:solidFill>
                <a:latin typeface="Abadi" pitchFamily="34" charset="0"/>
                <a:ea typeface="Abadi" pitchFamily="34" charset="-122"/>
                <a:cs typeface="Abadi" pitchFamily="34" charset="-120"/>
              </a:rPr>
              <a:t>Three ways to engage with the operating model from where you sit.</a:t>
            </a:r>
            <a:endParaRPr lang="en-US" sz="3000" dirty="0"/>
          </a:p>
        </p:txBody>
      </p:sp>
      <p:sp>
        <p:nvSpPr>
          <p:cNvPr id="6" name="Shape 4"/>
          <p:cNvSpPr/>
          <p:nvPr/>
        </p:nvSpPr>
        <p:spPr>
          <a:xfrm>
            <a:off x="548640" y="2194560"/>
            <a:ext cx="3611880" cy="3931920"/>
          </a:xfrm>
          <a:prstGeom prst="rect">
            <a:avLst/>
          </a:prstGeom>
          <a:solidFill>
            <a:srgbClr val="005EB8"/>
          </a:solidFill>
          <a:ln w="12700">
            <a:solidFill>
              <a:srgbClr val="005EB8"/>
            </a:solidFill>
            <a:prstDash val="solid"/>
          </a:ln>
        </p:spPr>
      </p:sp>
      <p:sp>
        <p:nvSpPr>
          <p:cNvPr id="7" name="Shape 5"/>
          <p:cNvSpPr/>
          <p:nvPr/>
        </p:nvSpPr>
        <p:spPr>
          <a:xfrm>
            <a:off x="822960" y="2468880"/>
            <a:ext cx="640080" cy="640080"/>
          </a:xfrm>
          <a:prstGeom prst="ellipse">
            <a:avLst/>
          </a:prstGeom>
          <a:solidFill>
            <a:srgbClr val="FFD66B"/>
          </a:solidFill>
          <a:ln w="12700">
            <a:solidFill>
              <a:srgbClr val="FFD66B"/>
            </a:solidFill>
            <a:prstDash val="solid"/>
          </a:ln>
        </p:spPr>
      </p:sp>
      <p:sp>
        <p:nvSpPr>
          <p:cNvPr id="8" name="Text 6"/>
          <p:cNvSpPr/>
          <p:nvPr/>
        </p:nvSpPr>
        <p:spPr>
          <a:xfrm>
            <a:off x="822960" y="2468880"/>
            <a:ext cx="640080" cy="640080"/>
          </a:xfrm>
          <a:prstGeom prst="rect">
            <a:avLst/>
          </a:prstGeom>
          <a:noFill/>
          <a:ln/>
        </p:spPr>
        <p:txBody>
          <a:bodyPr wrap="square" rtlCol="0" anchor="ctr"/>
          <a:lstStyle/>
          <a:p>
            <a:pPr algn="ctr" indent="0" marL="0">
              <a:buNone/>
            </a:pPr>
            <a:r>
              <a:rPr lang="en-US" sz="2200" b="1" dirty="0">
                <a:solidFill>
                  <a:srgbClr val="003087"/>
                </a:solidFill>
                <a:latin typeface="Abadi" pitchFamily="34" charset="0"/>
                <a:ea typeface="Abadi" pitchFamily="34" charset="-122"/>
                <a:cs typeface="Abadi" pitchFamily="34" charset="-120"/>
              </a:rPr>
              <a:t>1</a:t>
            </a:r>
            <a:endParaRPr lang="en-US" sz="2200" dirty="0"/>
          </a:p>
        </p:txBody>
      </p:sp>
      <p:sp>
        <p:nvSpPr>
          <p:cNvPr id="9" name="Text 7"/>
          <p:cNvSpPr/>
          <p:nvPr/>
        </p:nvSpPr>
        <p:spPr>
          <a:xfrm>
            <a:off x="822960" y="3291840"/>
            <a:ext cx="3063240" cy="1097280"/>
          </a:xfrm>
          <a:prstGeom prst="rect">
            <a:avLst/>
          </a:prstGeom>
          <a:noFill/>
          <a:ln/>
        </p:spPr>
        <p:txBody>
          <a:bodyPr wrap="square" rtlCol="0" anchor="t"/>
          <a:lstStyle/>
          <a:p>
            <a:pPr indent="0" marL="0">
              <a:buNone/>
            </a:pPr>
            <a:r>
              <a:rPr lang="en-US" sz="1800" b="1" dirty="0">
                <a:solidFill>
                  <a:srgbClr val="FFFFFF"/>
                </a:solidFill>
                <a:latin typeface="Abadi" pitchFamily="34" charset="0"/>
                <a:ea typeface="Abadi" pitchFamily="34" charset="-122"/>
                <a:cs typeface="Abadi" pitchFamily="34" charset="-120"/>
              </a:rPr>
              <a:t>Adopt the framework for a real configuration</a:t>
            </a:r>
            <a:endParaRPr lang="en-US" sz="1800" dirty="0"/>
          </a:p>
        </p:txBody>
      </p:sp>
      <p:sp>
        <p:nvSpPr>
          <p:cNvPr id="10" name="Text 8"/>
          <p:cNvSpPr/>
          <p:nvPr/>
        </p:nvSpPr>
        <p:spPr>
          <a:xfrm>
            <a:off x="822960" y="4480560"/>
            <a:ext cx="3063240" cy="1463040"/>
          </a:xfrm>
          <a:prstGeom prst="rect">
            <a:avLst/>
          </a:prstGeom>
          <a:noFill/>
          <a:ln/>
        </p:spPr>
        <p:txBody>
          <a:bodyPr wrap="square" rtlCol="0" anchor="t"/>
          <a:lstStyle/>
          <a:p>
            <a:pPr indent="0" marL="0">
              <a:lnSpc>
                <a:spcPct val="130000"/>
              </a:lnSpc>
              <a:buNone/>
            </a:pPr>
            <a:r>
              <a:rPr lang="en-US" sz="1200" dirty="0">
                <a:solidFill>
                  <a:srgbClr val="FFFFFF"/>
                </a:solidFill>
                <a:latin typeface="Abadi" pitchFamily="34" charset="0"/>
                <a:ea typeface="Abadi" pitchFamily="34" charset="-122"/>
                <a:cs typeface="Abadi" pitchFamily="34" charset="-120"/>
              </a:rPr>
              <a:t>Pick a pathway in your population: CVKM detection, COPD self-management, high-risk monitoring. Call off against the framework. Six-week target from brief to call-off.</a:t>
            </a:r>
            <a:endParaRPr lang="en-US" sz="1200" dirty="0"/>
          </a:p>
        </p:txBody>
      </p:sp>
      <p:sp>
        <p:nvSpPr>
          <p:cNvPr id="11" name="Shape 9"/>
          <p:cNvSpPr/>
          <p:nvPr/>
        </p:nvSpPr>
        <p:spPr>
          <a:xfrm>
            <a:off x="4343400" y="2194560"/>
            <a:ext cx="3611880" cy="3931920"/>
          </a:xfrm>
          <a:prstGeom prst="rect">
            <a:avLst/>
          </a:prstGeom>
          <a:solidFill>
            <a:srgbClr val="005EB8"/>
          </a:solidFill>
          <a:ln w="12700">
            <a:solidFill>
              <a:srgbClr val="005EB8"/>
            </a:solidFill>
            <a:prstDash val="solid"/>
          </a:ln>
        </p:spPr>
      </p:sp>
      <p:sp>
        <p:nvSpPr>
          <p:cNvPr id="12" name="Shape 10"/>
          <p:cNvSpPr/>
          <p:nvPr/>
        </p:nvSpPr>
        <p:spPr>
          <a:xfrm>
            <a:off x="4617720" y="2468880"/>
            <a:ext cx="640080" cy="640080"/>
          </a:xfrm>
          <a:prstGeom prst="ellipse">
            <a:avLst/>
          </a:prstGeom>
          <a:solidFill>
            <a:srgbClr val="FFD66B"/>
          </a:solidFill>
          <a:ln w="12700">
            <a:solidFill>
              <a:srgbClr val="FFD66B"/>
            </a:solidFill>
            <a:prstDash val="solid"/>
          </a:ln>
        </p:spPr>
      </p:sp>
      <p:sp>
        <p:nvSpPr>
          <p:cNvPr id="13" name="Text 11"/>
          <p:cNvSpPr/>
          <p:nvPr/>
        </p:nvSpPr>
        <p:spPr>
          <a:xfrm>
            <a:off x="4617720" y="2468880"/>
            <a:ext cx="640080" cy="640080"/>
          </a:xfrm>
          <a:prstGeom prst="rect">
            <a:avLst/>
          </a:prstGeom>
          <a:noFill/>
          <a:ln/>
        </p:spPr>
        <p:txBody>
          <a:bodyPr wrap="square" rtlCol="0" anchor="ctr"/>
          <a:lstStyle/>
          <a:p>
            <a:pPr algn="ctr" indent="0" marL="0">
              <a:buNone/>
            </a:pPr>
            <a:r>
              <a:rPr lang="en-US" sz="2200" b="1" dirty="0">
                <a:solidFill>
                  <a:srgbClr val="003087"/>
                </a:solidFill>
                <a:latin typeface="Abadi" pitchFamily="34" charset="0"/>
                <a:ea typeface="Abadi" pitchFamily="34" charset="-122"/>
                <a:cs typeface="Abadi" pitchFamily="34" charset="-120"/>
              </a:rPr>
              <a:t>2</a:t>
            </a:r>
            <a:endParaRPr lang="en-US" sz="2200" dirty="0"/>
          </a:p>
        </p:txBody>
      </p:sp>
      <p:sp>
        <p:nvSpPr>
          <p:cNvPr id="14" name="Text 12"/>
          <p:cNvSpPr/>
          <p:nvPr/>
        </p:nvSpPr>
        <p:spPr>
          <a:xfrm>
            <a:off x="4617720" y="3291840"/>
            <a:ext cx="3063240" cy="1097280"/>
          </a:xfrm>
          <a:prstGeom prst="rect">
            <a:avLst/>
          </a:prstGeom>
          <a:noFill/>
          <a:ln/>
        </p:spPr>
        <p:txBody>
          <a:bodyPr wrap="square" rtlCol="0" anchor="t"/>
          <a:lstStyle/>
          <a:p>
            <a:pPr indent="0" marL="0">
              <a:buNone/>
            </a:pPr>
            <a:r>
              <a:rPr lang="en-US" sz="1800" b="1" dirty="0">
                <a:solidFill>
                  <a:srgbClr val="FFFFFF"/>
                </a:solidFill>
                <a:latin typeface="Abadi" pitchFamily="34" charset="0"/>
                <a:ea typeface="Abadi" pitchFamily="34" charset="-122"/>
                <a:cs typeface="Abadi" pitchFamily="34" charset="-120"/>
              </a:rPr>
              <a:t>Pilot the next-wave configuration</a:t>
            </a:r>
            <a:endParaRPr lang="en-US" sz="1800" dirty="0"/>
          </a:p>
        </p:txBody>
      </p:sp>
      <p:sp>
        <p:nvSpPr>
          <p:cNvPr id="15" name="Text 13"/>
          <p:cNvSpPr/>
          <p:nvPr/>
        </p:nvSpPr>
        <p:spPr>
          <a:xfrm>
            <a:off x="4617720" y="4480560"/>
            <a:ext cx="3063240" cy="1463040"/>
          </a:xfrm>
          <a:prstGeom prst="rect">
            <a:avLst/>
          </a:prstGeom>
          <a:noFill/>
          <a:ln/>
        </p:spPr>
        <p:txBody>
          <a:bodyPr wrap="square" rtlCol="0" anchor="t"/>
          <a:lstStyle/>
          <a:p>
            <a:pPr indent="0" marL="0">
              <a:lnSpc>
                <a:spcPct val="130000"/>
              </a:lnSpc>
              <a:buNone/>
            </a:pPr>
            <a:r>
              <a:rPr lang="en-US" sz="1200" dirty="0">
                <a:solidFill>
                  <a:srgbClr val="FFFFFF"/>
                </a:solidFill>
                <a:latin typeface="Abadi" pitchFamily="34" charset="0"/>
                <a:ea typeface="Abadi" pitchFamily="34" charset="-122"/>
                <a:cs typeface="Abadi" pitchFamily="34" charset="-120"/>
              </a:rPr>
              <a:t>Configurations are admitted in waves. You can be the ICB that leads one. The framework adapts to what your population needs, not the other way round.</a:t>
            </a:r>
            <a:endParaRPr lang="en-US" sz="1200" dirty="0"/>
          </a:p>
        </p:txBody>
      </p:sp>
      <p:sp>
        <p:nvSpPr>
          <p:cNvPr id="16" name="Shape 14"/>
          <p:cNvSpPr/>
          <p:nvPr/>
        </p:nvSpPr>
        <p:spPr>
          <a:xfrm>
            <a:off x="8138160" y="2194560"/>
            <a:ext cx="3611880" cy="3931920"/>
          </a:xfrm>
          <a:prstGeom prst="rect">
            <a:avLst/>
          </a:prstGeom>
          <a:solidFill>
            <a:srgbClr val="005EB8"/>
          </a:solidFill>
          <a:ln w="12700">
            <a:solidFill>
              <a:srgbClr val="005EB8"/>
            </a:solidFill>
            <a:prstDash val="solid"/>
          </a:ln>
        </p:spPr>
      </p:sp>
      <p:sp>
        <p:nvSpPr>
          <p:cNvPr id="17" name="Shape 15"/>
          <p:cNvSpPr/>
          <p:nvPr/>
        </p:nvSpPr>
        <p:spPr>
          <a:xfrm>
            <a:off x="8412480" y="2468880"/>
            <a:ext cx="640080" cy="640080"/>
          </a:xfrm>
          <a:prstGeom prst="ellipse">
            <a:avLst/>
          </a:prstGeom>
          <a:solidFill>
            <a:srgbClr val="FFD66B"/>
          </a:solidFill>
          <a:ln w="12700">
            <a:solidFill>
              <a:srgbClr val="FFD66B"/>
            </a:solidFill>
            <a:prstDash val="solid"/>
          </a:ln>
        </p:spPr>
      </p:sp>
      <p:sp>
        <p:nvSpPr>
          <p:cNvPr id="18" name="Text 16"/>
          <p:cNvSpPr/>
          <p:nvPr/>
        </p:nvSpPr>
        <p:spPr>
          <a:xfrm>
            <a:off x="8412480" y="2468880"/>
            <a:ext cx="640080" cy="640080"/>
          </a:xfrm>
          <a:prstGeom prst="rect">
            <a:avLst/>
          </a:prstGeom>
          <a:noFill/>
          <a:ln/>
        </p:spPr>
        <p:txBody>
          <a:bodyPr wrap="square" rtlCol="0" anchor="ctr"/>
          <a:lstStyle/>
          <a:p>
            <a:pPr algn="ctr" indent="0" marL="0">
              <a:buNone/>
            </a:pPr>
            <a:r>
              <a:rPr lang="en-US" sz="2200" b="1" dirty="0">
                <a:solidFill>
                  <a:srgbClr val="003087"/>
                </a:solidFill>
                <a:latin typeface="Abadi" pitchFamily="34" charset="0"/>
                <a:ea typeface="Abadi" pitchFamily="34" charset="-122"/>
                <a:cs typeface="Abadi" pitchFamily="34" charset="-120"/>
              </a:rPr>
              <a:t>3</a:t>
            </a:r>
            <a:endParaRPr lang="en-US" sz="2200" dirty="0"/>
          </a:p>
        </p:txBody>
      </p:sp>
      <p:sp>
        <p:nvSpPr>
          <p:cNvPr id="19" name="Text 17"/>
          <p:cNvSpPr/>
          <p:nvPr/>
        </p:nvSpPr>
        <p:spPr>
          <a:xfrm>
            <a:off x="8412480" y="3291840"/>
            <a:ext cx="3063240" cy="1097280"/>
          </a:xfrm>
          <a:prstGeom prst="rect">
            <a:avLst/>
          </a:prstGeom>
          <a:noFill/>
          <a:ln/>
        </p:spPr>
        <p:txBody>
          <a:bodyPr wrap="square" rtlCol="0" anchor="t"/>
          <a:lstStyle/>
          <a:p>
            <a:pPr indent="0" marL="0">
              <a:buNone/>
            </a:pPr>
            <a:r>
              <a:rPr lang="en-US" sz="1800" b="1" dirty="0">
                <a:solidFill>
                  <a:srgbClr val="FFFFFF"/>
                </a:solidFill>
                <a:latin typeface="Abadi" pitchFamily="34" charset="0"/>
                <a:ea typeface="Abadi" pitchFamily="34" charset="-122"/>
                <a:cs typeface="Abadi" pitchFamily="34" charset="-120"/>
              </a:rPr>
              <a:t>Contribute to the model’s next layer</a:t>
            </a:r>
            <a:endParaRPr lang="en-US" sz="1800" dirty="0"/>
          </a:p>
        </p:txBody>
      </p:sp>
      <p:sp>
        <p:nvSpPr>
          <p:cNvPr id="20" name="Text 18"/>
          <p:cNvSpPr/>
          <p:nvPr/>
        </p:nvSpPr>
        <p:spPr>
          <a:xfrm>
            <a:off x="8412480" y="4480560"/>
            <a:ext cx="3063240" cy="1463040"/>
          </a:xfrm>
          <a:prstGeom prst="rect">
            <a:avLst/>
          </a:prstGeom>
          <a:noFill/>
          <a:ln/>
        </p:spPr>
        <p:txBody>
          <a:bodyPr wrap="square" rtlCol="0" anchor="t"/>
          <a:lstStyle/>
          <a:p>
            <a:pPr indent="0" marL="0">
              <a:lnSpc>
                <a:spcPct val="130000"/>
              </a:lnSpc>
              <a:buNone/>
            </a:pPr>
            <a:r>
              <a:rPr lang="en-US" sz="1200" dirty="0">
                <a:solidFill>
                  <a:srgbClr val="FFFFFF"/>
                </a:solidFill>
                <a:latin typeface="Abadi" pitchFamily="34" charset="0"/>
                <a:ea typeface="Abadi" pitchFamily="34" charset="-122"/>
                <a:cs typeface="Abadi" pitchFamily="34" charset="-120"/>
              </a:rPr>
              <a:t>Commissioner-side representation on the framework governance is open. The Status page tracks the open decisions where ICB voices are needed.</a:t>
            </a:r>
            <a:endParaRPr lang="en-US" sz="1200" dirty="0"/>
          </a:p>
        </p:txBody>
      </p:sp>
      <p:sp>
        <p:nvSpPr>
          <p:cNvPr id="21" name="Text 19"/>
          <p:cNvSpPr/>
          <p:nvPr/>
        </p:nvSpPr>
        <p:spPr>
          <a:xfrm>
            <a:off x="548640" y="6400800"/>
            <a:ext cx="7315200" cy="274320"/>
          </a:xfrm>
          <a:prstGeom prst="rect">
            <a:avLst/>
          </a:prstGeom>
          <a:noFill/>
          <a:ln/>
        </p:spPr>
        <p:txBody>
          <a:bodyPr wrap="square" rtlCol="0" anchor="ctr"/>
          <a:lstStyle/>
          <a:p>
            <a:pPr indent="0" marL="0">
              <a:buNone/>
            </a:pPr>
            <a:r>
              <a:rPr lang="en-US" sz="900" i="1" dirty="0">
                <a:solidFill>
                  <a:srgbClr val="7E8B97"/>
                </a:solidFill>
                <a:latin typeface="Abadi" pitchFamily="34" charset="0"/>
                <a:ea typeface="Abadi" pitchFamily="34" charset="-122"/>
                <a:cs typeface="Abadi" pitchFamily="34" charset="-120"/>
              </a:rPr>
              <a:t>DTx Operating Model · Sales pack · Commissioner</a:t>
            </a:r>
            <a:endParaRPr lang="en-US" sz="900" dirty="0"/>
          </a:p>
        </p:txBody>
      </p:sp>
      <p:sp>
        <p:nvSpPr>
          <p:cNvPr id="22" name="Text 20"/>
          <p:cNvSpPr/>
          <p:nvPr/>
        </p:nvSpPr>
        <p:spPr>
          <a:xfrm>
            <a:off x="11002975" y="6400800"/>
            <a:ext cx="914400" cy="274320"/>
          </a:xfrm>
          <a:prstGeom prst="rect">
            <a:avLst/>
          </a:prstGeom>
          <a:noFill/>
          <a:ln/>
        </p:spPr>
        <p:txBody>
          <a:bodyPr wrap="square" rtlCol="0" anchor="ctr"/>
          <a:lstStyle/>
          <a:p>
            <a:pPr algn="r" indent="0" marL="0">
              <a:buNone/>
            </a:pPr>
            <a:r>
              <a:rPr lang="en-US" sz="900" dirty="0">
                <a:solidFill>
                  <a:srgbClr val="7E8B97"/>
                </a:solidFill>
                <a:latin typeface="Abadi" pitchFamily="34" charset="0"/>
                <a:ea typeface="Abadi" pitchFamily="34" charset="-122"/>
                <a:cs typeface="Abadi" pitchFamily="34" charset="-120"/>
              </a:rPr>
              <a:t>10 of 12</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03087"/>
        </a:solidFill>
      </p:bgPr>
    </p:bg>
    <p:spTree>
      <p:nvGrpSpPr>
        <p:cNvPr id="1" name=""/>
        <p:cNvGrpSpPr/>
        <p:nvPr/>
      </p:nvGrpSpPr>
      <p:grpSpPr>
        <a:xfrm>
          <a:off x="0" y="0"/>
          <a:ext cx="0" cy="0"/>
          <a:chOff x="0" y="0"/>
          <a:chExt cx="0" cy="0"/>
        </a:xfrm>
      </p:grpSpPr>
      <p:sp>
        <p:nvSpPr>
          <p:cNvPr id="2" name="Shape 0"/>
          <p:cNvSpPr/>
          <p:nvPr/>
        </p:nvSpPr>
        <p:spPr>
          <a:xfrm>
            <a:off x="0" y="0"/>
            <a:ext cx="12191695" cy="457200"/>
          </a:xfrm>
          <a:prstGeom prst="rect">
            <a:avLst/>
          </a:prstGeom>
          <a:solidFill>
            <a:srgbClr val="005EB8"/>
          </a:solidFill>
          <a:ln w="12700">
            <a:solidFill>
              <a:srgbClr val="005EB8"/>
            </a:solidFill>
            <a:prstDash val="solid"/>
          </a:ln>
        </p:spPr>
      </p:sp>
      <p:sp>
        <p:nvSpPr>
          <p:cNvPr id="3" name="Shape 1"/>
          <p:cNvSpPr/>
          <p:nvPr/>
        </p:nvSpPr>
        <p:spPr>
          <a:xfrm>
            <a:off x="548640" y="1280160"/>
            <a:ext cx="1097280" cy="54864"/>
          </a:xfrm>
          <a:prstGeom prst="rect">
            <a:avLst/>
          </a:prstGeom>
          <a:solidFill>
            <a:srgbClr val="FFD66B"/>
          </a:solidFill>
          <a:ln w="12700">
            <a:solidFill>
              <a:srgbClr val="FFD66B"/>
            </a:solidFill>
            <a:prstDash val="solid"/>
          </a:ln>
        </p:spPr>
      </p:sp>
      <p:sp>
        <p:nvSpPr>
          <p:cNvPr id="4" name="Text 2"/>
          <p:cNvSpPr/>
          <p:nvPr/>
        </p:nvSpPr>
        <p:spPr>
          <a:xfrm>
            <a:off x="548640" y="1463040"/>
            <a:ext cx="7315200" cy="320040"/>
          </a:xfrm>
          <a:prstGeom prst="rect">
            <a:avLst/>
          </a:prstGeom>
          <a:noFill/>
          <a:ln/>
        </p:spPr>
        <p:txBody>
          <a:bodyPr wrap="square" rtlCol="0" anchor="ctr"/>
          <a:lstStyle/>
          <a:p>
            <a:pPr indent="0" marL="0">
              <a:buNone/>
            </a:pPr>
            <a:r>
              <a:rPr lang="en-US" sz="1100" b="1" spc="100" kern="0" dirty="0">
                <a:solidFill>
                  <a:srgbClr val="FFD66B"/>
                </a:solidFill>
                <a:latin typeface="Abadi" pitchFamily="34" charset="0"/>
                <a:ea typeface="Abadi" pitchFamily="34" charset="-122"/>
                <a:cs typeface="Abadi" pitchFamily="34" charset="-120"/>
              </a:rPr>
              <a:t>CLOSING</a:t>
            </a:r>
            <a:endParaRPr lang="en-US" sz="1100" dirty="0"/>
          </a:p>
        </p:txBody>
      </p:sp>
      <p:sp>
        <p:nvSpPr>
          <p:cNvPr id="5" name="Text 3"/>
          <p:cNvSpPr/>
          <p:nvPr/>
        </p:nvSpPr>
        <p:spPr>
          <a:xfrm>
            <a:off x="548640" y="2011680"/>
            <a:ext cx="10972800" cy="2560320"/>
          </a:xfrm>
          <a:prstGeom prst="rect">
            <a:avLst/>
          </a:prstGeom>
          <a:noFill/>
          <a:ln/>
        </p:spPr>
        <p:txBody>
          <a:bodyPr wrap="square" rtlCol="0" anchor="t"/>
          <a:lstStyle/>
          <a:p>
            <a:pPr indent="0" marL="0">
              <a:buNone/>
            </a:pPr>
            <a:r>
              <a:rPr lang="en-US" sz="4200" b="1" dirty="0">
                <a:solidFill>
                  <a:srgbClr val="FFFFFF"/>
                </a:solidFill>
                <a:latin typeface="Abadi" pitchFamily="34" charset="0"/>
                <a:ea typeface="Abadi" pitchFamily="34" charset="-122"/>
                <a:cs typeface="Abadi" pitchFamily="34" charset="-120"/>
              </a:rPr>
              <a:t>One commissioner. One signature. One year, not three.</a:t>
            </a:r>
            <a:endParaRPr lang="en-US" sz="4200" dirty="0"/>
          </a:p>
        </p:txBody>
      </p:sp>
      <p:sp>
        <p:nvSpPr>
          <p:cNvPr id="6" name="Text 4"/>
          <p:cNvSpPr/>
          <p:nvPr/>
        </p:nvSpPr>
        <p:spPr>
          <a:xfrm>
            <a:off x="548640" y="4663440"/>
            <a:ext cx="10058400" cy="1463040"/>
          </a:xfrm>
          <a:prstGeom prst="rect">
            <a:avLst/>
          </a:prstGeom>
          <a:noFill/>
          <a:ln/>
        </p:spPr>
        <p:txBody>
          <a:bodyPr wrap="square" rtlCol="0" anchor="t"/>
          <a:lstStyle/>
          <a:p>
            <a:pPr indent="0" marL="0">
              <a:buNone/>
            </a:pPr>
            <a:r>
              <a:rPr lang="en-US" sz="1700" dirty="0">
                <a:solidFill>
                  <a:srgbClr val="7EC8E3"/>
                </a:solidFill>
                <a:latin typeface="Abadi" pitchFamily="34" charset="0"/>
                <a:ea typeface="Abadi" pitchFamily="34" charset="-122"/>
                <a:cs typeface="Abadi" pitchFamily="34" charset="-120"/>
              </a:rPr>
              <a:t>Sarah is not commissioning three products. She is commissioning a population health response, with one framework taking the procurement, integration and assurance load off her team. The eighteen months she did not lose to procurement attrition is the eighteen months her patients did not spend waiting for the service to arrive.</a:t>
            </a:r>
            <a:endParaRPr lang="en-US" sz="1700" dirty="0"/>
          </a:p>
        </p:txBody>
      </p:sp>
      <p:pic>
        <p:nvPicPr>
          <p:cNvPr id="7" name="Image 0" descr="/tmp/ppt-build/nhs-logo.jpg">    </p:cNvPr>
          <p:cNvPicPr>
            <a:picLocks noChangeAspect="1"/>
          </p:cNvPicPr>
          <p:nvPr/>
        </p:nvPicPr>
        <p:blipFill>
          <a:blip r:embed="rId1"/>
          <a:stretch>
            <a:fillRect/>
          </a:stretch>
        </p:blipFill>
        <p:spPr>
          <a:xfrm>
            <a:off x="10728655" y="5669280"/>
            <a:ext cx="1005840" cy="78638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5EB8"/>
          </a:solidFill>
          <a:ln w="12700">
            <a:solidFill>
              <a:srgbClr val="005EB8"/>
            </a:solidFill>
            <a:prstDash val="solid"/>
          </a:ln>
        </p:spPr>
      </p:sp>
      <p:sp>
        <p:nvSpPr>
          <p:cNvPr id="3" name="Shape 1"/>
          <p:cNvSpPr/>
          <p:nvPr/>
        </p:nvSpPr>
        <p:spPr>
          <a:xfrm>
            <a:off x="548640" y="914400"/>
            <a:ext cx="822960" cy="54864"/>
          </a:xfrm>
          <a:prstGeom prst="rect">
            <a:avLst/>
          </a:prstGeom>
          <a:solidFill>
            <a:srgbClr val="FFD66B"/>
          </a:solidFill>
          <a:ln w="12700">
            <a:solidFill>
              <a:srgbClr val="FFD66B"/>
            </a:solidFill>
            <a:prstDash val="solid"/>
          </a:ln>
        </p:spPr>
      </p:sp>
      <p:sp>
        <p:nvSpPr>
          <p:cNvPr id="4" name="Text 2"/>
          <p:cNvSpPr/>
          <p:nvPr/>
        </p:nvSpPr>
        <p:spPr>
          <a:xfrm>
            <a:off x="548640" y="1097280"/>
            <a:ext cx="10972800" cy="1097280"/>
          </a:xfrm>
          <a:prstGeom prst="rect">
            <a:avLst/>
          </a:prstGeom>
          <a:noFill/>
          <a:ln/>
        </p:spPr>
        <p:txBody>
          <a:bodyPr wrap="square" rtlCol="0" anchor="ctr"/>
          <a:lstStyle/>
          <a:p>
            <a:pPr indent="0" marL="0">
              <a:buNone/>
            </a:pPr>
            <a:r>
              <a:rPr lang="en-US" sz="4400" b="1" dirty="0">
                <a:solidFill>
                  <a:srgbClr val="003087"/>
                </a:solidFill>
                <a:latin typeface="Abadi" pitchFamily="34" charset="0"/>
                <a:ea typeface="Abadi" pitchFamily="34" charset="-122"/>
                <a:cs typeface="Abadi" pitchFamily="34" charset="-120"/>
              </a:rPr>
              <a:t>Thank you</a:t>
            </a:r>
            <a:endParaRPr lang="en-US" sz="4400" dirty="0"/>
          </a:p>
        </p:txBody>
      </p:sp>
      <p:sp>
        <p:nvSpPr>
          <p:cNvPr id="5" name="Text 3"/>
          <p:cNvSpPr/>
          <p:nvPr/>
        </p:nvSpPr>
        <p:spPr>
          <a:xfrm>
            <a:off x="548640" y="2468880"/>
            <a:ext cx="10972800" cy="548640"/>
          </a:xfrm>
          <a:prstGeom prst="rect">
            <a:avLst/>
          </a:prstGeom>
          <a:noFill/>
          <a:ln/>
        </p:spPr>
        <p:txBody>
          <a:bodyPr wrap="square" rtlCol="0" anchor="ctr"/>
          <a:lstStyle/>
          <a:p>
            <a:pPr indent="0" marL="0">
              <a:buNone/>
            </a:pPr>
            <a:r>
              <a:rPr lang="en-US" sz="1700" dirty="0">
                <a:solidFill>
                  <a:srgbClr val="4C6272"/>
                </a:solidFill>
                <a:latin typeface="Abadi" pitchFamily="34" charset="0"/>
                <a:ea typeface="Abadi" pitchFamily="34" charset="-122"/>
                <a:cs typeface="Abadi" pitchFamily="34" charset="-120"/>
              </a:rPr>
              <a:t>Operational detail, governance papers and the live model are available on request.</a:t>
            </a:r>
            <a:endParaRPr lang="en-US" sz="1700" dirty="0"/>
          </a:p>
        </p:txBody>
      </p:sp>
      <p:pic>
        <p:nvPicPr>
          <p:cNvPr id="6" name="Image 0" descr="/tmp/ppt-build/nhs-logo.jpg">    </p:cNvPr>
          <p:cNvPicPr>
            <a:picLocks noChangeAspect="1"/>
          </p:cNvPicPr>
          <p:nvPr/>
        </p:nvPicPr>
        <p:blipFill>
          <a:blip r:embed="rId1"/>
          <a:stretch>
            <a:fillRect/>
          </a:stretch>
        </p:blipFill>
        <p:spPr>
          <a:xfrm>
            <a:off x="10545775" y="5669280"/>
            <a:ext cx="1188720" cy="932688"/>
          </a:xfrm>
          <a:prstGeom prst="rect">
            <a:avLst/>
          </a:prstGeom>
        </p:spPr>
      </p:pic>
      <p:sp>
        <p:nvSpPr>
          <p:cNvPr id="7" name="Text 4"/>
          <p:cNvSpPr/>
          <p:nvPr/>
        </p:nvSpPr>
        <p:spPr>
          <a:xfrm>
            <a:off x="11002975" y="6400800"/>
            <a:ext cx="914400" cy="274320"/>
          </a:xfrm>
          <a:prstGeom prst="rect">
            <a:avLst/>
          </a:prstGeom>
          <a:noFill/>
          <a:ln/>
        </p:spPr>
        <p:txBody>
          <a:bodyPr wrap="square" rtlCol="0" anchor="ctr"/>
          <a:lstStyle/>
          <a:p>
            <a:pPr algn="r" indent="0" marL="0">
              <a:buNone/>
            </a:pPr>
            <a:r>
              <a:rPr lang="en-US" sz="900" dirty="0">
                <a:solidFill>
                  <a:srgbClr val="7E8B97"/>
                </a:solidFill>
                <a:latin typeface="Abadi" pitchFamily="34" charset="0"/>
                <a:ea typeface="Abadi" pitchFamily="34" charset="-122"/>
                <a:cs typeface="Abadi" pitchFamily="34" charset="-120"/>
              </a:rPr>
              <a:t>12 of 12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Easy buying as the North Star.</dc:title>
  <dc:subject>PptxGenJS Presentation</dc:subject>
  <dc:creator>NHS England DTx Programme</dc:creator>
  <cp:lastModifiedBy>NHS England DTx Programme</cp:lastModifiedBy>
  <cp:revision>1</cp:revision>
  <dcterms:created xsi:type="dcterms:W3CDTF">2026-05-26T10:49:43Z</dcterms:created>
  <dcterms:modified xsi:type="dcterms:W3CDTF">2026-05-26T10:49:43Z</dcterms:modified>
</cp:coreProperties>
</file>